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4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5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26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27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28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29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30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31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32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33.xml" ContentType="application/vnd.openxmlformats-officedocument.presentationml.notesSlide+xml"/>
  <Override PartName="/ppt/theme/themeOverride11.xml" ContentType="application/vnd.openxmlformats-officedocument.themeOverride+xml"/>
  <Override PartName="/ppt/notesSlides/notesSlide34.xml" ContentType="application/vnd.openxmlformats-officedocument.presentationml.notesSlide+xml"/>
  <Override PartName="/ppt/theme/themeOverride12.xml" ContentType="application/vnd.openxmlformats-officedocument.themeOverride+xml"/>
  <Override PartName="/ppt/notesSlides/notesSlide35.xml" ContentType="application/vnd.openxmlformats-officedocument.presentationml.notesSlide+xml"/>
  <Override PartName="/ppt/theme/themeOverride13.xml" ContentType="application/vnd.openxmlformats-officedocument.themeOverride+xml"/>
  <Override PartName="/ppt/notesSlides/notesSlide36.xml" ContentType="application/vnd.openxmlformats-officedocument.presentationml.notesSlide+xml"/>
  <Override PartName="/ppt/theme/themeOverride14.xml" ContentType="application/vnd.openxmlformats-officedocument.themeOverr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  <p:sldMasterId id="2147483776" r:id="rId2"/>
    <p:sldMasterId id="2147483765" r:id="rId3"/>
  </p:sldMasterIdLst>
  <p:notesMasterIdLst>
    <p:notesMasterId r:id="rId64"/>
  </p:notesMasterIdLst>
  <p:sldIdLst>
    <p:sldId id="256" r:id="rId4"/>
    <p:sldId id="326" r:id="rId5"/>
    <p:sldId id="304" r:id="rId6"/>
    <p:sldId id="328" r:id="rId7"/>
    <p:sldId id="378" r:id="rId8"/>
    <p:sldId id="379" r:id="rId9"/>
    <p:sldId id="381" r:id="rId10"/>
    <p:sldId id="380" r:id="rId11"/>
    <p:sldId id="377" r:id="rId12"/>
    <p:sldId id="376" r:id="rId13"/>
    <p:sldId id="365" r:id="rId14"/>
    <p:sldId id="319" r:id="rId15"/>
    <p:sldId id="366" r:id="rId16"/>
    <p:sldId id="324" r:id="rId17"/>
    <p:sldId id="347" r:id="rId18"/>
    <p:sldId id="330" r:id="rId19"/>
    <p:sldId id="331" r:id="rId20"/>
    <p:sldId id="348" r:id="rId21"/>
    <p:sldId id="332" r:id="rId22"/>
    <p:sldId id="333" r:id="rId23"/>
    <p:sldId id="334" r:id="rId24"/>
    <p:sldId id="335" r:id="rId25"/>
    <p:sldId id="336" r:id="rId26"/>
    <p:sldId id="337" r:id="rId27"/>
    <p:sldId id="338" r:id="rId28"/>
    <p:sldId id="367" r:id="rId29"/>
    <p:sldId id="339" r:id="rId30"/>
    <p:sldId id="368" r:id="rId31"/>
    <p:sldId id="340" r:id="rId32"/>
    <p:sldId id="341" r:id="rId33"/>
    <p:sldId id="342" r:id="rId34"/>
    <p:sldId id="343" r:id="rId35"/>
    <p:sldId id="344" r:id="rId36"/>
    <p:sldId id="345" r:id="rId37"/>
    <p:sldId id="346" r:id="rId38"/>
    <p:sldId id="363" r:id="rId39"/>
    <p:sldId id="364" r:id="rId40"/>
    <p:sldId id="369" r:id="rId41"/>
    <p:sldId id="371" r:id="rId42"/>
    <p:sldId id="375" r:id="rId43"/>
    <p:sldId id="372" r:id="rId44"/>
    <p:sldId id="296" r:id="rId45"/>
    <p:sldId id="373" r:id="rId46"/>
    <p:sldId id="374" r:id="rId47"/>
    <p:sldId id="382" r:id="rId48"/>
    <p:sldId id="383" r:id="rId49"/>
    <p:sldId id="349" r:id="rId50"/>
    <p:sldId id="350" r:id="rId51"/>
    <p:sldId id="352" r:id="rId52"/>
    <p:sldId id="351" r:id="rId53"/>
    <p:sldId id="353" r:id="rId54"/>
    <p:sldId id="354" r:id="rId55"/>
    <p:sldId id="355" r:id="rId56"/>
    <p:sldId id="356" r:id="rId57"/>
    <p:sldId id="357" r:id="rId58"/>
    <p:sldId id="358" r:id="rId59"/>
    <p:sldId id="359" r:id="rId60"/>
    <p:sldId id="360" r:id="rId61"/>
    <p:sldId id="361" r:id="rId62"/>
    <p:sldId id="362" r:id="rId63"/>
  </p:sldIdLst>
  <p:sldSz cx="12192000" cy="6858000"/>
  <p:notesSz cx="6858000" cy="9144000"/>
  <p:defaultTextStyle>
    <a:defPPr>
      <a:defRPr lang="zh-CN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0" clrIdx="0">
    <p:extLst>
      <p:ext uri="{19B8F6BF-5375-455C-9EA6-DF929625EA0E}">
        <p15:presenceInfo xmlns:p15="http://schemas.microsoft.com/office/powerpoint/2012/main" userId="Administrato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9646"/>
    <a:srgbClr val="4F81BD"/>
    <a:srgbClr val="A6A6A6"/>
    <a:srgbClr val="C5C5C5"/>
    <a:srgbClr val="FDBE94"/>
    <a:srgbClr val="E8380C"/>
    <a:srgbClr val="4176B5"/>
    <a:srgbClr val="4472A9"/>
    <a:srgbClr val="F5781B"/>
    <a:srgbClr val="338D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71" autoAdjust="0"/>
    <p:restoredTop sz="92332" autoAdjust="0"/>
  </p:normalViewPr>
  <p:slideViewPr>
    <p:cSldViewPr snapToGrid="0">
      <p:cViewPr>
        <p:scale>
          <a:sx n="97" d="100"/>
          <a:sy n="97" d="100"/>
        </p:scale>
        <p:origin x="1304" y="24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presProps" Target="presProp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viewProps" Target="view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commentAuthors" Target="commentAuthor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BE5094-EBC2-41BE-8257-89E7FF127D84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44F6F4-4874-41F5-9A61-4DB40C2B32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4386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000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44F6F4-4874-41F5-9A61-4DB40C2B32E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6803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44F6F4-4874-41F5-9A61-4DB40C2B32E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196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44F6F4-4874-41F5-9A61-4DB40C2B32E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11679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F6F4-4874-41F5-9A61-4DB40C2B32E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42677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F6F4-4874-41F5-9A61-4DB40C2B32E9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3646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F6F4-4874-41F5-9A61-4DB40C2B32E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02608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F6F4-4874-41F5-9A61-4DB40C2B32E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41191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F6F4-4874-41F5-9A61-4DB40C2B32E9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79127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F6F4-4874-41F5-9A61-4DB40C2B32E9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38667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F6F4-4874-41F5-9A61-4DB40C2B32E9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87943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F6F4-4874-41F5-9A61-4DB40C2B32E9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17795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F6F4-4874-41F5-9A61-4DB40C2B32E9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54595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F6F4-4874-41F5-9A61-4DB40C2B32E9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66314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F6F4-4874-41F5-9A61-4DB40C2B32E9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52367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F6F4-4874-41F5-9A61-4DB40C2B32E9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58265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F6F4-4874-41F5-9A61-4DB40C2B32E9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23291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F6F4-4874-41F5-9A61-4DB40C2B32E9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7340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F6F4-4874-41F5-9A61-4DB40C2B32E9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76899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F6F4-4874-41F5-9A61-4DB40C2B32E9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40015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44F6F4-4874-41F5-9A61-4DB40C2B32E9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13982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44F6F4-4874-41F5-9A61-4DB40C2B32E9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40233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44F6F4-4874-41F5-9A61-4DB40C2B32E9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34367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44F6F4-4874-41F5-9A61-4DB40C2B32E9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16442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F6F4-4874-41F5-9A61-4DB40C2B32E9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95976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F6F4-4874-41F5-9A61-4DB40C2B32E9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82470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F6F4-4874-41F5-9A61-4DB40C2B32E9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78629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F6F4-4874-41F5-9A61-4DB40C2B32E9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794745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F6F4-4874-41F5-9A61-4DB40C2B32E9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89752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F6F4-4874-41F5-9A61-4DB40C2B32E9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628069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F6F4-4874-41F5-9A61-4DB40C2B32E9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71648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F6F4-4874-41F5-9A61-4DB40C2B32E9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362095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F6F4-4874-41F5-9A61-4DB40C2B32E9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378137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F6F4-4874-41F5-9A61-4DB40C2B32E9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637317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F6F4-4874-41F5-9A61-4DB40C2B32E9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350375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F6F4-4874-41F5-9A61-4DB40C2B32E9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43907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F6F4-4874-41F5-9A61-4DB40C2B32E9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191487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F6F4-4874-41F5-9A61-4DB40C2B32E9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8285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可选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" descr="\\192.168.1.115\b 项目2组\G广发基金\2015\9月\0914\广发PPT母版素材\JPG\--08.jpg"/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b="8791"/>
          <a:stretch/>
        </p:blipFill>
        <p:spPr bwMode="auto">
          <a:xfrm>
            <a:off x="-953" y="602845"/>
            <a:ext cx="12192953" cy="6255155"/>
          </a:xfrm>
          <a:prstGeom prst="rect">
            <a:avLst/>
          </a:prstGeom>
          <a:noFill/>
        </p:spPr>
      </p:pic>
      <p:sp>
        <p:nvSpPr>
          <p:cNvPr id="26" name="矩形 25"/>
          <p:cNvSpPr/>
          <p:nvPr userDrawn="1"/>
        </p:nvSpPr>
        <p:spPr>
          <a:xfrm>
            <a:off x="0" y="1419226"/>
            <a:ext cx="12192000" cy="5438775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1"/>
          </a:p>
        </p:txBody>
      </p:sp>
      <p:sp>
        <p:nvSpPr>
          <p:cNvPr id="27" name="矩形 26"/>
          <p:cNvSpPr/>
          <p:nvPr userDrawn="1"/>
        </p:nvSpPr>
        <p:spPr>
          <a:xfrm>
            <a:off x="5534026" y="1288554"/>
            <a:ext cx="6776589" cy="5569447"/>
          </a:xfrm>
          <a:prstGeom prst="rect">
            <a:avLst/>
          </a:prstGeom>
          <a:blipFill dpi="0" rotWithShape="1">
            <a:blip r:embed="rId3">
              <a:alphaModFix amt="10000"/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1"/>
          </a:p>
        </p:txBody>
      </p:sp>
      <p:pic>
        <p:nvPicPr>
          <p:cNvPr id="29" name="图片 2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2319" y="465119"/>
            <a:ext cx="2703583" cy="363944"/>
          </a:xfrm>
          <a:prstGeom prst="rect">
            <a:avLst/>
          </a:prstGeom>
        </p:spPr>
      </p:pic>
      <p:sp>
        <p:nvSpPr>
          <p:cNvPr id="32" name="内容占位符 31"/>
          <p:cNvSpPr>
            <a:spLocks noGrp="1"/>
          </p:cNvSpPr>
          <p:nvPr>
            <p:ph sz="quarter" idx="10"/>
          </p:nvPr>
        </p:nvSpPr>
        <p:spPr>
          <a:xfrm>
            <a:off x="574488" y="2916801"/>
            <a:ext cx="6645088" cy="531625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36" name="文本占位符 35"/>
          <p:cNvSpPr>
            <a:spLocks noGrp="1"/>
          </p:cNvSpPr>
          <p:nvPr>
            <p:ph type="body" sz="quarter" idx="11"/>
          </p:nvPr>
        </p:nvSpPr>
        <p:spPr>
          <a:xfrm>
            <a:off x="574489" y="5414589"/>
            <a:ext cx="3197785" cy="334963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551602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可选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5D3E5BEE-F46B-43DC-9247-AFF3B89ABFE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1"/>
          </a:p>
        </p:txBody>
      </p:sp>
      <p:grpSp>
        <p:nvGrpSpPr>
          <p:cNvPr id="9" name="Group 16"/>
          <p:cNvGrpSpPr/>
          <p:nvPr userDrawn="1"/>
        </p:nvGrpSpPr>
        <p:grpSpPr>
          <a:xfrm>
            <a:off x="0" y="2341322"/>
            <a:ext cx="4403469" cy="115215"/>
            <a:chOff x="0" y="2341322"/>
            <a:chExt cx="4403469" cy="115214"/>
          </a:xfrm>
          <a:solidFill>
            <a:srgbClr val="F79646"/>
          </a:solidFill>
        </p:grpSpPr>
        <p:sp>
          <p:nvSpPr>
            <p:cNvPr id="10" name="Rectangle 12"/>
            <p:cNvSpPr/>
            <p:nvPr/>
          </p:nvSpPr>
          <p:spPr>
            <a:xfrm>
              <a:off x="0" y="2341322"/>
              <a:ext cx="4403469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 dirty="0"/>
            </a:p>
          </p:txBody>
        </p:sp>
        <p:sp>
          <p:nvSpPr>
            <p:cNvPr id="11" name="Rectangle 14"/>
            <p:cNvSpPr/>
            <p:nvPr/>
          </p:nvSpPr>
          <p:spPr>
            <a:xfrm>
              <a:off x="3535074" y="2387041"/>
              <a:ext cx="868395" cy="694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1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2319" y="465119"/>
            <a:ext cx="2703583" cy="363944"/>
          </a:xfrm>
          <a:prstGeom prst="rect">
            <a:avLst/>
          </a:prstGeom>
        </p:spPr>
      </p:pic>
      <p:sp>
        <p:nvSpPr>
          <p:cNvPr id="17" name="内容占位符 31"/>
          <p:cNvSpPr>
            <a:spLocks noGrp="1"/>
          </p:cNvSpPr>
          <p:nvPr>
            <p:ph sz="quarter" idx="10"/>
          </p:nvPr>
        </p:nvSpPr>
        <p:spPr>
          <a:xfrm>
            <a:off x="2773456" y="2641903"/>
            <a:ext cx="6645088" cy="722872"/>
          </a:xfrm>
        </p:spPr>
        <p:txBody>
          <a:bodyPr>
            <a:noAutofit/>
          </a:bodyPr>
          <a:lstStyle>
            <a:lvl1pPr marL="0" indent="0" algn="ctr">
              <a:buNone/>
              <a:defRPr sz="3600" b="1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8" name="文本占位符 35"/>
          <p:cNvSpPr>
            <a:spLocks noGrp="1"/>
          </p:cNvSpPr>
          <p:nvPr>
            <p:ph type="body" sz="quarter" idx="11"/>
          </p:nvPr>
        </p:nvSpPr>
        <p:spPr>
          <a:xfrm>
            <a:off x="4497109" y="4199881"/>
            <a:ext cx="3197785" cy="376611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68942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级目录页可选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5D3E5BEE-F46B-43DC-9247-AFF3B89ABFE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1"/>
          </a:p>
        </p:txBody>
      </p:sp>
      <p:pic>
        <p:nvPicPr>
          <p:cNvPr id="21" name="Picture 2" descr="\\192.168.1.115\b 项目2组\G广发基金\2015\9月\0914\广发PPT母版素材\JPG\--08.jpg"/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b="8791"/>
          <a:stretch/>
        </p:blipFill>
        <p:spPr bwMode="auto">
          <a:xfrm rot="5400000">
            <a:off x="-245808" y="1669877"/>
            <a:ext cx="6857999" cy="3518249"/>
          </a:xfrm>
          <a:prstGeom prst="rect">
            <a:avLst/>
          </a:prstGeom>
          <a:noFill/>
        </p:spPr>
      </p:pic>
      <p:sp>
        <p:nvSpPr>
          <p:cNvPr id="20" name="矩形 19"/>
          <p:cNvSpPr/>
          <p:nvPr userDrawn="1"/>
        </p:nvSpPr>
        <p:spPr>
          <a:xfrm>
            <a:off x="0" y="2"/>
            <a:ext cx="448056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1"/>
          </a:p>
        </p:txBody>
      </p:sp>
      <p:sp>
        <p:nvSpPr>
          <p:cNvPr id="9" name="文本占位符 2"/>
          <p:cNvSpPr>
            <a:spLocks noGrp="1"/>
          </p:cNvSpPr>
          <p:nvPr userDrawn="1"/>
        </p:nvSpPr>
        <p:spPr>
          <a:xfrm>
            <a:off x="785877" y="1069956"/>
            <a:ext cx="1914511" cy="928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5400" b="1" kern="1200">
                <a:solidFill>
                  <a:srgbClr val="E2380D"/>
                </a:solidFill>
                <a:latin typeface="+mj-ea"/>
                <a:ea typeface="+mj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891" marR="0" lvl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目录</a:t>
            </a:r>
          </a:p>
        </p:txBody>
      </p:sp>
      <p:sp>
        <p:nvSpPr>
          <p:cNvPr id="10" name="TextBox 10"/>
          <p:cNvSpPr txBox="1"/>
          <p:nvPr userDrawn="1"/>
        </p:nvSpPr>
        <p:spPr>
          <a:xfrm>
            <a:off x="2307484" y="1504233"/>
            <a:ext cx="23894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solidFill>
                  <a:schemeClr val="bg1"/>
                </a:solidFill>
                <a:latin typeface="Rockwell Condensed" panose="02060603050405020104" pitchFamily="18" charset="0"/>
                <a:ea typeface="方正综艺简体" panose="02010601030101010101" pitchFamily="2" charset="-122"/>
              </a:rPr>
              <a:t>CONTENTS</a:t>
            </a:r>
            <a:endParaRPr lang="zh-CN" altLang="en-US" sz="2400" b="1" dirty="0">
              <a:solidFill>
                <a:schemeClr val="bg1"/>
              </a:solidFill>
              <a:latin typeface="Rockwell Condensed" panose="02060603050405020104" pitchFamily="18" charset="0"/>
              <a:ea typeface="方正综艺简体" panose="02010601030101010101" pitchFamily="2" charset="-122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-572454" y="2744625"/>
            <a:ext cx="5053015" cy="4152899"/>
          </a:xfrm>
          <a:prstGeom prst="rect">
            <a:avLst/>
          </a:prstGeom>
          <a:blipFill dpi="0" rotWithShape="1">
            <a:blip r:embed="rId3">
              <a:alphaModFix amt="10000"/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1"/>
          </a:p>
        </p:txBody>
      </p:sp>
    </p:spTree>
    <p:extLst>
      <p:ext uri="{BB962C8B-B14F-4D97-AF65-F5344CB8AC3E}">
        <p14:creationId xmlns:p14="http://schemas.microsoft.com/office/powerpoint/2010/main" val="207247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一级目录页可选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5D3E5BEE-F46B-43DC-9247-AFF3B89ABFE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1"/>
          </a:p>
        </p:txBody>
      </p:sp>
      <p:sp>
        <p:nvSpPr>
          <p:cNvPr id="3" name="MH_Others_1">
            <a:extLst>
              <a:ext uri="{FF2B5EF4-FFF2-40B4-BE49-F238E27FC236}">
                <a16:creationId xmlns:a16="http://schemas.microsoft.com/office/drawing/2014/main" id="{E5CA64FF-32EE-4D9E-93EC-800E55B15CF2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 rot="16200000">
            <a:off x="1023891" y="3048629"/>
            <a:ext cx="3681739" cy="762003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algn="ctr">
              <a:defRPr/>
            </a:pPr>
            <a:endParaRPr lang="en-US" altLang="zh-CN" sz="2800" spc="500" dirty="0">
              <a:solidFill>
                <a:srgbClr val="4F81BD">
                  <a:lumMod val="40000"/>
                  <a:lumOff val="60000"/>
                </a:srgbClr>
              </a:solidFill>
              <a:latin typeface="Elephant" panose="02020904090505020303" pitchFamily="18" charset="0"/>
              <a:ea typeface="华文中宋" panose="02010600040101010101" pitchFamily="2" charset="-122"/>
            </a:endParaRPr>
          </a:p>
          <a:p>
            <a:pPr algn="ctr">
              <a:defRPr/>
            </a:pPr>
            <a:r>
              <a:rPr lang="en-US" altLang="zh-CN" sz="2800" spc="500" dirty="0">
                <a:solidFill>
                  <a:prstClr val="white">
                    <a:lumMod val="50000"/>
                  </a:prstClr>
                </a:solidFill>
                <a:latin typeface="Elephant" panose="02020904090505020303" pitchFamily="18" charset="0"/>
                <a:ea typeface="华文中宋" panose="02010600040101010101" pitchFamily="2" charset="-122"/>
              </a:rPr>
              <a:t>CONTENTS</a:t>
            </a:r>
            <a:endParaRPr lang="zh-CN" altLang="en-US" sz="2800" spc="500" dirty="0">
              <a:solidFill>
                <a:prstClr val="white">
                  <a:lumMod val="50000"/>
                </a:prstClr>
              </a:solidFill>
              <a:latin typeface="Elephant" panose="02020904090505020303" pitchFamily="18" charset="0"/>
              <a:ea typeface="华文中宋" panose="02010600040101010101" pitchFamily="2" charset="-122"/>
            </a:endParaRPr>
          </a:p>
        </p:txBody>
      </p:sp>
      <p:sp>
        <p:nvSpPr>
          <p:cNvPr id="4" name="MH_Others_2">
            <a:extLst>
              <a:ext uri="{FF2B5EF4-FFF2-40B4-BE49-F238E27FC236}">
                <a16:creationId xmlns:a16="http://schemas.microsoft.com/office/drawing/2014/main" id="{AFB7BE60-63C9-402A-962F-B77AE0987310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1980069" y="2492275"/>
            <a:ext cx="861103" cy="1874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6000" b="1" dirty="0">
                <a:solidFill>
                  <a:srgbClr val="4F81B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11" name="直角三角形 10">
            <a:extLst>
              <a:ext uri="{FF2B5EF4-FFF2-40B4-BE49-F238E27FC236}">
                <a16:creationId xmlns:a16="http://schemas.microsoft.com/office/drawing/2014/main" id="{CFF66782-BD03-4B0E-AD94-E5B021E85CBC}"/>
              </a:ext>
            </a:extLst>
          </p:cNvPr>
          <p:cNvSpPr/>
          <p:nvPr userDrawn="1"/>
        </p:nvSpPr>
        <p:spPr>
          <a:xfrm flipV="1">
            <a:off x="1" y="0"/>
            <a:ext cx="837356" cy="817419"/>
          </a:xfrm>
          <a:prstGeom prst="rtTriangle">
            <a:avLst/>
          </a:prstGeom>
          <a:solidFill>
            <a:srgbClr val="4472A9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1">
              <a:solidFill>
                <a:prstClr val="white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2319" y="465119"/>
            <a:ext cx="2703583" cy="36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860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级目录页可选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D3E5BEE-F46B-43DC-9247-AFF3B89ABFE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1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2319" y="465119"/>
            <a:ext cx="2703583" cy="363944"/>
          </a:xfrm>
          <a:prstGeom prst="rect">
            <a:avLst/>
          </a:prstGeom>
        </p:spPr>
      </p:pic>
      <p:sp>
        <p:nvSpPr>
          <p:cNvPr id="9" name="文本占位符 2"/>
          <p:cNvSpPr>
            <a:spLocks noGrp="1"/>
          </p:cNvSpPr>
          <p:nvPr userDrawn="1"/>
        </p:nvSpPr>
        <p:spPr>
          <a:xfrm>
            <a:off x="785877" y="1069956"/>
            <a:ext cx="1914511" cy="928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5400" b="1" kern="1200">
                <a:solidFill>
                  <a:srgbClr val="E2380D"/>
                </a:solidFill>
                <a:latin typeface="+mj-ea"/>
                <a:ea typeface="+mj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891" marR="0" lvl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目录</a:t>
            </a:r>
          </a:p>
        </p:txBody>
      </p:sp>
      <p:sp>
        <p:nvSpPr>
          <p:cNvPr id="10" name="TextBox 10"/>
          <p:cNvSpPr txBox="1"/>
          <p:nvPr userDrawn="1"/>
        </p:nvSpPr>
        <p:spPr>
          <a:xfrm>
            <a:off x="2264757" y="1425469"/>
            <a:ext cx="2220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b="1" dirty="0">
                <a:solidFill>
                  <a:srgbClr val="EF975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CONTENTS</a:t>
            </a:r>
            <a:endParaRPr lang="zh-CN" altLang="en-US" sz="3200" b="1" dirty="0">
              <a:solidFill>
                <a:srgbClr val="EF975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 flipV="1">
            <a:off x="945539" y="1998631"/>
            <a:ext cx="3380420" cy="22631"/>
          </a:xfrm>
          <a:prstGeom prst="line">
            <a:avLst/>
          </a:prstGeom>
          <a:noFill/>
          <a:ln w="34925" cap="flat" cmpd="sng" algn="ctr">
            <a:solidFill>
              <a:schemeClr val="accent1"/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258250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目录页可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5D3E5BEE-F46B-43DC-9247-AFF3B89ABFE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D61C2A5B-FD07-4229-8F8C-1BFEB44AF40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0" y="2064139"/>
            <a:ext cx="7297381" cy="625119"/>
          </a:xfrm>
          <a:prstGeom prst="rect">
            <a:avLst/>
          </a:prstGeom>
          <a:gradFill flip="none" rotWithShape="1">
            <a:gsLst>
              <a:gs pos="0">
                <a:srgbClr val="5B9BD5">
                  <a:shade val="30000"/>
                  <a:satMod val="115000"/>
                </a:srgbClr>
              </a:gs>
              <a:gs pos="50000">
                <a:srgbClr val="5B9BD5">
                  <a:shade val="67500"/>
                  <a:satMod val="115000"/>
                </a:srgbClr>
              </a:gs>
              <a:gs pos="100000">
                <a:srgbClr val="5B9BD5">
                  <a:shade val="100000"/>
                  <a:satMod val="115000"/>
                </a:srgbClr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2319" y="465119"/>
            <a:ext cx="2703583" cy="363944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4497860" y="2689257"/>
            <a:ext cx="2799523" cy="130667"/>
          </a:xfrm>
          <a:prstGeom prst="rect">
            <a:avLst/>
          </a:prstGeom>
          <a:solidFill>
            <a:srgbClr val="F7964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3"/>
          </p:nvPr>
        </p:nvSpPr>
        <p:spPr>
          <a:xfrm>
            <a:off x="772055" y="2160947"/>
            <a:ext cx="3787775" cy="444500"/>
          </a:xfrm>
        </p:spPr>
        <p:txBody>
          <a:bodyPr anchor="ctr">
            <a:normAutofit/>
          </a:bodyPr>
          <a:lstStyle>
            <a:lvl1pPr marL="0" indent="0" algn="l" defTabSz="914377" rtl="0" eaLnBrk="1" latinLnBrk="0" hangingPunct="1">
              <a:buNone/>
              <a:defRPr lang="zh-CN" altLang="en-US" sz="1800" kern="1200">
                <a:solidFill>
                  <a:prstClr val="white"/>
                </a:solidFill>
                <a:latin typeface="黑体" panose="02010609060101010101" pitchFamily="49" charset="-122"/>
                <a:ea typeface="+mn-ea"/>
                <a:cs typeface="+mn-cs"/>
              </a:defRPr>
            </a:lvl1pPr>
          </a:lstStyle>
          <a:p>
            <a:pPr lvl="0"/>
            <a:r>
              <a:rPr lang="zh-CN" altLang="en-US"/>
              <a:t>单击此处编辑母版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4"/>
          </p:nvPr>
        </p:nvSpPr>
        <p:spPr>
          <a:xfrm>
            <a:off x="1505979" y="3358871"/>
            <a:ext cx="2646878" cy="584775"/>
          </a:xfrm>
        </p:spPr>
        <p:txBody>
          <a:bodyPr wrap="none" anchor="ctr">
            <a:spAutoFit/>
          </a:bodyPr>
          <a:lstStyle>
            <a:lvl1pPr marL="0" indent="0">
              <a:buNone/>
              <a:defRPr lang="zh-CN" altLang="en-US" sz="1600" dirty="0" smtClean="0">
                <a:solidFill>
                  <a:srgbClr val="F79646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marL="0" lvl="0">
              <a:lnSpc>
                <a:spcPct val="200000"/>
              </a:lnSpc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17" name="文本占位符 15"/>
          <p:cNvSpPr>
            <a:spLocks noGrp="1"/>
          </p:cNvSpPr>
          <p:nvPr>
            <p:ph type="body" sz="quarter" idx="15"/>
          </p:nvPr>
        </p:nvSpPr>
        <p:spPr>
          <a:xfrm>
            <a:off x="1505979" y="4135812"/>
            <a:ext cx="2646878" cy="584775"/>
          </a:xfrm>
        </p:spPr>
        <p:txBody>
          <a:bodyPr wrap="none" anchor="ctr">
            <a:spAutoFit/>
          </a:bodyPr>
          <a:lstStyle>
            <a:lvl1pPr marL="0" indent="0">
              <a:buNone/>
              <a:defRPr lang="zh-CN" altLang="en-US" sz="16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marL="0" lvl="0">
              <a:lnSpc>
                <a:spcPct val="200000"/>
              </a:lnSpc>
            </a:pPr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86436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中场休息15分钟版式"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12" name="Group 23"/>
          <p:cNvGrpSpPr/>
          <p:nvPr userDrawn="1"/>
        </p:nvGrpSpPr>
        <p:grpSpPr>
          <a:xfrm>
            <a:off x="5137584" y="936104"/>
            <a:ext cx="1916832" cy="1916832"/>
            <a:chOff x="5137584" y="729606"/>
            <a:chExt cx="1916832" cy="1916832"/>
          </a:xfrm>
        </p:grpSpPr>
        <p:pic>
          <p:nvPicPr>
            <p:cNvPr id="13" name="Picture 11"/>
            <p:cNvPicPr>
              <a:picLocks noChangeAspect="1"/>
            </p:cNvPicPr>
            <p:nvPr/>
          </p:nvPicPr>
          <p:blipFill>
            <a:blip r:embed="rId2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37584" y="729606"/>
              <a:ext cx="1916832" cy="1916832"/>
            </a:xfrm>
            <a:prstGeom prst="rect">
              <a:avLst/>
            </a:prstGeom>
          </p:spPr>
        </p:pic>
        <p:sp>
          <p:nvSpPr>
            <p:cNvPr id="14" name="Oval 12"/>
            <p:cNvSpPr/>
            <p:nvPr/>
          </p:nvSpPr>
          <p:spPr>
            <a:xfrm>
              <a:off x="6059996" y="1652018"/>
              <a:ext cx="72008" cy="72008"/>
            </a:xfrm>
            <a:prstGeom prst="ellipse">
              <a:avLst/>
            </a:prstGeom>
            <a:solidFill>
              <a:srgbClr val="4F81BD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351">
                <a:solidFill>
                  <a:srgbClr val="4F81BD"/>
                </a:solidFill>
              </a:endParaRPr>
            </a:p>
          </p:txBody>
        </p:sp>
        <p:cxnSp>
          <p:nvCxnSpPr>
            <p:cNvPr id="15" name="Straight Arrow Connector 14"/>
            <p:cNvCxnSpPr>
              <a:stCxn id="14" idx="0"/>
            </p:cNvCxnSpPr>
            <p:nvPr/>
          </p:nvCxnSpPr>
          <p:spPr>
            <a:xfrm flipV="1">
              <a:off x="6096000" y="898825"/>
              <a:ext cx="1" cy="753193"/>
            </a:xfrm>
            <a:prstGeom prst="straightConnector1">
              <a:avLst/>
            </a:prstGeom>
            <a:ln w="28575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9"/>
            <p:cNvCxnSpPr>
              <a:stCxn id="14" idx="6"/>
            </p:cNvCxnSpPr>
            <p:nvPr/>
          </p:nvCxnSpPr>
          <p:spPr>
            <a:xfrm>
              <a:off x="6132004" y="1688022"/>
              <a:ext cx="733772" cy="0"/>
            </a:xfrm>
            <a:prstGeom prst="straightConnector1">
              <a:avLst/>
            </a:prstGeom>
            <a:ln w="28575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4"/>
          <p:cNvSpPr txBox="1"/>
          <p:nvPr userDrawn="1"/>
        </p:nvSpPr>
        <p:spPr>
          <a:xfrm>
            <a:off x="2567608" y="2888940"/>
            <a:ext cx="71287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dirty="0">
                <a:solidFill>
                  <a:srgbClr val="4F81BD"/>
                </a:solidFill>
                <a:latin typeface="+mj-lt"/>
              </a:rPr>
              <a:t>中场休息</a:t>
            </a:r>
            <a:r>
              <a:rPr lang="en-US" altLang="zh-CN" sz="5400" dirty="0">
                <a:solidFill>
                  <a:srgbClr val="4F81BD"/>
                </a:solidFill>
                <a:latin typeface="+mj-lt"/>
              </a:rPr>
              <a:t>15</a:t>
            </a:r>
            <a:r>
              <a:rPr lang="zh-CN" altLang="en-US" sz="5400" dirty="0">
                <a:solidFill>
                  <a:srgbClr val="4F81BD"/>
                </a:solidFill>
                <a:latin typeface="+mj-lt"/>
              </a:rPr>
              <a:t>分钟</a:t>
            </a:r>
            <a:endParaRPr lang="en-US" sz="5400" dirty="0">
              <a:solidFill>
                <a:srgbClr val="4F81BD"/>
              </a:solidFill>
              <a:latin typeface="+mj-lt"/>
            </a:endParaRPr>
          </a:p>
        </p:txBody>
      </p:sp>
      <p:cxnSp>
        <p:nvCxnSpPr>
          <p:cNvPr id="18" name="Straight Connector 6"/>
          <p:cNvCxnSpPr/>
          <p:nvPr userDrawn="1"/>
        </p:nvCxnSpPr>
        <p:spPr>
          <a:xfrm>
            <a:off x="3107668" y="3902447"/>
            <a:ext cx="6048672" cy="0"/>
          </a:xfrm>
          <a:prstGeom prst="line">
            <a:avLst/>
          </a:prstGeom>
          <a:ln w="76200">
            <a:solidFill>
              <a:srgbClr val="F796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片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2319" y="465119"/>
            <a:ext cx="2703583" cy="36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270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中场休息10分钟版式"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12" name="Group 23"/>
          <p:cNvGrpSpPr/>
          <p:nvPr userDrawn="1"/>
        </p:nvGrpSpPr>
        <p:grpSpPr>
          <a:xfrm>
            <a:off x="5137584" y="936104"/>
            <a:ext cx="1916832" cy="1916832"/>
            <a:chOff x="5137584" y="729606"/>
            <a:chExt cx="1916832" cy="1916832"/>
          </a:xfrm>
        </p:grpSpPr>
        <p:pic>
          <p:nvPicPr>
            <p:cNvPr id="13" name="Picture 11"/>
            <p:cNvPicPr>
              <a:picLocks noChangeAspect="1"/>
            </p:cNvPicPr>
            <p:nvPr/>
          </p:nvPicPr>
          <p:blipFill>
            <a:blip r:embed="rId2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37584" y="729606"/>
              <a:ext cx="1916832" cy="1916832"/>
            </a:xfrm>
            <a:prstGeom prst="rect">
              <a:avLst/>
            </a:prstGeom>
          </p:spPr>
        </p:pic>
        <p:sp>
          <p:nvSpPr>
            <p:cNvPr id="14" name="Oval 12"/>
            <p:cNvSpPr/>
            <p:nvPr/>
          </p:nvSpPr>
          <p:spPr>
            <a:xfrm>
              <a:off x="6059996" y="1652018"/>
              <a:ext cx="72008" cy="72008"/>
            </a:xfrm>
            <a:prstGeom prst="ellipse">
              <a:avLst/>
            </a:prstGeom>
            <a:solidFill>
              <a:srgbClr val="4F81BD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351">
                <a:solidFill>
                  <a:srgbClr val="4F81BD"/>
                </a:solidFill>
              </a:endParaRPr>
            </a:p>
          </p:txBody>
        </p:sp>
        <p:cxnSp>
          <p:nvCxnSpPr>
            <p:cNvPr id="15" name="Straight Arrow Connector 14"/>
            <p:cNvCxnSpPr>
              <a:stCxn id="14" idx="0"/>
            </p:cNvCxnSpPr>
            <p:nvPr/>
          </p:nvCxnSpPr>
          <p:spPr>
            <a:xfrm flipV="1">
              <a:off x="6096000" y="898825"/>
              <a:ext cx="1" cy="753193"/>
            </a:xfrm>
            <a:prstGeom prst="straightConnector1">
              <a:avLst/>
            </a:prstGeom>
            <a:ln w="28575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9"/>
            <p:cNvCxnSpPr>
              <a:stCxn id="14" idx="6"/>
            </p:cNvCxnSpPr>
            <p:nvPr/>
          </p:nvCxnSpPr>
          <p:spPr>
            <a:xfrm flipV="1">
              <a:off x="6132004" y="1250827"/>
              <a:ext cx="725996" cy="437195"/>
            </a:xfrm>
            <a:prstGeom prst="straightConnector1">
              <a:avLst/>
            </a:prstGeom>
            <a:ln w="28575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4"/>
          <p:cNvSpPr txBox="1"/>
          <p:nvPr userDrawn="1"/>
        </p:nvSpPr>
        <p:spPr>
          <a:xfrm>
            <a:off x="2567608" y="2888940"/>
            <a:ext cx="71287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dirty="0">
                <a:solidFill>
                  <a:srgbClr val="4F81BD"/>
                </a:solidFill>
                <a:latin typeface="+mj-lt"/>
              </a:rPr>
              <a:t>中场休息</a:t>
            </a:r>
            <a:r>
              <a:rPr lang="en-US" altLang="zh-CN" sz="5400" dirty="0">
                <a:solidFill>
                  <a:srgbClr val="4F81BD"/>
                </a:solidFill>
                <a:latin typeface="+mj-lt"/>
              </a:rPr>
              <a:t>10</a:t>
            </a:r>
            <a:r>
              <a:rPr lang="zh-CN" altLang="en-US" sz="5400" dirty="0">
                <a:solidFill>
                  <a:srgbClr val="4F81BD"/>
                </a:solidFill>
                <a:latin typeface="+mj-lt"/>
              </a:rPr>
              <a:t>分钟</a:t>
            </a:r>
            <a:endParaRPr lang="en-US" sz="5400" dirty="0">
              <a:solidFill>
                <a:srgbClr val="4F81BD"/>
              </a:solidFill>
              <a:latin typeface="+mj-lt"/>
            </a:endParaRPr>
          </a:p>
        </p:txBody>
      </p:sp>
      <p:cxnSp>
        <p:nvCxnSpPr>
          <p:cNvPr id="18" name="Straight Connector 6"/>
          <p:cNvCxnSpPr/>
          <p:nvPr userDrawn="1"/>
        </p:nvCxnSpPr>
        <p:spPr>
          <a:xfrm>
            <a:off x="3107668" y="3902447"/>
            <a:ext cx="6048672" cy="0"/>
          </a:xfrm>
          <a:prstGeom prst="line">
            <a:avLst/>
          </a:prstGeom>
          <a:ln w="76200">
            <a:solidFill>
              <a:srgbClr val="F796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片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2319" y="465119"/>
            <a:ext cx="2703583" cy="36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777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结束页参考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6">
            <a:extLst>
              <a:ext uri="{FF2B5EF4-FFF2-40B4-BE49-F238E27FC236}">
                <a16:creationId xmlns:a16="http://schemas.microsoft.com/office/drawing/2014/main" id="{BBD578CF-8D75-4855-A0E1-063AE40451A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233677" y="3614990"/>
            <a:ext cx="5724644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心系托付，一路广发</a:t>
            </a:r>
          </a:p>
        </p:txBody>
      </p:sp>
      <p:pic>
        <p:nvPicPr>
          <p:cNvPr id="11" name="Picture 3" descr="C:\Users\Administrator\Desktop\ppt封底0-0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1"/>
            <a:ext cx="12192000" cy="6862032"/>
          </a:xfrm>
          <a:prstGeom prst="rect">
            <a:avLst/>
          </a:prstGeom>
          <a:noFill/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9635" y="2655341"/>
            <a:ext cx="5864364" cy="78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534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模板内页范式-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1907" y="233578"/>
            <a:ext cx="10311275" cy="591407"/>
          </a:xfrm>
        </p:spPr>
        <p:txBody>
          <a:bodyPr>
            <a:normAutofit/>
          </a:bodyPr>
          <a:lstStyle>
            <a:lvl1pPr>
              <a:defRPr lang="zh-CN" altLang="en-US" sz="2800" b="1" kern="1200" dirty="0">
                <a:solidFill>
                  <a:srgbClr val="4F81BD">
                    <a:lumMod val="75000"/>
                  </a:srgb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9870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模板内页范式-纯白（谨慎使用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04D8801-D2A2-4EAE-A4F7-BFB79D02F0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/>
          <a:lstStyle/>
          <a:p>
            <a:fld id="{92301BE8-2934-4802-B053-0D125B425CDE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2023/7/5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99A1CD-D6B6-4281-8024-1A10A8EF19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559829" y="6356352"/>
            <a:ext cx="2844800" cy="365125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D3E5BEE-F46B-43DC-9247-AFF3B89ABFE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1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2319" y="465119"/>
            <a:ext cx="2703583" cy="36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3701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二级目录页可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5D3E5BEE-F46B-43DC-9247-AFF3B89ABFE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D61C2A5B-FD07-4229-8F8C-1BFEB44AF40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0" y="2064139"/>
            <a:ext cx="7297381" cy="625119"/>
          </a:xfrm>
          <a:prstGeom prst="rect">
            <a:avLst/>
          </a:prstGeom>
          <a:gradFill flip="none" rotWithShape="1">
            <a:gsLst>
              <a:gs pos="0">
                <a:srgbClr val="5B9BD5">
                  <a:shade val="30000"/>
                  <a:satMod val="115000"/>
                </a:srgbClr>
              </a:gs>
              <a:gs pos="50000">
                <a:srgbClr val="5B9BD5">
                  <a:shade val="67500"/>
                  <a:satMod val="115000"/>
                </a:srgbClr>
              </a:gs>
              <a:gs pos="100000">
                <a:srgbClr val="5B9BD5">
                  <a:shade val="100000"/>
                  <a:satMod val="115000"/>
                </a:srgbClr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2319" y="465119"/>
            <a:ext cx="2703583" cy="363944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4497860" y="2689257"/>
            <a:ext cx="2799523" cy="130667"/>
          </a:xfrm>
          <a:prstGeom prst="rect">
            <a:avLst/>
          </a:prstGeom>
          <a:solidFill>
            <a:srgbClr val="F7964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7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3"/>
          </p:nvPr>
        </p:nvSpPr>
        <p:spPr>
          <a:xfrm>
            <a:off x="772055" y="2160947"/>
            <a:ext cx="3787775" cy="444500"/>
          </a:xfrm>
        </p:spPr>
        <p:txBody>
          <a:bodyPr anchor="ctr">
            <a:normAutofit/>
          </a:bodyPr>
          <a:lstStyle>
            <a:lvl1pPr marL="0" indent="0" algn="l" defTabSz="914377" rtl="0" eaLnBrk="1" latinLnBrk="0" hangingPunct="1">
              <a:buNone/>
              <a:defRPr lang="zh-CN" altLang="en-US" sz="1800" kern="1200">
                <a:solidFill>
                  <a:prstClr val="white"/>
                </a:solidFill>
                <a:latin typeface="黑体" panose="02010609060101010101" pitchFamily="49" charset="-122"/>
                <a:ea typeface="+mn-ea"/>
                <a:cs typeface="+mn-cs"/>
              </a:defRPr>
            </a:lvl1pPr>
          </a:lstStyle>
          <a:p>
            <a:pPr lvl="0"/>
            <a:r>
              <a:rPr lang="zh-CN" altLang="en-US"/>
              <a:t>单击此处编辑母版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4"/>
          </p:nvPr>
        </p:nvSpPr>
        <p:spPr>
          <a:xfrm>
            <a:off x="1505979" y="3358871"/>
            <a:ext cx="2646878" cy="584775"/>
          </a:xfrm>
        </p:spPr>
        <p:txBody>
          <a:bodyPr wrap="none" anchor="ctr">
            <a:spAutoFit/>
          </a:bodyPr>
          <a:lstStyle>
            <a:lvl1pPr marL="0" indent="0">
              <a:buNone/>
              <a:defRPr lang="zh-CN" altLang="en-US" sz="1600" dirty="0" smtClean="0">
                <a:solidFill>
                  <a:srgbClr val="F79646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marL="0" lvl="0">
              <a:lnSpc>
                <a:spcPct val="200000"/>
              </a:lnSpc>
            </a:pPr>
            <a:r>
              <a:rPr lang="zh-CN" altLang="en-US" dirty="0"/>
              <a:t>单击此处编辑母版文本样式</a:t>
            </a:r>
          </a:p>
        </p:txBody>
      </p:sp>
      <p:sp>
        <p:nvSpPr>
          <p:cNvPr id="17" name="文本占位符 15"/>
          <p:cNvSpPr>
            <a:spLocks noGrp="1"/>
          </p:cNvSpPr>
          <p:nvPr>
            <p:ph type="body" sz="quarter" idx="15"/>
          </p:nvPr>
        </p:nvSpPr>
        <p:spPr>
          <a:xfrm>
            <a:off x="1505979" y="4135812"/>
            <a:ext cx="2646878" cy="584775"/>
          </a:xfrm>
        </p:spPr>
        <p:txBody>
          <a:bodyPr wrap="none" anchor="ctr">
            <a:spAutoFit/>
          </a:bodyPr>
          <a:lstStyle>
            <a:lvl1pPr marL="0" indent="0">
              <a:buNone/>
              <a:defRPr lang="zh-CN" altLang="en-US" sz="16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marL="0" lvl="0">
              <a:lnSpc>
                <a:spcPct val="200000"/>
              </a:lnSpc>
            </a:pPr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1719287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结束页参考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6">
            <a:extLst>
              <a:ext uri="{FF2B5EF4-FFF2-40B4-BE49-F238E27FC236}">
                <a16:creationId xmlns:a16="http://schemas.microsoft.com/office/drawing/2014/main" id="{BBD578CF-8D75-4855-A0E1-063AE40451A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233677" y="3614990"/>
            <a:ext cx="5724644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8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心系托付，一路广发</a:t>
            </a:r>
          </a:p>
        </p:txBody>
      </p:sp>
      <p:pic>
        <p:nvPicPr>
          <p:cNvPr id="11" name="Picture 3" descr="C:\Users\Administrator\Desktop\ppt封底0-0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1"/>
            <a:ext cx="12192000" cy="6862032"/>
          </a:xfrm>
          <a:prstGeom prst="rect">
            <a:avLst/>
          </a:prstGeom>
          <a:noFill/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9635" y="2655341"/>
            <a:ext cx="5864364" cy="78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5177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表页-全页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图表占位符 7"/>
          <p:cNvSpPr>
            <a:spLocks noGrp="1"/>
          </p:cNvSpPr>
          <p:nvPr>
            <p:ph type="chart" sz="quarter" idx="13"/>
          </p:nvPr>
        </p:nvSpPr>
        <p:spPr>
          <a:xfrm>
            <a:off x="1428265" y="2326448"/>
            <a:ext cx="9528683" cy="3573256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单击图标添加图表</a:t>
            </a:r>
          </a:p>
        </p:txBody>
      </p:sp>
      <p:sp>
        <p:nvSpPr>
          <p:cNvPr id="12" name="内容占位符 11"/>
          <p:cNvSpPr>
            <a:spLocks noGrp="1"/>
          </p:cNvSpPr>
          <p:nvPr>
            <p:ph sz="quarter" idx="14"/>
          </p:nvPr>
        </p:nvSpPr>
        <p:spPr>
          <a:xfrm>
            <a:off x="3312884" y="1772856"/>
            <a:ext cx="5759449" cy="360000"/>
          </a:xfrm>
          <a:solidFill>
            <a:srgbClr val="EEEEEF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none"/>
        </p:style>
        <p:txBody>
          <a:bodyPr anchor="ctr">
            <a:noAutofit/>
          </a:bodyPr>
          <a:lstStyle>
            <a:lvl1pPr marL="0" indent="0">
              <a:buFontTx/>
              <a:buNone/>
              <a:defRPr kumimoji="0" lang="zh-CN" altLang="en-US" sz="1400" b="1" i="0" u="none" strike="noStrike" kern="1200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ea typeface="+mn-ea"/>
                <a:cs typeface="Times New Roman" pitchFamily="18" charset="0"/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4" indent="0">
              <a:buFontTx/>
              <a:buNone/>
              <a:defRPr/>
            </a:lvl5pPr>
          </a:lstStyle>
          <a:p>
            <a:pPr marL="0" marR="0" lvl="0" indent="0" algn="ctr" defTabSz="91437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531907" y="233578"/>
            <a:ext cx="10311275" cy="591407"/>
          </a:xfrm>
        </p:spPr>
        <p:txBody>
          <a:bodyPr>
            <a:normAutofit/>
          </a:bodyPr>
          <a:lstStyle>
            <a:lvl1pPr>
              <a:defRPr lang="zh-CN" altLang="en-US" sz="2800" b="1" kern="1200" dirty="0">
                <a:solidFill>
                  <a:srgbClr val="4F81BD">
                    <a:lumMod val="75000"/>
                  </a:srgb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3124568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表页-图表在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图表占位符 7"/>
          <p:cNvSpPr>
            <a:spLocks noGrp="1"/>
          </p:cNvSpPr>
          <p:nvPr>
            <p:ph type="chart" sz="quarter" idx="13"/>
          </p:nvPr>
        </p:nvSpPr>
        <p:spPr>
          <a:xfrm>
            <a:off x="6180993" y="2326448"/>
            <a:ext cx="5503985" cy="3573256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单击图标添加图表</a:t>
            </a:r>
          </a:p>
        </p:txBody>
      </p:sp>
      <p:sp>
        <p:nvSpPr>
          <p:cNvPr id="12" name="内容占位符 11"/>
          <p:cNvSpPr>
            <a:spLocks noGrp="1"/>
          </p:cNvSpPr>
          <p:nvPr>
            <p:ph sz="quarter" idx="14"/>
          </p:nvPr>
        </p:nvSpPr>
        <p:spPr>
          <a:xfrm>
            <a:off x="6726115" y="1689801"/>
            <a:ext cx="4588255" cy="360000"/>
          </a:xfrm>
          <a:solidFill>
            <a:srgbClr val="EEEEEF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none"/>
        </p:style>
        <p:txBody>
          <a:bodyPr anchor="ctr">
            <a:noAutofit/>
          </a:bodyPr>
          <a:lstStyle>
            <a:lvl1pPr marL="0" indent="0">
              <a:buFontTx/>
              <a:buNone/>
              <a:defRPr kumimoji="0" lang="zh-CN" altLang="en-US" sz="1400" b="1" i="0" u="none" strike="noStrike" kern="1200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ea typeface="+mn-ea"/>
                <a:cs typeface="Times New Roman" pitchFamily="18" charset="0"/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4" indent="0">
              <a:buFontTx/>
              <a:buNone/>
              <a:defRPr/>
            </a:lvl5pPr>
          </a:lstStyle>
          <a:p>
            <a:pPr marL="0" marR="0" lvl="0" indent="0" algn="ctr" defTabSz="91437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531907" y="233578"/>
            <a:ext cx="10311275" cy="591407"/>
          </a:xfrm>
        </p:spPr>
        <p:txBody>
          <a:bodyPr>
            <a:normAutofit/>
          </a:bodyPr>
          <a:lstStyle>
            <a:lvl1pPr>
              <a:defRPr lang="zh-CN" altLang="en-US" sz="2800" b="1" kern="1200" dirty="0">
                <a:solidFill>
                  <a:srgbClr val="4F81BD">
                    <a:lumMod val="75000"/>
                  </a:srgb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720812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表页-双图表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图表占位符 7"/>
          <p:cNvSpPr>
            <a:spLocks noGrp="1"/>
          </p:cNvSpPr>
          <p:nvPr>
            <p:ph type="chart" sz="quarter" idx="13"/>
          </p:nvPr>
        </p:nvSpPr>
        <p:spPr>
          <a:xfrm>
            <a:off x="6180993" y="2326448"/>
            <a:ext cx="5503985" cy="3573256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单击图标添加图表</a:t>
            </a:r>
          </a:p>
        </p:txBody>
      </p:sp>
      <p:sp>
        <p:nvSpPr>
          <p:cNvPr id="12" name="内容占位符 11"/>
          <p:cNvSpPr>
            <a:spLocks noGrp="1"/>
          </p:cNvSpPr>
          <p:nvPr>
            <p:ph sz="quarter" idx="14"/>
          </p:nvPr>
        </p:nvSpPr>
        <p:spPr>
          <a:xfrm>
            <a:off x="6726115" y="1689801"/>
            <a:ext cx="4588255" cy="360000"/>
          </a:xfrm>
          <a:solidFill>
            <a:srgbClr val="EEEEEF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none"/>
        </p:style>
        <p:txBody>
          <a:bodyPr anchor="ctr">
            <a:noAutofit/>
          </a:bodyPr>
          <a:lstStyle>
            <a:lvl1pPr marL="0" indent="0">
              <a:buFontTx/>
              <a:buNone/>
              <a:defRPr kumimoji="0" lang="zh-CN" altLang="en-US" sz="1400" b="1" i="0" u="none" strike="noStrike" kern="1200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ea typeface="+mn-ea"/>
                <a:cs typeface="Times New Roman" pitchFamily="18" charset="0"/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4" indent="0">
              <a:buFontTx/>
              <a:buNone/>
              <a:defRPr/>
            </a:lvl5pPr>
          </a:lstStyle>
          <a:p>
            <a:pPr marL="0" marR="0" lvl="0" indent="0" algn="ctr" defTabSz="91437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531907" y="233578"/>
            <a:ext cx="10311275" cy="591407"/>
          </a:xfrm>
        </p:spPr>
        <p:txBody>
          <a:bodyPr>
            <a:normAutofit/>
          </a:bodyPr>
          <a:lstStyle>
            <a:lvl1pPr>
              <a:defRPr lang="zh-CN" altLang="en-US" sz="2800" b="1" kern="1200" dirty="0">
                <a:solidFill>
                  <a:srgbClr val="4F81BD">
                    <a:lumMod val="75000"/>
                  </a:srgb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图表占位符 7"/>
          <p:cNvSpPr>
            <a:spLocks noGrp="1"/>
          </p:cNvSpPr>
          <p:nvPr>
            <p:ph type="chart" sz="quarter" idx="15"/>
          </p:nvPr>
        </p:nvSpPr>
        <p:spPr>
          <a:xfrm>
            <a:off x="369278" y="2326448"/>
            <a:ext cx="5503985" cy="3573256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单击图标添加图表</a:t>
            </a:r>
          </a:p>
        </p:txBody>
      </p:sp>
      <p:sp>
        <p:nvSpPr>
          <p:cNvPr id="9" name="内容占位符 11"/>
          <p:cNvSpPr>
            <a:spLocks noGrp="1"/>
          </p:cNvSpPr>
          <p:nvPr>
            <p:ph sz="quarter" idx="16"/>
          </p:nvPr>
        </p:nvSpPr>
        <p:spPr>
          <a:xfrm>
            <a:off x="914401" y="1689801"/>
            <a:ext cx="4588255" cy="360000"/>
          </a:xfrm>
          <a:solidFill>
            <a:srgbClr val="EEEEEF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none"/>
        </p:style>
        <p:txBody>
          <a:bodyPr anchor="ctr">
            <a:noAutofit/>
          </a:bodyPr>
          <a:lstStyle>
            <a:lvl1pPr marL="0" indent="0">
              <a:buFontTx/>
              <a:buNone/>
              <a:defRPr kumimoji="0" lang="zh-CN" altLang="en-US" sz="1400" b="1" i="0" u="none" strike="noStrike" kern="1200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ea typeface="+mn-ea"/>
                <a:cs typeface="Times New Roman" pitchFamily="18" charset="0"/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4" indent="0">
              <a:buFontTx/>
              <a:buNone/>
              <a:defRPr/>
            </a:lvl5pPr>
          </a:lstStyle>
          <a:p>
            <a:pPr marL="0" marR="0" lvl="0" indent="0" algn="ctr" defTabSz="91437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01754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.png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109165" y="251509"/>
            <a:ext cx="10311275" cy="5914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301BE8-2934-4802-B053-0D125B425CDE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2023/7/5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559829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1497" y="6268934"/>
            <a:ext cx="1258939" cy="324863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587375" y="878776"/>
            <a:ext cx="9221643" cy="59377"/>
          </a:xfrm>
          <a:prstGeom prst="rect">
            <a:avLst/>
          </a:prstGeom>
          <a:solidFill>
            <a:srgbClr val="4472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1">
              <a:solidFill>
                <a:srgbClr val="4F81BD">
                  <a:lumMod val="50000"/>
                </a:srgbClr>
              </a:solidFill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9961372" y="878773"/>
            <a:ext cx="1621029" cy="59379"/>
          </a:xfrm>
          <a:prstGeom prst="rect">
            <a:avLst/>
          </a:prstGeom>
          <a:solidFill>
            <a:srgbClr val="E838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1" dirty="0">
              <a:solidFill>
                <a:srgbClr val="E4551A"/>
              </a:solidFill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971986" y="478350"/>
            <a:ext cx="971985" cy="364565"/>
          </a:xfrm>
          <a:prstGeom prst="rect">
            <a:avLst/>
          </a:prstGeom>
          <a:solidFill>
            <a:srgbClr val="4472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  <a:ea typeface="+mn-ea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-1003861" y="537860"/>
            <a:ext cx="1129295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chemeClr val="bg1"/>
                </a:solidFill>
                <a:latin typeface="+mn-ea"/>
                <a:ea typeface="+mn-ea"/>
              </a:rPr>
              <a:t>R68 G114 B169</a:t>
            </a:r>
            <a:endParaRPr lang="zh-CN" altLang="en-US" sz="105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-971986" y="1108551"/>
            <a:ext cx="971986" cy="364565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  <a:ea typeface="+mn-ea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-1003862" y="1161424"/>
            <a:ext cx="1101487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chemeClr val="bg1"/>
                </a:solidFill>
                <a:latin typeface="+mn-ea"/>
                <a:ea typeface="+mn-ea"/>
              </a:rPr>
              <a:t>R79 G129 B189</a:t>
            </a:r>
            <a:endParaRPr lang="zh-CN" altLang="en-US" sz="105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-852504" y="115578"/>
            <a:ext cx="7814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latin typeface="+mn-ea"/>
                <a:ea typeface="+mn-ea"/>
              </a:rPr>
              <a:t>参考配色</a:t>
            </a:r>
          </a:p>
        </p:txBody>
      </p:sp>
      <p:sp>
        <p:nvSpPr>
          <p:cNvPr id="15" name="矩形 14"/>
          <p:cNvSpPr/>
          <p:nvPr userDrawn="1"/>
        </p:nvSpPr>
        <p:spPr>
          <a:xfrm>
            <a:off x="-971986" y="1738752"/>
            <a:ext cx="971986" cy="3645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  <a:ea typeface="+mn-ea"/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-1034147" y="1805388"/>
            <a:ext cx="118986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latin typeface="+mn-ea"/>
                <a:ea typeface="+mn-ea"/>
              </a:rPr>
              <a:t>R189 G205 B229</a:t>
            </a:r>
            <a:endParaRPr lang="zh-CN" altLang="en-US" sz="1050" dirty="0">
              <a:latin typeface="+mn-ea"/>
              <a:ea typeface="+mn-ea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-971986" y="2369203"/>
            <a:ext cx="971986" cy="364565"/>
          </a:xfrm>
          <a:prstGeom prst="rect">
            <a:avLst/>
          </a:prstGeom>
          <a:solidFill>
            <a:srgbClr val="E838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  <a:ea typeface="+mn-ea"/>
            </a:endParaRPr>
          </a:p>
        </p:txBody>
      </p:sp>
      <p:sp>
        <p:nvSpPr>
          <p:cNvPr id="18" name="文本框 17"/>
          <p:cNvSpPr txBox="1"/>
          <p:nvPr userDrawn="1"/>
        </p:nvSpPr>
        <p:spPr>
          <a:xfrm>
            <a:off x="-879357" y="2378145"/>
            <a:ext cx="8802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solidFill>
                  <a:schemeClr val="bg1"/>
                </a:solidFill>
                <a:latin typeface="+mn-ea"/>
                <a:ea typeface="+mn-ea"/>
              </a:rPr>
              <a:t>R232 G56 B13</a:t>
            </a:r>
          </a:p>
          <a:p>
            <a:r>
              <a:rPr lang="zh-CN" altLang="en-US" sz="800" dirty="0">
                <a:solidFill>
                  <a:schemeClr val="bg1"/>
                </a:solidFill>
                <a:latin typeface="+mn-ea"/>
                <a:ea typeface="+mn-ea"/>
              </a:rPr>
              <a:t>（</a:t>
            </a:r>
            <a:r>
              <a:rPr lang="en-US" altLang="zh-CN" sz="800" dirty="0">
                <a:solidFill>
                  <a:schemeClr val="bg1"/>
                </a:solidFill>
                <a:latin typeface="+mn-ea"/>
                <a:ea typeface="+mn-ea"/>
              </a:rPr>
              <a:t>VI</a:t>
            </a:r>
            <a:r>
              <a:rPr lang="zh-CN" altLang="en-US" sz="800" dirty="0">
                <a:solidFill>
                  <a:schemeClr val="bg1"/>
                </a:solidFill>
                <a:latin typeface="+mn-ea"/>
                <a:ea typeface="+mn-ea"/>
              </a:rPr>
              <a:t>标准色）</a:t>
            </a:r>
          </a:p>
        </p:txBody>
      </p:sp>
      <p:sp>
        <p:nvSpPr>
          <p:cNvPr id="19" name="矩形 18"/>
          <p:cNvSpPr/>
          <p:nvPr userDrawn="1"/>
        </p:nvSpPr>
        <p:spPr>
          <a:xfrm>
            <a:off x="-971986" y="3001540"/>
            <a:ext cx="971986" cy="364565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  <a:ea typeface="+mn-ea"/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-1034147" y="3052277"/>
            <a:ext cx="1098143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chemeClr val="bg1"/>
                </a:solidFill>
                <a:latin typeface="+mn-ea"/>
                <a:ea typeface="+mn-ea"/>
              </a:rPr>
              <a:t>R247 G150 B70</a:t>
            </a:r>
            <a:endParaRPr lang="zh-CN" altLang="en-US" sz="105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-971987" y="3629354"/>
            <a:ext cx="971985" cy="364565"/>
          </a:xfrm>
          <a:prstGeom prst="rect">
            <a:avLst/>
          </a:prstGeom>
          <a:solidFill>
            <a:srgbClr val="FDBE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  <a:ea typeface="+mn-ea"/>
            </a:endParaRPr>
          </a:p>
        </p:txBody>
      </p:sp>
      <p:sp>
        <p:nvSpPr>
          <p:cNvPr id="22" name="文本框 21"/>
          <p:cNvSpPr txBox="1"/>
          <p:nvPr userDrawn="1"/>
        </p:nvSpPr>
        <p:spPr>
          <a:xfrm>
            <a:off x="-1034147" y="3684614"/>
            <a:ext cx="1125723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latin typeface="+mn-ea"/>
                <a:ea typeface="+mn-ea"/>
              </a:rPr>
              <a:t>R253 G190 B148</a:t>
            </a:r>
            <a:endParaRPr lang="zh-CN" altLang="en-US" sz="1050" dirty="0">
              <a:latin typeface="+mn-ea"/>
              <a:ea typeface="+mn-ea"/>
            </a:endParaRPr>
          </a:p>
        </p:txBody>
      </p:sp>
      <p:sp>
        <p:nvSpPr>
          <p:cNvPr id="23" name="矩形 22"/>
          <p:cNvSpPr/>
          <p:nvPr userDrawn="1"/>
        </p:nvSpPr>
        <p:spPr>
          <a:xfrm>
            <a:off x="-971987" y="4884982"/>
            <a:ext cx="971987" cy="36456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  <a:ea typeface="+mn-ea"/>
            </a:endParaRPr>
          </a:p>
        </p:txBody>
      </p:sp>
      <p:sp>
        <p:nvSpPr>
          <p:cNvPr id="24" name="文本框 23"/>
          <p:cNvSpPr txBox="1"/>
          <p:nvPr userDrawn="1"/>
        </p:nvSpPr>
        <p:spPr>
          <a:xfrm>
            <a:off x="-1049323" y="4940242"/>
            <a:ext cx="1156073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chemeClr val="bg1"/>
                </a:solidFill>
                <a:latin typeface="+mn-ea"/>
                <a:ea typeface="+mn-ea"/>
              </a:rPr>
              <a:t>R166 G166 B166</a:t>
            </a:r>
            <a:endParaRPr lang="zh-CN" altLang="en-US" sz="105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-971987" y="5519956"/>
            <a:ext cx="971985" cy="3645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  <a:ea typeface="+mn-ea"/>
            </a:endParaRPr>
          </a:p>
        </p:txBody>
      </p:sp>
      <p:sp>
        <p:nvSpPr>
          <p:cNvPr id="26" name="文本框 25"/>
          <p:cNvSpPr txBox="1"/>
          <p:nvPr userDrawn="1"/>
        </p:nvSpPr>
        <p:spPr>
          <a:xfrm>
            <a:off x="-1034147" y="5568783"/>
            <a:ext cx="1144773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latin typeface="+mn-ea"/>
                <a:ea typeface="+mn-ea"/>
              </a:rPr>
              <a:t>R217 G217 B217</a:t>
            </a:r>
            <a:endParaRPr lang="zh-CN" altLang="en-US" sz="1050" dirty="0">
              <a:latin typeface="+mn-ea"/>
              <a:ea typeface="+mn-ea"/>
            </a:endParaRPr>
          </a:p>
        </p:txBody>
      </p:sp>
      <p:sp>
        <p:nvSpPr>
          <p:cNvPr id="27" name="矩形 26"/>
          <p:cNvSpPr/>
          <p:nvPr userDrawn="1"/>
        </p:nvSpPr>
        <p:spPr>
          <a:xfrm>
            <a:off x="-971987" y="4257168"/>
            <a:ext cx="971987" cy="36456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8" name="文本框 27"/>
          <p:cNvSpPr txBox="1"/>
          <p:nvPr userDrawn="1"/>
        </p:nvSpPr>
        <p:spPr>
          <a:xfrm>
            <a:off x="-1043695" y="4312428"/>
            <a:ext cx="1144818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chemeClr val="bg1"/>
                </a:solidFill>
                <a:latin typeface="+mn-ea"/>
                <a:ea typeface="+mn-ea"/>
              </a:rPr>
              <a:t>R127 G127 B127</a:t>
            </a:r>
            <a:endParaRPr lang="zh-CN" altLang="en-US" sz="105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1" name="矩形 30"/>
          <p:cNvSpPr/>
          <p:nvPr userDrawn="1"/>
        </p:nvSpPr>
        <p:spPr>
          <a:xfrm>
            <a:off x="12128004" y="581728"/>
            <a:ext cx="1188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altLang="zh-CN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页面主标题：黑体，</a:t>
            </a:r>
            <a:r>
              <a:rPr lang="en-US" altLang="zh-CN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32</a:t>
            </a:r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号加粗，颜色：白色或黑色，使用人可根据需要调整字号，但一般不建议使用小于</a:t>
            </a:r>
            <a:r>
              <a:rPr lang="en-US" altLang="zh-CN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32</a:t>
            </a:r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号字体 </a:t>
            </a:r>
            <a:endParaRPr lang="en-US" altLang="zh-CN" sz="900" dirty="0">
              <a:solidFill>
                <a:srgbClr val="FFFFFF">
                  <a:lumMod val="65000"/>
                </a:srgb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>
              <a:defRPr/>
            </a:pPr>
            <a:endParaRPr lang="en-US" altLang="zh-CN" sz="900" dirty="0">
              <a:solidFill>
                <a:srgbClr val="FFFFFF">
                  <a:lumMod val="65000"/>
                </a:srgb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/>
            <a:r>
              <a:rPr lang="en-US" altLang="zh-CN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目录页章节序号：黑体，建议字体</a:t>
            </a:r>
            <a:r>
              <a:rPr lang="en-US" altLang="zh-CN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16</a:t>
            </a:r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号以上</a:t>
            </a:r>
            <a:endParaRPr lang="en-US" altLang="zh-CN" sz="900" dirty="0">
              <a:solidFill>
                <a:srgbClr val="FFFFFF">
                  <a:lumMod val="65000"/>
                </a:srgb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/>
            <a:endParaRPr lang="en-US" altLang="zh-CN" sz="900" dirty="0">
              <a:solidFill>
                <a:srgbClr val="FFFFFF">
                  <a:lumMod val="65000"/>
                </a:srgb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indent="0" algn="just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.目录页章节序号进行提示和强调时，推荐使用加粗或变更颜色，颜色推荐使用橙色（</a:t>
            </a:r>
            <a:r>
              <a:rPr lang="en-US" altLang="zh-CN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R247 G150 B70</a:t>
            </a:r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900" dirty="0">
              <a:solidFill>
                <a:srgbClr val="FFFFFF">
                  <a:lumMod val="65000"/>
                </a:srgb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93186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55" r:id="rId2"/>
    <p:sldLayoutId id="2147483751" r:id="rId3"/>
    <p:sldLayoutId id="2147483764" r:id="rId4"/>
    <p:sldLayoutId id="2147483752" r:id="rId5"/>
    <p:sldLayoutId id="2147483750" r:id="rId6"/>
    <p:sldLayoutId id="2147483736" r:id="rId7"/>
    <p:sldLayoutId id="2147483787" r:id="rId8"/>
    <p:sldLayoutId id="2147483731" r:id="rId9"/>
  </p:sldLayoutIdLst>
  <p:hf hdr="0" ftr="0" dt="0"/>
  <p:txStyles>
    <p:titleStyle>
      <a:lvl1pPr algn="l" defTabSz="914377" rtl="0" eaLnBrk="1" latinLnBrk="0" hangingPunct="1"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109165" y="251509"/>
            <a:ext cx="10311275" cy="5914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301BE8-2934-4802-B053-0D125B425CDE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2023/7/5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559829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1497" y="6268934"/>
            <a:ext cx="1258939" cy="324863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587375" y="878776"/>
            <a:ext cx="9221643" cy="59377"/>
          </a:xfrm>
          <a:prstGeom prst="rect">
            <a:avLst/>
          </a:prstGeom>
          <a:solidFill>
            <a:srgbClr val="4472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1">
              <a:solidFill>
                <a:srgbClr val="4F81BD">
                  <a:lumMod val="50000"/>
                </a:srgbClr>
              </a:solidFill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9961372" y="878773"/>
            <a:ext cx="1621029" cy="59379"/>
          </a:xfrm>
          <a:prstGeom prst="rect">
            <a:avLst/>
          </a:prstGeom>
          <a:solidFill>
            <a:srgbClr val="E838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1" dirty="0">
              <a:solidFill>
                <a:srgbClr val="E4551A"/>
              </a:solidFill>
            </a:endParaRPr>
          </a:p>
        </p:txBody>
      </p:sp>
      <p:sp>
        <p:nvSpPr>
          <p:cNvPr id="30" name="矩形 29"/>
          <p:cNvSpPr/>
          <p:nvPr userDrawn="1"/>
        </p:nvSpPr>
        <p:spPr>
          <a:xfrm>
            <a:off x="12192000" y="397009"/>
            <a:ext cx="1188000" cy="57708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页面主标题：微软雅黑 </a:t>
            </a:r>
            <a:r>
              <a:rPr lang="en-US" altLang="zh-CN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28</a:t>
            </a:r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号 加粗 蓝色（</a:t>
            </a:r>
            <a:r>
              <a:rPr lang="en-US" altLang="zh-CN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R55 G96 B146</a:t>
            </a:r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900" dirty="0">
              <a:solidFill>
                <a:srgbClr val="FFFFFF">
                  <a:lumMod val="65000"/>
                </a:srgb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/>
            <a:endParaRPr lang="en-US" altLang="zh-CN" sz="900" dirty="0">
              <a:solidFill>
                <a:srgbClr val="FFFFFF">
                  <a:lumMod val="65000"/>
                </a:srgb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/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内文一级标题：推荐使用黑体  </a:t>
            </a:r>
            <a:r>
              <a:rPr lang="en-US" altLang="zh-CN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16</a:t>
            </a:r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号  黑色（</a:t>
            </a:r>
            <a:r>
              <a:rPr lang="en-US" altLang="zh-CN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R0 G0 B0</a:t>
            </a:r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），一级标题使用“项目符号”中的钻石型符号，钻石型颜色为橙色（</a:t>
            </a:r>
            <a:r>
              <a:rPr lang="en-US" altLang="zh-CN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R247 G150 B70</a:t>
            </a:r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900" dirty="0">
              <a:solidFill>
                <a:srgbClr val="FFFFFF">
                  <a:lumMod val="65000"/>
                </a:srgb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/>
            <a:endParaRPr lang="en-US" altLang="zh-CN" sz="900" dirty="0">
              <a:solidFill>
                <a:srgbClr val="FFFFFF">
                  <a:lumMod val="65000"/>
                </a:srgb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indent="0" algn="just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 内文二级标题：推荐使用宋体  </a:t>
            </a:r>
            <a:r>
              <a:rPr lang="en-US" altLang="zh-CN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14</a:t>
            </a:r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号  黑色（</a:t>
            </a:r>
            <a:r>
              <a:rPr lang="en-US" altLang="zh-CN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R0 G0 B0</a:t>
            </a:r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），二级标题使用“项目符号”中的小圆型符号，小圆型颜色为橙色（</a:t>
            </a:r>
            <a:r>
              <a:rPr lang="en-US" altLang="zh-CN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R247 G150 B70</a:t>
            </a:r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900" dirty="0">
              <a:solidFill>
                <a:srgbClr val="FFFFFF">
                  <a:lumMod val="65000"/>
                </a:srgb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indent="0" algn="just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900" dirty="0">
              <a:solidFill>
                <a:srgbClr val="FFFFFF">
                  <a:lumMod val="65000"/>
                </a:srgb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indent="0" algn="just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 内文文字：推荐使用宋体  </a:t>
            </a:r>
            <a:r>
              <a:rPr lang="en-US" altLang="zh-CN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14</a:t>
            </a:r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号  黑色（</a:t>
            </a:r>
            <a:r>
              <a:rPr lang="en-US" altLang="zh-CN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R0 G0 B0</a:t>
            </a:r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），正文使用“项目符号”中的小圆型符号，小圆型颜色为橙色（</a:t>
            </a:r>
            <a:r>
              <a:rPr lang="en-US" altLang="zh-CN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R247 G150 B70</a:t>
            </a:r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），在二级标题下使用时，可不用符号或使用其他符号</a:t>
            </a:r>
            <a:endParaRPr lang="en-US" altLang="zh-CN" sz="900" dirty="0">
              <a:solidFill>
                <a:srgbClr val="FFFFFF">
                  <a:lumMod val="65000"/>
                </a:srgb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indent="0" algn="just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900" dirty="0">
              <a:solidFill>
                <a:srgbClr val="FFFFFF">
                  <a:lumMod val="65000"/>
                </a:srgb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indent="0" algn="just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 一二级标题、内文文字进行提示和强调时，推荐使用加粗或变更颜色，推荐使用橙色（</a:t>
            </a:r>
            <a:r>
              <a:rPr lang="en-US" altLang="zh-CN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R247 G150 B70</a:t>
            </a:r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900" dirty="0">
              <a:solidFill>
                <a:srgbClr val="FFFFFF">
                  <a:lumMod val="65000"/>
                </a:srgb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/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所有备注中文为宋体，英文</a:t>
            </a:r>
            <a:r>
              <a:rPr lang="en-US" altLang="zh-CN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Time New Roman</a:t>
            </a:r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号，黑色（</a:t>
            </a:r>
            <a:r>
              <a:rPr lang="en-US" altLang="zh-CN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R0</a:t>
            </a:r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G0</a:t>
            </a:r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B0</a:t>
            </a:r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49" name="矩形 48"/>
          <p:cNvSpPr/>
          <p:nvPr userDrawn="1"/>
        </p:nvSpPr>
        <p:spPr>
          <a:xfrm>
            <a:off x="-971986" y="478350"/>
            <a:ext cx="971985" cy="364565"/>
          </a:xfrm>
          <a:prstGeom prst="rect">
            <a:avLst/>
          </a:prstGeom>
          <a:solidFill>
            <a:srgbClr val="4472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  <a:ea typeface="+mn-ea"/>
            </a:endParaRPr>
          </a:p>
        </p:txBody>
      </p:sp>
      <p:sp>
        <p:nvSpPr>
          <p:cNvPr id="50" name="文本框 49"/>
          <p:cNvSpPr txBox="1"/>
          <p:nvPr userDrawn="1"/>
        </p:nvSpPr>
        <p:spPr>
          <a:xfrm>
            <a:off x="-1003861" y="537860"/>
            <a:ext cx="1129295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chemeClr val="bg1"/>
                </a:solidFill>
                <a:latin typeface="+mn-ea"/>
                <a:ea typeface="+mn-ea"/>
              </a:rPr>
              <a:t>R68 G114 B169</a:t>
            </a:r>
            <a:endParaRPr lang="zh-CN" altLang="en-US" sz="105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51" name="矩形 50"/>
          <p:cNvSpPr/>
          <p:nvPr userDrawn="1"/>
        </p:nvSpPr>
        <p:spPr>
          <a:xfrm>
            <a:off x="-971986" y="1108551"/>
            <a:ext cx="971986" cy="364565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  <a:ea typeface="+mn-ea"/>
            </a:endParaRPr>
          </a:p>
        </p:txBody>
      </p:sp>
      <p:sp>
        <p:nvSpPr>
          <p:cNvPr id="52" name="文本框 51"/>
          <p:cNvSpPr txBox="1"/>
          <p:nvPr userDrawn="1"/>
        </p:nvSpPr>
        <p:spPr>
          <a:xfrm>
            <a:off x="-1003862" y="1161424"/>
            <a:ext cx="1101487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chemeClr val="bg1"/>
                </a:solidFill>
                <a:latin typeface="+mn-ea"/>
                <a:ea typeface="+mn-ea"/>
              </a:rPr>
              <a:t>R79 G129 B189</a:t>
            </a:r>
            <a:endParaRPr lang="zh-CN" altLang="en-US" sz="105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53" name="文本框 52"/>
          <p:cNvSpPr txBox="1"/>
          <p:nvPr userDrawn="1"/>
        </p:nvSpPr>
        <p:spPr>
          <a:xfrm>
            <a:off x="-852504" y="115578"/>
            <a:ext cx="7814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latin typeface="+mn-ea"/>
                <a:ea typeface="+mn-ea"/>
              </a:rPr>
              <a:t>参考配色</a:t>
            </a:r>
          </a:p>
        </p:txBody>
      </p:sp>
      <p:sp>
        <p:nvSpPr>
          <p:cNvPr id="54" name="矩形 53"/>
          <p:cNvSpPr/>
          <p:nvPr userDrawn="1"/>
        </p:nvSpPr>
        <p:spPr>
          <a:xfrm>
            <a:off x="-971986" y="1738752"/>
            <a:ext cx="971986" cy="3645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  <a:ea typeface="+mn-ea"/>
            </a:endParaRPr>
          </a:p>
        </p:txBody>
      </p:sp>
      <p:sp>
        <p:nvSpPr>
          <p:cNvPr id="55" name="文本框 54"/>
          <p:cNvSpPr txBox="1"/>
          <p:nvPr userDrawn="1"/>
        </p:nvSpPr>
        <p:spPr>
          <a:xfrm>
            <a:off x="-1034147" y="1805388"/>
            <a:ext cx="118986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latin typeface="+mn-ea"/>
                <a:ea typeface="+mn-ea"/>
              </a:rPr>
              <a:t>R189 G205 B229</a:t>
            </a:r>
            <a:endParaRPr lang="zh-CN" altLang="en-US" sz="1050" dirty="0">
              <a:latin typeface="+mn-ea"/>
              <a:ea typeface="+mn-ea"/>
            </a:endParaRPr>
          </a:p>
        </p:txBody>
      </p:sp>
      <p:sp>
        <p:nvSpPr>
          <p:cNvPr id="56" name="矩形 55"/>
          <p:cNvSpPr/>
          <p:nvPr userDrawn="1"/>
        </p:nvSpPr>
        <p:spPr>
          <a:xfrm>
            <a:off x="-971986" y="2369203"/>
            <a:ext cx="971986" cy="364565"/>
          </a:xfrm>
          <a:prstGeom prst="rect">
            <a:avLst/>
          </a:prstGeom>
          <a:solidFill>
            <a:srgbClr val="E838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  <a:ea typeface="+mn-ea"/>
            </a:endParaRPr>
          </a:p>
        </p:txBody>
      </p:sp>
      <p:sp>
        <p:nvSpPr>
          <p:cNvPr id="57" name="文本框 56"/>
          <p:cNvSpPr txBox="1"/>
          <p:nvPr userDrawn="1"/>
        </p:nvSpPr>
        <p:spPr>
          <a:xfrm>
            <a:off x="-879357" y="2378145"/>
            <a:ext cx="8802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solidFill>
                  <a:schemeClr val="bg1"/>
                </a:solidFill>
                <a:latin typeface="+mn-ea"/>
                <a:ea typeface="+mn-ea"/>
              </a:rPr>
              <a:t>R232 G56 B13</a:t>
            </a:r>
          </a:p>
          <a:p>
            <a:r>
              <a:rPr lang="zh-CN" altLang="en-US" sz="800" dirty="0">
                <a:solidFill>
                  <a:schemeClr val="bg1"/>
                </a:solidFill>
                <a:latin typeface="+mn-ea"/>
                <a:ea typeface="+mn-ea"/>
              </a:rPr>
              <a:t>（</a:t>
            </a:r>
            <a:r>
              <a:rPr lang="en-US" altLang="zh-CN" sz="800" dirty="0">
                <a:solidFill>
                  <a:schemeClr val="bg1"/>
                </a:solidFill>
                <a:latin typeface="+mn-ea"/>
                <a:ea typeface="+mn-ea"/>
              </a:rPr>
              <a:t>VI</a:t>
            </a:r>
            <a:r>
              <a:rPr lang="zh-CN" altLang="en-US" sz="800" dirty="0">
                <a:solidFill>
                  <a:schemeClr val="bg1"/>
                </a:solidFill>
                <a:latin typeface="+mn-ea"/>
                <a:ea typeface="+mn-ea"/>
              </a:rPr>
              <a:t>标准色）</a:t>
            </a:r>
          </a:p>
        </p:txBody>
      </p:sp>
      <p:sp>
        <p:nvSpPr>
          <p:cNvPr id="58" name="矩形 57"/>
          <p:cNvSpPr/>
          <p:nvPr userDrawn="1"/>
        </p:nvSpPr>
        <p:spPr>
          <a:xfrm>
            <a:off x="-971986" y="3001540"/>
            <a:ext cx="971986" cy="364565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  <a:ea typeface="+mn-ea"/>
            </a:endParaRPr>
          </a:p>
        </p:txBody>
      </p:sp>
      <p:sp>
        <p:nvSpPr>
          <p:cNvPr id="59" name="文本框 58"/>
          <p:cNvSpPr txBox="1"/>
          <p:nvPr userDrawn="1"/>
        </p:nvSpPr>
        <p:spPr>
          <a:xfrm>
            <a:off x="-1034147" y="3052277"/>
            <a:ext cx="1098143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chemeClr val="bg1"/>
                </a:solidFill>
                <a:latin typeface="+mn-ea"/>
                <a:ea typeface="+mn-ea"/>
              </a:rPr>
              <a:t>R247 G150 B70</a:t>
            </a:r>
            <a:endParaRPr lang="zh-CN" altLang="en-US" sz="105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60" name="矩形 59"/>
          <p:cNvSpPr/>
          <p:nvPr userDrawn="1"/>
        </p:nvSpPr>
        <p:spPr>
          <a:xfrm>
            <a:off x="-971987" y="3629354"/>
            <a:ext cx="971985" cy="364565"/>
          </a:xfrm>
          <a:prstGeom prst="rect">
            <a:avLst/>
          </a:prstGeom>
          <a:solidFill>
            <a:srgbClr val="FDBE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  <a:ea typeface="+mn-ea"/>
            </a:endParaRPr>
          </a:p>
        </p:txBody>
      </p:sp>
      <p:sp>
        <p:nvSpPr>
          <p:cNvPr id="61" name="文本框 60"/>
          <p:cNvSpPr txBox="1"/>
          <p:nvPr userDrawn="1"/>
        </p:nvSpPr>
        <p:spPr>
          <a:xfrm>
            <a:off x="-1034147" y="3684614"/>
            <a:ext cx="1125723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latin typeface="+mn-ea"/>
                <a:ea typeface="+mn-ea"/>
              </a:rPr>
              <a:t>R253 G190 B148</a:t>
            </a:r>
            <a:endParaRPr lang="zh-CN" altLang="en-US" sz="1050" dirty="0">
              <a:latin typeface="+mn-ea"/>
              <a:ea typeface="+mn-ea"/>
            </a:endParaRPr>
          </a:p>
        </p:txBody>
      </p:sp>
      <p:sp>
        <p:nvSpPr>
          <p:cNvPr id="62" name="矩形 61"/>
          <p:cNvSpPr/>
          <p:nvPr userDrawn="1"/>
        </p:nvSpPr>
        <p:spPr>
          <a:xfrm>
            <a:off x="-971987" y="4884982"/>
            <a:ext cx="971987" cy="36456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  <a:ea typeface="+mn-ea"/>
            </a:endParaRPr>
          </a:p>
        </p:txBody>
      </p:sp>
      <p:sp>
        <p:nvSpPr>
          <p:cNvPr id="63" name="文本框 62"/>
          <p:cNvSpPr txBox="1"/>
          <p:nvPr userDrawn="1"/>
        </p:nvSpPr>
        <p:spPr>
          <a:xfrm>
            <a:off x="-1049323" y="4940242"/>
            <a:ext cx="1156073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chemeClr val="bg1"/>
                </a:solidFill>
                <a:latin typeface="+mn-ea"/>
                <a:ea typeface="+mn-ea"/>
              </a:rPr>
              <a:t>R166 G166 B166</a:t>
            </a:r>
            <a:endParaRPr lang="zh-CN" altLang="en-US" sz="105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64" name="矩形 63"/>
          <p:cNvSpPr/>
          <p:nvPr userDrawn="1"/>
        </p:nvSpPr>
        <p:spPr>
          <a:xfrm>
            <a:off x="-971987" y="5519956"/>
            <a:ext cx="971985" cy="3645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  <a:ea typeface="+mn-ea"/>
            </a:endParaRPr>
          </a:p>
        </p:txBody>
      </p:sp>
      <p:sp>
        <p:nvSpPr>
          <p:cNvPr id="65" name="文本框 64"/>
          <p:cNvSpPr txBox="1"/>
          <p:nvPr userDrawn="1"/>
        </p:nvSpPr>
        <p:spPr>
          <a:xfrm>
            <a:off x="-1034147" y="5568783"/>
            <a:ext cx="1144773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latin typeface="+mn-ea"/>
                <a:ea typeface="+mn-ea"/>
              </a:rPr>
              <a:t>R217 G217 B217</a:t>
            </a:r>
            <a:endParaRPr lang="zh-CN" altLang="en-US" sz="1050" dirty="0">
              <a:latin typeface="+mn-ea"/>
              <a:ea typeface="+mn-ea"/>
            </a:endParaRPr>
          </a:p>
        </p:txBody>
      </p:sp>
      <p:sp>
        <p:nvSpPr>
          <p:cNvPr id="66" name="矩形 65"/>
          <p:cNvSpPr/>
          <p:nvPr userDrawn="1"/>
        </p:nvSpPr>
        <p:spPr>
          <a:xfrm>
            <a:off x="-971987" y="4257168"/>
            <a:ext cx="971987" cy="36456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67" name="文本框 66"/>
          <p:cNvSpPr txBox="1"/>
          <p:nvPr userDrawn="1"/>
        </p:nvSpPr>
        <p:spPr>
          <a:xfrm>
            <a:off x="-1043695" y="4312428"/>
            <a:ext cx="1144818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chemeClr val="bg1"/>
                </a:solidFill>
                <a:latin typeface="+mn-ea"/>
                <a:ea typeface="+mn-ea"/>
              </a:rPr>
              <a:t>R127 G127 B127</a:t>
            </a:r>
            <a:endParaRPr lang="zh-CN" altLang="en-US" sz="105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10432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6" r:id="rId2"/>
    <p:sldLayoutId id="2147483788" r:id="rId3"/>
    <p:sldLayoutId id="2147483789" r:id="rId4"/>
  </p:sldLayoutIdLst>
  <p:hf hdr="0" ftr="0" dt="0"/>
  <p:txStyles>
    <p:titleStyle>
      <a:lvl1pPr algn="l" defTabSz="914377" rtl="0" eaLnBrk="1" latinLnBrk="0" hangingPunct="1"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109165" y="251509"/>
            <a:ext cx="10311275" cy="5914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301BE8-2934-4802-B053-0D125B425CDE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2023/7/5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559829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1497" y="6268934"/>
            <a:ext cx="1258939" cy="324863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587375" y="878776"/>
            <a:ext cx="9221643" cy="59377"/>
          </a:xfrm>
          <a:prstGeom prst="rect">
            <a:avLst/>
          </a:prstGeom>
          <a:solidFill>
            <a:srgbClr val="4472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1">
              <a:solidFill>
                <a:srgbClr val="4F81BD">
                  <a:lumMod val="50000"/>
                </a:srgbClr>
              </a:solidFill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9961372" y="878773"/>
            <a:ext cx="1621029" cy="59379"/>
          </a:xfrm>
          <a:prstGeom prst="rect">
            <a:avLst/>
          </a:prstGeom>
          <a:solidFill>
            <a:srgbClr val="E838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1" dirty="0">
              <a:solidFill>
                <a:srgbClr val="E4551A"/>
              </a:solidFill>
            </a:endParaRPr>
          </a:p>
        </p:txBody>
      </p:sp>
      <p:sp>
        <p:nvSpPr>
          <p:cNvPr id="29" name="矩形 28"/>
          <p:cNvSpPr/>
          <p:nvPr userDrawn="1"/>
        </p:nvSpPr>
        <p:spPr>
          <a:xfrm>
            <a:off x="12192000" y="347590"/>
            <a:ext cx="1188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图表标题字体为黑体，一般为1</a:t>
            </a:r>
            <a:r>
              <a:rPr lang="en-US" altLang="zh-CN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号（视需要可调），黑色（R0，G0，B0） ，特殊强调时，可使用加错或变更字体颜色，一般用橙色（</a:t>
            </a:r>
            <a:r>
              <a:rPr lang="en-US" altLang="zh-CN" sz="900" kern="1200" dirty="0">
                <a:solidFill>
                  <a:srgbClr val="A6A6A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R247 G150 B70</a:t>
            </a:r>
            <a:r>
              <a:rPr lang="zh-CN" altLang="en-US" sz="900" kern="1200" dirty="0">
                <a:solidFill>
                  <a:srgbClr val="A6A6A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）或蓝色（</a:t>
            </a:r>
            <a:r>
              <a:rPr lang="en-US" altLang="zh-CN" sz="900" kern="1200" dirty="0">
                <a:solidFill>
                  <a:srgbClr val="A6A6A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R79 G129 B189</a:t>
            </a:r>
            <a:r>
              <a:rPr lang="zh-CN" altLang="en-US" sz="900" kern="1200" dirty="0">
                <a:solidFill>
                  <a:srgbClr val="A6A6A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），</a:t>
            </a:r>
            <a:r>
              <a:rPr lang="zh-CN" altLang="en-US" sz="900" b="0" kern="1200" dirty="0">
                <a:solidFill>
                  <a:srgbClr val="4472A9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一般避免使用对比强烈的色彩</a:t>
            </a:r>
            <a:endParaRPr lang="en-US" altLang="zh-CN" sz="900" b="0" kern="1200" dirty="0">
              <a:solidFill>
                <a:srgbClr val="4472A9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just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900" b="0" dirty="0">
              <a:solidFill>
                <a:srgbClr val="4472A9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/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备注为宋体，</a:t>
            </a:r>
            <a:r>
              <a:rPr lang="en-US" altLang="zh-CN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号，黑色（R0，G0，B0）</a:t>
            </a:r>
            <a:endParaRPr lang="en-US" altLang="zh-CN" sz="900" dirty="0">
              <a:solidFill>
                <a:srgbClr val="FFFFFF">
                  <a:lumMod val="65000"/>
                </a:srgb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/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900" dirty="0">
              <a:solidFill>
                <a:srgbClr val="FFFFFF">
                  <a:lumMod val="65000"/>
                </a:srgb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/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 图例字体使用黑体</a:t>
            </a:r>
            <a:endParaRPr lang="en-US" altLang="zh-CN" sz="900" dirty="0">
              <a:solidFill>
                <a:srgbClr val="FFFFFF">
                  <a:lumMod val="65000"/>
                </a:srgb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/>
            <a:endParaRPr lang="en-US" altLang="zh-CN" sz="900" dirty="0">
              <a:solidFill>
                <a:srgbClr val="FFFFFF">
                  <a:lumMod val="65000"/>
                </a:srgb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/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 图表中数字、英文字体统一为</a:t>
            </a:r>
            <a:r>
              <a:rPr lang="en-US" altLang="zh-CN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Time New Roman</a:t>
            </a:r>
          </a:p>
          <a:p>
            <a:pPr algn="just"/>
            <a:endParaRPr lang="en-US" altLang="zh-CN" sz="900" dirty="0">
              <a:solidFill>
                <a:srgbClr val="FFFFFF">
                  <a:lumMod val="65000"/>
                </a:srgb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/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图表统一使用透明底色或白色，一般不建议使用其他背景色，不建议对图表使用渐变、阴影、立体等复杂效果</a:t>
            </a:r>
            <a:endParaRPr lang="en-US" altLang="zh-CN" sz="900" dirty="0">
              <a:solidFill>
                <a:srgbClr val="FFFFFF">
                  <a:lumMod val="65000"/>
                </a:srgb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/>
            <a:endParaRPr lang="en-US" altLang="zh-CN" sz="900" dirty="0">
              <a:solidFill>
                <a:srgbClr val="FFFFFF">
                  <a:lumMod val="65000"/>
                </a:srgb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/>
            <a:r>
              <a:rPr lang="zh-CN" altLang="en-US" sz="900" dirty="0">
                <a:solidFill>
                  <a:srgbClr val="FFFFFF">
                    <a:lumMod val="65000"/>
                  </a:srgb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图表建议使用蓝色边框</a:t>
            </a:r>
            <a:r>
              <a:rPr lang="zh-CN" altLang="en-US" sz="900" kern="1200" dirty="0">
                <a:solidFill>
                  <a:srgbClr val="A6A6A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（</a:t>
            </a:r>
            <a:r>
              <a:rPr lang="en-US" altLang="zh-CN" sz="900" kern="1200" dirty="0">
                <a:solidFill>
                  <a:srgbClr val="A6A6A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R79 G129 B189</a:t>
            </a:r>
            <a:r>
              <a:rPr lang="zh-CN" altLang="en-US" sz="900" kern="1200" dirty="0">
                <a:solidFill>
                  <a:srgbClr val="A6A6A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），标题行使用蓝色底色（</a:t>
            </a:r>
            <a:r>
              <a:rPr lang="en-US" altLang="zh-CN" sz="900" kern="1200" dirty="0">
                <a:solidFill>
                  <a:srgbClr val="A6A6A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R79 G129 B189</a:t>
            </a:r>
            <a:r>
              <a:rPr lang="zh-CN" altLang="en-US" sz="900" kern="1200" dirty="0">
                <a:solidFill>
                  <a:srgbClr val="A6A6A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）、白色字体（</a:t>
            </a:r>
            <a:r>
              <a:rPr lang="en-US" altLang="zh-CN" sz="900" kern="1200" dirty="0">
                <a:solidFill>
                  <a:srgbClr val="A6A6A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R255 G255 B255</a:t>
            </a:r>
            <a:r>
              <a:rPr lang="zh-CN" altLang="en-US" sz="900" kern="1200" dirty="0">
                <a:solidFill>
                  <a:srgbClr val="A6A6A6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），并加粗</a:t>
            </a:r>
            <a:endParaRPr lang="zh-CN" altLang="en-US" sz="900" dirty="0">
              <a:solidFill>
                <a:srgbClr val="FFFFFF">
                  <a:lumMod val="65000"/>
                </a:srgb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9" name="矩形 48"/>
          <p:cNvSpPr/>
          <p:nvPr userDrawn="1"/>
        </p:nvSpPr>
        <p:spPr>
          <a:xfrm>
            <a:off x="-971986" y="478350"/>
            <a:ext cx="971985" cy="364565"/>
          </a:xfrm>
          <a:prstGeom prst="rect">
            <a:avLst/>
          </a:prstGeom>
          <a:solidFill>
            <a:srgbClr val="4472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  <a:ea typeface="+mn-ea"/>
            </a:endParaRPr>
          </a:p>
        </p:txBody>
      </p:sp>
      <p:sp>
        <p:nvSpPr>
          <p:cNvPr id="50" name="文本框 49"/>
          <p:cNvSpPr txBox="1"/>
          <p:nvPr userDrawn="1"/>
        </p:nvSpPr>
        <p:spPr>
          <a:xfrm>
            <a:off x="-1003861" y="537860"/>
            <a:ext cx="1129295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chemeClr val="bg1"/>
                </a:solidFill>
                <a:latin typeface="+mn-ea"/>
                <a:ea typeface="+mn-ea"/>
              </a:rPr>
              <a:t>R68 G114 B169</a:t>
            </a:r>
            <a:endParaRPr lang="zh-CN" altLang="en-US" sz="105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51" name="矩形 50"/>
          <p:cNvSpPr/>
          <p:nvPr userDrawn="1"/>
        </p:nvSpPr>
        <p:spPr>
          <a:xfrm>
            <a:off x="-971986" y="1108551"/>
            <a:ext cx="971986" cy="364565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  <a:ea typeface="+mn-ea"/>
            </a:endParaRPr>
          </a:p>
        </p:txBody>
      </p:sp>
      <p:sp>
        <p:nvSpPr>
          <p:cNvPr id="52" name="文本框 51"/>
          <p:cNvSpPr txBox="1"/>
          <p:nvPr userDrawn="1"/>
        </p:nvSpPr>
        <p:spPr>
          <a:xfrm>
            <a:off x="-1003862" y="1161424"/>
            <a:ext cx="1101487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chemeClr val="bg1"/>
                </a:solidFill>
                <a:latin typeface="+mn-ea"/>
                <a:ea typeface="+mn-ea"/>
              </a:rPr>
              <a:t>R79 G129 B189</a:t>
            </a:r>
            <a:endParaRPr lang="zh-CN" altLang="en-US" sz="105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53" name="文本框 52"/>
          <p:cNvSpPr txBox="1"/>
          <p:nvPr userDrawn="1"/>
        </p:nvSpPr>
        <p:spPr>
          <a:xfrm>
            <a:off x="-852504" y="115578"/>
            <a:ext cx="7814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latin typeface="+mn-ea"/>
                <a:ea typeface="+mn-ea"/>
              </a:rPr>
              <a:t>参考配色</a:t>
            </a:r>
          </a:p>
        </p:txBody>
      </p:sp>
      <p:sp>
        <p:nvSpPr>
          <p:cNvPr id="54" name="矩形 53"/>
          <p:cNvSpPr/>
          <p:nvPr userDrawn="1"/>
        </p:nvSpPr>
        <p:spPr>
          <a:xfrm>
            <a:off x="-971986" y="1738752"/>
            <a:ext cx="971986" cy="3645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  <a:ea typeface="+mn-ea"/>
            </a:endParaRPr>
          </a:p>
        </p:txBody>
      </p:sp>
      <p:sp>
        <p:nvSpPr>
          <p:cNvPr id="55" name="文本框 54"/>
          <p:cNvSpPr txBox="1"/>
          <p:nvPr userDrawn="1"/>
        </p:nvSpPr>
        <p:spPr>
          <a:xfrm>
            <a:off x="-1034147" y="1805388"/>
            <a:ext cx="118986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latin typeface="+mn-ea"/>
                <a:ea typeface="+mn-ea"/>
              </a:rPr>
              <a:t>R189 G205 B229</a:t>
            </a:r>
            <a:endParaRPr lang="zh-CN" altLang="en-US" sz="1050" dirty="0">
              <a:latin typeface="+mn-ea"/>
              <a:ea typeface="+mn-ea"/>
            </a:endParaRPr>
          </a:p>
        </p:txBody>
      </p:sp>
      <p:sp>
        <p:nvSpPr>
          <p:cNvPr id="56" name="矩形 55"/>
          <p:cNvSpPr/>
          <p:nvPr userDrawn="1"/>
        </p:nvSpPr>
        <p:spPr>
          <a:xfrm>
            <a:off x="-971986" y="2369203"/>
            <a:ext cx="971986" cy="364565"/>
          </a:xfrm>
          <a:prstGeom prst="rect">
            <a:avLst/>
          </a:prstGeom>
          <a:solidFill>
            <a:srgbClr val="E838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  <a:ea typeface="+mn-ea"/>
            </a:endParaRPr>
          </a:p>
        </p:txBody>
      </p:sp>
      <p:sp>
        <p:nvSpPr>
          <p:cNvPr id="57" name="文本框 56"/>
          <p:cNvSpPr txBox="1"/>
          <p:nvPr userDrawn="1"/>
        </p:nvSpPr>
        <p:spPr>
          <a:xfrm>
            <a:off x="-879357" y="2378145"/>
            <a:ext cx="8802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solidFill>
                  <a:schemeClr val="bg1"/>
                </a:solidFill>
                <a:latin typeface="+mn-ea"/>
                <a:ea typeface="+mn-ea"/>
              </a:rPr>
              <a:t>R232 G56 B13</a:t>
            </a:r>
          </a:p>
          <a:p>
            <a:r>
              <a:rPr lang="zh-CN" altLang="en-US" sz="800" dirty="0">
                <a:solidFill>
                  <a:schemeClr val="bg1"/>
                </a:solidFill>
                <a:latin typeface="+mn-ea"/>
                <a:ea typeface="+mn-ea"/>
              </a:rPr>
              <a:t>（</a:t>
            </a:r>
            <a:r>
              <a:rPr lang="en-US" altLang="zh-CN" sz="800" dirty="0">
                <a:solidFill>
                  <a:schemeClr val="bg1"/>
                </a:solidFill>
                <a:latin typeface="+mn-ea"/>
                <a:ea typeface="+mn-ea"/>
              </a:rPr>
              <a:t>VI</a:t>
            </a:r>
            <a:r>
              <a:rPr lang="zh-CN" altLang="en-US" sz="800" dirty="0">
                <a:solidFill>
                  <a:schemeClr val="bg1"/>
                </a:solidFill>
                <a:latin typeface="+mn-ea"/>
                <a:ea typeface="+mn-ea"/>
              </a:rPr>
              <a:t>标准色）</a:t>
            </a:r>
          </a:p>
        </p:txBody>
      </p:sp>
      <p:sp>
        <p:nvSpPr>
          <p:cNvPr id="58" name="矩形 57"/>
          <p:cNvSpPr/>
          <p:nvPr userDrawn="1"/>
        </p:nvSpPr>
        <p:spPr>
          <a:xfrm>
            <a:off x="-971986" y="3001540"/>
            <a:ext cx="971986" cy="364565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  <a:ea typeface="+mn-ea"/>
            </a:endParaRPr>
          </a:p>
        </p:txBody>
      </p:sp>
      <p:sp>
        <p:nvSpPr>
          <p:cNvPr id="59" name="文本框 58"/>
          <p:cNvSpPr txBox="1"/>
          <p:nvPr userDrawn="1"/>
        </p:nvSpPr>
        <p:spPr>
          <a:xfrm>
            <a:off x="-1034147" y="3052277"/>
            <a:ext cx="1098143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chemeClr val="bg1"/>
                </a:solidFill>
                <a:latin typeface="+mn-ea"/>
                <a:ea typeface="+mn-ea"/>
              </a:rPr>
              <a:t>R247 G150 B70</a:t>
            </a:r>
            <a:endParaRPr lang="zh-CN" altLang="en-US" sz="105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60" name="矩形 59"/>
          <p:cNvSpPr/>
          <p:nvPr userDrawn="1"/>
        </p:nvSpPr>
        <p:spPr>
          <a:xfrm>
            <a:off x="-971987" y="3629354"/>
            <a:ext cx="971985" cy="364565"/>
          </a:xfrm>
          <a:prstGeom prst="rect">
            <a:avLst/>
          </a:prstGeom>
          <a:solidFill>
            <a:srgbClr val="FDBE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  <a:ea typeface="+mn-ea"/>
            </a:endParaRPr>
          </a:p>
        </p:txBody>
      </p:sp>
      <p:sp>
        <p:nvSpPr>
          <p:cNvPr id="61" name="文本框 60"/>
          <p:cNvSpPr txBox="1"/>
          <p:nvPr userDrawn="1"/>
        </p:nvSpPr>
        <p:spPr>
          <a:xfrm>
            <a:off x="-1034147" y="3684614"/>
            <a:ext cx="1125723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latin typeface="+mn-ea"/>
                <a:ea typeface="+mn-ea"/>
              </a:rPr>
              <a:t>R253 G190 B148</a:t>
            </a:r>
            <a:endParaRPr lang="zh-CN" altLang="en-US" sz="1050" dirty="0">
              <a:latin typeface="+mn-ea"/>
              <a:ea typeface="+mn-ea"/>
            </a:endParaRPr>
          </a:p>
        </p:txBody>
      </p:sp>
      <p:sp>
        <p:nvSpPr>
          <p:cNvPr id="62" name="矩形 61"/>
          <p:cNvSpPr/>
          <p:nvPr userDrawn="1"/>
        </p:nvSpPr>
        <p:spPr>
          <a:xfrm>
            <a:off x="-971987" y="4884982"/>
            <a:ext cx="971987" cy="36456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  <a:ea typeface="+mn-ea"/>
            </a:endParaRPr>
          </a:p>
        </p:txBody>
      </p:sp>
      <p:sp>
        <p:nvSpPr>
          <p:cNvPr id="63" name="文本框 62"/>
          <p:cNvSpPr txBox="1"/>
          <p:nvPr userDrawn="1"/>
        </p:nvSpPr>
        <p:spPr>
          <a:xfrm>
            <a:off x="-1049323" y="4940242"/>
            <a:ext cx="1156073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chemeClr val="bg1"/>
                </a:solidFill>
                <a:latin typeface="+mn-ea"/>
                <a:ea typeface="+mn-ea"/>
              </a:rPr>
              <a:t>R166 G166 B166</a:t>
            </a:r>
            <a:endParaRPr lang="zh-CN" altLang="en-US" sz="105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64" name="矩形 63"/>
          <p:cNvSpPr/>
          <p:nvPr userDrawn="1"/>
        </p:nvSpPr>
        <p:spPr>
          <a:xfrm>
            <a:off x="-971987" y="5519956"/>
            <a:ext cx="971985" cy="3645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+mn-ea"/>
              <a:ea typeface="+mn-ea"/>
            </a:endParaRPr>
          </a:p>
        </p:txBody>
      </p:sp>
      <p:sp>
        <p:nvSpPr>
          <p:cNvPr id="65" name="文本框 64"/>
          <p:cNvSpPr txBox="1"/>
          <p:nvPr userDrawn="1"/>
        </p:nvSpPr>
        <p:spPr>
          <a:xfrm>
            <a:off x="-1034147" y="5568783"/>
            <a:ext cx="1144773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latin typeface="+mn-ea"/>
                <a:ea typeface="+mn-ea"/>
              </a:rPr>
              <a:t>R217 G217 B217</a:t>
            </a:r>
            <a:endParaRPr lang="zh-CN" altLang="en-US" sz="1050" dirty="0">
              <a:latin typeface="+mn-ea"/>
              <a:ea typeface="+mn-ea"/>
            </a:endParaRPr>
          </a:p>
        </p:txBody>
      </p:sp>
      <p:sp>
        <p:nvSpPr>
          <p:cNvPr id="66" name="矩形 65"/>
          <p:cNvSpPr/>
          <p:nvPr userDrawn="1"/>
        </p:nvSpPr>
        <p:spPr>
          <a:xfrm>
            <a:off x="-971987" y="4257168"/>
            <a:ext cx="971987" cy="36456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67" name="文本框 66"/>
          <p:cNvSpPr txBox="1"/>
          <p:nvPr userDrawn="1"/>
        </p:nvSpPr>
        <p:spPr>
          <a:xfrm>
            <a:off x="-1043695" y="4312428"/>
            <a:ext cx="1144818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chemeClr val="bg1"/>
                </a:solidFill>
                <a:latin typeface="+mn-ea"/>
                <a:ea typeface="+mn-ea"/>
              </a:rPr>
              <a:t>R127 G127 B127</a:t>
            </a:r>
            <a:endParaRPr lang="zh-CN" altLang="en-US" sz="105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96527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</p:sldLayoutIdLst>
  <p:hf hdr="0" ftr="0" dt="0"/>
  <p:txStyles>
    <p:titleStyle>
      <a:lvl1pPr algn="l" defTabSz="914377" rtl="0" eaLnBrk="1" latinLnBrk="0" hangingPunct="1"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9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7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8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9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10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1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1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1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基于股价演绎视角的</a:t>
            </a:r>
            <a:endParaRPr lang="en-US" altLang="zh-CN" dirty="0"/>
          </a:p>
          <a:p>
            <a:r>
              <a:rPr lang="zh-CN" altLang="en-US" dirty="0"/>
              <a:t>短中长期复合量价择时策略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汇报人：顾诺</a:t>
            </a:r>
          </a:p>
        </p:txBody>
      </p:sp>
    </p:spTree>
    <p:extLst>
      <p:ext uri="{BB962C8B-B14F-4D97-AF65-F5344CB8AC3E}">
        <p14:creationId xmlns:p14="http://schemas.microsoft.com/office/powerpoint/2010/main" val="4256346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FF02AE84-B584-4B1D-88F8-2CF53D056244}"/>
              </a:ext>
            </a:extLst>
          </p:cNvPr>
          <p:cNvGrpSpPr/>
          <p:nvPr/>
        </p:nvGrpSpPr>
        <p:grpSpPr>
          <a:xfrm>
            <a:off x="5147197" y="1717201"/>
            <a:ext cx="5279857" cy="903515"/>
            <a:chOff x="5471078" y="2550750"/>
            <a:chExt cx="5279857" cy="903514"/>
          </a:xfrm>
        </p:grpSpPr>
        <p:sp>
          <p:nvSpPr>
            <p:cNvPr id="3" name="MH_Number_1">
              <a:extLst>
                <a:ext uri="{FF2B5EF4-FFF2-40B4-BE49-F238E27FC236}">
                  <a16:creationId xmlns:a16="http://schemas.microsoft.com/office/drawing/2014/main" id="{08F4ADFF-F540-45C8-BAAD-3EA2BDB7E770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5471078" y="2758913"/>
              <a:ext cx="487188" cy="487188"/>
            </a:xfrm>
            <a:prstGeom prst="rect">
              <a:avLst/>
            </a:prstGeom>
            <a:solidFill>
              <a:srgbClr val="4F81BD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en-US" altLang="zh-CN" sz="2000" dirty="0">
                  <a:solidFill>
                    <a:srgbClr val="FFFFFF"/>
                  </a:solidFill>
                  <a:latin typeface="Arial"/>
                  <a:ea typeface="Arial Unicode MS" panose="020B0604020202020204" pitchFamily="34" charset="-122"/>
                  <a:cs typeface="Times New Roman" panose="02020603050405020304" pitchFamily="18" charset="0"/>
                </a:rPr>
                <a:t>1</a:t>
              </a:r>
              <a:endParaRPr lang="zh-CN" altLang="en-US" sz="2000" dirty="0">
                <a:solidFill>
                  <a:srgbClr val="FFFFFF"/>
                </a:solidFill>
                <a:latin typeface="Arial"/>
                <a:ea typeface="Arial Unicode MS" panose="020B0604020202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4" name="MH_Entry_1">
              <a:extLst>
                <a:ext uri="{FF2B5EF4-FFF2-40B4-BE49-F238E27FC236}">
                  <a16:creationId xmlns:a16="http://schemas.microsoft.com/office/drawing/2014/main" id="{24CD1E53-66ED-4D95-A114-DE75D262AB8B}"/>
                </a:ext>
              </a:extLst>
            </p:cNvPr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6278348" y="2550750"/>
              <a:ext cx="4472587" cy="9035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36000" anchor="ctr" anchorCtr="0">
              <a:normAutofit/>
            </a:bodyPr>
            <a:lstStyle/>
            <a:p>
              <a:pPr algn="just" eaLnBrk="0" hangingPunct="0">
                <a:defRPr/>
              </a:pPr>
              <a:r>
                <a:rPr lang="zh-CN" altLang="en-US" sz="2800" b="1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研究框架与目标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F347C41B-CD47-420C-BB1D-5085916E24F0}"/>
              </a:ext>
            </a:extLst>
          </p:cNvPr>
          <p:cNvGrpSpPr/>
          <p:nvPr/>
        </p:nvGrpSpPr>
        <p:grpSpPr>
          <a:xfrm>
            <a:off x="5147196" y="2562184"/>
            <a:ext cx="5279856" cy="903515"/>
            <a:chOff x="5471078" y="3476405"/>
            <a:chExt cx="5279856" cy="903514"/>
          </a:xfrm>
        </p:grpSpPr>
        <p:sp>
          <p:nvSpPr>
            <p:cNvPr id="6" name="MH_Number_2">
              <a:extLst>
                <a:ext uri="{FF2B5EF4-FFF2-40B4-BE49-F238E27FC236}">
                  <a16:creationId xmlns:a16="http://schemas.microsoft.com/office/drawing/2014/main" id="{73609D1B-7050-40B6-B8A2-E4F736F034C4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5471078" y="3684568"/>
              <a:ext cx="487188" cy="487188"/>
            </a:xfrm>
            <a:prstGeom prst="rect">
              <a:avLst/>
            </a:prstGeom>
            <a:solidFill>
              <a:srgbClr val="4F81BD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en-US" altLang="zh-CN" sz="2000" dirty="0">
                  <a:solidFill>
                    <a:srgbClr val="FFFFFF"/>
                  </a:solidFill>
                  <a:latin typeface="Arial"/>
                  <a:ea typeface="Arial Unicode MS" panose="020B0604020202020204" pitchFamily="34" charset="-122"/>
                  <a:cs typeface="Times New Roman" panose="02020603050405020304" pitchFamily="18" charset="0"/>
                </a:rPr>
                <a:t>2</a:t>
              </a:r>
              <a:endParaRPr lang="zh-CN" altLang="en-US" sz="2000" dirty="0">
                <a:solidFill>
                  <a:srgbClr val="FFFFFF"/>
                </a:solidFill>
                <a:latin typeface="Arial"/>
                <a:ea typeface="Arial Unicode MS" panose="020B0604020202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7" name="MH_Entry_2">
              <a:extLst>
                <a:ext uri="{FF2B5EF4-FFF2-40B4-BE49-F238E27FC236}">
                  <a16:creationId xmlns:a16="http://schemas.microsoft.com/office/drawing/2014/main" id="{4D1BD671-AF29-4967-9C70-8335D2E2E7FB}"/>
                </a:ext>
              </a:extLst>
            </p:cNvPr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6278347" y="3476405"/>
              <a:ext cx="4472587" cy="9035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36000" anchor="ctr" anchorCtr="0">
              <a:normAutofit/>
            </a:bodyPr>
            <a:lstStyle/>
            <a:p>
              <a:pPr lvl="0" algn="just" eaLnBrk="0" hangingPunct="0">
                <a:defRPr/>
              </a:pPr>
              <a:r>
                <a:rPr lang="zh-CN" altLang="en-US" sz="2800" b="1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策略介绍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F347C41B-CD47-420C-BB1D-5085916E24F0}"/>
              </a:ext>
            </a:extLst>
          </p:cNvPr>
          <p:cNvGrpSpPr/>
          <p:nvPr/>
        </p:nvGrpSpPr>
        <p:grpSpPr>
          <a:xfrm>
            <a:off x="5147197" y="3444408"/>
            <a:ext cx="5867764" cy="903515"/>
            <a:chOff x="5471078" y="3476405"/>
            <a:chExt cx="5867764" cy="903514"/>
          </a:xfrm>
        </p:grpSpPr>
        <p:sp>
          <p:nvSpPr>
            <p:cNvPr id="9" name="MH_Number_2">
              <a:extLst>
                <a:ext uri="{FF2B5EF4-FFF2-40B4-BE49-F238E27FC236}">
                  <a16:creationId xmlns:a16="http://schemas.microsoft.com/office/drawing/2014/main" id="{73609D1B-7050-40B6-B8A2-E4F736F034C4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5471078" y="3684568"/>
              <a:ext cx="487188" cy="487188"/>
            </a:xfrm>
            <a:prstGeom prst="rect">
              <a:avLst/>
            </a:prstGeom>
            <a:solidFill>
              <a:srgbClr val="4F81BD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en-US" altLang="zh-CN" sz="2000" dirty="0">
                  <a:solidFill>
                    <a:srgbClr val="FFFFFF"/>
                  </a:solidFill>
                  <a:latin typeface="Arial"/>
                  <a:ea typeface="Arial Unicode MS" panose="020B0604020202020204" pitchFamily="34" charset="-122"/>
                  <a:cs typeface="Times New Roman" panose="02020603050405020304" pitchFamily="18" charset="0"/>
                </a:rPr>
                <a:t>3</a:t>
              </a:r>
              <a:endParaRPr lang="zh-CN" altLang="en-US" sz="2000" dirty="0">
                <a:solidFill>
                  <a:srgbClr val="FFFFFF"/>
                </a:solidFill>
                <a:latin typeface="Arial"/>
                <a:ea typeface="Arial Unicode MS" panose="020B0604020202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MH_Entry_2">
              <a:extLst>
                <a:ext uri="{FF2B5EF4-FFF2-40B4-BE49-F238E27FC236}">
                  <a16:creationId xmlns:a16="http://schemas.microsoft.com/office/drawing/2014/main" id="{4D1BD671-AF29-4967-9C70-8335D2E2E7FB}"/>
                </a:ext>
              </a:extLst>
            </p:cNvPr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6278347" y="3476405"/>
              <a:ext cx="5060495" cy="9035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36000" anchor="ctr" anchorCtr="0">
              <a:normAutofit/>
            </a:bodyPr>
            <a:lstStyle/>
            <a:p>
              <a:pPr lvl="0" algn="just" eaLnBrk="0" hangingPunct="0">
                <a:defRPr/>
              </a:pPr>
              <a:r>
                <a:rPr lang="zh-CN" altLang="en-US" sz="2800" b="1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回测分析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F347C41B-CD47-420C-BB1D-5085916E24F0}"/>
              </a:ext>
            </a:extLst>
          </p:cNvPr>
          <p:cNvGrpSpPr/>
          <p:nvPr/>
        </p:nvGrpSpPr>
        <p:grpSpPr>
          <a:xfrm>
            <a:off x="5147197" y="4326632"/>
            <a:ext cx="5867764" cy="903515"/>
            <a:chOff x="5471078" y="3476405"/>
            <a:chExt cx="5867764" cy="903514"/>
          </a:xfrm>
        </p:grpSpPr>
        <p:sp>
          <p:nvSpPr>
            <p:cNvPr id="12" name="MH_Number_2">
              <a:extLst>
                <a:ext uri="{FF2B5EF4-FFF2-40B4-BE49-F238E27FC236}">
                  <a16:creationId xmlns:a16="http://schemas.microsoft.com/office/drawing/2014/main" id="{73609D1B-7050-40B6-B8A2-E4F736F034C4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5471078" y="3684568"/>
              <a:ext cx="487188" cy="487188"/>
            </a:xfrm>
            <a:prstGeom prst="rect">
              <a:avLst/>
            </a:prstGeom>
            <a:solidFill>
              <a:srgbClr val="4F81BD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en-US" altLang="zh-CN" sz="2000" dirty="0">
                  <a:solidFill>
                    <a:srgbClr val="FFFFFF"/>
                  </a:solidFill>
                  <a:latin typeface="Arial"/>
                  <a:ea typeface="Arial Unicode MS" panose="020B0604020202020204" pitchFamily="34" charset="-122"/>
                  <a:cs typeface="Times New Roman" panose="02020603050405020304" pitchFamily="18" charset="0"/>
                </a:rPr>
                <a:t>4</a:t>
              </a:r>
              <a:endParaRPr lang="zh-CN" altLang="en-US" sz="2000" dirty="0">
                <a:solidFill>
                  <a:srgbClr val="FFFFFF"/>
                </a:solidFill>
                <a:latin typeface="Arial"/>
                <a:ea typeface="Arial Unicode MS" panose="020B0604020202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MH_Entry_2">
              <a:extLst>
                <a:ext uri="{FF2B5EF4-FFF2-40B4-BE49-F238E27FC236}">
                  <a16:creationId xmlns:a16="http://schemas.microsoft.com/office/drawing/2014/main" id="{4D1BD671-AF29-4967-9C70-8335D2E2E7FB}"/>
                </a:ext>
              </a:extLst>
            </p:cNvPr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6278347" y="3476405"/>
              <a:ext cx="5060495" cy="9035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36000" anchor="ctr" anchorCtr="0">
              <a:normAutofit/>
            </a:bodyPr>
            <a:lstStyle/>
            <a:p>
              <a:pPr lvl="0" algn="just" eaLnBrk="0" hangingPunct="0">
                <a:defRPr/>
              </a:pPr>
              <a:r>
                <a:rPr lang="zh-CN" altLang="en-US" sz="2800" b="1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总结展望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44049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C2A5B-FD07-4229-8F8C-1BFEB44AF40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第一部分  研究框架与目标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>
          <a:xfrm>
            <a:off x="1505979" y="3481982"/>
            <a:ext cx="1005403" cy="338554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研究背景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5"/>
          </p:nvPr>
        </p:nvSpPr>
        <p:spPr>
          <a:xfrm>
            <a:off x="1505979" y="4258923"/>
            <a:ext cx="1620957" cy="338554"/>
          </a:xfrm>
        </p:spPr>
        <p:txBody>
          <a:bodyPr/>
          <a:lstStyle/>
          <a:p>
            <a:r>
              <a:rPr lang="zh-CN" altLang="en-US" dirty="0"/>
              <a:t>研究方法与目标</a:t>
            </a:r>
          </a:p>
        </p:txBody>
      </p:sp>
      <p:sp>
        <p:nvSpPr>
          <p:cNvPr id="3" name="文本占位符 5">
            <a:extLst>
              <a:ext uri="{FF2B5EF4-FFF2-40B4-BE49-F238E27FC236}">
                <a16:creationId xmlns:a16="http://schemas.microsoft.com/office/drawing/2014/main" id="{8D1022DE-EAD6-C3AF-40C9-16CD063B4F18}"/>
              </a:ext>
            </a:extLst>
          </p:cNvPr>
          <p:cNvSpPr txBox="1">
            <a:spLocks/>
          </p:cNvSpPr>
          <p:nvPr/>
        </p:nvSpPr>
        <p:spPr>
          <a:xfrm>
            <a:off x="1505979" y="5035864"/>
            <a:ext cx="1005403" cy="33855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marL="0" indent="0" algn="l" defTabSz="914377" rtl="0" eaLnBrk="1" latinLnBrk="0" hangingPunct="1">
              <a:spcBef>
                <a:spcPct val="20000"/>
              </a:spcBef>
              <a:buFont typeface="Arial" pitchFamily="34" charset="0"/>
              <a:buNone/>
              <a:defRPr lang="zh-CN" altLang="en-US" sz="1600" kern="12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742932" indent="-285744" algn="l" defTabSz="91437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研究流程</a:t>
            </a:r>
          </a:p>
        </p:txBody>
      </p:sp>
    </p:spTree>
    <p:extLst>
      <p:ext uri="{BB962C8B-B14F-4D97-AF65-F5344CB8AC3E}">
        <p14:creationId xmlns:p14="http://schemas.microsoft.com/office/powerpoint/2010/main" val="1047781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1.1</a:t>
            </a:r>
            <a:r>
              <a:rPr lang="zh-CN" altLang="en-US" dirty="0"/>
              <a:t> 研究背景 </a:t>
            </a:r>
            <a:r>
              <a:rPr lang="zh-CN" altLang="en-US" sz="1600" dirty="0"/>
              <a:t>指数择时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5324331-5E10-50C6-CC07-6C27B91FEFBE}"/>
              </a:ext>
            </a:extLst>
          </p:cNvPr>
          <p:cNvSpPr txBox="1">
            <a:spLocks/>
          </p:cNvSpPr>
          <p:nvPr/>
        </p:nvSpPr>
        <p:spPr>
          <a:xfrm>
            <a:off x="2144512" y="2967335"/>
            <a:ext cx="8233024" cy="615553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>
            <a:lvl1pPr marL="0" indent="0" algn="ctr">
              <a:buNone/>
              <a:defRPr sz="14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spcBef>
                <a:spcPct val="20000"/>
              </a:spcBef>
              <a:buFont typeface="Arial" pitchFamily="34" charset="0"/>
              <a:buNone/>
              <a:defRPr/>
            </a:pPr>
            <a:r>
              <a:rPr lang="en-US" sz="4000" b="1" dirty="0" err="1">
                <a:solidFill>
                  <a:schemeClr val="tx1"/>
                </a:solidFill>
                <a:latin typeface="Calibri"/>
              </a:rPr>
              <a:t>你想让你的资金在半年内翻一番吗</a:t>
            </a:r>
            <a:r>
              <a:rPr lang="zh-CN" altLang="en-US" sz="4000" b="1" dirty="0">
                <a:solidFill>
                  <a:schemeClr val="tx1"/>
                </a:solidFill>
                <a:latin typeface="Calibri"/>
              </a:rPr>
              <a:t>？</a:t>
            </a:r>
            <a:endParaRPr lang="en-US" sz="4000" b="1" dirty="0">
              <a:solidFill>
                <a:schemeClr val="tx1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98763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1.1</a:t>
            </a:r>
            <a:r>
              <a:rPr lang="zh-CN" altLang="en-US" dirty="0"/>
              <a:t> 研究背景 </a:t>
            </a:r>
            <a:r>
              <a:rPr lang="zh-CN" altLang="en-US" sz="1600" dirty="0"/>
              <a:t>指数择时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5324331-5E10-50C6-CC07-6C27B91FEFBE}"/>
              </a:ext>
            </a:extLst>
          </p:cNvPr>
          <p:cNvSpPr txBox="1">
            <a:spLocks/>
          </p:cNvSpPr>
          <p:nvPr/>
        </p:nvSpPr>
        <p:spPr>
          <a:xfrm>
            <a:off x="4932798" y="1289997"/>
            <a:ext cx="2471831" cy="492443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>
            <a:lvl1pPr marL="0" indent="0" algn="ctr">
              <a:buNone/>
              <a:defRPr sz="14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spcBef>
                <a:spcPct val="20000"/>
              </a:spcBef>
              <a:buFont typeface="Arial" pitchFamily="34" charset="0"/>
              <a:buNone/>
              <a:defRPr/>
            </a:pPr>
            <a:r>
              <a:rPr lang="zh-CN" altLang="en-US" sz="3200" b="1" dirty="0">
                <a:solidFill>
                  <a:schemeClr val="tx1"/>
                </a:solidFill>
                <a:latin typeface="Calibri"/>
              </a:rPr>
              <a:t>持有特斯拉！</a:t>
            </a:r>
            <a:endParaRPr lang="en-US" sz="3200" b="1" dirty="0">
              <a:solidFill>
                <a:schemeClr val="tx1"/>
              </a:solidFill>
              <a:latin typeface="Calibri"/>
            </a:endParaRPr>
          </a:p>
        </p:txBody>
      </p:sp>
      <p:pic>
        <p:nvPicPr>
          <p:cNvPr id="6" name="图片 5" descr="直方图&#10;&#10;描述已自动生成">
            <a:extLst>
              <a:ext uri="{FF2B5EF4-FFF2-40B4-BE49-F238E27FC236}">
                <a16:creationId xmlns:a16="http://schemas.microsoft.com/office/drawing/2014/main" id="{2E1E440C-906E-08FB-A88A-2A9AC62C3CB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80" t="18243" r="23671" b="32204"/>
          <a:stretch/>
        </p:blipFill>
        <p:spPr>
          <a:xfrm>
            <a:off x="1777094" y="2294968"/>
            <a:ext cx="8747471" cy="3173506"/>
          </a:xfrm>
          <a:prstGeom prst="rect">
            <a:avLst/>
          </a:prstGeom>
        </p:spPr>
      </p:pic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B31107D-F8CE-1D19-C3C5-80E2A7058273}"/>
              </a:ext>
            </a:extLst>
          </p:cNvPr>
          <p:cNvSpPr txBox="1">
            <a:spLocks/>
          </p:cNvSpPr>
          <p:nvPr/>
        </p:nvSpPr>
        <p:spPr>
          <a:xfrm>
            <a:off x="3056482" y="5989175"/>
            <a:ext cx="6224461" cy="24622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ctr">
              <a:buNone/>
              <a:defRPr sz="14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spcBef>
                <a:spcPct val="20000"/>
              </a:spcBef>
              <a:buFont typeface="Arial" pitchFamily="34" charset="0"/>
              <a:buNone/>
              <a:defRPr/>
            </a:pPr>
            <a:r>
              <a:rPr lang="en-US" altLang="zh-CN" sz="1600" b="1" dirty="0">
                <a:solidFill>
                  <a:schemeClr val="tx1"/>
                </a:solidFill>
                <a:latin typeface="Calibri"/>
              </a:rPr>
              <a:t>2023/01/03-2023/07/03</a:t>
            </a:r>
            <a:r>
              <a:rPr lang="zh-CN" altLang="en-US" sz="1600" b="1" dirty="0">
                <a:solidFill>
                  <a:schemeClr val="tx1"/>
                </a:solidFill>
                <a:latin typeface="Calibri"/>
              </a:rPr>
              <a:t> 区间收益：</a:t>
            </a:r>
            <a:r>
              <a:rPr lang="en-US" altLang="zh-CN" sz="1600" b="1" dirty="0">
                <a:solidFill>
                  <a:schemeClr val="tx1"/>
                </a:solidFill>
                <a:latin typeface="Calibri"/>
              </a:rPr>
              <a:t>+158%</a:t>
            </a:r>
            <a:endParaRPr lang="en-US" sz="1600" b="1" dirty="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30F479B9-D4D4-4C26-6840-FDCC97DE3252}"/>
              </a:ext>
            </a:extLst>
          </p:cNvPr>
          <p:cNvSpPr/>
          <p:nvPr/>
        </p:nvSpPr>
        <p:spPr>
          <a:xfrm>
            <a:off x="1494452" y="2043953"/>
            <a:ext cx="9348730" cy="3711392"/>
          </a:xfrm>
          <a:prstGeom prst="roundRect">
            <a:avLst>
              <a:gd name="adj" fmla="val 2450"/>
            </a:avLst>
          </a:prstGeom>
          <a:noFill/>
          <a:ln>
            <a:solidFill>
              <a:srgbClr val="4F81B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1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50399FE-5D19-5304-E9C4-658E9B91FA94}"/>
              </a:ext>
            </a:extLst>
          </p:cNvPr>
          <p:cNvSpPr txBox="1"/>
          <p:nvPr/>
        </p:nvSpPr>
        <p:spPr>
          <a:xfrm>
            <a:off x="1494452" y="5896841"/>
            <a:ext cx="47086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资料来源：</a:t>
            </a:r>
            <a:r>
              <a:rPr lang="en-US" altLang="zh-CN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</a:t>
            </a:r>
            <a:endParaRPr lang="zh-CN" altLang="en-US" sz="8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509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1.1</a:t>
            </a:r>
            <a:r>
              <a:rPr lang="zh-CN" altLang="en-US" dirty="0"/>
              <a:t> 研究背景 </a:t>
            </a:r>
            <a:r>
              <a:rPr lang="zh-CN" altLang="en-US" sz="1600" dirty="0"/>
              <a:t>指数择时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5324331-5E10-50C6-CC07-6C27B91FEFBE}"/>
              </a:ext>
            </a:extLst>
          </p:cNvPr>
          <p:cNvSpPr txBox="1">
            <a:spLocks/>
          </p:cNvSpPr>
          <p:nvPr/>
        </p:nvSpPr>
        <p:spPr>
          <a:xfrm>
            <a:off x="1884829" y="2967335"/>
            <a:ext cx="8752396" cy="615553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>
            <a:lvl1pPr marL="0" indent="0" algn="ctr">
              <a:buNone/>
              <a:defRPr sz="14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spcBef>
                <a:spcPct val="20000"/>
              </a:spcBef>
              <a:buFont typeface="Arial" pitchFamily="34" charset="0"/>
              <a:buNone/>
              <a:defRPr/>
            </a:pPr>
            <a:r>
              <a:rPr lang="en-US" sz="4000" b="1" dirty="0">
                <a:solidFill>
                  <a:schemeClr val="tx1"/>
                </a:solidFill>
                <a:latin typeface="Calibri"/>
              </a:rPr>
              <a:t>你想让你的资金在半年内变成</a:t>
            </a:r>
            <a:r>
              <a:rPr lang="en-US" altLang="zh-CN" sz="4000" b="1" dirty="0">
                <a:solidFill>
                  <a:schemeClr val="tx1"/>
                </a:solidFill>
                <a:latin typeface="Calibri"/>
              </a:rPr>
              <a:t>10</a:t>
            </a:r>
            <a:r>
              <a:rPr lang="zh-CN" altLang="en-US" sz="4000" b="1" dirty="0">
                <a:solidFill>
                  <a:schemeClr val="tx1"/>
                </a:solidFill>
                <a:latin typeface="Calibri"/>
              </a:rPr>
              <a:t>倍</a:t>
            </a:r>
            <a:r>
              <a:rPr lang="en-US" sz="4000" b="1" dirty="0" err="1">
                <a:solidFill>
                  <a:schemeClr val="tx1"/>
                </a:solidFill>
                <a:latin typeface="Calibri"/>
              </a:rPr>
              <a:t>吗</a:t>
            </a:r>
            <a:r>
              <a:rPr lang="zh-CN" altLang="en-US" sz="4000" b="1" dirty="0">
                <a:solidFill>
                  <a:schemeClr val="tx1"/>
                </a:solidFill>
                <a:latin typeface="Calibri"/>
              </a:rPr>
              <a:t>？</a:t>
            </a:r>
            <a:endParaRPr lang="en-US" sz="4000" b="1" dirty="0">
              <a:solidFill>
                <a:schemeClr val="tx1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4089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1.1</a:t>
            </a:r>
            <a:r>
              <a:rPr lang="zh-CN" altLang="en-US" dirty="0"/>
              <a:t> 研究背景 </a:t>
            </a:r>
            <a:r>
              <a:rPr lang="zh-CN" altLang="en-US" sz="1600" dirty="0"/>
              <a:t>指数择时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5324331-5E10-50C6-CC07-6C27B91FEFBE}"/>
              </a:ext>
            </a:extLst>
          </p:cNvPr>
          <p:cNvSpPr txBox="1">
            <a:spLocks/>
          </p:cNvSpPr>
          <p:nvPr/>
        </p:nvSpPr>
        <p:spPr>
          <a:xfrm>
            <a:off x="4932799" y="1289997"/>
            <a:ext cx="2471831" cy="492443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>
            <a:lvl1pPr marL="0" indent="0" algn="ctr">
              <a:buNone/>
              <a:defRPr sz="14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spcBef>
                <a:spcPct val="20000"/>
              </a:spcBef>
              <a:buFont typeface="Arial" pitchFamily="34" charset="0"/>
              <a:buNone/>
              <a:defRPr/>
            </a:pPr>
            <a:r>
              <a:rPr lang="zh-CN" altLang="en-US" sz="3200" b="1" dirty="0">
                <a:solidFill>
                  <a:schemeClr val="tx1"/>
                </a:solidFill>
                <a:latin typeface="Calibri"/>
              </a:rPr>
              <a:t>择时特斯拉！</a:t>
            </a:r>
            <a:endParaRPr lang="en-US" sz="3200" b="1" dirty="0">
              <a:solidFill>
                <a:schemeClr val="tx1"/>
              </a:solidFill>
              <a:latin typeface="Calibri"/>
            </a:endParaRPr>
          </a:p>
        </p:txBody>
      </p:sp>
      <p:pic>
        <p:nvPicPr>
          <p:cNvPr id="6" name="图片 5" descr="直方图&#10;&#10;描述已自动生成">
            <a:extLst>
              <a:ext uri="{FF2B5EF4-FFF2-40B4-BE49-F238E27FC236}">
                <a16:creationId xmlns:a16="http://schemas.microsoft.com/office/drawing/2014/main" id="{2E1E440C-906E-08FB-A88A-2A9AC62C3CB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80" t="18243" r="23671" b="32204"/>
          <a:stretch/>
        </p:blipFill>
        <p:spPr>
          <a:xfrm>
            <a:off x="1777094" y="2294968"/>
            <a:ext cx="8747471" cy="3173506"/>
          </a:xfrm>
          <a:prstGeom prst="rect">
            <a:avLst/>
          </a:prstGeom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30F479B9-D4D4-4C26-6840-FDCC97DE3252}"/>
              </a:ext>
            </a:extLst>
          </p:cNvPr>
          <p:cNvSpPr/>
          <p:nvPr/>
        </p:nvSpPr>
        <p:spPr>
          <a:xfrm>
            <a:off x="1494452" y="2043953"/>
            <a:ext cx="9348730" cy="3711392"/>
          </a:xfrm>
          <a:prstGeom prst="roundRect">
            <a:avLst>
              <a:gd name="adj" fmla="val 2450"/>
            </a:avLst>
          </a:prstGeom>
          <a:noFill/>
          <a:ln>
            <a:solidFill>
              <a:srgbClr val="4F81B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1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6FFFE8A9-BBA4-8F49-2C5A-5DE87DB93438}"/>
              </a:ext>
            </a:extLst>
          </p:cNvPr>
          <p:cNvSpPr/>
          <p:nvPr/>
        </p:nvSpPr>
        <p:spPr>
          <a:xfrm>
            <a:off x="2034988" y="5181978"/>
            <a:ext cx="564294" cy="268941"/>
          </a:xfrm>
          <a:prstGeom prst="roundRect">
            <a:avLst/>
          </a:prstGeom>
          <a:solidFill>
            <a:srgbClr val="F79646"/>
          </a:solidFill>
          <a:ln>
            <a:solidFill>
              <a:srgbClr val="F79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买点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94D45AF0-5A59-4AFF-D997-055B8EA2DC3C}"/>
              </a:ext>
            </a:extLst>
          </p:cNvPr>
          <p:cNvSpPr/>
          <p:nvPr/>
        </p:nvSpPr>
        <p:spPr>
          <a:xfrm>
            <a:off x="5241873" y="4293519"/>
            <a:ext cx="564294" cy="268941"/>
          </a:xfrm>
          <a:prstGeom prst="roundRect">
            <a:avLst/>
          </a:prstGeom>
          <a:solidFill>
            <a:srgbClr val="F79646"/>
          </a:solidFill>
          <a:ln>
            <a:solidFill>
              <a:srgbClr val="F79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买点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9E2D38CB-A5D1-320B-6CC4-96636E8C9610}"/>
              </a:ext>
            </a:extLst>
          </p:cNvPr>
          <p:cNvSpPr/>
          <p:nvPr/>
        </p:nvSpPr>
        <p:spPr>
          <a:xfrm>
            <a:off x="7318925" y="4558062"/>
            <a:ext cx="564294" cy="268941"/>
          </a:xfrm>
          <a:prstGeom prst="roundRect">
            <a:avLst/>
          </a:prstGeom>
          <a:solidFill>
            <a:srgbClr val="F79646"/>
          </a:solidFill>
          <a:ln>
            <a:solidFill>
              <a:srgbClr val="F79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买点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A944A605-E0D3-6934-B476-5C45440F6114}"/>
              </a:ext>
            </a:extLst>
          </p:cNvPr>
          <p:cNvSpPr/>
          <p:nvPr/>
        </p:nvSpPr>
        <p:spPr>
          <a:xfrm>
            <a:off x="4168588" y="3035408"/>
            <a:ext cx="564294" cy="268941"/>
          </a:xfrm>
          <a:prstGeom prst="roundRect">
            <a:avLst/>
          </a:prstGeom>
          <a:solidFill>
            <a:srgbClr val="4F81BD"/>
          </a:solidFill>
          <a:ln>
            <a:solidFill>
              <a:srgbClr val="4F81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卖点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872E78F6-5A33-7408-AA74-BF68983CC923}"/>
              </a:ext>
            </a:extLst>
          </p:cNvPr>
          <p:cNvSpPr/>
          <p:nvPr/>
        </p:nvSpPr>
        <p:spPr>
          <a:xfrm>
            <a:off x="6168712" y="3169878"/>
            <a:ext cx="564294" cy="268941"/>
          </a:xfrm>
          <a:prstGeom prst="roundRect">
            <a:avLst/>
          </a:prstGeom>
          <a:solidFill>
            <a:srgbClr val="4F81BD"/>
          </a:solidFill>
          <a:ln>
            <a:solidFill>
              <a:srgbClr val="4F81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卖点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E4E345A8-F1F3-62DF-914C-F110E71551AE}"/>
              </a:ext>
            </a:extLst>
          </p:cNvPr>
          <p:cNvSpPr/>
          <p:nvPr/>
        </p:nvSpPr>
        <p:spPr>
          <a:xfrm>
            <a:off x="7122482" y="3510163"/>
            <a:ext cx="564294" cy="268941"/>
          </a:xfrm>
          <a:prstGeom prst="roundRect">
            <a:avLst/>
          </a:prstGeom>
          <a:solidFill>
            <a:srgbClr val="4F81BD"/>
          </a:solidFill>
          <a:ln>
            <a:solidFill>
              <a:srgbClr val="4F81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卖点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458A634D-0BBB-B681-41CA-E292C12997EB}"/>
              </a:ext>
            </a:extLst>
          </p:cNvPr>
          <p:cNvSpPr/>
          <p:nvPr/>
        </p:nvSpPr>
        <p:spPr>
          <a:xfrm>
            <a:off x="6480748" y="4067083"/>
            <a:ext cx="564294" cy="268941"/>
          </a:xfrm>
          <a:prstGeom prst="roundRect">
            <a:avLst/>
          </a:prstGeom>
          <a:solidFill>
            <a:srgbClr val="F79646"/>
          </a:solidFill>
          <a:ln>
            <a:solidFill>
              <a:srgbClr val="F79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买点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657532C-C107-53BD-076F-15B489568CCD}"/>
              </a:ext>
            </a:extLst>
          </p:cNvPr>
          <p:cNvSpPr txBox="1"/>
          <p:nvPr/>
        </p:nvSpPr>
        <p:spPr>
          <a:xfrm>
            <a:off x="1494452" y="5896841"/>
            <a:ext cx="47086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资料来源：</a:t>
            </a:r>
            <a:r>
              <a:rPr lang="en-US" altLang="zh-CN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</a:t>
            </a:r>
            <a:endParaRPr lang="zh-CN" altLang="en-US" sz="8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78517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1.1</a:t>
            </a:r>
            <a:r>
              <a:rPr lang="zh-CN" altLang="en-US" dirty="0"/>
              <a:t> 研究背景 </a:t>
            </a:r>
            <a:r>
              <a:rPr lang="zh-CN" altLang="en-US" sz="1600" dirty="0"/>
              <a:t>指数择时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>
          <a:xfrm>
            <a:off x="4559829" y="6253116"/>
            <a:ext cx="2844800" cy="365125"/>
          </a:xfrm>
        </p:spPr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5324331-5E10-50C6-CC07-6C27B91FEFBE}"/>
              </a:ext>
            </a:extLst>
          </p:cNvPr>
          <p:cNvSpPr txBox="1">
            <a:spLocks/>
          </p:cNvSpPr>
          <p:nvPr/>
        </p:nvSpPr>
        <p:spPr>
          <a:xfrm>
            <a:off x="4932799" y="1289997"/>
            <a:ext cx="2471831" cy="492443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>
            <a:lvl1pPr marL="0" indent="0" algn="ctr">
              <a:buNone/>
              <a:defRPr sz="14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spcBef>
                <a:spcPct val="20000"/>
              </a:spcBef>
              <a:buFont typeface="Arial" pitchFamily="34" charset="0"/>
              <a:buNone/>
              <a:defRPr/>
            </a:pPr>
            <a:r>
              <a:rPr lang="zh-CN" altLang="en-US" sz="3200" b="1" dirty="0">
                <a:solidFill>
                  <a:schemeClr val="tx1"/>
                </a:solidFill>
                <a:latin typeface="Calibri"/>
              </a:rPr>
              <a:t>择时特斯拉！</a:t>
            </a:r>
            <a:endParaRPr lang="en-US" sz="3200" b="1" dirty="0">
              <a:solidFill>
                <a:schemeClr val="tx1"/>
              </a:solidFill>
              <a:latin typeface="Calibri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6991729-5B77-2349-F2B5-1DE3EEA0D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4602" y="2074692"/>
            <a:ext cx="7522796" cy="4446494"/>
          </a:xfrm>
          <a:prstGeom prst="rect">
            <a:avLst/>
          </a:prstGeom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30F479B9-D4D4-4C26-6840-FDCC97DE3252}"/>
              </a:ext>
            </a:extLst>
          </p:cNvPr>
          <p:cNvSpPr/>
          <p:nvPr/>
        </p:nvSpPr>
        <p:spPr>
          <a:xfrm>
            <a:off x="2061881" y="1977636"/>
            <a:ext cx="7795517" cy="4543549"/>
          </a:xfrm>
          <a:prstGeom prst="roundRect">
            <a:avLst>
              <a:gd name="adj" fmla="val 2450"/>
            </a:avLst>
          </a:prstGeom>
          <a:noFill/>
          <a:ln>
            <a:solidFill>
              <a:srgbClr val="4F81B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1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9508019-EC1F-75C2-B688-C060BFEFC12B}"/>
              </a:ext>
            </a:extLst>
          </p:cNvPr>
          <p:cNvSpPr txBox="1"/>
          <p:nvPr/>
        </p:nvSpPr>
        <p:spPr>
          <a:xfrm>
            <a:off x="6651375" y="3318406"/>
            <a:ext cx="15437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latin typeface="Calibri"/>
              </a:rPr>
              <a:t>多空：</a:t>
            </a:r>
            <a:r>
              <a:rPr lang="en-US" altLang="zh-CN" sz="1600" b="1" dirty="0">
                <a:latin typeface="Calibri"/>
              </a:rPr>
              <a:t>+2633%</a:t>
            </a:r>
            <a:endParaRPr lang="zh-CN" altLang="en-US" sz="16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FA6DA7-F51E-B991-55F9-BD5259D908E4}"/>
              </a:ext>
            </a:extLst>
          </p:cNvPr>
          <p:cNvSpPr txBox="1"/>
          <p:nvPr/>
        </p:nvSpPr>
        <p:spPr>
          <a:xfrm>
            <a:off x="8332694" y="4144050"/>
            <a:ext cx="1295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latin typeface="Calibri"/>
              </a:rPr>
              <a:t>多头：</a:t>
            </a:r>
            <a:r>
              <a:rPr lang="en-US" altLang="zh-CN" sz="1400" b="1" dirty="0">
                <a:latin typeface="Calibri"/>
              </a:rPr>
              <a:t>+763%</a:t>
            </a:r>
            <a:endParaRPr lang="zh-CN" altLang="en-US" sz="1400" dirty="0"/>
          </a:p>
        </p:txBody>
      </p:sp>
      <p:sp>
        <p:nvSpPr>
          <p:cNvPr id="12" name="矩形标注 11">
            <a:extLst>
              <a:ext uri="{FF2B5EF4-FFF2-40B4-BE49-F238E27FC236}">
                <a16:creationId xmlns:a16="http://schemas.microsoft.com/office/drawing/2014/main" id="{F00224BD-6F25-6357-5C86-9B7A4B72C6F4}"/>
              </a:ext>
            </a:extLst>
          </p:cNvPr>
          <p:cNvSpPr/>
          <p:nvPr/>
        </p:nvSpPr>
        <p:spPr>
          <a:xfrm>
            <a:off x="6632735" y="3226710"/>
            <a:ext cx="1543787" cy="499213"/>
          </a:xfrm>
          <a:prstGeom prst="wedgeRectCallout">
            <a:avLst>
              <a:gd name="adj1" fmla="val -799"/>
              <a:gd name="adj2" fmla="val 100211"/>
            </a:avLst>
          </a:prstGeom>
          <a:noFill/>
          <a:ln>
            <a:solidFill>
              <a:srgbClr val="F79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标注 12">
            <a:extLst>
              <a:ext uri="{FF2B5EF4-FFF2-40B4-BE49-F238E27FC236}">
                <a16:creationId xmlns:a16="http://schemas.microsoft.com/office/drawing/2014/main" id="{C1B19FE1-3B91-F036-B2FD-A5294505E2B1}"/>
              </a:ext>
            </a:extLst>
          </p:cNvPr>
          <p:cNvSpPr/>
          <p:nvPr/>
        </p:nvSpPr>
        <p:spPr>
          <a:xfrm>
            <a:off x="8267920" y="4117156"/>
            <a:ext cx="1360174" cy="359378"/>
          </a:xfrm>
          <a:prstGeom prst="wedgeRectCallout">
            <a:avLst/>
          </a:prstGeom>
          <a:noFill/>
          <a:ln>
            <a:solidFill>
              <a:srgbClr val="4F81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5CBB94-7D85-FB3B-4A9B-04EE0BED2BE6}"/>
              </a:ext>
            </a:extLst>
          </p:cNvPr>
          <p:cNvSpPr txBox="1"/>
          <p:nvPr/>
        </p:nvSpPr>
        <p:spPr>
          <a:xfrm>
            <a:off x="2061881" y="6624422"/>
            <a:ext cx="47086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资料来源：</a:t>
            </a:r>
            <a:r>
              <a:rPr lang="en-US" altLang="zh-CN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</a:t>
            </a:r>
            <a:endParaRPr lang="zh-CN" altLang="en-US" sz="8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706886A-049E-F64D-7136-12B1DD54FF9E}"/>
              </a:ext>
            </a:extLst>
          </p:cNvPr>
          <p:cNvSpPr txBox="1">
            <a:spLocks/>
          </p:cNvSpPr>
          <p:nvPr/>
        </p:nvSpPr>
        <p:spPr>
          <a:xfrm>
            <a:off x="3937062" y="2935091"/>
            <a:ext cx="1245533" cy="1969770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>
            <a:lvl1pPr marL="0" indent="0" algn="ctr">
              <a:buNone/>
              <a:defRPr sz="14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spcBef>
                <a:spcPct val="20000"/>
              </a:spcBef>
              <a:defRPr/>
            </a:pPr>
            <a:r>
              <a:rPr lang="en-US" altLang="zh-CN" sz="3200" b="1" dirty="0">
                <a:solidFill>
                  <a:srgbClr val="F79646"/>
                </a:solidFill>
                <a:latin typeface="Calibri"/>
              </a:rPr>
              <a:t>2733</a:t>
            </a:r>
            <a:r>
              <a:rPr lang="zh-CN" altLang="en-US" sz="3200" b="1" dirty="0">
                <a:solidFill>
                  <a:srgbClr val="F79646"/>
                </a:solidFill>
                <a:latin typeface="Calibri"/>
              </a:rPr>
              <a:t>万</a:t>
            </a:r>
            <a:endParaRPr lang="en-US" altLang="zh-CN" sz="3200" b="1" dirty="0">
              <a:solidFill>
                <a:srgbClr val="F79646"/>
              </a:solidFill>
              <a:latin typeface="Calibri"/>
            </a:endParaRPr>
          </a:p>
          <a:p>
            <a:pPr>
              <a:spcBef>
                <a:spcPct val="20000"/>
              </a:spcBef>
              <a:defRPr/>
            </a:pPr>
            <a:endParaRPr lang="en-US" altLang="zh-CN" sz="2400" b="1" dirty="0">
              <a:solidFill>
                <a:srgbClr val="F79646"/>
              </a:solidFill>
              <a:latin typeface="Calibri"/>
            </a:endParaRPr>
          </a:p>
          <a:p>
            <a:pPr>
              <a:spcBef>
                <a:spcPct val="20000"/>
              </a:spcBef>
              <a:defRPr/>
            </a:pPr>
            <a:r>
              <a:rPr lang="en-US" altLang="zh-CN" sz="2400" b="1" dirty="0">
                <a:solidFill>
                  <a:srgbClr val="F79646"/>
                </a:solidFill>
                <a:latin typeface="Calibri"/>
              </a:rPr>
              <a:t>100</a:t>
            </a:r>
            <a:r>
              <a:rPr lang="zh-CN" altLang="en-US" sz="2400" b="1" dirty="0">
                <a:solidFill>
                  <a:srgbClr val="F79646"/>
                </a:solidFill>
                <a:latin typeface="Calibri"/>
              </a:rPr>
              <a:t>万</a:t>
            </a:r>
            <a:endParaRPr lang="en-US" altLang="zh-CN" sz="2400" b="1" dirty="0">
              <a:solidFill>
                <a:srgbClr val="F79646"/>
              </a:solidFill>
              <a:latin typeface="Calibri"/>
            </a:endParaRPr>
          </a:p>
          <a:p>
            <a:pPr>
              <a:spcBef>
                <a:spcPct val="20000"/>
              </a:spcBef>
              <a:buFont typeface="Arial" pitchFamily="34" charset="0"/>
              <a:buNone/>
              <a:defRPr/>
            </a:pPr>
            <a:endParaRPr lang="en-US" sz="3200" b="1" dirty="0">
              <a:solidFill>
                <a:srgbClr val="F79646"/>
              </a:solidFill>
              <a:latin typeface="Calibri"/>
            </a:endParaRPr>
          </a:p>
        </p:txBody>
      </p:sp>
      <p:sp>
        <p:nvSpPr>
          <p:cNvPr id="17" name="上箭头 16">
            <a:extLst>
              <a:ext uri="{FF2B5EF4-FFF2-40B4-BE49-F238E27FC236}">
                <a16:creationId xmlns:a16="http://schemas.microsoft.com/office/drawing/2014/main" id="{E1F32723-FCA9-59B1-5D57-57A1E2662E96}"/>
              </a:ext>
            </a:extLst>
          </p:cNvPr>
          <p:cNvSpPr/>
          <p:nvPr/>
        </p:nvSpPr>
        <p:spPr>
          <a:xfrm>
            <a:off x="4404530" y="3549050"/>
            <a:ext cx="242430" cy="249607"/>
          </a:xfrm>
          <a:prstGeom prst="upArrow">
            <a:avLst/>
          </a:prstGeom>
          <a:solidFill>
            <a:srgbClr val="F79646"/>
          </a:solidFill>
          <a:ln>
            <a:solidFill>
              <a:srgbClr val="F79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72132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1.1</a:t>
            </a:r>
            <a:r>
              <a:rPr lang="zh-CN" altLang="en-US" dirty="0"/>
              <a:t> 研究背景 </a:t>
            </a:r>
            <a:r>
              <a:rPr lang="zh-CN" altLang="en-US" sz="1600" dirty="0"/>
              <a:t>指数择时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4" name="Group 68">
            <a:extLst>
              <a:ext uri="{FF2B5EF4-FFF2-40B4-BE49-F238E27FC236}">
                <a16:creationId xmlns:a16="http://schemas.microsoft.com/office/drawing/2014/main" id="{3B16FF15-C471-FE06-5C93-2181B24DDE33}"/>
              </a:ext>
            </a:extLst>
          </p:cNvPr>
          <p:cNvGrpSpPr/>
          <p:nvPr/>
        </p:nvGrpSpPr>
        <p:grpSpPr>
          <a:xfrm>
            <a:off x="1372575" y="1752188"/>
            <a:ext cx="1908379" cy="1087839"/>
            <a:chOff x="664884" y="1281949"/>
            <a:chExt cx="1908379" cy="1087839"/>
          </a:xfrm>
        </p:grpSpPr>
        <p:sp>
          <p:nvSpPr>
            <p:cNvPr id="6" name="Flowchart: Data 26">
              <a:extLst>
                <a:ext uri="{FF2B5EF4-FFF2-40B4-BE49-F238E27FC236}">
                  <a16:creationId xmlns:a16="http://schemas.microsoft.com/office/drawing/2014/main" id="{F4887702-3070-DBCD-B871-79F1AF88F65E}"/>
                </a:ext>
              </a:extLst>
            </p:cNvPr>
            <p:cNvSpPr/>
            <p:nvPr/>
          </p:nvSpPr>
          <p:spPr>
            <a:xfrm rot="16200000" flipH="1" flipV="1">
              <a:off x="2146236" y="1938862"/>
              <a:ext cx="640080" cy="213975"/>
            </a:xfrm>
            <a:prstGeom prst="flowChartInputOutput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031601">
                <a:defRPr/>
              </a:pPr>
              <a:endParaRPr lang="en-US" sz="1100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2" name="Flowchart: Data 27">
              <a:extLst>
                <a:ext uri="{FF2B5EF4-FFF2-40B4-BE49-F238E27FC236}">
                  <a16:creationId xmlns:a16="http://schemas.microsoft.com/office/drawing/2014/main" id="{768310CC-C9E4-568B-ADE2-A70E9DCD5A68}"/>
                </a:ext>
              </a:extLst>
            </p:cNvPr>
            <p:cNvSpPr/>
            <p:nvPr/>
          </p:nvSpPr>
          <p:spPr>
            <a:xfrm rot="5400000" flipV="1">
              <a:off x="451832" y="1938861"/>
              <a:ext cx="640080" cy="213975"/>
            </a:xfrm>
            <a:prstGeom prst="flowChartInputOutput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1031601">
                <a:defRPr/>
              </a:pPr>
              <a:endParaRPr lang="en-US" sz="1100" kern="0">
                <a:solidFill>
                  <a:prstClr val="white"/>
                </a:solidFill>
                <a:latin typeface="Calibri"/>
              </a:endParaRPr>
            </a:p>
          </p:txBody>
        </p:sp>
        <p:grpSp>
          <p:nvGrpSpPr>
            <p:cNvPr id="13" name="Group 65">
              <a:extLst>
                <a:ext uri="{FF2B5EF4-FFF2-40B4-BE49-F238E27FC236}">
                  <a16:creationId xmlns:a16="http://schemas.microsoft.com/office/drawing/2014/main" id="{92955553-7E7F-94D4-B8E6-82BC8E6F0BFF}"/>
                </a:ext>
              </a:extLst>
            </p:cNvPr>
            <p:cNvGrpSpPr/>
            <p:nvPr/>
          </p:nvGrpSpPr>
          <p:grpSpPr>
            <a:xfrm>
              <a:off x="664885" y="1281949"/>
              <a:ext cx="1907435" cy="1087839"/>
              <a:chOff x="697943" y="1545178"/>
              <a:chExt cx="1907435" cy="1087839"/>
            </a:xfrm>
          </p:grpSpPr>
          <p:sp>
            <p:nvSpPr>
              <p:cNvPr id="15" name="Rectangle 57">
                <a:extLst>
                  <a:ext uri="{FF2B5EF4-FFF2-40B4-BE49-F238E27FC236}">
                    <a16:creationId xmlns:a16="http://schemas.microsoft.com/office/drawing/2014/main" id="{C3E2E700-D923-726E-39DA-FA625F784B96}"/>
                  </a:ext>
                </a:extLst>
              </p:cNvPr>
              <p:cNvSpPr/>
              <p:nvPr/>
            </p:nvSpPr>
            <p:spPr>
              <a:xfrm>
                <a:off x="1413854" y="1545178"/>
                <a:ext cx="383438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defTabSz="1031601">
                  <a:defRPr/>
                </a:pPr>
                <a:r>
                  <a:rPr lang="en-US" sz="3200" kern="0" dirty="0">
                    <a:solidFill>
                      <a:srgbClr val="F79646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1</a:t>
                </a:r>
              </a:p>
            </p:txBody>
          </p:sp>
          <p:sp>
            <p:nvSpPr>
              <p:cNvPr id="24" name="Rectangle 29">
                <a:extLst>
                  <a:ext uri="{FF2B5EF4-FFF2-40B4-BE49-F238E27FC236}">
                    <a16:creationId xmlns:a16="http://schemas.microsoft.com/office/drawing/2014/main" id="{6B2B905C-FF3A-54B3-9671-2D176A169392}"/>
                  </a:ext>
                </a:extLst>
              </p:cNvPr>
              <p:cNvSpPr/>
              <p:nvPr/>
            </p:nvSpPr>
            <p:spPr>
              <a:xfrm>
                <a:off x="697943" y="2119793"/>
                <a:ext cx="1907435" cy="513224"/>
              </a:xfrm>
              <a:prstGeom prst="rect">
                <a:avLst/>
              </a:prstGeom>
              <a:solidFill>
                <a:srgbClr val="4F81BD"/>
              </a:solidFill>
              <a:ln w="25400" cap="flat" cmpd="sng" algn="ctr">
                <a:solidFill>
                  <a:sysClr val="window" lastClr="FFFFFF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031601">
                  <a:defRPr/>
                </a:pPr>
                <a:r>
                  <a:rPr lang="en-US" kern="0" dirty="0" err="1">
                    <a:solidFill>
                      <a:prstClr val="white"/>
                    </a:solidFill>
                    <a:latin typeface="Calibri"/>
                  </a:rPr>
                  <a:t>什么是择时</a:t>
                </a:r>
                <a:r>
                  <a:rPr lang="zh-CN" altLang="en-US" kern="0" dirty="0">
                    <a:solidFill>
                      <a:prstClr val="white"/>
                    </a:solidFill>
                    <a:latin typeface="Calibri"/>
                  </a:rPr>
                  <a:t>？</a:t>
                </a:r>
                <a:endParaRPr lang="en-US" kern="0" dirty="0">
                  <a:solidFill>
                    <a:prstClr val="white"/>
                  </a:solidFill>
                  <a:latin typeface="Calibri"/>
                </a:endParaRPr>
              </a:p>
            </p:txBody>
          </p:sp>
        </p:grpSp>
      </p:grpSp>
      <p:sp>
        <p:nvSpPr>
          <p:cNvPr id="25" name="TextBox 32">
            <a:extLst>
              <a:ext uri="{FF2B5EF4-FFF2-40B4-BE49-F238E27FC236}">
                <a16:creationId xmlns:a16="http://schemas.microsoft.com/office/drawing/2014/main" id="{CE450FFA-4CF4-A902-6A19-F0227FF9E21D}"/>
              </a:ext>
            </a:extLst>
          </p:cNvPr>
          <p:cNvSpPr txBox="1"/>
          <p:nvPr/>
        </p:nvSpPr>
        <p:spPr>
          <a:xfrm>
            <a:off x="1372575" y="3477899"/>
            <a:ext cx="190743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noProof="1">
                <a:latin typeface="宋体" panose="02010600030101010101" pitchFamily="2" charset="-122"/>
                <a:ea typeface="宋体" panose="02010600030101010101" pitchFamily="2" charset="-122"/>
              </a:rPr>
              <a:t>预测未来市场走势</a:t>
            </a:r>
            <a:endParaRPr lang="en-US" altLang="zh-CN" sz="1600" noProof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en-US" altLang="zh-CN" sz="1600" noProof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600" noProof="1">
                <a:latin typeface="宋体" panose="02010600030101010101" pitchFamily="2" charset="-122"/>
                <a:ea typeface="宋体" panose="02010600030101010101" pitchFamily="2" charset="-122"/>
              </a:rPr>
              <a:t>选择最佳的买入或卖出时机</a:t>
            </a:r>
            <a:endParaRPr lang="en-US" sz="1600" noProof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26" name="Group 50">
            <a:extLst>
              <a:ext uri="{FF2B5EF4-FFF2-40B4-BE49-F238E27FC236}">
                <a16:creationId xmlns:a16="http://schemas.microsoft.com/office/drawing/2014/main" id="{C8DD890B-34DC-AC27-F6ED-51816461202B}"/>
              </a:ext>
            </a:extLst>
          </p:cNvPr>
          <p:cNvGrpSpPr/>
          <p:nvPr/>
        </p:nvGrpSpPr>
        <p:grpSpPr>
          <a:xfrm>
            <a:off x="4733354" y="1803665"/>
            <a:ext cx="1908379" cy="1041675"/>
            <a:chOff x="2630115" y="3549981"/>
            <a:chExt cx="1908379" cy="1041674"/>
          </a:xfrm>
          <a:solidFill>
            <a:srgbClr val="4F81BD"/>
          </a:solidFill>
        </p:grpSpPr>
        <p:sp>
          <p:nvSpPr>
            <p:cNvPr id="27" name="Rectangle 58">
              <a:extLst>
                <a:ext uri="{FF2B5EF4-FFF2-40B4-BE49-F238E27FC236}">
                  <a16:creationId xmlns:a16="http://schemas.microsoft.com/office/drawing/2014/main" id="{8B1C3E4D-34F0-509E-FDE3-9ED6634C7BCB}"/>
                </a:ext>
              </a:extLst>
            </p:cNvPr>
            <p:cNvSpPr/>
            <p:nvPr/>
          </p:nvSpPr>
          <p:spPr>
            <a:xfrm>
              <a:off x="3475218" y="3549981"/>
              <a:ext cx="245260" cy="492443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 defTabSz="1031601">
                <a:defRPr/>
              </a:pPr>
              <a:r>
                <a:rPr lang="en-US" altLang="zh-CN" sz="3200" kern="0" dirty="0">
                  <a:solidFill>
                    <a:srgbClr val="F79646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2</a:t>
              </a:r>
            </a:p>
          </p:txBody>
        </p:sp>
        <p:grpSp>
          <p:nvGrpSpPr>
            <p:cNvPr id="28" name="Group 46">
              <a:extLst>
                <a:ext uri="{FF2B5EF4-FFF2-40B4-BE49-F238E27FC236}">
                  <a16:creationId xmlns:a16="http://schemas.microsoft.com/office/drawing/2014/main" id="{6637AB4B-6618-1A06-17DA-6D5B22D93044}"/>
                </a:ext>
              </a:extLst>
            </p:cNvPr>
            <p:cNvGrpSpPr/>
            <p:nvPr/>
          </p:nvGrpSpPr>
          <p:grpSpPr>
            <a:xfrm>
              <a:off x="2630115" y="3947676"/>
              <a:ext cx="1908379" cy="643979"/>
              <a:chOff x="2630115" y="3947676"/>
              <a:chExt cx="1908379" cy="643979"/>
            </a:xfrm>
            <a:grpFill/>
          </p:grpSpPr>
          <p:sp>
            <p:nvSpPr>
              <p:cNvPr id="29" name="Flowchart: Data 32">
                <a:extLst>
                  <a:ext uri="{FF2B5EF4-FFF2-40B4-BE49-F238E27FC236}">
                    <a16:creationId xmlns:a16="http://schemas.microsoft.com/office/drawing/2014/main" id="{9E3FE4D0-6FAF-7BF4-BF5D-65C359AAFDC6}"/>
                  </a:ext>
                </a:extLst>
              </p:cNvPr>
              <p:cNvSpPr/>
              <p:nvPr/>
            </p:nvSpPr>
            <p:spPr>
              <a:xfrm rot="16200000" flipH="1" flipV="1">
                <a:off x="4111467" y="4160729"/>
                <a:ext cx="640080" cy="213975"/>
              </a:xfrm>
              <a:prstGeom prst="flowChartInputOutput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031601">
                  <a:defRPr/>
                </a:pPr>
                <a:endParaRPr lang="en-US" sz="1100" kern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30" name="Flowchart: Data 33">
                <a:extLst>
                  <a:ext uri="{FF2B5EF4-FFF2-40B4-BE49-F238E27FC236}">
                    <a16:creationId xmlns:a16="http://schemas.microsoft.com/office/drawing/2014/main" id="{D5B0223C-9C41-9C26-6959-0FC27020DE4E}"/>
                  </a:ext>
                </a:extLst>
              </p:cNvPr>
              <p:cNvSpPr/>
              <p:nvPr/>
            </p:nvSpPr>
            <p:spPr>
              <a:xfrm rot="5400000" flipV="1">
                <a:off x="2417063" y="4160728"/>
                <a:ext cx="640080" cy="213975"/>
              </a:xfrm>
              <a:prstGeom prst="flowChartInputOutput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031601">
                  <a:defRPr/>
                </a:pPr>
                <a:endParaRPr lang="en-US" sz="1100" kern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31" name="Rectangle 34">
                <a:extLst>
                  <a:ext uri="{FF2B5EF4-FFF2-40B4-BE49-F238E27FC236}">
                    <a16:creationId xmlns:a16="http://schemas.microsoft.com/office/drawing/2014/main" id="{2CE6F6B4-FB62-31DD-8083-C2ECCA2C9004}"/>
                  </a:ext>
                </a:extLst>
              </p:cNvPr>
              <p:cNvSpPr/>
              <p:nvPr/>
            </p:nvSpPr>
            <p:spPr>
              <a:xfrm>
                <a:off x="2630116" y="4078431"/>
                <a:ext cx="1907435" cy="513224"/>
              </a:xfrm>
              <a:prstGeom prst="rect">
                <a:avLst/>
              </a:prstGeom>
              <a:grpFill/>
              <a:ln w="25400" cap="flat" cmpd="sng" algn="ctr">
                <a:solidFill>
                  <a:sysClr val="window" lastClr="FFFFFF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031601">
                  <a:defRPr/>
                </a:pPr>
                <a:r>
                  <a:rPr lang="zh-CN" altLang="en-US" kern="0" dirty="0">
                    <a:solidFill>
                      <a:prstClr val="white"/>
                    </a:solidFill>
                    <a:latin typeface="Calibri"/>
                  </a:rPr>
                  <a:t>为什么要择时？</a:t>
                </a:r>
                <a:endParaRPr lang="en-US" kern="0" dirty="0">
                  <a:solidFill>
                    <a:prstClr val="white"/>
                  </a:solidFill>
                  <a:latin typeface="Calibri"/>
                </a:endParaRPr>
              </a:p>
            </p:txBody>
          </p:sp>
        </p:grpSp>
      </p:grpSp>
      <p:grpSp>
        <p:nvGrpSpPr>
          <p:cNvPr id="32" name="Group 69">
            <a:extLst>
              <a:ext uri="{FF2B5EF4-FFF2-40B4-BE49-F238E27FC236}">
                <a16:creationId xmlns:a16="http://schemas.microsoft.com/office/drawing/2014/main" id="{1B8EF321-62EA-CD31-6345-B7681554A99A}"/>
              </a:ext>
            </a:extLst>
          </p:cNvPr>
          <p:cNvGrpSpPr/>
          <p:nvPr/>
        </p:nvGrpSpPr>
        <p:grpSpPr>
          <a:xfrm>
            <a:off x="8121219" y="1803665"/>
            <a:ext cx="1908379" cy="1041675"/>
            <a:chOff x="4602110" y="1297337"/>
            <a:chExt cx="1908379" cy="1041674"/>
          </a:xfrm>
          <a:solidFill>
            <a:srgbClr val="4F81BD"/>
          </a:solidFill>
        </p:grpSpPr>
        <p:sp>
          <p:nvSpPr>
            <p:cNvPr id="33" name="Rectangle 59">
              <a:extLst>
                <a:ext uri="{FF2B5EF4-FFF2-40B4-BE49-F238E27FC236}">
                  <a16:creationId xmlns:a16="http://schemas.microsoft.com/office/drawing/2014/main" id="{C10D6E81-58F6-D32F-C625-142B66AB4BB5}"/>
                </a:ext>
              </a:extLst>
            </p:cNvPr>
            <p:cNvSpPr/>
            <p:nvPr/>
          </p:nvSpPr>
          <p:spPr>
            <a:xfrm>
              <a:off x="5390498" y="1297337"/>
              <a:ext cx="245260" cy="492443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 defTabSz="1031601">
                <a:defRPr/>
              </a:pPr>
              <a:r>
                <a:rPr lang="en-US" sz="3200" kern="0" dirty="0">
                  <a:solidFill>
                    <a:srgbClr val="F79646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3</a:t>
              </a:r>
            </a:p>
          </p:txBody>
        </p:sp>
        <p:grpSp>
          <p:nvGrpSpPr>
            <p:cNvPr id="34" name="Group 47">
              <a:extLst>
                <a:ext uri="{FF2B5EF4-FFF2-40B4-BE49-F238E27FC236}">
                  <a16:creationId xmlns:a16="http://schemas.microsoft.com/office/drawing/2014/main" id="{6C7A7BBA-F422-7F64-4322-4BAB643D9DDB}"/>
                </a:ext>
              </a:extLst>
            </p:cNvPr>
            <p:cNvGrpSpPr/>
            <p:nvPr/>
          </p:nvGrpSpPr>
          <p:grpSpPr>
            <a:xfrm>
              <a:off x="4602110" y="1695032"/>
              <a:ext cx="1908379" cy="643979"/>
              <a:chOff x="6580897" y="3947676"/>
              <a:chExt cx="1908379" cy="643979"/>
            </a:xfrm>
            <a:grpFill/>
          </p:grpSpPr>
          <p:sp>
            <p:nvSpPr>
              <p:cNvPr id="37" name="Flowchart: Data 42">
                <a:extLst>
                  <a:ext uri="{FF2B5EF4-FFF2-40B4-BE49-F238E27FC236}">
                    <a16:creationId xmlns:a16="http://schemas.microsoft.com/office/drawing/2014/main" id="{9E644658-9254-795F-05FF-41F6FEE0721C}"/>
                  </a:ext>
                </a:extLst>
              </p:cNvPr>
              <p:cNvSpPr/>
              <p:nvPr/>
            </p:nvSpPr>
            <p:spPr>
              <a:xfrm rot="16200000" flipH="1" flipV="1">
                <a:off x="8062249" y="4160729"/>
                <a:ext cx="640080" cy="213975"/>
              </a:xfrm>
              <a:prstGeom prst="flowChartInputOutput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031601">
                  <a:defRPr/>
                </a:pPr>
                <a:endParaRPr lang="en-US" sz="1100" kern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38" name="Flowchart: Data 43">
                <a:extLst>
                  <a:ext uri="{FF2B5EF4-FFF2-40B4-BE49-F238E27FC236}">
                    <a16:creationId xmlns:a16="http://schemas.microsoft.com/office/drawing/2014/main" id="{A9720C28-1739-478E-4056-A84AEF122C2C}"/>
                  </a:ext>
                </a:extLst>
              </p:cNvPr>
              <p:cNvSpPr/>
              <p:nvPr/>
            </p:nvSpPr>
            <p:spPr>
              <a:xfrm rot="5400000" flipV="1">
                <a:off x="6367845" y="4160728"/>
                <a:ext cx="640080" cy="213975"/>
              </a:xfrm>
              <a:prstGeom prst="flowChartInputOutput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031601">
                  <a:defRPr/>
                </a:pPr>
                <a:endParaRPr lang="en-US" sz="1100" kern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42" name="Rectangle 44">
                <a:extLst>
                  <a:ext uri="{FF2B5EF4-FFF2-40B4-BE49-F238E27FC236}">
                    <a16:creationId xmlns:a16="http://schemas.microsoft.com/office/drawing/2014/main" id="{F4A8F8FA-4CBE-89C1-0F83-BDF59CABEACD}"/>
                  </a:ext>
                </a:extLst>
              </p:cNvPr>
              <p:cNvSpPr/>
              <p:nvPr/>
            </p:nvSpPr>
            <p:spPr>
              <a:xfrm>
                <a:off x="6580898" y="4078431"/>
                <a:ext cx="1907435" cy="513224"/>
              </a:xfrm>
              <a:prstGeom prst="rect">
                <a:avLst/>
              </a:prstGeom>
              <a:grpFill/>
              <a:ln w="25400" cap="flat" cmpd="sng" algn="ctr">
                <a:solidFill>
                  <a:sysClr val="window" lastClr="FFFFFF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algn="ctr" defTabSz="1031601">
                  <a:defRPr/>
                </a:pPr>
                <a:r>
                  <a:rPr lang="zh-CN" altLang="en-US" kern="0" dirty="0">
                    <a:solidFill>
                      <a:prstClr val="white"/>
                    </a:solidFill>
                    <a:latin typeface="Calibri"/>
                  </a:rPr>
                  <a:t>怎么做择时？</a:t>
                </a:r>
                <a:endParaRPr lang="en-US" kern="0" dirty="0">
                  <a:solidFill>
                    <a:prstClr val="white"/>
                  </a:solidFill>
                  <a:latin typeface="Calibri"/>
                </a:endParaRPr>
              </a:p>
            </p:txBody>
          </p:sp>
        </p:grpSp>
      </p:grpSp>
      <p:sp>
        <p:nvSpPr>
          <p:cNvPr id="43" name="TextBox 32">
            <a:extLst>
              <a:ext uri="{FF2B5EF4-FFF2-40B4-BE49-F238E27FC236}">
                <a16:creationId xmlns:a16="http://schemas.microsoft.com/office/drawing/2014/main" id="{C291DAA7-A820-274A-2D8D-1F4B87359DF0}"/>
              </a:ext>
            </a:extLst>
          </p:cNvPr>
          <p:cNvSpPr txBox="1"/>
          <p:nvPr/>
        </p:nvSpPr>
        <p:spPr>
          <a:xfrm>
            <a:off x="4733356" y="3440108"/>
            <a:ext cx="190743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noProof="1">
                <a:latin typeface="宋体" panose="02010600030101010101" pitchFamily="2" charset="-122"/>
                <a:ea typeface="宋体" panose="02010600030101010101" pitchFamily="2" charset="-122"/>
              </a:rPr>
              <a:t>在市场的波动中获得更好的投资回报</a:t>
            </a:r>
            <a:endParaRPr lang="en-US" altLang="zh-CN" sz="1600" noProof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en-US" sz="1600" noProof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600" noProof="1">
                <a:latin typeface="宋体" panose="02010600030101010101" pitchFamily="2" charset="-122"/>
                <a:ea typeface="宋体" panose="02010600030101010101" pitchFamily="2" charset="-122"/>
              </a:rPr>
              <a:t>在不利的市场环境中规避市场风险</a:t>
            </a:r>
            <a:endParaRPr lang="en-US" sz="1600" noProof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6" name="TextBox 32">
            <a:extLst>
              <a:ext uri="{FF2B5EF4-FFF2-40B4-BE49-F238E27FC236}">
                <a16:creationId xmlns:a16="http://schemas.microsoft.com/office/drawing/2014/main" id="{47B2BBAE-0AE0-D45D-7990-4F2F2CE90B9C}"/>
              </a:ext>
            </a:extLst>
          </p:cNvPr>
          <p:cNvSpPr txBox="1"/>
          <p:nvPr/>
        </p:nvSpPr>
        <p:spPr>
          <a:xfrm>
            <a:off x="8052558" y="3477899"/>
            <a:ext cx="204475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noProof="1">
                <a:latin typeface="宋体" panose="02010600030101010101" pitchFamily="2" charset="-122"/>
                <a:ea typeface="宋体" panose="02010600030101010101" pitchFamily="2" charset="-122"/>
              </a:rPr>
              <a:t>技术分析、形态识别</a:t>
            </a:r>
            <a:endParaRPr lang="en-US" altLang="zh-CN" sz="1600" noProof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en-US" altLang="zh-CN" sz="1600" noProof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600" noProof="1">
                <a:latin typeface="宋体" panose="02010600030101010101" pitchFamily="2" charset="-122"/>
                <a:ea typeface="宋体" panose="02010600030101010101" pitchFamily="2" charset="-122"/>
              </a:rPr>
              <a:t>量价、宏观策略</a:t>
            </a:r>
            <a:endParaRPr lang="en-US" altLang="zh-CN" sz="1600" noProof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en-US" altLang="zh-CN" sz="1600" noProof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600" noProof="1">
                <a:latin typeface="宋体" panose="02010600030101010101" pitchFamily="2" charset="-122"/>
                <a:ea typeface="宋体" panose="02010600030101010101" pitchFamily="2" charset="-122"/>
              </a:rPr>
              <a:t>短线、长线</a:t>
            </a:r>
            <a:endParaRPr lang="en-US" altLang="zh-CN" sz="1600" noProof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84854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图片 40" descr="图表&#10;&#10;描述已自动生成">
            <a:extLst>
              <a:ext uri="{FF2B5EF4-FFF2-40B4-BE49-F238E27FC236}">
                <a16:creationId xmlns:a16="http://schemas.microsoft.com/office/drawing/2014/main" id="{4483CFD9-99B4-5CA4-3E24-5246294E87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937" y="5170079"/>
            <a:ext cx="9633178" cy="162088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1.1</a:t>
            </a:r>
            <a:r>
              <a:rPr lang="zh-CN" altLang="en-US" dirty="0"/>
              <a:t> 研究背景 </a:t>
            </a:r>
            <a:r>
              <a:rPr lang="zh-CN" altLang="en-US" sz="1600" dirty="0"/>
              <a:t>市场行情演绎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Text Placeholder 3"/>
          <p:cNvSpPr txBox="1">
            <a:spLocks/>
          </p:cNvSpPr>
          <p:nvPr/>
        </p:nvSpPr>
        <p:spPr>
          <a:xfrm>
            <a:off x="1388384" y="1606904"/>
            <a:ext cx="774251" cy="677108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>
            <a:lvl1pPr marL="0" indent="0" algn="ctr">
              <a:buNone/>
              <a:defRPr sz="14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spcBef>
                <a:spcPct val="20000"/>
              </a:spcBef>
              <a:buFont typeface="Arial" pitchFamily="34" charset="0"/>
              <a:buNone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Calibri"/>
              </a:rPr>
              <a:t>行情的</a:t>
            </a:r>
            <a:endParaRPr lang="en-US" altLang="zh-CN" sz="2000" b="1" dirty="0">
              <a:solidFill>
                <a:schemeClr val="tx1"/>
              </a:solidFill>
              <a:latin typeface="Calibri"/>
            </a:endParaRPr>
          </a:p>
          <a:p>
            <a:pPr>
              <a:spcBef>
                <a:spcPct val="20000"/>
              </a:spcBef>
              <a:buFont typeface="Arial" pitchFamily="34" charset="0"/>
              <a:buNone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Calibri"/>
              </a:rPr>
              <a:t>开头</a:t>
            </a:r>
            <a:endParaRPr lang="en-US" sz="2000" b="1" dirty="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16" name="Chevron 42"/>
          <p:cNvSpPr/>
          <p:nvPr/>
        </p:nvSpPr>
        <p:spPr>
          <a:xfrm>
            <a:off x="2560573" y="1247764"/>
            <a:ext cx="864105" cy="1257416"/>
          </a:xfrm>
          <a:prstGeom prst="chevron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031601">
              <a:defRPr/>
            </a:pPr>
            <a:endParaRPr lang="en-US" sz="2000" kern="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Chevron 63"/>
          <p:cNvSpPr/>
          <p:nvPr/>
        </p:nvSpPr>
        <p:spPr>
          <a:xfrm>
            <a:off x="5025520" y="1247764"/>
            <a:ext cx="864105" cy="1294968"/>
          </a:xfrm>
          <a:prstGeom prst="chevron">
            <a:avLst/>
          </a:prstGeom>
          <a:solidFill>
            <a:srgbClr val="FDBE94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031601">
              <a:defRPr/>
            </a:pPr>
            <a:endParaRPr lang="en-US" sz="2000" kern="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8" name="Chevron 67"/>
          <p:cNvSpPr/>
          <p:nvPr/>
        </p:nvSpPr>
        <p:spPr>
          <a:xfrm>
            <a:off x="7524845" y="1255478"/>
            <a:ext cx="864105" cy="1294968"/>
          </a:xfrm>
          <a:prstGeom prst="chevron">
            <a:avLst/>
          </a:prstGeom>
          <a:solidFill>
            <a:schemeClr val="bg1">
              <a:lumMod val="6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031601">
              <a:defRPr/>
            </a:pPr>
            <a:endParaRPr lang="en-US" sz="2000" kern="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Chevron 86"/>
          <p:cNvSpPr/>
          <p:nvPr/>
        </p:nvSpPr>
        <p:spPr>
          <a:xfrm>
            <a:off x="10038683" y="1247764"/>
            <a:ext cx="864105" cy="1294968"/>
          </a:xfrm>
          <a:prstGeom prst="chevron">
            <a:avLst/>
          </a:prstGeom>
          <a:solidFill>
            <a:srgbClr val="95B3D7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1031601">
              <a:defRPr/>
            </a:pPr>
            <a:endParaRPr lang="en-US" sz="2000" kern="0" dirty="0">
              <a:solidFill>
                <a:srgbClr val="FFC000"/>
              </a:solidFill>
              <a:latin typeface="Calibri"/>
            </a:endParaRPr>
          </a:p>
        </p:txBody>
      </p:sp>
      <p:sp>
        <p:nvSpPr>
          <p:cNvPr id="20" name="Oval 90"/>
          <p:cNvSpPr>
            <a:spLocks noChangeAspect="1"/>
          </p:cNvSpPr>
          <p:nvPr/>
        </p:nvSpPr>
        <p:spPr>
          <a:xfrm>
            <a:off x="2645406" y="1629643"/>
            <a:ext cx="520687" cy="520683"/>
          </a:xfrm>
          <a:prstGeom prst="ellipse">
            <a:avLst/>
          </a:prstGeom>
          <a:solidFill>
            <a:sysClr val="window" lastClr="FFFFFF"/>
          </a:solidFill>
          <a:ln w="38100" cap="flat" cmpd="sng" algn="ctr">
            <a:solidFill>
              <a:schemeClr val="accent1"/>
            </a:solidFill>
            <a:prstDash val="soli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1031601">
              <a:defRPr/>
            </a:pPr>
            <a:r>
              <a:rPr lang="en-US" sz="1400" b="1" kern="0" dirty="0">
                <a:solidFill>
                  <a:srgbClr val="00487E">
                    <a:lumMod val="75000"/>
                  </a:srgbClr>
                </a:solidFill>
                <a:latin typeface="Calibri"/>
              </a:rPr>
              <a:t>01</a:t>
            </a:r>
          </a:p>
        </p:txBody>
      </p:sp>
      <p:sp>
        <p:nvSpPr>
          <p:cNvPr id="21" name="Oval 91"/>
          <p:cNvSpPr>
            <a:spLocks noChangeAspect="1"/>
          </p:cNvSpPr>
          <p:nvPr/>
        </p:nvSpPr>
        <p:spPr>
          <a:xfrm>
            <a:off x="5101699" y="1634906"/>
            <a:ext cx="520687" cy="520683"/>
          </a:xfrm>
          <a:prstGeom prst="ellipse">
            <a:avLst/>
          </a:prstGeom>
          <a:solidFill>
            <a:sysClr val="window" lastClr="FFFFFF"/>
          </a:solidFill>
          <a:ln w="38100" cap="flat" cmpd="sng" algn="ctr">
            <a:solidFill>
              <a:srgbClr val="FDBE94"/>
            </a:solidFill>
            <a:prstDash val="soli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1031601">
              <a:defRPr/>
            </a:pPr>
            <a:r>
              <a:rPr lang="en-US" sz="1400" b="1" kern="0" dirty="0">
                <a:solidFill>
                  <a:srgbClr val="007EAE"/>
                </a:solidFill>
                <a:latin typeface="Calibri"/>
              </a:rPr>
              <a:t>02</a:t>
            </a:r>
            <a:endParaRPr lang="en-US" sz="1400" kern="0" dirty="0">
              <a:solidFill>
                <a:srgbClr val="007EAE"/>
              </a:solidFill>
              <a:latin typeface="Calibri"/>
            </a:endParaRPr>
          </a:p>
        </p:txBody>
      </p:sp>
      <p:sp>
        <p:nvSpPr>
          <p:cNvPr id="22" name="Oval 92"/>
          <p:cNvSpPr>
            <a:spLocks noChangeAspect="1"/>
          </p:cNvSpPr>
          <p:nvPr/>
        </p:nvSpPr>
        <p:spPr>
          <a:xfrm>
            <a:off x="7609678" y="1653232"/>
            <a:ext cx="520687" cy="520683"/>
          </a:xfrm>
          <a:prstGeom prst="ellipse">
            <a:avLst/>
          </a:prstGeom>
          <a:solidFill>
            <a:sysClr val="window" lastClr="FFFFFF"/>
          </a:solidFill>
          <a:ln w="38100" cap="flat" cmpd="sng" algn="ctr">
            <a:solidFill>
              <a:schemeClr val="bg1">
                <a:lumMod val="65000"/>
              </a:schemeClr>
            </a:solidFill>
            <a:prstDash val="soli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1031601">
              <a:defRPr/>
            </a:pPr>
            <a:r>
              <a:rPr lang="en-US" sz="1400" b="1" kern="0" dirty="0">
                <a:solidFill>
                  <a:srgbClr val="189CFF"/>
                </a:solidFill>
                <a:latin typeface="Calibri"/>
              </a:rPr>
              <a:t>03</a:t>
            </a:r>
            <a:endParaRPr lang="en-US" sz="1400" kern="0" dirty="0">
              <a:solidFill>
                <a:srgbClr val="189CFF"/>
              </a:solidFill>
              <a:latin typeface="Calibri"/>
            </a:endParaRPr>
          </a:p>
        </p:txBody>
      </p:sp>
      <p:sp>
        <p:nvSpPr>
          <p:cNvPr id="23" name="Oval 93"/>
          <p:cNvSpPr>
            <a:spLocks noChangeAspect="1"/>
          </p:cNvSpPr>
          <p:nvPr/>
        </p:nvSpPr>
        <p:spPr>
          <a:xfrm>
            <a:off x="10142673" y="1645518"/>
            <a:ext cx="520687" cy="520683"/>
          </a:xfrm>
          <a:prstGeom prst="ellipse">
            <a:avLst/>
          </a:prstGeom>
          <a:solidFill>
            <a:sysClr val="window" lastClr="FFFFFF"/>
          </a:solidFill>
          <a:ln w="38100" cap="flat" cmpd="sng" algn="ctr">
            <a:solidFill>
              <a:srgbClr val="95B3D7"/>
            </a:solidFill>
            <a:prstDash val="soli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 defTabSz="1031601">
              <a:defRPr/>
            </a:pPr>
            <a:r>
              <a:rPr lang="en-US" sz="1400" b="1" kern="0" dirty="0">
                <a:solidFill>
                  <a:srgbClr val="5DD3FF"/>
                </a:solidFill>
                <a:latin typeface="Calibri"/>
              </a:rPr>
              <a:t>04</a:t>
            </a:r>
            <a:endParaRPr lang="en-US" sz="1400" kern="0" dirty="0">
              <a:solidFill>
                <a:srgbClr val="5DD3FF"/>
              </a:solidFill>
              <a:latin typeface="Calibri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7107A25-5623-E158-05E7-D412128C7548}"/>
              </a:ext>
            </a:extLst>
          </p:cNvPr>
          <p:cNvSpPr txBox="1">
            <a:spLocks/>
          </p:cNvSpPr>
          <p:nvPr/>
        </p:nvSpPr>
        <p:spPr>
          <a:xfrm>
            <a:off x="3731646" y="1606904"/>
            <a:ext cx="1032334" cy="677108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>
            <a:lvl1pPr marL="0" indent="0" algn="ctr">
              <a:buNone/>
              <a:defRPr sz="14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spcBef>
                <a:spcPct val="20000"/>
              </a:spcBef>
              <a:buFont typeface="Arial" pitchFamily="34" charset="0"/>
              <a:buNone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Calibri"/>
              </a:rPr>
              <a:t>行情的</a:t>
            </a:r>
            <a:endParaRPr lang="en-US" altLang="zh-CN" sz="2000" b="1" dirty="0">
              <a:solidFill>
                <a:schemeClr val="tx1"/>
              </a:solidFill>
              <a:latin typeface="Calibri"/>
            </a:endParaRPr>
          </a:p>
          <a:p>
            <a:pPr>
              <a:spcBef>
                <a:spcPct val="20000"/>
              </a:spcBef>
              <a:buFont typeface="Arial" pitchFamily="34" charset="0"/>
              <a:buNone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Calibri"/>
              </a:rPr>
              <a:t>前期演绎</a:t>
            </a:r>
            <a:endParaRPr lang="en-US" sz="2000" b="1" dirty="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D30288C-1C6D-A617-7478-1EAC8597633A}"/>
              </a:ext>
            </a:extLst>
          </p:cNvPr>
          <p:cNvSpPr txBox="1">
            <a:spLocks/>
          </p:cNvSpPr>
          <p:nvPr/>
        </p:nvSpPr>
        <p:spPr>
          <a:xfrm>
            <a:off x="6151165" y="1609226"/>
            <a:ext cx="1032334" cy="677108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>
            <a:lvl1pPr marL="0" indent="0" algn="ctr">
              <a:buNone/>
              <a:defRPr sz="14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spcBef>
                <a:spcPct val="20000"/>
              </a:spcBef>
              <a:buFont typeface="Arial" pitchFamily="34" charset="0"/>
              <a:buNone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Calibri"/>
              </a:rPr>
              <a:t>行情的</a:t>
            </a:r>
            <a:endParaRPr lang="en-US" altLang="zh-CN" sz="2000" b="1" dirty="0">
              <a:solidFill>
                <a:schemeClr val="tx1"/>
              </a:solidFill>
              <a:latin typeface="Calibri"/>
            </a:endParaRPr>
          </a:p>
          <a:p>
            <a:pPr>
              <a:spcBef>
                <a:spcPct val="20000"/>
              </a:spcBef>
              <a:buFont typeface="Arial" pitchFamily="34" charset="0"/>
              <a:buNone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Calibri"/>
              </a:rPr>
              <a:t>中期共振</a:t>
            </a:r>
            <a:endParaRPr lang="en-US" sz="2000" b="1" dirty="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14A81E9-ED95-10F2-DD23-EAF042BB3857}"/>
              </a:ext>
            </a:extLst>
          </p:cNvPr>
          <p:cNvSpPr txBox="1">
            <a:spLocks/>
          </p:cNvSpPr>
          <p:nvPr/>
        </p:nvSpPr>
        <p:spPr>
          <a:xfrm>
            <a:off x="8556910" y="1609226"/>
            <a:ext cx="1290417" cy="677108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>
            <a:lvl1pPr marL="0" indent="0" algn="ctr">
              <a:buNone/>
              <a:defRPr sz="14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spcBef>
                <a:spcPct val="20000"/>
              </a:spcBef>
              <a:buFont typeface="Arial" pitchFamily="34" charset="0"/>
              <a:buNone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Calibri"/>
              </a:rPr>
              <a:t>行情的</a:t>
            </a:r>
            <a:endParaRPr lang="en-US" altLang="zh-CN" sz="2000" b="1" dirty="0">
              <a:solidFill>
                <a:schemeClr val="tx1"/>
              </a:solidFill>
              <a:latin typeface="Calibri"/>
            </a:endParaRPr>
          </a:p>
          <a:p>
            <a:pPr>
              <a:spcBef>
                <a:spcPct val="20000"/>
              </a:spcBef>
              <a:buFont typeface="Arial" pitchFamily="34" charset="0"/>
              <a:buNone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Calibri"/>
              </a:rPr>
              <a:t>顶点与危机</a:t>
            </a:r>
            <a:endParaRPr lang="en-US" sz="2000" b="1" dirty="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D88E98-DE8E-EF6D-10FC-C535440395BA}"/>
              </a:ext>
            </a:extLst>
          </p:cNvPr>
          <p:cNvSpPr/>
          <p:nvPr/>
        </p:nvSpPr>
        <p:spPr>
          <a:xfrm>
            <a:off x="776987" y="2853586"/>
            <a:ext cx="1851489" cy="13344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rgbClr val="F5781B"/>
              </a:buClr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行情的开头，如同平静湖面扔进的一颗石子，或来自情绪、故事、基本面。</a:t>
            </a:r>
          </a:p>
        </p:txBody>
      </p:sp>
      <p:cxnSp>
        <p:nvCxnSpPr>
          <p:cNvPr id="11" name="直接连接符 47">
            <a:extLst>
              <a:ext uri="{FF2B5EF4-FFF2-40B4-BE49-F238E27FC236}">
                <a16:creationId xmlns:a16="http://schemas.microsoft.com/office/drawing/2014/main" id="{5F5A22D9-271C-BB2A-8BA2-D85E2032CB7F}"/>
              </a:ext>
            </a:extLst>
          </p:cNvPr>
          <p:cNvCxnSpPr>
            <a:cxnSpLocks/>
          </p:cNvCxnSpPr>
          <p:nvPr/>
        </p:nvCxnSpPr>
        <p:spPr>
          <a:xfrm>
            <a:off x="2867649" y="2903035"/>
            <a:ext cx="0" cy="205739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B5EC1250-58B0-0E00-C675-7A6BF11C54EB}"/>
              </a:ext>
            </a:extLst>
          </p:cNvPr>
          <p:cNvSpPr/>
          <p:nvPr/>
        </p:nvSpPr>
        <p:spPr>
          <a:xfrm>
            <a:off x="3085873" y="2784880"/>
            <a:ext cx="1939637" cy="29502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rgbClr val="F5781B"/>
              </a:buClr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行情的小部分认知，常常伴随着日内幅度的形态突破和日间价格的突破，代表着一定趋势的形成或转折可能性的提升，也就是我们所熟知的</a:t>
            </a:r>
            <a:r>
              <a:rPr lang="en-US" altLang="zh-CN" sz="1400" b="1" dirty="0">
                <a:solidFill>
                  <a:srgbClr val="F796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zh-CN" altLang="en-US" sz="1400" b="1" dirty="0">
                <a:solidFill>
                  <a:srgbClr val="F796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动量与反转</a:t>
            </a:r>
            <a:r>
              <a:rPr lang="en-US" altLang="zh-CN" sz="1400" b="1" dirty="0">
                <a:solidFill>
                  <a:srgbClr val="F796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】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  <a:p>
            <a:pPr algn="just">
              <a:lnSpc>
                <a:spcPct val="150000"/>
              </a:lnSpc>
              <a:buClr>
                <a:srgbClr val="F5781B"/>
              </a:buClr>
            </a:pPr>
            <a:endParaRPr lang="zh-CN" altLang="en-US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5" name="直接连接符 47">
            <a:extLst>
              <a:ext uri="{FF2B5EF4-FFF2-40B4-BE49-F238E27FC236}">
                <a16:creationId xmlns:a16="http://schemas.microsoft.com/office/drawing/2014/main" id="{3159D13B-0046-F88B-E561-470B51479CF2}"/>
              </a:ext>
            </a:extLst>
          </p:cNvPr>
          <p:cNvCxnSpPr>
            <a:cxnSpLocks/>
          </p:cNvCxnSpPr>
          <p:nvPr/>
        </p:nvCxnSpPr>
        <p:spPr>
          <a:xfrm>
            <a:off x="5264683" y="2903035"/>
            <a:ext cx="0" cy="205739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>
            <a:extLst>
              <a:ext uri="{FF2B5EF4-FFF2-40B4-BE49-F238E27FC236}">
                <a16:creationId xmlns:a16="http://schemas.microsoft.com/office/drawing/2014/main" id="{B7BD6206-E25E-96AE-BF24-762E5A04C58A}"/>
              </a:ext>
            </a:extLst>
          </p:cNvPr>
          <p:cNvSpPr/>
          <p:nvPr/>
        </p:nvSpPr>
        <p:spPr>
          <a:xfrm>
            <a:off x="5530708" y="2747472"/>
            <a:ext cx="2035009" cy="26271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rgbClr val="F5781B"/>
              </a:buClr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当行情被大部分人认知之后，或形成合力与共识，伴随着波动率下行放量上涨迎来牛市；或加大分歧但遭遇流动性枯竭震荡下跌。这个阶段与</a:t>
            </a:r>
            <a:r>
              <a:rPr lang="en-US" altLang="zh-CN" sz="1400" b="1" dirty="0">
                <a:solidFill>
                  <a:srgbClr val="F796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zh-CN" altLang="en-US" sz="1400" b="1" dirty="0">
                <a:solidFill>
                  <a:srgbClr val="F796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分歧度和流动性</a:t>
            </a:r>
            <a:r>
              <a:rPr lang="en-US" altLang="zh-CN" sz="1400" b="1" dirty="0">
                <a:solidFill>
                  <a:srgbClr val="F796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】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息息相关。</a:t>
            </a:r>
          </a:p>
        </p:txBody>
      </p:sp>
      <p:cxnSp>
        <p:nvCxnSpPr>
          <p:cNvPr id="39" name="直接连接符 47">
            <a:extLst>
              <a:ext uri="{FF2B5EF4-FFF2-40B4-BE49-F238E27FC236}">
                <a16:creationId xmlns:a16="http://schemas.microsoft.com/office/drawing/2014/main" id="{C08932CA-F2BC-9D49-F279-53F034EC6E3E}"/>
              </a:ext>
            </a:extLst>
          </p:cNvPr>
          <p:cNvCxnSpPr>
            <a:cxnSpLocks/>
          </p:cNvCxnSpPr>
          <p:nvPr/>
        </p:nvCxnSpPr>
        <p:spPr>
          <a:xfrm>
            <a:off x="7830499" y="2853586"/>
            <a:ext cx="0" cy="205739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7EFF992A-9B48-1B71-1F88-91EEE5510EEF}"/>
              </a:ext>
            </a:extLst>
          </p:cNvPr>
          <p:cNvSpPr/>
          <p:nvPr/>
        </p:nvSpPr>
        <p:spPr>
          <a:xfrm>
            <a:off x="8095282" y="2747472"/>
            <a:ext cx="2223363" cy="23040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“当清洁工阿姨也在讨论股票的时候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就是股市最危险的时候”。市场的交易拥挤度和风险都在骤增，此时行情也快走到了尽头。对</a:t>
            </a:r>
            <a:r>
              <a:rPr lang="en-US" altLang="zh-CN" sz="1400" b="1" dirty="0">
                <a:solidFill>
                  <a:srgbClr val="F796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zh-CN" altLang="en-US" sz="1400" b="1" dirty="0">
                <a:solidFill>
                  <a:srgbClr val="F796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风险和交易拥挤度的研判</a:t>
            </a:r>
            <a:r>
              <a:rPr lang="en-US" altLang="zh-CN" sz="1400" b="1" dirty="0">
                <a:solidFill>
                  <a:srgbClr val="F796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】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至关重要。</a:t>
            </a:r>
          </a:p>
        </p:txBody>
      </p:sp>
    </p:spTree>
    <p:extLst>
      <p:ext uri="{BB962C8B-B14F-4D97-AF65-F5344CB8AC3E}">
        <p14:creationId xmlns:p14="http://schemas.microsoft.com/office/powerpoint/2010/main" val="3806426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  <p:bldP spid="14" grpId="0"/>
      <p:bldP spid="36" grpId="0"/>
      <p:bldP spid="4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</a:t>
            </a:r>
            <a:r>
              <a:rPr lang="zh-CN" altLang="en-US" dirty="0"/>
              <a:t> 研究方法与目标</a:t>
            </a:r>
            <a:endParaRPr lang="zh-CN" altLang="en-US" sz="20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00B3EA2A-6BAF-842B-F6CC-56875C6C6B5A}"/>
              </a:ext>
            </a:extLst>
          </p:cNvPr>
          <p:cNvGrpSpPr/>
          <p:nvPr/>
        </p:nvGrpSpPr>
        <p:grpSpPr>
          <a:xfrm>
            <a:off x="1078688" y="1620178"/>
            <a:ext cx="10288756" cy="4038308"/>
            <a:chOff x="1250607" y="1465139"/>
            <a:chExt cx="11383427" cy="4467965"/>
          </a:xfrm>
        </p:grpSpPr>
        <p:sp>
          <p:nvSpPr>
            <p:cNvPr id="7" name="圆角矩形 56">
              <a:extLst>
                <a:ext uri="{FF2B5EF4-FFF2-40B4-BE49-F238E27FC236}">
                  <a16:creationId xmlns:a16="http://schemas.microsoft.com/office/drawing/2014/main" id="{30570775-BDD1-04EC-99E1-76741636F5AD}"/>
                </a:ext>
              </a:extLst>
            </p:cNvPr>
            <p:cNvSpPr/>
            <p:nvPr/>
          </p:nvSpPr>
          <p:spPr bwMode="auto">
            <a:xfrm>
              <a:off x="2186249" y="1750727"/>
              <a:ext cx="2203047" cy="738728"/>
            </a:xfrm>
            <a:prstGeom prst="roundRect">
              <a:avLst>
                <a:gd name="adj" fmla="val 50000"/>
              </a:avLst>
            </a:prstGeom>
            <a:solidFill>
              <a:srgbClr val="4F81BD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lIns="68543" tIns="34272" rIns="68543" bIns="34272" anchor="ctr"/>
            <a:lstStyle/>
            <a:p>
              <a:pPr algn="ctr" defTabSz="685800">
                <a:defRPr/>
              </a:pPr>
              <a:endParaRPr lang="zh-CN" altLang="en-US" kern="0" dirty="0">
                <a:solidFill>
                  <a:srgbClr val="FFFFFF"/>
                </a:solidFill>
                <a:latin typeface="OPPOSans B" panose="00020600040101010101" pitchFamily="18" charset="-122"/>
                <a:ea typeface="思源黑体 CN Regular"/>
                <a:cs typeface="+mn-ea"/>
                <a:sym typeface="+mn-lt"/>
              </a:endParaRPr>
            </a:p>
          </p:txBody>
        </p:sp>
        <p:sp>
          <p:nvSpPr>
            <p:cNvPr id="8" name="文本框 12">
              <a:extLst>
                <a:ext uri="{FF2B5EF4-FFF2-40B4-BE49-F238E27FC236}">
                  <a16:creationId xmlns:a16="http://schemas.microsoft.com/office/drawing/2014/main" id="{DF469569-1464-EBF3-5490-C56F8CB8CA21}"/>
                </a:ext>
              </a:extLst>
            </p:cNvPr>
            <p:cNvSpPr txBox="1"/>
            <p:nvPr/>
          </p:nvSpPr>
          <p:spPr bwMode="auto">
            <a:xfrm>
              <a:off x="2377770" y="1858120"/>
              <a:ext cx="1353849" cy="4852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68543" tIns="34272" rIns="68543" bIns="34272">
              <a:spAutoFit/>
            </a:bodyPr>
            <a:lstStyle/>
            <a:p>
              <a:pPr defTabSz="685800">
                <a:defRPr/>
              </a:pPr>
              <a:r>
                <a:rPr lang="zh-CN" altLang="en-US" sz="2400" b="1" kern="0" dirty="0">
                  <a:solidFill>
                    <a:srgbClr val="FFFFFF"/>
                  </a:solidFill>
                  <a:latin typeface="+mn-ea"/>
                  <a:cs typeface="OPPOSans R" panose="00020600040101010101" pitchFamily="18" charset="-122"/>
                  <a:sym typeface="+mn-lt"/>
                </a:rPr>
                <a:t>   方法</a:t>
              </a:r>
              <a:endParaRPr lang="en-US" altLang="zh-CN" sz="2400" b="1" kern="0" dirty="0">
                <a:solidFill>
                  <a:srgbClr val="FFFFFF"/>
                </a:solidFill>
                <a:latin typeface="+mn-ea"/>
                <a:cs typeface="OPPOSans R" panose="00020600040101010101" pitchFamily="18" charset="-122"/>
                <a:sym typeface="+mn-lt"/>
              </a:endParaRPr>
            </a:p>
          </p:txBody>
        </p:sp>
        <p:sp>
          <p:nvSpPr>
            <p:cNvPr id="9" name="Freeform 12">
              <a:extLst>
                <a:ext uri="{FF2B5EF4-FFF2-40B4-BE49-F238E27FC236}">
                  <a16:creationId xmlns:a16="http://schemas.microsoft.com/office/drawing/2014/main" id="{AA1A3B3F-D219-1941-00C1-6DC80B01FD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69312" y="1750727"/>
              <a:ext cx="639349" cy="642144"/>
            </a:xfrm>
            <a:custGeom>
              <a:avLst/>
              <a:gdLst>
                <a:gd name="T0" fmla="*/ 2147483646 w 85"/>
                <a:gd name="T1" fmla="*/ 2147483646 h 85"/>
                <a:gd name="T2" fmla="*/ 2147483646 w 85"/>
                <a:gd name="T3" fmla="*/ 2147483646 h 85"/>
                <a:gd name="T4" fmla="*/ 2147483646 w 85"/>
                <a:gd name="T5" fmla="*/ 2147483646 h 85"/>
                <a:gd name="T6" fmla="*/ 2147483646 w 85"/>
                <a:gd name="T7" fmla="*/ 2147483646 h 85"/>
                <a:gd name="T8" fmla="*/ 2147483646 w 85"/>
                <a:gd name="T9" fmla="*/ 2147483646 h 85"/>
                <a:gd name="T10" fmla="*/ 2147483646 w 85"/>
                <a:gd name="T11" fmla="*/ 2147483646 h 85"/>
                <a:gd name="T12" fmla="*/ 2147483646 w 85"/>
                <a:gd name="T13" fmla="*/ 2147483646 h 85"/>
                <a:gd name="T14" fmla="*/ 2147483646 w 85"/>
                <a:gd name="T15" fmla="*/ 2147483646 h 85"/>
                <a:gd name="T16" fmla="*/ 2147483646 w 85"/>
                <a:gd name="T17" fmla="*/ 2147483646 h 85"/>
                <a:gd name="T18" fmla="*/ 2147483646 w 85"/>
                <a:gd name="T19" fmla="*/ 2147483646 h 85"/>
                <a:gd name="T20" fmla="*/ 2147483646 w 85"/>
                <a:gd name="T21" fmla="*/ 2147483646 h 85"/>
                <a:gd name="T22" fmla="*/ 2147483646 w 85"/>
                <a:gd name="T23" fmla="*/ 2147483646 h 85"/>
                <a:gd name="T24" fmla="*/ 2147483646 w 85"/>
                <a:gd name="T25" fmla="*/ 2147483646 h 85"/>
                <a:gd name="T26" fmla="*/ 2147483646 w 85"/>
                <a:gd name="T27" fmla="*/ 2147483646 h 85"/>
                <a:gd name="T28" fmla="*/ 2147483646 w 85"/>
                <a:gd name="T29" fmla="*/ 2147483646 h 85"/>
                <a:gd name="T30" fmla="*/ 2147483646 w 85"/>
                <a:gd name="T31" fmla="*/ 2147483646 h 85"/>
                <a:gd name="T32" fmla="*/ 2147483646 w 85"/>
                <a:gd name="T33" fmla="*/ 2147483646 h 85"/>
                <a:gd name="T34" fmla="*/ 2147483646 w 85"/>
                <a:gd name="T35" fmla="*/ 2147483646 h 85"/>
                <a:gd name="T36" fmla="*/ 2147483646 w 85"/>
                <a:gd name="T37" fmla="*/ 2147483646 h 85"/>
                <a:gd name="T38" fmla="*/ 2147483646 w 85"/>
                <a:gd name="T39" fmla="*/ 2147483646 h 85"/>
                <a:gd name="T40" fmla="*/ 2147483646 w 85"/>
                <a:gd name="T41" fmla="*/ 2147483646 h 85"/>
                <a:gd name="T42" fmla="*/ 2147483646 w 85"/>
                <a:gd name="T43" fmla="*/ 2147483646 h 85"/>
                <a:gd name="T44" fmla="*/ 2147483646 w 85"/>
                <a:gd name="T45" fmla="*/ 2147483646 h 85"/>
                <a:gd name="T46" fmla="*/ 2147483646 w 85"/>
                <a:gd name="T47" fmla="*/ 0 h 85"/>
                <a:gd name="T48" fmla="*/ 2147483646 w 85"/>
                <a:gd name="T49" fmla="*/ 0 h 85"/>
                <a:gd name="T50" fmla="*/ 2147483646 w 85"/>
                <a:gd name="T51" fmla="*/ 2147483646 h 85"/>
                <a:gd name="T52" fmla="*/ 2147483646 w 85"/>
                <a:gd name="T53" fmla="*/ 2147483646 h 85"/>
                <a:gd name="T54" fmla="*/ 2147483646 w 85"/>
                <a:gd name="T55" fmla="*/ 2147483646 h 85"/>
                <a:gd name="T56" fmla="*/ 2147483646 w 85"/>
                <a:gd name="T57" fmla="*/ 2147483646 h 85"/>
                <a:gd name="T58" fmla="*/ 2147483646 w 85"/>
                <a:gd name="T59" fmla="*/ 2147483646 h 85"/>
                <a:gd name="T60" fmla="*/ 2147483646 w 85"/>
                <a:gd name="T61" fmla="*/ 2147483646 h 85"/>
                <a:gd name="T62" fmla="*/ 2147483646 w 85"/>
                <a:gd name="T63" fmla="*/ 2147483646 h 85"/>
                <a:gd name="T64" fmla="*/ 2147483646 w 85"/>
                <a:gd name="T65" fmla="*/ 2147483646 h 85"/>
                <a:gd name="T66" fmla="*/ 2147483646 w 85"/>
                <a:gd name="T67" fmla="*/ 0 h 85"/>
                <a:gd name="T68" fmla="*/ 0 w 85"/>
                <a:gd name="T69" fmla="*/ 2147483646 h 85"/>
                <a:gd name="T70" fmla="*/ 0 w 85"/>
                <a:gd name="T71" fmla="*/ 2147483646 h 85"/>
                <a:gd name="T72" fmla="*/ 2147483646 w 85"/>
                <a:gd name="T73" fmla="*/ 2147483646 h 85"/>
                <a:gd name="T74" fmla="*/ 2147483646 w 85"/>
                <a:gd name="T75" fmla="*/ 2147483646 h 85"/>
                <a:gd name="T76" fmla="*/ 0 w 85"/>
                <a:gd name="T77" fmla="*/ 2147483646 h 85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85" h="85">
                  <a:moveTo>
                    <a:pt x="80" y="53"/>
                  </a:moveTo>
                  <a:cubicBezTo>
                    <a:pt x="80" y="80"/>
                    <a:pt x="80" y="80"/>
                    <a:pt x="80" y="80"/>
                  </a:cubicBezTo>
                  <a:cubicBezTo>
                    <a:pt x="80" y="83"/>
                    <a:pt x="78" y="85"/>
                    <a:pt x="74" y="85"/>
                  </a:cubicBezTo>
                  <a:cubicBezTo>
                    <a:pt x="10" y="85"/>
                    <a:pt x="10" y="85"/>
                    <a:pt x="10" y="85"/>
                  </a:cubicBezTo>
                  <a:cubicBezTo>
                    <a:pt x="7" y="85"/>
                    <a:pt x="5" y="83"/>
                    <a:pt x="5" y="80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9" y="54"/>
                    <a:pt x="13" y="55"/>
                    <a:pt x="17" y="56"/>
                  </a:cubicBezTo>
                  <a:cubicBezTo>
                    <a:pt x="17" y="60"/>
                    <a:pt x="17" y="60"/>
                    <a:pt x="17" y="60"/>
                  </a:cubicBezTo>
                  <a:cubicBezTo>
                    <a:pt x="20" y="60"/>
                    <a:pt x="20" y="60"/>
                    <a:pt x="20" y="60"/>
                  </a:cubicBezTo>
                  <a:cubicBezTo>
                    <a:pt x="20" y="68"/>
                    <a:pt x="20" y="68"/>
                    <a:pt x="20" y="68"/>
                  </a:cubicBezTo>
                  <a:cubicBezTo>
                    <a:pt x="27" y="68"/>
                    <a:pt x="27" y="68"/>
                    <a:pt x="27" y="68"/>
                  </a:cubicBezTo>
                  <a:cubicBezTo>
                    <a:pt x="27" y="60"/>
                    <a:pt x="27" y="60"/>
                    <a:pt x="27" y="60"/>
                  </a:cubicBezTo>
                  <a:cubicBezTo>
                    <a:pt x="30" y="60"/>
                    <a:pt x="30" y="60"/>
                    <a:pt x="30" y="60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8" y="58"/>
                    <a:pt x="46" y="58"/>
                    <a:pt x="54" y="57"/>
                  </a:cubicBezTo>
                  <a:cubicBezTo>
                    <a:pt x="54" y="60"/>
                    <a:pt x="54" y="60"/>
                    <a:pt x="54" y="60"/>
                  </a:cubicBezTo>
                  <a:cubicBezTo>
                    <a:pt x="57" y="60"/>
                    <a:pt x="57" y="60"/>
                    <a:pt x="57" y="60"/>
                  </a:cubicBezTo>
                  <a:cubicBezTo>
                    <a:pt x="57" y="68"/>
                    <a:pt x="57" y="68"/>
                    <a:pt x="57" y="68"/>
                  </a:cubicBezTo>
                  <a:cubicBezTo>
                    <a:pt x="63" y="68"/>
                    <a:pt x="63" y="68"/>
                    <a:pt x="63" y="68"/>
                  </a:cubicBezTo>
                  <a:cubicBezTo>
                    <a:pt x="63" y="60"/>
                    <a:pt x="63" y="60"/>
                    <a:pt x="63" y="60"/>
                  </a:cubicBezTo>
                  <a:cubicBezTo>
                    <a:pt x="66" y="60"/>
                    <a:pt x="66" y="60"/>
                    <a:pt x="66" y="60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71" y="55"/>
                    <a:pt x="75" y="54"/>
                    <a:pt x="80" y="53"/>
                  </a:cubicBezTo>
                  <a:close/>
                  <a:moveTo>
                    <a:pt x="31" y="0"/>
                  </a:moveTo>
                  <a:cubicBezTo>
                    <a:pt x="54" y="0"/>
                    <a:pt x="54" y="0"/>
                    <a:pt x="54" y="0"/>
                  </a:cubicBezTo>
                  <a:cubicBezTo>
                    <a:pt x="58" y="0"/>
                    <a:pt x="61" y="3"/>
                    <a:pt x="61" y="7"/>
                  </a:cubicBezTo>
                  <a:cubicBezTo>
                    <a:pt x="61" y="16"/>
                    <a:pt x="61" y="16"/>
                    <a:pt x="61" y="16"/>
                  </a:cubicBezTo>
                  <a:cubicBezTo>
                    <a:pt x="53" y="16"/>
                    <a:pt x="53" y="16"/>
                    <a:pt x="53" y="16"/>
                  </a:cubicBezTo>
                  <a:cubicBezTo>
                    <a:pt x="53" y="8"/>
                    <a:pt x="53" y="8"/>
                    <a:pt x="53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4" y="3"/>
                    <a:pt x="27" y="0"/>
                    <a:pt x="31" y="0"/>
                  </a:cubicBezTo>
                  <a:close/>
                  <a:moveTo>
                    <a:pt x="0" y="20"/>
                  </a:moveTo>
                  <a:cubicBezTo>
                    <a:pt x="0" y="48"/>
                    <a:pt x="0" y="48"/>
                    <a:pt x="0" y="48"/>
                  </a:cubicBezTo>
                  <a:cubicBezTo>
                    <a:pt x="27" y="55"/>
                    <a:pt x="56" y="55"/>
                    <a:pt x="85" y="48"/>
                  </a:cubicBezTo>
                  <a:cubicBezTo>
                    <a:pt x="85" y="20"/>
                    <a:pt x="85" y="20"/>
                    <a:pt x="85" y="20"/>
                  </a:cubicBezTo>
                  <a:lnTo>
                    <a:pt x="0" y="20"/>
                  </a:lnTo>
                  <a:close/>
                </a:path>
              </a:pathLst>
            </a:custGeom>
            <a:solidFill>
              <a:srgbClr val="4F81BD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lIns="68543" tIns="34272" rIns="68543" bIns="34272" anchor="ctr"/>
            <a:lstStyle/>
            <a:p>
              <a:pPr algn="ctr" defTabSz="685800">
                <a:defRPr/>
              </a:pPr>
              <a:endParaRPr lang="zh-CN" altLang="en-US" kern="0" dirty="0">
                <a:solidFill>
                  <a:srgbClr val="FFFFFF"/>
                </a:solidFill>
                <a:latin typeface="OPPOSans B" panose="00020600040101010101" pitchFamily="18" charset="-122"/>
                <a:ea typeface="思源黑体 CN Regular"/>
                <a:cs typeface="+mn-ea"/>
                <a:sym typeface="+mn-lt"/>
              </a:endParaRPr>
            </a:p>
          </p:txBody>
        </p:sp>
        <p:sp>
          <p:nvSpPr>
            <p:cNvPr id="10" name="圆角矩形 59">
              <a:extLst>
                <a:ext uri="{FF2B5EF4-FFF2-40B4-BE49-F238E27FC236}">
                  <a16:creationId xmlns:a16="http://schemas.microsoft.com/office/drawing/2014/main" id="{F29EBC2D-B2EF-4BAE-573A-1E35E4E905BB}"/>
                </a:ext>
              </a:extLst>
            </p:cNvPr>
            <p:cNvSpPr/>
            <p:nvPr/>
          </p:nvSpPr>
          <p:spPr bwMode="auto">
            <a:xfrm>
              <a:off x="2185597" y="3527599"/>
              <a:ext cx="2202829" cy="736631"/>
            </a:xfrm>
            <a:prstGeom prst="roundRect">
              <a:avLst>
                <a:gd name="adj" fmla="val 50000"/>
              </a:avLst>
            </a:prstGeom>
            <a:solidFill>
              <a:srgbClr val="FDBE94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lIns="68543" tIns="34272" rIns="68543" bIns="34272" anchor="ctr"/>
            <a:lstStyle/>
            <a:p>
              <a:pPr algn="ctr" defTabSz="685800">
                <a:defRPr/>
              </a:pPr>
              <a:endParaRPr lang="zh-CN" altLang="en-US" kern="0" dirty="0">
                <a:solidFill>
                  <a:srgbClr val="FFFFFF"/>
                </a:solidFill>
                <a:latin typeface="OPPOSans B" panose="00020600040101010101" pitchFamily="18" charset="-122"/>
                <a:ea typeface="思源黑体 CN Regular"/>
                <a:cs typeface="+mn-ea"/>
                <a:sym typeface="+mn-lt"/>
              </a:endParaRPr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5BE7314B-CCFB-385B-AD8F-6819FF207D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50607" y="3527599"/>
              <a:ext cx="675884" cy="678688"/>
            </a:xfrm>
            <a:custGeom>
              <a:avLst/>
              <a:gdLst>
                <a:gd name="T0" fmla="*/ 2147483646 w 104"/>
                <a:gd name="T1" fmla="*/ 2147483646 h 104"/>
                <a:gd name="T2" fmla="*/ 2147483646 w 104"/>
                <a:gd name="T3" fmla="*/ 2147483646 h 104"/>
                <a:gd name="T4" fmla="*/ 2147483646 w 104"/>
                <a:gd name="T5" fmla="*/ 2147483646 h 104"/>
                <a:gd name="T6" fmla="*/ 2147483646 w 104"/>
                <a:gd name="T7" fmla="*/ 0 h 104"/>
                <a:gd name="T8" fmla="*/ 0 w 104"/>
                <a:gd name="T9" fmla="*/ 2147483646 h 104"/>
                <a:gd name="T10" fmla="*/ 2147483646 w 104"/>
                <a:gd name="T11" fmla="*/ 2147483646 h 104"/>
                <a:gd name="T12" fmla="*/ 2147483646 w 104"/>
                <a:gd name="T13" fmla="*/ 2147483646 h 104"/>
                <a:gd name="T14" fmla="*/ 2147483646 w 104"/>
                <a:gd name="T15" fmla="*/ 0 h 104"/>
                <a:gd name="T16" fmla="*/ 2147483646 w 104"/>
                <a:gd name="T17" fmla="*/ 2147483646 h 104"/>
                <a:gd name="T18" fmla="*/ 2147483646 w 104"/>
                <a:gd name="T19" fmla="*/ 2147483646 h 104"/>
                <a:gd name="T20" fmla="*/ 2147483646 w 104"/>
                <a:gd name="T21" fmla="*/ 2147483646 h 104"/>
                <a:gd name="T22" fmla="*/ 2147483646 w 104"/>
                <a:gd name="T23" fmla="*/ 2147483646 h 104"/>
                <a:gd name="T24" fmla="*/ 2147483646 w 104"/>
                <a:gd name="T25" fmla="*/ 2147483646 h 104"/>
                <a:gd name="T26" fmla="*/ 2147483646 w 104"/>
                <a:gd name="T27" fmla="*/ 2147483646 h 104"/>
                <a:gd name="T28" fmla="*/ 2147483646 w 104"/>
                <a:gd name="T29" fmla="*/ 2147483646 h 104"/>
                <a:gd name="T30" fmla="*/ 2147483646 w 104"/>
                <a:gd name="T31" fmla="*/ 2147483646 h 104"/>
                <a:gd name="T32" fmla="*/ 2147483646 w 104"/>
                <a:gd name="T33" fmla="*/ 2147483646 h 104"/>
                <a:gd name="T34" fmla="*/ 2147483646 w 104"/>
                <a:gd name="T35" fmla="*/ 2147483646 h 104"/>
                <a:gd name="T36" fmla="*/ 2147483646 w 104"/>
                <a:gd name="T37" fmla="*/ 2147483646 h 104"/>
                <a:gd name="T38" fmla="*/ 2147483646 w 104"/>
                <a:gd name="T39" fmla="*/ 2147483646 h 104"/>
                <a:gd name="T40" fmla="*/ 2147483646 w 104"/>
                <a:gd name="T41" fmla="*/ 2147483646 h 104"/>
                <a:gd name="T42" fmla="*/ 2147483646 w 104"/>
                <a:gd name="T43" fmla="*/ 2147483646 h 104"/>
                <a:gd name="T44" fmla="*/ 2147483646 w 104"/>
                <a:gd name="T45" fmla="*/ 2147483646 h 104"/>
                <a:gd name="T46" fmla="*/ 2147483646 w 104"/>
                <a:gd name="T47" fmla="*/ 2147483646 h 104"/>
                <a:gd name="T48" fmla="*/ 2147483646 w 104"/>
                <a:gd name="T49" fmla="*/ 2147483646 h 104"/>
                <a:gd name="T50" fmla="*/ 2147483646 w 104"/>
                <a:gd name="T51" fmla="*/ 2147483646 h 104"/>
                <a:gd name="T52" fmla="*/ 2147483646 w 104"/>
                <a:gd name="T53" fmla="*/ 2147483646 h 104"/>
                <a:gd name="T54" fmla="*/ 2147483646 w 104"/>
                <a:gd name="T55" fmla="*/ 2147483646 h 104"/>
                <a:gd name="T56" fmla="*/ 2147483646 w 104"/>
                <a:gd name="T57" fmla="*/ 2147483646 h 104"/>
                <a:gd name="T58" fmla="*/ 2147483646 w 104"/>
                <a:gd name="T59" fmla="*/ 2147483646 h 104"/>
                <a:gd name="T60" fmla="*/ 2147483646 w 104"/>
                <a:gd name="T61" fmla="*/ 2147483646 h 104"/>
                <a:gd name="T62" fmla="*/ 2147483646 w 104"/>
                <a:gd name="T63" fmla="*/ 2147483646 h 104"/>
                <a:gd name="T64" fmla="*/ 2147483646 w 104"/>
                <a:gd name="T65" fmla="*/ 2147483646 h 104"/>
                <a:gd name="T66" fmla="*/ 2147483646 w 104"/>
                <a:gd name="T67" fmla="*/ 2147483646 h 104"/>
                <a:gd name="T68" fmla="*/ 2147483646 w 104"/>
                <a:gd name="T69" fmla="*/ 2147483646 h 104"/>
                <a:gd name="T70" fmla="*/ 2147483646 w 104"/>
                <a:gd name="T71" fmla="*/ 2147483646 h 104"/>
                <a:gd name="T72" fmla="*/ 2147483646 w 104"/>
                <a:gd name="T73" fmla="*/ 2147483646 h 104"/>
                <a:gd name="T74" fmla="*/ 2147483646 w 104"/>
                <a:gd name="T75" fmla="*/ 2147483646 h 10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04" h="104">
                  <a:moveTo>
                    <a:pt x="45" y="50"/>
                  </a:moveTo>
                  <a:cubicBezTo>
                    <a:pt x="43" y="27"/>
                    <a:pt x="43" y="27"/>
                    <a:pt x="43" y="27"/>
                  </a:cubicBezTo>
                  <a:cubicBezTo>
                    <a:pt x="55" y="46"/>
                    <a:pt x="55" y="46"/>
                    <a:pt x="55" y="46"/>
                  </a:cubicBezTo>
                  <a:cubicBezTo>
                    <a:pt x="60" y="47"/>
                    <a:pt x="63" y="51"/>
                    <a:pt x="63" y="56"/>
                  </a:cubicBezTo>
                  <a:cubicBezTo>
                    <a:pt x="63" y="62"/>
                    <a:pt x="59" y="67"/>
                    <a:pt x="53" y="67"/>
                  </a:cubicBezTo>
                  <a:cubicBezTo>
                    <a:pt x="48" y="67"/>
                    <a:pt x="43" y="62"/>
                    <a:pt x="43" y="56"/>
                  </a:cubicBezTo>
                  <a:cubicBezTo>
                    <a:pt x="43" y="54"/>
                    <a:pt x="44" y="52"/>
                    <a:pt x="45" y="50"/>
                  </a:cubicBezTo>
                  <a:close/>
                  <a:moveTo>
                    <a:pt x="52" y="0"/>
                  </a:moveTo>
                  <a:cubicBezTo>
                    <a:pt x="38" y="0"/>
                    <a:pt x="25" y="6"/>
                    <a:pt x="15" y="15"/>
                  </a:cubicBezTo>
                  <a:cubicBezTo>
                    <a:pt x="6" y="25"/>
                    <a:pt x="0" y="38"/>
                    <a:pt x="0" y="52"/>
                  </a:cubicBezTo>
                  <a:cubicBezTo>
                    <a:pt x="0" y="66"/>
                    <a:pt x="6" y="79"/>
                    <a:pt x="15" y="89"/>
                  </a:cubicBezTo>
                  <a:cubicBezTo>
                    <a:pt x="25" y="98"/>
                    <a:pt x="38" y="104"/>
                    <a:pt x="52" y="104"/>
                  </a:cubicBezTo>
                  <a:cubicBezTo>
                    <a:pt x="67" y="104"/>
                    <a:pt x="80" y="98"/>
                    <a:pt x="89" y="89"/>
                  </a:cubicBezTo>
                  <a:cubicBezTo>
                    <a:pt x="98" y="79"/>
                    <a:pt x="104" y="66"/>
                    <a:pt x="104" y="52"/>
                  </a:cubicBezTo>
                  <a:cubicBezTo>
                    <a:pt x="104" y="38"/>
                    <a:pt x="98" y="25"/>
                    <a:pt x="89" y="15"/>
                  </a:cubicBezTo>
                  <a:cubicBezTo>
                    <a:pt x="80" y="6"/>
                    <a:pt x="67" y="0"/>
                    <a:pt x="52" y="0"/>
                  </a:cubicBezTo>
                  <a:close/>
                  <a:moveTo>
                    <a:pt x="83" y="22"/>
                  </a:moveTo>
                  <a:cubicBezTo>
                    <a:pt x="75" y="14"/>
                    <a:pt x="64" y="9"/>
                    <a:pt x="52" y="9"/>
                  </a:cubicBezTo>
                  <a:cubicBezTo>
                    <a:pt x="40" y="9"/>
                    <a:pt x="30" y="14"/>
                    <a:pt x="22" y="22"/>
                  </a:cubicBezTo>
                  <a:cubicBezTo>
                    <a:pt x="14" y="30"/>
                    <a:pt x="9" y="40"/>
                    <a:pt x="9" y="52"/>
                  </a:cubicBezTo>
                  <a:cubicBezTo>
                    <a:pt x="9" y="64"/>
                    <a:pt x="14" y="75"/>
                    <a:pt x="22" y="82"/>
                  </a:cubicBezTo>
                  <a:cubicBezTo>
                    <a:pt x="30" y="90"/>
                    <a:pt x="40" y="95"/>
                    <a:pt x="52" y="95"/>
                  </a:cubicBezTo>
                  <a:cubicBezTo>
                    <a:pt x="64" y="95"/>
                    <a:pt x="75" y="90"/>
                    <a:pt x="83" y="82"/>
                  </a:cubicBezTo>
                  <a:cubicBezTo>
                    <a:pt x="90" y="75"/>
                    <a:pt x="95" y="64"/>
                    <a:pt x="95" y="52"/>
                  </a:cubicBezTo>
                  <a:cubicBezTo>
                    <a:pt x="95" y="40"/>
                    <a:pt x="90" y="30"/>
                    <a:pt x="83" y="22"/>
                  </a:cubicBezTo>
                  <a:close/>
                  <a:moveTo>
                    <a:pt x="24" y="64"/>
                  </a:moveTo>
                  <a:cubicBezTo>
                    <a:pt x="23" y="62"/>
                    <a:pt x="22" y="58"/>
                    <a:pt x="22" y="55"/>
                  </a:cubicBezTo>
                  <a:cubicBezTo>
                    <a:pt x="28" y="55"/>
                    <a:pt x="28" y="55"/>
                    <a:pt x="28" y="55"/>
                  </a:cubicBezTo>
                  <a:cubicBezTo>
                    <a:pt x="28" y="49"/>
                    <a:pt x="28" y="49"/>
                    <a:pt x="28" y="49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2" y="46"/>
                    <a:pt x="23" y="43"/>
                    <a:pt x="24" y="40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28" y="33"/>
                    <a:pt x="29" y="32"/>
                    <a:pt x="31" y="30"/>
                  </a:cubicBezTo>
                  <a:cubicBezTo>
                    <a:pt x="31" y="30"/>
                    <a:pt x="32" y="29"/>
                    <a:pt x="33" y="28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42" y="23"/>
                    <a:pt x="44" y="22"/>
                    <a:pt x="47" y="22"/>
                  </a:cubicBezTo>
                  <a:cubicBezTo>
                    <a:pt x="47" y="26"/>
                    <a:pt x="47" y="26"/>
                    <a:pt x="47" y="26"/>
                  </a:cubicBezTo>
                  <a:cubicBezTo>
                    <a:pt x="54" y="26"/>
                    <a:pt x="54" y="26"/>
                    <a:pt x="54" y="26"/>
                  </a:cubicBezTo>
                  <a:cubicBezTo>
                    <a:pt x="54" y="21"/>
                    <a:pt x="54" y="21"/>
                    <a:pt x="54" y="21"/>
                  </a:cubicBezTo>
                  <a:cubicBezTo>
                    <a:pt x="57" y="22"/>
                    <a:pt x="59" y="22"/>
                    <a:pt x="62" y="23"/>
                  </a:cubicBezTo>
                  <a:cubicBezTo>
                    <a:pt x="60" y="27"/>
                    <a:pt x="60" y="27"/>
                    <a:pt x="60" y="27"/>
                  </a:cubicBezTo>
                  <a:cubicBezTo>
                    <a:pt x="66" y="30"/>
                    <a:pt x="66" y="30"/>
                    <a:pt x="66" y="30"/>
                  </a:cubicBezTo>
                  <a:cubicBezTo>
                    <a:pt x="68" y="26"/>
                    <a:pt x="68" y="26"/>
                    <a:pt x="68" y="26"/>
                  </a:cubicBezTo>
                  <a:cubicBezTo>
                    <a:pt x="70" y="27"/>
                    <a:pt x="72" y="29"/>
                    <a:pt x="74" y="30"/>
                  </a:cubicBezTo>
                  <a:cubicBezTo>
                    <a:pt x="74" y="31"/>
                    <a:pt x="75" y="31"/>
                    <a:pt x="75" y="32"/>
                  </a:cubicBezTo>
                  <a:cubicBezTo>
                    <a:pt x="70" y="34"/>
                    <a:pt x="70" y="34"/>
                    <a:pt x="70" y="34"/>
                  </a:cubicBezTo>
                  <a:cubicBezTo>
                    <a:pt x="74" y="40"/>
                    <a:pt x="74" y="40"/>
                    <a:pt x="74" y="40"/>
                  </a:cubicBezTo>
                  <a:cubicBezTo>
                    <a:pt x="79" y="37"/>
                    <a:pt x="79" y="37"/>
                    <a:pt x="79" y="37"/>
                  </a:cubicBezTo>
                  <a:cubicBezTo>
                    <a:pt x="80" y="40"/>
                    <a:pt x="82" y="43"/>
                    <a:pt x="82" y="46"/>
                  </a:cubicBezTo>
                  <a:cubicBezTo>
                    <a:pt x="76" y="46"/>
                    <a:pt x="76" y="46"/>
                    <a:pt x="76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83" y="52"/>
                    <a:pt x="83" y="52"/>
                    <a:pt x="83" y="52"/>
                  </a:cubicBezTo>
                  <a:cubicBezTo>
                    <a:pt x="83" y="55"/>
                    <a:pt x="82" y="59"/>
                    <a:pt x="81" y="62"/>
                  </a:cubicBezTo>
                  <a:cubicBezTo>
                    <a:pt x="75" y="58"/>
                    <a:pt x="75" y="58"/>
                    <a:pt x="75" y="58"/>
                  </a:cubicBezTo>
                  <a:cubicBezTo>
                    <a:pt x="72" y="64"/>
                    <a:pt x="72" y="64"/>
                    <a:pt x="72" y="64"/>
                  </a:cubicBezTo>
                  <a:cubicBezTo>
                    <a:pt x="78" y="68"/>
                    <a:pt x="78" y="68"/>
                    <a:pt x="78" y="68"/>
                  </a:cubicBezTo>
                  <a:cubicBezTo>
                    <a:pt x="84" y="71"/>
                    <a:pt x="84" y="71"/>
                    <a:pt x="84" y="71"/>
                  </a:cubicBezTo>
                  <a:cubicBezTo>
                    <a:pt x="87" y="66"/>
                    <a:pt x="90" y="58"/>
                    <a:pt x="90" y="52"/>
                  </a:cubicBezTo>
                  <a:cubicBezTo>
                    <a:pt x="90" y="42"/>
                    <a:pt x="85" y="32"/>
                    <a:pt x="79" y="26"/>
                  </a:cubicBezTo>
                  <a:cubicBezTo>
                    <a:pt x="72" y="19"/>
                    <a:pt x="63" y="15"/>
                    <a:pt x="52" y="15"/>
                  </a:cubicBezTo>
                  <a:cubicBezTo>
                    <a:pt x="42" y="15"/>
                    <a:pt x="33" y="19"/>
                    <a:pt x="26" y="26"/>
                  </a:cubicBezTo>
                  <a:cubicBezTo>
                    <a:pt x="19" y="32"/>
                    <a:pt x="15" y="42"/>
                    <a:pt x="15" y="52"/>
                  </a:cubicBezTo>
                  <a:cubicBezTo>
                    <a:pt x="15" y="60"/>
                    <a:pt x="18" y="68"/>
                    <a:pt x="22" y="74"/>
                  </a:cubicBezTo>
                  <a:cubicBezTo>
                    <a:pt x="27" y="70"/>
                    <a:pt x="27" y="70"/>
                    <a:pt x="27" y="70"/>
                  </a:cubicBezTo>
                  <a:cubicBezTo>
                    <a:pt x="27" y="70"/>
                    <a:pt x="27" y="70"/>
                    <a:pt x="27" y="70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0" y="61"/>
                    <a:pt x="30" y="61"/>
                    <a:pt x="30" y="61"/>
                  </a:cubicBezTo>
                  <a:cubicBezTo>
                    <a:pt x="24" y="64"/>
                    <a:pt x="24" y="64"/>
                    <a:pt x="24" y="64"/>
                  </a:cubicBezTo>
                  <a:close/>
                  <a:moveTo>
                    <a:pt x="53" y="51"/>
                  </a:moveTo>
                  <a:cubicBezTo>
                    <a:pt x="50" y="51"/>
                    <a:pt x="48" y="53"/>
                    <a:pt x="48" y="56"/>
                  </a:cubicBezTo>
                  <a:cubicBezTo>
                    <a:pt x="48" y="59"/>
                    <a:pt x="50" y="61"/>
                    <a:pt x="53" y="61"/>
                  </a:cubicBezTo>
                  <a:cubicBezTo>
                    <a:pt x="56" y="61"/>
                    <a:pt x="58" y="59"/>
                    <a:pt x="58" y="56"/>
                  </a:cubicBezTo>
                  <a:cubicBezTo>
                    <a:pt x="58" y="53"/>
                    <a:pt x="56" y="51"/>
                    <a:pt x="53" y="51"/>
                  </a:cubicBezTo>
                  <a:close/>
                </a:path>
              </a:pathLst>
            </a:custGeom>
            <a:solidFill>
              <a:srgbClr val="FDBE94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lIns="68543" tIns="34272" rIns="68543" bIns="34272" anchor="ctr"/>
            <a:lstStyle/>
            <a:p>
              <a:pPr algn="ctr" defTabSz="685800">
                <a:defRPr/>
              </a:pPr>
              <a:endParaRPr lang="zh-CN" altLang="en-US" kern="0" dirty="0">
                <a:solidFill>
                  <a:srgbClr val="FFFFFF"/>
                </a:solidFill>
                <a:latin typeface="OPPOSans B" panose="00020600040101010101" pitchFamily="18" charset="-122"/>
                <a:ea typeface="思源黑体 CN Regular"/>
                <a:cs typeface="+mn-ea"/>
                <a:sym typeface="+mn-lt"/>
              </a:endParaRPr>
            </a:p>
          </p:txBody>
        </p:sp>
        <p:sp>
          <p:nvSpPr>
            <p:cNvPr id="12" name="圆角矩形 61">
              <a:extLst>
                <a:ext uri="{FF2B5EF4-FFF2-40B4-BE49-F238E27FC236}">
                  <a16:creationId xmlns:a16="http://schemas.microsoft.com/office/drawing/2014/main" id="{883FA0DF-3FC7-40A8-C63E-3E57B2090AE0}"/>
                </a:ext>
              </a:extLst>
            </p:cNvPr>
            <p:cNvSpPr/>
            <p:nvPr/>
          </p:nvSpPr>
          <p:spPr bwMode="auto">
            <a:xfrm>
              <a:off x="2186687" y="5196988"/>
              <a:ext cx="2202175" cy="736116"/>
            </a:xfrm>
            <a:prstGeom prst="roundRect">
              <a:avLst>
                <a:gd name="adj" fmla="val 50000"/>
              </a:avLst>
            </a:prstGeom>
            <a:solidFill>
              <a:srgbClr val="4F81BD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lIns="68543" tIns="34272" rIns="68543" bIns="34272" anchor="ctr"/>
            <a:lstStyle/>
            <a:p>
              <a:pPr algn="ctr" defTabSz="685800">
                <a:defRPr/>
              </a:pPr>
              <a:endParaRPr lang="zh-CN" altLang="en-US" kern="0" dirty="0">
                <a:solidFill>
                  <a:srgbClr val="FFFFFF"/>
                </a:solidFill>
                <a:latin typeface="OPPOSans B" panose="00020600040101010101" pitchFamily="18" charset="-122"/>
                <a:ea typeface="思源黑体 CN Regular"/>
                <a:cs typeface="+mn-ea"/>
                <a:sym typeface="+mn-lt"/>
              </a:endParaRPr>
            </a:p>
          </p:txBody>
        </p:sp>
        <p:sp>
          <p:nvSpPr>
            <p:cNvPr id="13" name="Freeform 22">
              <a:extLst>
                <a:ext uri="{FF2B5EF4-FFF2-40B4-BE49-F238E27FC236}">
                  <a16:creationId xmlns:a16="http://schemas.microsoft.com/office/drawing/2014/main" id="{D8BE0A02-04AF-A059-F833-F4F99A681F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69312" y="5267467"/>
              <a:ext cx="735904" cy="595157"/>
            </a:xfrm>
            <a:custGeom>
              <a:avLst/>
              <a:gdLst>
                <a:gd name="T0" fmla="*/ 2147483646 w 109"/>
                <a:gd name="T1" fmla="*/ 2147483646 h 88"/>
                <a:gd name="T2" fmla="*/ 2147483646 w 109"/>
                <a:gd name="T3" fmla="*/ 2147483646 h 88"/>
                <a:gd name="T4" fmla="*/ 2147483646 w 109"/>
                <a:gd name="T5" fmla="*/ 2147483646 h 88"/>
                <a:gd name="T6" fmla="*/ 2147483646 w 109"/>
                <a:gd name="T7" fmla="*/ 0 h 88"/>
                <a:gd name="T8" fmla="*/ 2147483646 w 109"/>
                <a:gd name="T9" fmla="*/ 2147483646 h 88"/>
                <a:gd name="T10" fmla="*/ 2147483646 w 109"/>
                <a:gd name="T11" fmla="*/ 2147483646 h 88"/>
                <a:gd name="T12" fmla="*/ 2147483646 w 109"/>
                <a:gd name="T13" fmla="*/ 2147483646 h 88"/>
                <a:gd name="T14" fmla="*/ 2147483646 w 109"/>
                <a:gd name="T15" fmla="*/ 2147483646 h 88"/>
                <a:gd name="T16" fmla="*/ 2147483646 w 109"/>
                <a:gd name="T17" fmla="*/ 2147483646 h 88"/>
                <a:gd name="T18" fmla="*/ 0 w 109"/>
                <a:gd name="T19" fmla="*/ 2147483646 h 88"/>
                <a:gd name="T20" fmla="*/ 2147483646 w 109"/>
                <a:gd name="T21" fmla="*/ 2147483646 h 88"/>
                <a:gd name="T22" fmla="*/ 2147483646 w 109"/>
                <a:gd name="T23" fmla="*/ 2147483646 h 88"/>
                <a:gd name="T24" fmla="*/ 2147483646 w 109"/>
                <a:gd name="T25" fmla="*/ 2147483646 h 88"/>
                <a:gd name="T26" fmla="*/ 2147483646 w 109"/>
                <a:gd name="T27" fmla="*/ 2147483646 h 88"/>
                <a:gd name="T28" fmla="*/ 2147483646 w 109"/>
                <a:gd name="T29" fmla="*/ 2147483646 h 88"/>
                <a:gd name="T30" fmla="*/ 2147483646 w 109"/>
                <a:gd name="T31" fmla="*/ 2147483646 h 88"/>
                <a:gd name="T32" fmla="*/ 2147483646 w 109"/>
                <a:gd name="T33" fmla="*/ 2147483646 h 88"/>
                <a:gd name="T34" fmla="*/ 2147483646 w 109"/>
                <a:gd name="T35" fmla="*/ 2147483646 h 88"/>
                <a:gd name="T36" fmla="*/ 2147483646 w 109"/>
                <a:gd name="T37" fmla="*/ 2147483646 h 88"/>
                <a:gd name="T38" fmla="*/ 2147483646 w 109"/>
                <a:gd name="T39" fmla="*/ 2147483646 h 88"/>
                <a:gd name="T40" fmla="*/ 2147483646 w 109"/>
                <a:gd name="T41" fmla="*/ 2147483646 h 88"/>
                <a:gd name="T42" fmla="*/ 2147483646 w 109"/>
                <a:gd name="T43" fmla="*/ 2147483646 h 88"/>
                <a:gd name="T44" fmla="*/ 2147483646 w 109"/>
                <a:gd name="T45" fmla="*/ 2147483646 h 88"/>
                <a:gd name="T46" fmla="*/ 2147483646 w 109"/>
                <a:gd name="T47" fmla="*/ 2147483646 h 88"/>
                <a:gd name="T48" fmla="*/ 2147483646 w 109"/>
                <a:gd name="T49" fmla="*/ 2147483646 h 88"/>
                <a:gd name="T50" fmla="*/ 2147483646 w 109"/>
                <a:gd name="T51" fmla="*/ 2147483646 h 88"/>
                <a:gd name="T52" fmla="*/ 2147483646 w 109"/>
                <a:gd name="T53" fmla="*/ 2147483646 h 88"/>
                <a:gd name="T54" fmla="*/ 2147483646 w 109"/>
                <a:gd name="T55" fmla="*/ 2147483646 h 88"/>
                <a:gd name="T56" fmla="*/ 2147483646 w 109"/>
                <a:gd name="T57" fmla="*/ 2147483646 h 88"/>
                <a:gd name="T58" fmla="*/ 2147483646 w 109"/>
                <a:gd name="T59" fmla="*/ 2147483646 h 88"/>
                <a:gd name="T60" fmla="*/ 2147483646 w 109"/>
                <a:gd name="T61" fmla="*/ 2147483646 h 88"/>
                <a:gd name="T62" fmla="*/ 2147483646 w 109"/>
                <a:gd name="T63" fmla="*/ 2147483646 h 88"/>
                <a:gd name="T64" fmla="*/ 2147483646 w 109"/>
                <a:gd name="T65" fmla="*/ 2147483646 h 88"/>
                <a:gd name="T66" fmla="*/ 2147483646 w 109"/>
                <a:gd name="T67" fmla="*/ 2147483646 h 8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09" h="88">
                  <a:moveTo>
                    <a:pt x="80" y="88"/>
                  </a:moveTo>
                  <a:cubicBezTo>
                    <a:pt x="86" y="88"/>
                    <a:pt x="86" y="88"/>
                    <a:pt x="86" y="88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4" y="44"/>
                    <a:pt x="84" y="44"/>
                    <a:pt x="84" y="44"/>
                  </a:cubicBezTo>
                  <a:cubicBezTo>
                    <a:pt x="82" y="70"/>
                    <a:pt x="82" y="70"/>
                    <a:pt x="82" y="70"/>
                  </a:cubicBezTo>
                  <a:cubicBezTo>
                    <a:pt x="80" y="71"/>
                    <a:pt x="80" y="71"/>
                    <a:pt x="80" y="71"/>
                  </a:cubicBezTo>
                  <a:cubicBezTo>
                    <a:pt x="80" y="88"/>
                    <a:pt x="80" y="88"/>
                    <a:pt x="80" y="88"/>
                  </a:cubicBezTo>
                  <a:close/>
                  <a:moveTo>
                    <a:pt x="109" y="0"/>
                  </a:moveTo>
                  <a:cubicBezTo>
                    <a:pt x="100" y="17"/>
                    <a:pt x="100" y="17"/>
                    <a:pt x="100" y="17"/>
                  </a:cubicBezTo>
                  <a:cubicBezTo>
                    <a:pt x="92" y="33"/>
                    <a:pt x="92" y="33"/>
                    <a:pt x="92" y="33"/>
                  </a:cubicBezTo>
                  <a:cubicBezTo>
                    <a:pt x="84" y="22"/>
                    <a:pt x="84" y="22"/>
                    <a:pt x="84" y="22"/>
                  </a:cubicBezTo>
                  <a:cubicBezTo>
                    <a:pt x="80" y="25"/>
                    <a:pt x="80" y="25"/>
                    <a:pt x="80" y="25"/>
                  </a:cubicBezTo>
                  <a:cubicBezTo>
                    <a:pt x="77" y="64"/>
                    <a:pt x="77" y="64"/>
                    <a:pt x="77" y="64"/>
                  </a:cubicBezTo>
                  <a:cubicBezTo>
                    <a:pt x="67" y="68"/>
                    <a:pt x="67" y="68"/>
                    <a:pt x="67" y="68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37" y="73"/>
                    <a:pt x="37" y="73"/>
                    <a:pt x="37" y="73"/>
                  </a:cubicBezTo>
                  <a:cubicBezTo>
                    <a:pt x="26" y="73"/>
                    <a:pt x="26" y="73"/>
                    <a:pt x="26" y="73"/>
                  </a:cubicBezTo>
                  <a:cubicBezTo>
                    <a:pt x="19" y="63"/>
                    <a:pt x="19" y="63"/>
                    <a:pt x="19" y="63"/>
                  </a:cubicBezTo>
                  <a:cubicBezTo>
                    <a:pt x="4" y="67"/>
                    <a:pt x="4" y="67"/>
                    <a:pt x="4" y="67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5" y="48"/>
                    <a:pt x="25" y="48"/>
                    <a:pt x="25" y="48"/>
                  </a:cubicBezTo>
                  <a:cubicBezTo>
                    <a:pt x="27" y="52"/>
                    <a:pt x="27" y="52"/>
                    <a:pt x="27" y="52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4" y="29"/>
                    <a:pt x="44" y="29"/>
                    <a:pt x="44" y="29"/>
                  </a:cubicBezTo>
                  <a:cubicBezTo>
                    <a:pt x="50" y="35"/>
                    <a:pt x="50" y="35"/>
                    <a:pt x="50" y="35"/>
                  </a:cubicBezTo>
                  <a:cubicBezTo>
                    <a:pt x="66" y="50"/>
                    <a:pt x="66" y="50"/>
                    <a:pt x="66" y="50"/>
                  </a:cubicBezTo>
                  <a:cubicBezTo>
                    <a:pt x="68" y="21"/>
                    <a:pt x="68" y="21"/>
                    <a:pt x="68" y="21"/>
                  </a:cubicBezTo>
                  <a:cubicBezTo>
                    <a:pt x="68" y="18"/>
                    <a:pt x="68" y="18"/>
                    <a:pt x="68" y="18"/>
                  </a:cubicBezTo>
                  <a:cubicBezTo>
                    <a:pt x="71" y="16"/>
                    <a:pt x="71" y="16"/>
                    <a:pt x="71" y="16"/>
                  </a:cubicBezTo>
                  <a:cubicBezTo>
                    <a:pt x="78" y="12"/>
                    <a:pt x="78" y="12"/>
                    <a:pt x="78" y="12"/>
                  </a:cubicBezTo>
                  <a:cubicBezTo>
                    <a:pt x="72" y="2"/>
                    <a:pt x="72" y="2"/>
                    <a:pt x="72" y="2"/>
                  </a:cubicBezTo>
                  <a:cubicBezTo>
                    <a:pt x="90" y="1"/>
                    <a:pt x="90" y="1"/>
                    <a:pt x="90" y="1"/>
                  </a:cubicBezTo>
                  <a:cubicBezTo>
                    <a:pt x="109" y="0"/>
                    <a:pt x="109" y="0"/>
                    <a:pt x="109" y="0"/>
                  </a:cubicBezTo>
                  <a:close/>
                  <a:moveTo>
                    <a:pt x="22" y="88"/>
                  </a:moveTo>
                  <a:cubicBezTo>
                    <a:pt x="24" y="88"/>
                    <a:pt x="27" y="88"/>
                    <a:pt x="29" y="88"/>
                  </a:cubicBezTo>
                  <a:cubicBezTo>
                    <a:pt x="29" y="80"/>
                    <a:pt x="29" y="80"/>
                    <a:pt x="29" y="80"/>
                  </a:cubicBezTo>
                  <a:cubicBezTo>
                    <a:pt x="23" y="81"/>
                    <a:pt x="23" y="81"/>
                    <a:pt x="23" y="81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2" y="88"/>
                    <a:pt x="22" y="88"/>
                    <a:pt x="22" y="88"/>
                  </a:cubicBezTo>
                  <a:close/>
                  <a:moveTo>
                    <a:pt x="11" y="88"/>
                  </a:moveTo>
                  <a:cubicBezTo>
                    <a:pt x="17" y="88"/>
                    <a:pt x="17" y="88"/>
                    <a:pt x="17" y="88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7" y="71"/>
                    <a:pt x="17" y="71"/>
                    <a:pt x="17" y="71"/>
                  </a:cubicBezTo>
                  <a:cubicBezTo>
                    <a:pt x="11" y="73"/>
                    <a:pt x="11" y="73"/>
                    <a:pt x="11" y="73"/>
                  </a:cubicBezTo>
                  <a:cubicBezTo>
                    <a:pt x="11" y="88"/>
                    <a:pt x="11" y="88"/>
                    <a:pt x="11" y="88"/>
                  </a:cubicBezTo>
                  <a:close/>
                  <a:moveTo>
                    <a:pt x="34" y="88"/>
                  </a:moveTo>
                  <a:cubicBezTo>
                    <a:pt x="36" y="88"/>
                    <a:pt x="38" y="88"/>
                    <a:pt x="40" y="88"/>
                  </a:cubicBezTo>
                  <a:cubicBezTo>
                    <a:pt x="40" y="79"/>
                    <a:pt x="40" y="79"/>
                    <a:pt x="40" y="79"/>
                  </a:cubicBezTo>
                  <a:cubicBezTo>
                    <a:pt x="40" y="80"/>
                    <a:pt x="40" y="80"/>
                    <a:pt x="40" y="80"/>
                  </a:cubicBezTo>
                  <a:cubicBezTo>
                    <a:pt x="34" y="80"/>
                    <a:pt x="34" y="80"/>
                    <a:pt x="34" y="80"/>
                  </a:cubicBezTo>
                  <a:cubicBezTo>
                    <a:pt x="34" y="88"/>
                    <a:pt x="34" y="88"/>
                    <a:pt x="34" y="88"/>
                  </a:cubicBezTo>
                  <a:close/>
                  <a:moveTo>
                    <a:pt x="45" y="88"/>
                  </a:moveTo>
                  <a:cubicBezTo>
                    <a:pt x="47" y="88"/>
                    <a:pt x="50" y="88"/>
                    <a:pt x="52" y="88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49" y="60"/>
                    <a:pt x="49" y="60"/>
                    <a:pt x="49" y="60"/>
                  </a:cubicBezTo>
                  <a:cubicBezTo>
                    <a:pt x="45" y="69"/>
                    <a:pt x="45" y="69"/>
                    <a:pt x="45" y="69"/>
                  </a:cubicBezTo>
                  <a:cubicBezTo>
                    <a:pt x="45" y="88"/>
                    <a:pt x="45" y="88"/>
                    <a:pt x="45" y="88"/>
                  </a:cubicBezTo>
                  <a:close/>
                  <a:moveTo>
                    <a:pt x="57" y="88"/>
                  </a:moveTo>
                  <a:cubicBezTo>
                    <a:pt x="59" y="88"/>
                    <a:pt x="61" y="88"/>
                    <a:pt x="63" y="88"/>
                  </a:cubicBezTo>
                  <a:cubicBezTo>
                    <a:pt x="63" y="73"/>
                    <a:pt x="63" y="73"/>
                    <a:pt x="63" y="73"/>
                  </a:cubicBezTo>
                  <a:cubicBezTo>
                    <a:pt x="57" y="67"/>
                    <a:pt x="57" y="67"/>
                    <a:pt x="57" y="67"/>
                  </a:cubicBezTo>
                  <a:cubicBezTo>
                    <a:pt x="57" y="88"/>
                    <a:pt x="57" y="88"/>
                    <a:pt x="57" y="88"/>
                  </a:cubicBezTo>
                  <a:close/>
                  <a:moveTo>
                    <a:pt x="68" y="88"/>
                  </a:moveTo>
                  <a:cubicBezTo>
                    <a:pt x="70" y="88"/>
                    <a:pt x="73" y="88"/>
                    <a:pt x="75" y="88"/>
                  </a:cubicBezTo>
                  <a:cubicBezTo>
                    <a:pt x="75" y="72"/>
                    <a:pt x="75" y="72"/>
                    <a:pt x="75" y="72"/>
                  </a:cubicBezTo>
                  <a:cubicBezTo>
                    <a:pt x="68" y="75"/>
                    <a:pt x="68" y="75"/>
                    <a:pt x="68" y="75"/>
                  </a:cubicBezTo>
                  <a:lnTo>
                    <a:pt x="68" y="88"/>
                  </a:lnTo>
                  <a:close/>
                </a:path>
              </a:pathLst>
            </a:custGeom>
            <a:solidFill>
              <a:srgbClr val="4F81BD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lIns="68543" tIns="34272" rIns="68543" bIns="34272" anchor="ctr"/>
            <a:lstStyle/>
            <a:p>
              <a:pPr algn="ctr" defTabSz="685800">
                <a:defRPr/>
              </a:pPr>
              <a:endParaRPr lang="zh-CN" altLang="en-US" kern="0" dirty="0">
                <a:solidFill>
                  <a:srgbClr val="FFFFFF"/>
                </a:solidFill>
                <a:latin typeface="OPPOSans B" panose="00020600040101010101" pitchFamily="18" charset="-122"/>
                <a:ea typeface="思源黑体 CN Regular"/>
                <a:cs typeface="+mn-ea"/>
                <a:sym typeface="+mn-lt"/>
              </a:endParaRPr>
            </a:p>
          </p:txBody>
        </p:sp>
        <p:sp>
          <p:nvSpPr>
            <p:cNvPr id="18" name="TextBox 65">
              <a:extLst>
                <a:ext uri="{FF2B5EF4-FFF2-40B4-BE49-F238E27FC236}">
                  <a16:creationId xmlns:a16="http://schemas.microsoft.com/office/drawing/2014/main" id="{C03C59D8-3341-681A-CB90-BA80130BD406}"/>
                </a:ext>
              </a:extLst>
            </p:cNvPr>
            <p:cNvSpPr txBox="1"/>
            <p:nvPr/>
          </p:nvSpPr>
          <p:spPr>
            <a:xfrm>
              <a:off x="4677326" y="3398987"/>
              <a:ext cx="7946266" cy="924124"/>
            </a:xfrm>
            <a:prstGeom prst="rect">
              <a:avLst/>
            </a:prstGeom>
            <a:noFill/>
          </p:spPr>
          <p:txBody>
            <a:bodyPr wrap="square" lIns="68543" tIns="34272" rIns="68543" bIns="34272" rtlCol="0">
              <a:spAutoFit/>
            </a:bodyPr>
            <a:lstStyle/>
            <a:p>
              <a:pPr defTabSz="685800">
                <a:lnSpc>
                  <a:spcPct val="150000"/>
                </a:lnSpc>
                <a:spcBef>
                  <a:spcPct val="0"/>
                </a:spcBef>
                <a:defRPr/>
              </a:pPr>
              <a:r>
                <a:rPr lang="zh-CN" altLang="en-US" dirty="0">
                  <a:latin typeface="SimSun" panose="02010600030101010101" pitchFamily="2" charset="-122"/>
                  <a:ea typeface="SimSun" panose="02010600030101010101" pitchFamily="2" charset="-122"/>
                  <a:cs typeface="OPPOSans R" panose="00020600040101010101" pitchFamily="18" charset="-122"/>
                  <a:sym typeface="+mn-lt"/>
                </a:rPr>
                <a:t>对宽基指数进行</a:t>
              </a:r>
              <a:r>
                <a:rPr lang="zh-CN" altLang="en-US" b="1" dirty="0">
                  <a:solidFill>
                    <a:srgbClr val="F79646"/>
                  </a:solidFill>
                  <a:latin typeface="SimSun" panose="02010600030101010101" pitchFamily="2" charset="-122"/>
                  <a:ea typeface="SimSun" panose="02010600030101010101" pitchFamily="2" charset="-122"/>
                  <a:cs typeface="OPPOSans R" panose="00020600040101010101" pitchFamily="18" charset="-122"/>
                  <a:sym typeface="+mn-lt"/>
                </a:rPr>
                <a:t>短线择时</a:t>
              </a:r>
              <a:r>
                <a:rPr lang="zh-CN" altLang="en-US" dirty="0">
                  <a:latin typeface="SimSun" panose="02010600030101010101" pitchFamily="2" charset="-122"/>
                  <a:ea typeface="SimSun" panose="02010600030101010101" pitchFamily="2" charset="-122"/>
                  <a:cs typeface="OPPOSans R" panose="00020600040101010101" pitchFamily="18" charset="-122"/>
                  <a:sym typeface="+mn-lt"/>
                </a:rPr>
                <a:t>。不定期调仓（年均次数控制在</a:t>
              </a:r>
              <a:r>
                <a:rPr lang="en-US" altLang="zh-CN" dirty="0">
                  <a:latin typeface="SimSun" panose="02010600030101010101" pitchFamily="2" charset="-122"/>
                  <a:ea typeface="SimSun" panose="02010600030101010101" pitchFamily="2" charset="-122"/>
                  <a:cs typeface="OPPOSans R" panose="00020600040101010101" pitchFamily="18" charset="-122"/>
                  <a:sym typeface="+mn-lt"/>
                </a:rPr>
                <a:t>12-52</a:t>
              </a:r>
              <a:r>
                <a:rPr lang="zh-CN" altLang="en-US" dirty="0">
                  <a:latin typeface="SimSun" panose="02010600030101010101" pitchFamily="2" charset="-122"/>
                  <a:ea typeface="SimSun" panose="02010600030101010101" pitchFamily="2" charset="-122"/>
                  <a:cs typeface="OPPOSans R" panose="00020600040101010101" pitchFamily="18" charset="-122"/>
                  <a:sym typeface="+mn-lt"/>
                </a:rPr>
                <a:t>之间），实现样本外</a:t>
              </a:r>
              <a:r>
                <a:rPr lang="en-US" altLang="zh-CN" dirty="0">
                  <a:latin typeface="SimSun" panose="02010600030101010101" pitchFamily="2" charset="-122"/>
                  <a:ea typeface="SimSun" panose="02010600030101010101" pitchFamily="2" charset="-122"/>
                  <a:cs typeface="OPPOSans R" panose="00020600040101010101" pitchFamily="18" charset="-122"/>
                  <a:sym typeface="+mn-lt"/>
                </a:rPr>
                <a:t>55%</a:t>
              </a:r>
              <a:r>
                <a:rPr lang="zh-CN" altLang="en-US" dirty="0">
                  <a:latin typeface="SimSun" panose="02010600030101010101" pitchFamily="2" charset="-122"/>
                  <a:ea typeface="SimSun" panose="02010600030101010101" pitchFamily="2" charset="-122"/>
                  <a:cs typeface="OPPOSans R" panose="00020600040101010101" pitchFamily="18" charset="-122"/>
                  <a:sym typeface="+mn-lt"/>
                </a:rPr>
                <a:t>以上的胜率、考虑交易费用后正的投资盈利。</a:t>
              </a:r>
            </a:p>
          </p:txBody>
        </p:sp>
        <p:sp>
          <p:nvSpPr>
            <p:cNvPr id="20" name="TextBox 68">
              <a:extLst>
                <a:ext uri="{FF2B5EF4-FFF2-40B4-BE49-F238E27FC236}">
                  <a16:creationId xmlns:a16="http://schemas.microsoft.com/office/drawing/2014/main" id="{EC82BB16-6E86-22B7-4729-6055215E1E85}"/>
                </a:ext>
              </a:extLst>
            </p:cNvPr>
            <p:cNvSpPr txBox="1"/>
            <p:nvPr/>
          </p:nvSpPr>
          <p:spPr>
            <a:xfrm>
              <a:off x="4677326" y="1465139"/>
              <a:ext cx="7956708" cy="1383829"/>
            </a:xfrm>
            <a:prstGeom prst="rect">
              <a:avLst/>
            </a:prstGeom>
            <a:noFill/>
          </p:spPr>
          <p:txBody>
            <a:bodyPr wrap="square" lIns="68543" tIns="34272" rIns="68543" bIns="34272" rtlCol="0">
              <a:spAutoFit/>
            </a:bodyPr>
            <a:lstStyle/>
            <a:p>
              <a:pPr defTabSz="685800">
                <a:lnSpc>
                  <a:spcPct val="150000"/>
                </a:lnSpc>
                <a:spcBef>
                  <a:spcPct val="0"/>
                </a:spcBef>
                <a:defRPr/>
              </a:pPr>
              <a:r>
                <a:rPr lang="zh-CN" altLang="en-US" dirty="0">
                  <a:latin typeface="SimSun" panose="02010600030101010101" pitchFamily="2" charset="-122"/>
                  <a:ea typeface="SimSun" panose="02010600030101010101" pitchFamily="2" charset="-122"/>
                  <a:cs typeface="OPPOSans R" panose="00020600040101010101" pitchFamily="18" charset="-122"/>
                  <a:sym typeface="+mn-lt"/>
                </a:rPr>
                <a:t>用</a:t>
              </a:r>
              <a:r>
                <a:rPr lang="zh-CN" altLang="en-US" b="1" dirty="0">
                  <a:solidFill>
                    <a:srgbClr val="F79646"/>
                  </a:solidFill>
                  <a:latin typeface="SimSun" panose="02010600030101010101" pitchFamily="2" charset="-122"/>
                  <a:ea typeface="SimSun" panose="02010600030101010101" pitchFamily="2" charset="-122"/>
                  <a:cs typeface="OPPOSans R" panose="00020600040101010101" pitchFamily="18" charset="-122"/>
                  <a:sym typeface="+mn-lt"/>
                </a:rPr>
                <a:t>动量与反转</a:t>
              </a:r>
              <a:r>
                <a:rPr lang="zh-CN" altLang="en-US" dirty="0">
                  <a:latin typeface="SimSun" panose="02010600030101010101" pitchFamily="2" charset="-122"/>
                  <a:ea typeface="SimSun" panose="02010600030101010101" pitchFamily="2" charset="-122"/>
                  <a:cs typeface="OPPOSans R" panose="00020600040101010101" pitchFamily="18" charset="-122"/>
                  <a:sym typeface="+mn-lt"/>
                </a:rPr>
                <a:t>抓住短期趋势</a:t>
              </a:r>
              <a:r>
                <a:rPr lang="en-US" altLang="zh-CN" dirty="0">
                  <a:latin typeface="SimSun" panose="02010600030101010101" pitchFamily="2" charset="-122"/>
                  <a:ea typeface="SimSun" panose="02010600030101010101" pitchFamily="2" charset="-122"/>
                  <a:cs typeface="OPPOSans R" panose="00020600040101010101" pitchFamily="18" charset="-122"/>
                  <a:sym typeface="+mn-lt"/>
                </a:rPr>
                <a:t>/</a:t>
              </a:r>
              <a:r>
                <a:rPr lang="zh-CN" altLang="en-US" dirty="0">
                  <a:latin typeface="SimSun" panose="02010600030101010101" pitchFamily="2" charset="-122"/>
                  <a:ea typeface="SimSun" panose="02010600030101010101" pitchFamily="2" charset="-122"/>
                  <a:cs typeface="OPPOSans R" panose="00020600040101010101" pitchFamily="18" charset="-122"/>
                  <a:sym typeface="+mn-lt"/>
                </a:rPr>
                <a:t>转折带来的投资机遇；用</a:t>
              </a:r>
              <a:r>
                <a:rPr lang="zh-CN" altLang="en-US" b="1" dirty="0">
                  <a:solidFill>
                    <a:srgbClr val="F79646"/>
                  </a:solidFill>
                  <a:latin typeface="SimSun" panose="02010600030101010101" pitchFamily="2" charset="-122"/>
                  <a:ea typeface="SimSun" panose="02010600030101010101" pitchFamily="2" charset="-122"/>
                  <a:cs typeface="OPPOSans R" panose="00020600040101010101" pitchFamily="18" charset="-122"/>
                  <a:sym typeface="+mn-lt"/>
                </a:rPr>
                <a:t>分歧度和流动性</a:t>
              </a:r>
              <a:r>
                <a:rPr lang="zh-CN" altLang="en-US" dirty="0">
                  <a:latin typeface="SimSun" panose="02010600030101010101" pitchFamily="2" charset="-122"/>
                  <a:ea typeface="SimSun" panose="02010600030101010101" pitchFamily="2" charset="-122"/>
                  <a:cs typeface="OPPOSans R" panose="00020600040101010101" pitchFamily="18" charset="-122"/>
                  <a:sym typeface="+mn-lt"/>
                </a:rPr>
                <a:t>一定程度上刻画当前牛熊状态，做收益的增厚或及时止损；用</a:t>
              </a:r>
              <a:r>
                <a:rPr lang="zh-CN" altLang="en-US" b="1" dirty="0">
                  <a:solidFill>
                    <a:srgbClr val="F79646"/>
                  </a:solidFill>
                  <a:latin typeface="SimSun" panose="02010600030101010101" pitchFamily="2" charset="-122"/>
                  <a:ea typeface="SimSun" panose="02010600030101010101" pitchFamily="2" charset="-122"/>
                  <a:cs typeface="OPPOSans R" panose="00020600040101010101" pitchFamily="18" charset="-122"/>
                  <a:sym typeface="+mn-lt"/>
                </a:rPr>
                <a:t>交易拥挤度</a:t>
              </a:r>
              <a:r>
                <a:rPr lang="zh-CN" altLang="en-US" dirty="0">
                  <a:latin typeface="SimSun" panose="02010600030101010101" pitchFamily="2" charset="-122"/>
                  <a:ea typeface="SimSun" panose="02010600030101010101" pitchFamily="2" charset="-122"/>
                  <a:cs typeface="OPPOSans R" panose="00020600040101010101" pitchFamily="18" charset="-122"/>
                  <a:sym typeface="+mn-lt"/>
                </a:rPr>
                <a:t>降低潜在的顶部风险。</a:t>
              </a:r>
            </a:p>
          </p:txBody>
        </p:sp>
        <p:sp>
          <p:nvSpPr>
            <p:cNvPr id="21" name="文本框 12">
              <a:extLst>
                <a:ext uri="{FF2B5EF4-FFF2-40B4-BE49-F238E27FC236}">
                  <a16:creationId xmlns:a16="http://schemas.microsoft.com/office/drawing/2014/main" id="{BB0E3141-EF99-EEE9-E974-36F9824A9806}"/>
                </a:ext>
              </a:extLst>
            </p:cNvPr>
            <p:cNvSpPr txBox="1"/>
            <p:nvPr/>
          </p:nvSpPr>
          <p:spPr bwMode="auto">
            <a:xfrm>
              <a:off x="2590160" y="3653312"/>
              <a:ext cx="1141023" cy="4852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68543" tIns="34272" rIns="68543" bIns="34272">
              <a:spAutoFit/>
            </a:bodyPr>
            <a:lstStyle/>
            <a:p>
              <a:pPr defTabSz="685800">
                <a:defRPr/>
              </a:pPr>
              <a:r>
                <a:rPr lang="zh-CN" altLang="en-US" sz="2400" b="1" kern="0" dirty="0">
                  <a:solidFill>
                    <a:srgbClr val="FFFFFF"/>
                  </a:solidFill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  <a:sym typeface="+mn-lt"/>
                </a:rPr>
                <a:t>   </a:t>
              </a:r>
              <a:r>
                <a:rPr lang="zh-CN" altLang="en-US" sz="2400" b="1" kern="0" dirty="0">
                  <a:solidFill>
                    <a:srgbClr val="FFFFFF"/>
                  </a:solidFill>
                  <a:latin typeface="+mn-ea"/>
                  <a:sym typeface="+mn-lt"/>
                </a:rPr>
                <a:t>目标</a:t>
              </a:r>
              <a:endParaRPr lang="en-US" altLang="zh-CN" sz="2400" b="1" kern="0" dirty="0">
                <a:solidFill>
                  <a:srgbClr val="FFFFFF"/>
                </a:solidFill>
                <a:latin typeface="+mn-ea"/>
                <a:sym typeface="+mn-lt"/>
              </a:endParaRPr>
            </a:p>
          </p:txBody>
        </p:sp>
        <p:sp>
          <p:nvSpPr>
            <p:cNvPr id="22" name="文本框 12">
              <a:extLst>
                <a:ext uri="{FF2B5EF4-FFF2-40B4-BE49-F238E27FC236}">
                  <a16:creationId xmlns:a16="http://schemas.microsoft.com/office/drawing/2014/main" id="{0095380B-2001-F728-FE63-7C148ACA0540}"/>
                </a:ext>
              </a:extLst>
            </p:cNvPr>
            <p:cNvSpPr txBox="1"/>
            <p:nvPr/>
          </p:nvSpPr>
          <p:spPr bwMode="auto">
            <a:xfrm>
              <a:off x="2525845" y="5296169"/>
              <a:ext cx="1522336" cy="4852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68543" tIns="34272" rIns="68543" bIns="34272">
              <a:spAutoFit/>
            </a:bodyPr>
            <a:lstStyle/>
            <a:p>
              <a:pPr defTabSz="685800">
                <a:defRPr/>
              </a:pPr>
              <a:r>
                <a:rPr lang="zh-CN" altLang="en-US" sz="2400" b="1" kern="0" dirty="0">
                  <a:solidFill>
                    <a:srgbClr val="FFFFFF"/>
                  </a:solidFill>
                  <a:latin typeface="+mn-ea"/>
                  <a:sym typeface="+mn-lt"/>
                </a:rPr>
                <a:t>策略周期</a:t>
              </a:r>
              <a:endParaRPr lang="en-US" altLang="zh-CN" sz="2400" b="1" kern="0" dirty="0">
                <a:solidFill>
                  <a:srgbClr val="FFFFFF"/>
                </a:solidFill>
                <a:latin typeface="+mn-ea"/>
                <a:sym typeface="+mn-lt"/>
              </a:endParaRPr>
            </a:p>
          </p:txBody>
        </p:sp>
      </p:grpSp>
      <p:sp>
        <p:nvSpPr>
          <p:cNvPr id="24" name="TextBox 66">
            <a:extLst>
              <a:ext uri="{FF2B5EF4-FFF2-40B4-BE49-F238E27FC236}">
                <a16:creationId xmlns:a16="http://schemas.microsoft.com/office/drawing/2014/main" id="{916F8A2E-D158-C34B-11ED-86A6C2D9FE47}"/>
              </a:ext>
            </a:extLst>
          </p:cNvPr>
          <p:cNvSpPr txBox="1"/>
          <p:nvPr/>
        </p:nvSpPr>
        <p:spPr>
          <a:xfrm>
            <a:off x="4175881" y="4908192"/>
            <a:ext cx="7182125" cy="835257"/>
          </a:xfrm>
          <a:prstGeom prst="rect">
            <a:avLst/>
          </a:prstGeom>
          <a:noFill/>
        </p:spPr>
        <p:txBody>
          <a:bodyPr wrap="square" lIns="68543" tIns="34272" rIns="68543" bIns="34272" rtlCol="0">
            <a:spAutoFit/>
          </a:bodyPr>
          <a:lstStyle/>
          <a:p>
            <a:pPr defTabSz="685800">
              <a:lnSpc>
                <a:spcPct val="150000"/>
              </a:lnSpc>
              <a:spcBef>
                <a:spcPct val="0"/>
              </a:spcBef>
              <a:defRPr/>
            </a:pP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  <a:cs typeface="OPPOSans R" panose="00020600040101010101" pitchFamily="18" charset="-122"/>
                <a:sym typeface="+mn-lt"/>
              </a:rPr>
              <a:t>重点关注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  <a:cs typeface="OPPOSans R" panose="00020600040101010101" pitchFamily="18" charset="-122"/>
                <a:sym typeface="+mn-lt"/>
              </a:rPr>
              <a:t>2015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  <a:cs typeface="OPPOSans R" panose="00020600040101010101" pitchFamily="18" charset="-122"/>
                <a:sym typeface="+mn-lt"/>
              </a:rPr>
              <a:t>年之后的策略表现。以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  <a:cs typeface="OPPOSans R" panose="00020600040101010101" pitchFamily="18" charset="-122"/>
                <a:sym typeface="+mn-lt"/>
              </a:rPr>
              <a:t>15-20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  <a:cs typeface="OPPOSans R" panose="00020600040101010101" pitchFamily="18" charset="-122"/>
                <a:sym typeface="+mn-lt"/>
              </a:rPr>
              <a:t>年为样本内做参数筛选，</a:t>
            </a:r>
            <a:r>
              <a:rPr lang="en-US" altLang="zh-CN" dirty="0">
                <a:latin typeface="SimSun" panose="02010600030101010101" pitchFamily="2" charset="-122"/>
                <a:ea typeface="SimSun" panose="02010600030101010101" pitchFamily="2" charset="-122"/>
                <a:cs typeface="OPPOSans R" panose="00020600040101010101" pitchFamily="18" charset="-122"/>
                <a:sym typeface="+mn-lt"/>
              </a:rPr>
              <a:t>21-23</a:t>
            </a:r>
            <a:r>
              <a:rPr lang="zh-CN" altLang="en-US" dirty="0">
                <a:latin typeface="SimSun" panose="02010600030101010101" pitchFamily="2" charset="-122"/>
                <a:ea typeface="SimSun" panose="02010600030101010101" pitchFamily="2" charset="-122"/>
                <a:cs typeface="OPPOSans R" panose="00020600040101010101" pitchFamily="18" charset="-122"/>
                <a:sym typeface="+mn-lt"/>
              </a:rPr>
              <a:t>年为样本外跟踪验证。</a:t>
            </a:r>
          </a:p>
        </p:txBody>
      </p:sp>
    </p:spTree>
    <p:extLst>
      <p:ext uri="{BB962C8B-B14F-4D97-AF65-F5344CB8AC3E}">
        <p14:creationId xmlns:p14="http://schemas.microsoft.com/office/powerpoint/2010/main" val="2215591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1.3</a:t>
            </a:r>
            <a:r>
              <a:rPr lang="zh-CN" altLang="en-US" dirty="0"/>
              <a:t> 研究流程</a:t>
            </a:r>
            <a:endParaRPr lang="zh-CN" altLang="en-US" sz="20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968672" y="1261869"/>
            <a:ext cx="2319866" cy="413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数据获取与指标构建</a:t>
            </a:r>
          </a:p>
        </p:txBody>
      </p:sp>
      <p:sp>
        <p:nvSpPr>
          <p:cNvPr id="5" name="矩形 4"/>
          <p:cNvSpPr/>
          <p:nvPr/>
        </p:nvSpPr>
        <p:spPr>
          <a:xfrm>
            <a:off x="1288620" y="1675700"/>
            <a:ext cx="9725744" cy="10113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原始数据：指数自身日频、分钟频相关量价数据和相应成分股日频量价数据。最新数据截止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2023/06/09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数据来源：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400" dirty="0" err="1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Tushare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数据库。</a:t>
            </a:r>
            <a:endParaRPr lang="en-US" altLang="zh-CN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指标构建：构建短中长期视角所需技术指标和因子。根据</a:t>
            </a:r>
            <a:r>
              <a:rPr lang="zh-CN" altLang="en-US" sz="1400" b="1" dirty="0">
                <a:solidFill>
                  <a:srgbClr val="F796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规则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生成相应多空信号。</a:t>
            </a:r>
            <a:endParaRPr lang="en-US" altLang="zh-CN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968672" y="2818412"/>
            <a:ext cx="1293944" cy="413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参数筛选</a:t>
            </a:r>
          </a:p>
        </p:txBody>
      </p:sp>
      <p:sp>
        <p:nvSpPr>
          <p:cNvPr id="15" name="矩形 14"/>
          <p:cNvSpPr/>
          <p:nvPr/>
        </p:nvSpPr>
        <p:spPr>
          <a:xfrm>
            <a:off x="1288620" y="3303421"/>
            <a:ext cx="9725744" cy="13344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筛选方法：网格法搜索最优参数，但确保参数周期具备可解释性，如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交易日（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周）、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交易日（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个月）、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60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交易日（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个月）、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250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交易日（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年）。</a:t>
            </a:r>
            <a:endParaRPr lang="en-US" altLang="zh-CN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筛选标准：以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2015-2020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年数据为样本内，筛选样本内回测</a:t>
            </a:r>
            <a:r>
              <a:rPr lang="zh-CN" altLang="en-US" sz="1400" b="1" dirty="0">
                <a:solidFill>
                  <a:srgbClr val="F796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夏普比率最高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的一组参数，同时确保参数通过显著性、过拟合等指标有效性检验。</a:t>
            </a:r>
            <a:endParaRPr lang="en-US" altLang="zh-CN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5F5E77D-8776-C2E9-818F-BC3DFCF74ADD}"/>
              </a:ext>
            </a:extLst>
          </p:cNvPr>
          <p:cNvSpPr/>
          <p:nvPr/>
        </p:nvSpPr>
        <p:spPr>
          <a:xfrm>
            <a:off x="968672" y="4769299"/>
            <a:ext cx="1293944" cy="413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模型测试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C7FD7C-6C13-3F6B-15CE-72132899386E}"/>
              </a:ext>
            </a:extLst>
          </p:cNvPr>
          <p:cNvSpPr/>
          <p:nvPr/>
        </p:nvSpPr>
        <p:spPr>
          <a:xfrm>
            <a:off x="1288620" y="5254308"/>
            <a:ext cx="10030544" cy="10113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调仓方法：不定期调仓。生成与前一日不同信号后，于下一个交易日以收盘价买入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卖出。仅设置多头，看空时平仓。</a:t>
            </a: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手续费设置：双边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3‱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测试标准：重点分析策略稳定性、开仓胜率与盈亏比。</a:t>
            </a:r>
            <a:endParaRPr lang="en-US" altLang="zh-CN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97897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4" grpId="0"/>
      <p:bldP spid="15" grpId="0"/>
      <p:bldP spid="6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C2A5B-FD07-4229-8F8C-1BFEB44AF40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第二部分  策略介绍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>
          <a:xfrm>
            <a:off x="1505979" y="3481982"/>
            <a:ext cx="1518364" cy="338554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短期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zh-CN" altLang="en-US" dirty="0">
                <a:solidFill>
                  <a:schemeClr val="tx1"/>
                </a:solidFill>
              </a:rPr>
              <a:t>动量反转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5"/>
          </p:nvPr>
        </p:nvSpPr>
        <p:spPr>
          <a:xfrm>
            <a:off x="1505979" y="4258923"/>
            <a:ext cx="2133918" cy="338554"/>
          </a:xfrm>
        </p:spPr>
        <p:txBody>
          <a:bodyPr/>
          <a:lstStyle/>
          <a:p>
            <a:r>
              <a:rPr lang="zh-CN" altLang="en-US" dirty="0"/>
              <a:t>中期</a:t>
            </a:r>
            <a:r>
              <a:rPr lang="en-US" altLang="zh-CN" dirty="0"/>
              <a:t>-</a:t>
            </a:r>
            <a:r>
              <a:rPr lang="zh-CN" altLang="en-US" dirty="0"/>
              <a:t>分歧度和流动性</a:t>
            </a:r>
          </a:p>
        </p:txBody>
      </p:sp>
      <p:sp>
        <p:nvSpPr>
          <p:cNvPr id="3" name="文本占位符 5">
            <a:extLst>
              <a:ext uri="{FF2B5EF4-FFF2-40B4-BE49-F238E27FC236}">
                <a16:creationId xmlns:a16="http://schemas.microsoft.com/office/drawing/2014/main" id="{8D1022DE-EAD6-C3AF-40C9-16CD063B4F18}"/>
              </a:ext>
            </a:extLst>
          </p:cNvPr>
          <p:cNvSpPr txBox="1">
            <a:spLocks/>
          </p:cNvSpPr>
          <p:nvPr/>
        </p:nvSpPr>
        <p:spPr>
          <a:xfrm>
            <a:off x="1505979" y="5035864"/>
            <a:ext cx="1723549" cy="33855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marL="0" indent="0" algn="l" defTabSz="914377" rtl="0" eaLnBrk="1" latinLnBrk="0" hangingPunct="1">
              <a:spcBef>
                <a:spcPct val="20000"/>
              </a:spcBef>
              <a:buFont typeface="Arial" pitchFamily="34" charset="0"/>
              <a:buNone/>
              <a:defRPr lang="zh-CN" altLang="en-US" sz="1600" kern="12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742932" indent="-285744" algn="l" defTabSz="91437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长期</a:t>
            </a:r>
            <a:r>
              <a:rPr lang="en-US" altLang="zh-CN" dirty="0"/>
              <a:t>-</a:t>
            </a:r>
            <a:r>
              <a:rPr lang="zh-CN" altLang="en-US" dirty="0"/>
              <a:t>交易拥挤度</a:t>
            </a:r>
          </a:p>
        </p:txBody>
      </p:sp>
    </p:spTree>
    <p:extLst>
      <p:ext uri="{BB962C8B-B14F-4D97-AF65-F5344CB8AC3E}">
        <p14:creationId xmlns:p14="http://schemas.microsoft.com/office/powerpoint/2010/main" val="2271680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F6BDA88-91C4-36ED-8092-10DAE9CF9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2807" y="3194872"/>
            <a:ext cx="4567828" cy="2767604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968672" y="1261869"/>
            <a:ext cx="9934707" cy="783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收益率有延续原来的运动方向的趋势，归因为投资者对市场信息反应不足、知情交易者的过度自信与有偏的自我归因、投资者获取信息的先后有别。收益的反转与均值回复，常由投资者反应过度导致。</a:t>
            </a:r>
          </a:p>
        </p:txBody>
      </p:sp>
      <p:sp>
        <p:nvSpPr>
          <p:cNvPr id="6" name="矩形 5"/>
          <p:cNvSpPr/>
          <p:nvPr/>
        </p:nvSpPr>
        <p:spPr>
          <a:xfrm>
            <a:off x="1288620" y="2333786"/>
            <a:ext cx="4516436" cy="33528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/>
              <a:t>1.</a:t>
            </a:r>
            <a:r>
              <a:rPr lang="zh-CN" altLang="en-US" sz="1400" b="1" dirty="0"/>
              <a:t>日内动量 </a:t>
            </a:r>
            <a:r>
              <a:rPr lang="en" altLang="zh-CN" sz="1400" b="1" dirty="0" err="1"/>
              <a:t>IntraMOM</a:t>
            </a:r>
            <a:endParaRPr lang="zh-CN" altLang="en-US" sz="1400" b="1" dirty="0"/>
          </a:p>
        </p:txBody>
      </p:sp>
      <p:cxnSp>
        <p:nvCxnSpPr>
          <p:cNvPr id="8" name="直接连接符 7"/>
          <p:cNvCxnSpPr>
            <a:cxnSpLocks/>
          </p:cNvCxnSpPr>
          <p:nvPr/>
        </p:nvCxnSpPr>
        <p:spPr>
          <a:xfrm>
            <a:off x="1288621" y="2714786"/>
            <a:ext cx="451643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968674" y="3504573"/>
            <a:ext cx="5127326" cy="26271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含义：用中位价刻画当日涨跌。大于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表示股票</a:t>
            </a:r>
            <a:r>
              <a:rPr lang="zh-CN" altLang="en-US" sz="1400" b="1" dirty="0">
                <a:solidFill>
                  <a:srgbClr val="F796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价格中枢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在过去一段时间内呈上涨趋势，反之呈下跌趋势。</a:t>
            </a: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endParaRPr lang="zh-CN" altLang="en-US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信号：当日内动量𝑁日移动平均大于</a:t>
            </a:r>
            <a:r>
              <a:rPr lang="zh-CN" altLang="e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阈值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时看多，反之看空。</a:t>
            </a: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endParaRPr lang="zh-CN" altLang="en-US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优势：与传统的</a:t>
            </a:r>
            <a:r>
              <a:rPr lang="en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close/open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比较，优势在于能更及时地反应多空力量，对后续的股价做出一定预判。今天涨的股票明天还能涨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今天有更多主动资金做多的股票明天大概率上涨。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359A4B0-F215-4CC7-E15B-57FCA24900EC}"/>
                  </a:ext>
                </a:extLst>
              </p:cNvPr>
              <p:cNvSpPr txBox="1"/>
              <p:nvPr/>
            </p:nvSpPr>
            <p:spPr>
              <a:xfrm>
                <a:off x="2977707" y="2902481"/>
                <a:ext cx="1109259" cy="5467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h𝑖𝑔h</m:t>
                              </m:r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𝑙𝑜𝑤</m:t>
                              </m:r>
                            </m:e>
                          </m:d>
                        </m:num>
                        <m:den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2∗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𝑜𝑝𝑒𝑛</m:t>
                          </m:r>
                          <m:r>
                            <m:rPr>
                              <m:nor/>
                            </m:rPr>
                            <a:rPr lang="zh-CN" altLang="en-US" sz="1400" dirty="0"/>
                            <m:t> </m:t>
                          </m:r>
                        </m:den>
                      </m:f>
                    </m:oMath>
                  </m:oMathPara>
                </a14:m>
                <a:endParaRPr lang="en-US" altLang="zh-CN" sz="14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359A4B0-F215-4CC7-E15B-57FCA24900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7707" y="2902481"/>
                <a:ext cx="1109259" cy="546753"/>
              </a:xfrm>
              <a:prstGeom prst="rect">
                <a:avLst/>
              </a:prstGeom>
              <a:blipFill>
                <a:blip r:embed="rId3"/>
                <a:stretch>
                  <a:fillRect b="-6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内容占位符 11">
            <a:extLst>
              <a:ext uri="{FF2B5EF4-FFF2-40B4-BE49-F238E27FC236}">
                <a16:creationId xmlns:a16="http://schemas.microsoft.com/office/drawing/2014/main" id="{7451B5A2-68DC-E1BF-7A0E-B4DFC730CFF2}"/>
              </a:ext>
            </a:extLst>
          </p:cNvPr>
          <p:cNvSpPr txBox="1">
            <a:spLocks/>
          </p:cNvSpPr>
          <p:nvPr/>
        </p:nvSpPr>
        <p:spPr>
          <a:xfrm>
            <a:off x="7236343" y="2354056"/>
            <a:ext cx="3667037" cy="360000"/>
          </a:xfrm>
          <a:prstGeom prst="rect">
            <a:avLst/>
          </a:prstGeom>
          <a:solidFill>
            <a:srgbClr val="EEEEE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kumimoji="0" lang="zh-CN" altLang="en-US" sz="1400" b="1" i="0" u="none" strike="noStrike" kern="1200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ea typeface="+mn-ea"/>
                <a:cs typeface="Times New Roman" pitchFamily="18" charset="0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 err="1">
                <a:latin typeface="+mn-lt"/>
              </a:rPr>
              <a:t>IntraMOM</a:t>
            </a:r>
            <a:r>
              <a:rPr lang="zh-CN" altLang="en-US" dirty="0"/>
              <a:t>与</a:t>
            </a:r>
            <a:r>
              <a:rPr lang="en-US" altLang="zh-CN" dirty="0">
                <a:latin typeface="+mn-lt"/>
              </a:rPr>
              <a:t>close/open</a:t>
            </a:r>
            <a:r>
              <a:rPr lang="zh-CN" altLang="en-US" dirty="0"/>
              <a:t>信号比较（阈值</a:t>
            </a:r>
            <a:r>
              <a:rPr lang="en-US" altLang="zh-CN" dirty="0"/>
              <a:t>=1</a:t>
            </a:r>
            <a:r>
              <a:rPr lang="zh-CN" altLang="en-US" dirty="0"/>
              <a:t>）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23C1E87B-1033-F590-9976-AC15DADC8AEE}"/>
              </a:ext>
            </a:extLst>
          </p:cNvPr>
          <p:cNvSpPr/>
          <p:nvPr/>
        </p:nvSpPr>
        <p:spPr>
          <a:xfrm>
            <a:off x="6769087" y="3041610"/>
            <a:ext cx="4601548" cy="2998972"/>
          </a:xfrm>
          <a:prstGeom prst="roundRect">
            <a:avLst>
              <a:gd name="adj" fmla="val 2450"/>
            </a:avLst>
          </a:prstGeom>
          <a:noFill/>
          <a:ln>
            <a:solidFill>
              <a:srgbClr val="4F81B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1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484CFF9-0CF4-3DF6-0989-CCB9AE26A09D}"/>
              </a:ext>
            </a:extLst>
          </p:cNvPr>
          <p:cNvSpPr txBox="1"/>
          <p:nvPr/>
        </p:nvSpPr>
        <p:spPr>
          <a:xfrm>
            <a:off x="7404629" y="3504573"/>
            <a:ext cx="106043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00" b="1" dirty="0" err="1">
                <a:solidFill>
                  <a:srgbClr val="F79646"/>
                </a:solidFill>
              </a:rPr>
              <a:t>IntraMOM</a:t>
            </a:r>
            <a:r>
              <a:rPr kumimoji="1" lang="zh-CN" altLang="en-US" sz="1100" b="1" dirty="0">
                <a:solidFill>
                  <a:srgbClr val="F79646"/>
                </a:solidFill>
              </a:rPr>
              <a:t>更早地发出空仓信号。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BF516FE-BC99-147E-7370-F17682866C45}"/>
              </a:ext>
            </a:extLst>
          </p:cNvPr>
          <p:cNvSpPr txBox="1"/>
          <p:nvPr/>
        </p:nvSpPr>
        <p:spPr>
          <a:xfrm>
            <a:off x="6769087" y="6186941"/>
            <a:ext cx="47086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资料来源：</a:t>
            </a:r>
            <a:r>
              <a:rPr lang="en-US" altLang="zh-CN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</a:t>
            </a:r>
            <a:endParaRPr lang="zh-CN" altLang="en-US" sz="8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标题 11">
            <a:extLst>
              <a:ext uri="{FF2B5EF4-FFF2-40B4-BE49-F238E27FC236}">
                <a16:creationId xmlns:a16="http://schemas.microsoft.com/office/drawing/2014/main" id="{7EC5D5D6-3560-9D91-54B5-66AFEFC62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j-cs"/>
              </a:rPr>
              <a:t>2.1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j-cs"/>
              </a:rPr>
              <a:t> 短期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j-cs"/>
              </a:rPr>
              <a:t>-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j-cs"/>
              </a:rPr>
              <a:t>动量反转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j-cs"/>
              </a:rPr>
              <a:t>抓住短期趋势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j-cs"/>
              </a:rPr>
              <a:t>/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j-cs"/>
              </a:rPr>
              <a:t>转折带来的投资机遇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461259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2.1</a:t>
            </a:r>
            <a:r>
              <a:rPr lang="zh-CN" altLang="en-US" dirty="0"/>
              <a:t> 短期</a:t>
            </a:r>
            <a:r>
              <a:rPr lang="en-US" altLang="zh-CN" dirty="0"/>
              <a:t>-</a:t>
            </a:r>
            <a:r>
              <a:rPr lang="zh-CN" altLang="en-US" dirty="0"/>
              <a:t>动量反转 </a:t>
            </a:r>
            <a:r>
              <a:rPr lang="zh-CN" altLang="en-US" sz="1600" dirty="0"/>
              <a:t>抓住短期趋势</a:t>
            </a:r>
            <a:r>
              <a:rPr lang="en-US" altLang="zh-CN" sz="1600" dirty="0"/>
              <a:t>/</a:t>
            </a:r>
            <a:r>
              <a:rPr lang="zh-CN" altLang="en-US" sz="1600" dirty="0"/>
              <a:t>转折带来的投资机遇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288620" y="2333786"/>
            <a:ext cx="4516436" cy="33528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/>
              <a:t>1.</a:t>
            </a:r>
            <a:r>
              <a:rPr lang="zh-CN" altLang="en-US" sz="1400" b="1" dirty="0"/>
              <a:t>日内动量 </a:t>
            </a:r>
            <a:r>
              <a:rPr lang="en" altLang="zh-CN" sz="1400" b="1" dirty="0" err="1"/>
              <a:t>IntraMOM</a:t>
            </a:r>
            <a:endParaRPr lang="zh-CN" altLang="en-US" sz="1400" b="1" dirty="0"/>
          </a:p>
        </p:txBody>
      </p:sp>
      <p:cxnSp>
        <p:nvCxnSpPr>
          <p:cNvPr id="8" name="直接连接符 7"/>
          <p:cNvCxnSpPr>
            <a:cxnSpLocks/>
          </p:cNvCxnSpPr>
          <p:nvPr/>
        </p:nvCxnSpPr>
        <p:spPr>
          <a:xfrm>
            <a:off x="1288621" y="2714786"/>
            <a:ext cx="451643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359A4B0-F215-4CC7-E15B-57FCA24900EC}"/>
                  </a:ext>
                </a:extLst>
              </p:cNvPr>
              <p:cNvSpPr txBox="1"/>
              <p:nvPr/>
            </p:nvSpPr>
            <p:spPr>
              <a:xfrm>
                <a:off x="2977707" y="2902481"/>
                <a:ext cx="1109259" cy="5467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h𝑖𝑔h</m:t>
                              </m:r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𝑙𝑜𝑤</m:t>
                              </m:r>
                            </m:e>
                          </m:d>
                        </m:num>
                        <m:den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2∗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𝑜𝑝𝑒𝑛</m:t>
                          </m:r>
                          <m:r>
                            <m:rPr>
                              <m:nor/>
                            </m:rPr>
                            <a:rPr lang="zh-CN" altLang="en-US" sz="1400" dirty="0"/>
                            <m:t> </m:t>
                          </m:r>
                        </m:den>
                      </m:f>
                    </m:oMath>
                  </m:oMathPara>
                </a14:m>
                <a:endParaRPr lang="en-US" altLang="zh-CN" sz="14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359A4B0-F215-4CC7-E15B-57FCA24900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7707" y="2902481"/>
                <a:ext cx="1109259" cy="546753"/>
              </a:xfrm>
              <a:prstGeom prst="rect">
                <a:avLst/>
              </a:prstGeom>
              <a:blipFill>
                <a:blip r:embed="rId2"/>
                <a:stretch>
                  <a:fillRect b="-6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图片 14">
            <a:extLst>
              <a:ext uri="{FF2B5EF4-FFF2-40B4-BE49-F238E27FC236}">
                <a16:creationId xmlns:a16="http://schemas.microsoft.com/office/drawing/2014/main" id="{72157C85-8399-5323-F352-135E43F65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4157" y="3214974"/>
            <a:ext cx="4151407" cy="2767604"/>
          </a:xfrm>
          <a:prstGeom prst="rect">
            <a:avLst/>
          </a:prstGeom>
        </p:spPr>
      </p:pic>
      <p:sp>
        <p:nvSpPr>
          <p:cNvPr id="17" name="内容占位符 11">
            <a:extLst>
              <a:ext uri="{FF2B5EF4-FFF2-40B4-BE49-F238E27FC236}">
                <a16:creationId xmlns:a16="http://schemas.microsoft.com/office/drawing/2014/main" id="{7451B5A2-68DC-E1BF-7A0E-B4DFC730CFF2}"/>
              </a:ext>
            </a:extLst>
          </p:cNvPr>
          <p:cNvSpPr txBox="1">
            <a:spLocks/>
          </p:cNvSpPr>
          <p:nvPr/>
        </p:nvSpPr>
        <p:spPr>
          <a:xfrm>
            <a:off x="7236343" y="2354056"/>
            <a:ext cx="3667037" cy="360000"/>
          </a:xfrm>
          <a:prstGeom prst="rect">
            <a:avLst/>
          </a:prstGeom>
          <a:solidFill>
            <a:srgbClr val="EEEEE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kumimoji="0" lang="zh-CN" altLang="en-US" sz="1400" b="1" i="0" u="none" strike="noStrike" kern="1200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ea typeface="+mn-ea"/>
                <a:cs typeface="Times New Roman" pitchFamily="18" charset="0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 err="1">
                <a:latin typeface="+mn-lt"/>
              </a:rPr>
              <a:t>IntraMOM</a:t>
            </a:r>
            <a:r>
              <a:rPr lang="zh-CN" altLang="en-US" dirty="0"/>
              <a:t>单指标回测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23C1E87B-1033-F590-9976-AC15DADC8AEE}"/>
              </a:ext>
            </a:extLst>
          </p:cNvPr>
          <p:cNvSpPr/>
          <p:nvPr/>
        </p:nvSpPr>
        <p:spPr>
          <a:xfrm>
            <a:off x="6769087" y="3041610"/>
            <a:ext cx="4601548" cy="2998972"/>
          </a:xfrm>
          <a:prstGeom prst="roundRect">
            <a:avLst>
              <a:gd name="adj" fmla="val 2450"/>
            </a:avLst>
          </a:prstGeom>
          <a:noFill/>
          <a:ln>
            <a:solidFill>
              <a:srgbClr val="4F81B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1"/>
          </a:p>
        </p:txBody>
      </p:sp>
      <p:cxnSp>
        <p:nvCxnSpPr>
          <p:cNvPr id="21" name="直线连接符 20">
            <a:extLst>
              <a:ext uri="{FF2B5EF4-FFF2-40B4-BE49-F238E27FC236}">
                <a16:creationId xmlns:a16="http://schemas.microsoft.com/office/drawing/2014/main" id="{74906610-748D-08F2-238C-533073367B41}"/>
              </a:ext>
            </a:extLst>
          </p:cNvPr>
          <p:cNvCxnSpPr>
            <a:cxnSpLocks/>
          </p:cNvCxnSpPr>
          <p:nvPr/>
        </p:nvCxnSpPr>
        <p:spPr>
          <a:xfrm>
            <a:off x="9947564" y="3325091"/>
            <a:ext cx="0" cy="2071792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F1715765-92FB-777D-C69D-4A2CC84721B4}"/>
              </a:ext>
            </a:extLst>
          </p:cNvPr>
          <p:cNvSpPr txBox="1"/>
          <p:nvPr/>
        </p:nvSpPr>
        <p:spPr>
          <a:xfrm>
            <a:off x="7592501" y="3343270"/>
            <a:ext cx="134568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900" dirty="0">
                <a:latin typeface="+mn-ea"/>
              </a:rPr>
              <a:t>胜率：</a:t>
            </a:r>
            <a:r>
              <a:rPr kumimoji="1" lang="en-US" altLang="zh-CN" sz="900" dirty="0">
                <a:latin typeface="+mn-ea"/>
              </a:rPr>
              <a:t>0.56</a:t>
            </a:r>
          </a:p>
          <a:p>
            <a:r>
              <a:rPr kumimoji="1" lang="zh-CN" altLang="en-US" sz="900" dirty="0">
                <a:latin typeface="+mn-ea"/>
              </a:rPr>
              <a:t>盈亏比：</a:t>
            </a:r>
            <a:r>
              <a:rPr kumimoji="1" lang="en-US" altLang="zh-CN" sz="900" dirty="0">
                <a:latin typeface="+mn-ea"/>
              </a:rPr>
              <a:t>1.99</a:t>
            </a:r>
          </a:p>
          <a:p>
            <a:r>
              <a:rPr kumimoji="1" lang="zh-CN" altLang="en-US" sz="900" dirty="0">
                <a:latin typeface="+mn-ea"/>
              </a:rPr>
              <a:t>年均交易次数：</a:t>
            </a:r>
            <a:r>
              <a:rPr kumimoji="1" lang="en-US" altLang="zh-CN" sz="900" dirty="0">
                <a:latin typeface="+mn-ea"/>
              </a:rPr>
              <a:t>11.29</a:t>
            </a:r>
            <a:endParaRPr kumimoji="1" lang="zh-CN" altLang="en-US" sz="900" dirty="0">
              <a:latin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6FB806F-B161-693D-13DC-983850BCFDB4}"/>
              </a:ext>
            </a:extLst>
          </p:cNvPr>
          <p:cNvSpPr txBox="1"/>
          <p:nvPr/>
        </p:nvSpPr>
        <p:spPr>
          <a:xfrm>
            <a:off x="6769087" y="6186941"/>
            <a:ext cx="47086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资料来源：</a:t>
            </a:r>
            <a:r>
              <a:rPr lang="en-US" altLang="zh-CN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</a:t>
            </a:r>
            <a:endParaRPr lang="zh-CN" altLang="en-US" sz="8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422606F-30A9-FB8F-CE82-D201F8180CBF}"/>
              </a:ext>
            </a:extLst>
          </p:cNvPr>
          <p:cNvSpPr/>
          <p:nvPr/>
        </p:nvSpPr>
        <p:spPr>
          <a:xfrm>
            <a:off x="968674" y="3504573"/>
            <a:ext cx="5127326" cy="26271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含义：用中位价刻画当日涨跌。大于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表示股票</a:t>
            </a:r>
            <a:r>
              <a:rPr lang="zh-CN" altLang="en-US" sz="1400" b="1" dirty="0">
                <a:solidFill>
                  <a:srgbClr val="F796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价格中枢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在过去一段时间内呈上涨趋势，反之呈下跌趋势。</a:t>
            </a: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endParaRPr lang="zh-CN" altLang="en-US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信号：当日内动量𝑁日移动平均大于</a:t>
            </a:r>
            <a:r>
              <a:rPr lang="zh-CN" altLang="e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阈值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时看多，反之看空。</a:t>
            </a: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endParaRPr lang="zh-CN" altLang="en-US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优势：与传统的</a:t>
            </a:r>
            <a:r>
              <a:rPr lang="en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close/open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比较，优势在于能更及时地反应多空力量，对后续的股价做出一定预判。今天涨的股票明天还能涨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今天有更多主动资金做多的股票明天大概率上涨。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DC50DB7-1E20-5ED7-CC70-AFA4DEEDA594}"/>
              </a:ext>
            </a:extLst>
          </p:cNvPr>
          <p:cNvSpPr/>
          <p:nvPr/>
        </p:nvSpPr>
        <p:spPr>
          <a:xfrm>
            <a:off x="968672" y="1261869"/>
            <a:ext cx="9934707" cy="783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收益率有延续原来的运动方向的趋势，归因为投资者对市场信息反应不足、知情交易者的过度自信与有偏的自我归因、投资者获取信息的先后有别。收益的反转与均值回复，常由投资者反应过度导致。</a:t>
            </a:r>
          </a:p>
        </p:txBody>
      </p:sp>
    </p:spTree>
    <p:extLst>
      <p:ext uri="{BB962C8B-B14F-4D97-AF65-F5344CB8AC3E}">
        <p14:creationId xmlns:p14="http://schemas.microsoft.com/office/powerpoint/2010/main" val="26693216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042F1686-CEFA-5D27-B416-98647F57B5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8242" y="3156705"/>
            <a:ext cx="4258082" cy="2838721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288620" y="2333786"/>
            <a:ext cx="4516436" cy="33528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/>
              <a:t>2.</a:t>
            </a:r>
            <a:r>
              <a:rPr lang="zh-CN" altLang="en-US" sz="1400" b="1" dirty="0"/>
              <a:t>日内振幅动量</a:t>
            </a:r>
            <a:r>
              <a:rPr lang="en-US" altLang="zh-CN" sz="1400" b="1" dirty="0"/>
              <a:t>/</a:t>
            </a:r>
            <a:r>
              <a:rPr lang="zh-CN" altLang="en-US" sz="1400" b="1" dirty="0"/>
              <a:t>反转 </a:t>
            </a:r>
            <a:r>
              <a:rPr lang="en-US" altLang="zh-CN" sz="1400" b="1" dirty="0"/>
              <a:t>STDS</a:t>
            </a:r>
            <a:endParaRPr lang="zh-CN" altLang="en-US" sz="1400" b="1" dirty="0"/>
          </a:p>
        </p:txBody>
      </p:sp>
      <p:cxnSp>
        <p:nvCxnSpPr>
          <p:cNvPr id="8" name="直接连接符 7"/>
          <p:cNvCxnSpPr>
            <a:cxnSpLocks/>
          </p:cNvCxnSpPr>
          <p:nvPr/>
        </p:nvCxnSpPr>
        <p:spPr>
          <a:xfrm>
            <a:off x="1288621" y="2714786"/>
            <a:ext cx="451643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968674" y="4133380"/>
            <a:ext cx="5127326" cy="26076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含义：</a:t>
            </a:r>
            <a:r>
              <a:rPr lang="en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GK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波动率，对日内振幅的刻画。</a:t>
            </a:r>
            <a:r>
              <a:rPr lang="zh-CN" altLang="en-US" sz="1400" b="1" dirty="0">
                <a:solidFill>
                  <a:srgbClr val="F796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上涨阶段波动率越小走得越顺畅，下跌阶段多空分歧度越大越有反转的可能性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endParaRPr lang="zh-CN" altLang="en-US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信号：短均线下穿长均线时看多，反之看空。</a:t>
            </a: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endParaRPr lang="zh-CN" altLang="en-US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优势：同时考虑了开收高低价，在相对率上比仅考虑收盘价的传统方法有所改进。融合反转和日内波动。</a:t>
            </a: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endParaRPr lang="zh-CN" altLang="en-US" sz="13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内容占位符 11">
            <a:extLst>
              <a:ext uri="{FF2B5EF4-FFF2-40B4-BE49-F238E27FC236}">
                <a16:creationId xmlns:a16="http://schemas.microsoft.com/office/drawing/2014/main" id="{7451B5A2-68DC-E1BF-7A0E-B4DFC730CFF2}"/>
              </a:ext>
            </a:extLst>
          </p:cNvPr>
          <p:cNvSpPr txBox="1">
            <a:spLocks/>
          </p:cNvSpPr>
          <p:nvPr/>
        </p:nvSpPr>
        <p:spPr>
          <a:xfrm>
            <a:off x="7236343" y="2354056"/>
            <a:ext cx="3667037" cy="360000"/>
          </a:xfrm>
          <a:prstGeom prst="rect">
            <a:avLst/>
          </a:prstGeom>
          <a:solidFill>
            <a:srgbClr val="EEEEE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kumimoji="0" lang="zh-CN" altLang="en-US" sz="1400" b="1" i="0" u="none" strike="noStrike" kern="1200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ea typeface="+mn-ea"/>
                <a:cs typeface="Times New Roman" pitchFamily="18" charset="0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latin typeface="+mn-lt"/>
              </a:rPr>
              <a:t>STDS</a:t>
            </a:r>
            <a:r>
              <a:rPr lang="zh-CN" altLang="en-US" dirty="0"/>
              <a:t>单指标回测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23C1E87B-1033-F590-9976-AC15DADC8AEE}"/>
              </a:ext>
            </a:extLst>
          </p:cNvPr>
          <p:cNvSpPr/>
          <p:nvPr/>
        </p:nvSpPr>
        <p:spPr>
          <a:xfrm>
            <a:off x="6769087" y="3041610"/>
            <a:ext cx="4601548" cy="2998972"/>
          </a:xfrm>
          <a:prstGeom prst="roundRect">
            <a:avLst>
              <a:gd name="adj" fmla="val 2450"/>
            </a:avLst>
          </a:prstGeom>
          <a:noFill/>
          <a:ln>
            <a:solidFill>
              <a:srgbClr val="4F81B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1"/>
          </a:p>
        </p:txBody>
      </p:sp>
      <p:cxnSp>
        <p:nvCxnSpPr>
          <p:cNvPr id="21" name="直线连接符 20">
            <a:extLst>
              <a:ext uri="{FF2B5EF4-FFF2-40B4-BE49-F238E27FC236}">
                <a16:creationId xmlns:a16="http://schemas.microsoft.com/office/drawing/2014/main" id="{74906610-748D-08F2-238C-533073367B41}"/>
              </a:ext>
            </a:extLst>
          </p:cNvPr>
          <p:cNvCxnSpPr>
            <a:cxnSpLocks/>
          </p:cNvCxnSpPr>
          <p:nvPr/>
        </p:nvCxnSpPr>
        <p:spPr>
          <a:xfrm>
            <a:off x="9947564" y="3325091"/>
            <a:ext cx="0" cy="2071792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4FA5C78-4F15-ECAB-3F76-0AEFD2D972CD}"/>
                  </a:ext>
                </a:extLst>
              </p:cNvPr>
              <p:cNvSpPr txBox="1"/>
              <p:nvPr/>
            </p:nvSpPr>
            <p:spPr>
              <a:xfrm>
                <a:off x="415636" y="2843025"/>
                <a:ext cx="6159139" cy="13896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𝑙𝑜𝑔</m:t>
                          </m:r>
                        </m:fName>
                        <m:e>
                          <m:f>
                            <m:f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h𝑖𝑔h</m:t>
                              </m:r>
                            </m:num>
                            <m:den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𝑙𝑜𝑤</m:t>
                              </m:r>
                            </m:den>
                          </m:f>
                        </m:e>
                      </m:func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n-US" altLang="zh-CN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𝑙𝑜𝑔</m:t>
                          </m:r>
                        </m:fName>
                        <m:e>
                          <m:f>
                            <m:f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𝑙𝑜𝑤</m:t>
                              </m:r>
                            </m:num>
                            <m:den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𝑜𝑝𝑒𝑛</m:t>
                              </m:r>
                            </m:den>
                          </m:f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𝑙𝑜𝑔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𝑐𝑙𝑜𝑠𝑒</m:t>
                                  </m:r>
                                </m:num>
                                <m:den>
                                  <m:r>
                                    <a:rPr lang="en-US" altLang="zh-CN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𝑜𝑝𝑒𝑛</m:t>
                                  </m:r>
                                </m:den>
                              </m:f>
                            </m:e>
                          </m:func>
                        </m:e>
                      </m:func>
                    </m:oMath>
                  </m:oMathPara>
                </a14:m>
                <a:endParaRPr lang="en-US" altLang="zh-CN" sz="1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:endParaRPr lang="en-US" altLang="zh-CN" sz="1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=(</m:t>
                      </m:r>
                      <m:rad>
                        <m:radPr>
                          <m:degHide m:val="on"/>
                          <m:ctrlP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sz="1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400" i="1" dirty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num>
                            <m:den>
                              <m:r>
                                <a:rPr lang="en-US" altLang="zh-CN" sz="14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zh-CN" sz="1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altLang="zh-CN" sz="1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f>
                                    <m:fPr>
                                      <m:ctrlPr>
                                        <a:rPr lang="en-US" altLang="zh-CN" sz="14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400" b="0" i="1" dirty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zh-CN" sz="1400" b="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a:rPr lang="en-US" altLang="zh-CN" sz="1400" b="0" i="1" dirty="0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1400" i="1" dirty="0">
                                      <a:latin typeface="Cambria Math" panose="02040503050406030204" pitchFamily="18" charset="0"/>
                                    </a:rPr>
                                    <m:t>𝑙𝑜𝑔</m:t>
                                  </m:r>
                                  <m:f>
                                    <m:fPr>
                                      <m:ctrlPr>
                                        <a:rPr lang="en-US" altLang="zh-CN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400" i="1" dirty="0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num>
                                    <m:den>
                                      <m:r>
                                        <a:rPr lang="en-US" altLang="zh-CN" sz="1400" i="1" dirty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den>
                                  </m:f>
                                  <m:r>
                                    <a:rPr lang="en-US" altLang="zh-CN" sz="1400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sz="14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14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altLang="zh-CN" sz="1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sz="1400" b="0" i="1" dirty="0" smtClean="0">
                                      <a:latin typeface="Cambria Math" panose="02040503050406030204" pitchFamily="18" charset="0"/>
                                    </a:rPr>
                                    <m:t>𝑙𝑜𝑔</m:t>
                                  </m:r>
                                  <m:r>
                                    <a:rPr lang="en-US" altLang="zh-CN" sz="1400" b="0" i="1" dirty="0" smtClean="0">
                                      <a:latin typeface="Cambria Math" panose="02040503050406030204" pitchFamily="18" charset="0"/>
                                    </a:rPr>
                                    <m:t>2−1</m:t>
                                  </m:r>
                                </m:e>
                              </m:d>
                              <m:r>
                                <a:rPr lang="en-US" altLang="zh-CN" sz="1400" b="0" i="1" dirty="0" smtClean="0">
                                  <a:latin typeface="Cambria Math" panose="02040503050406030204" pitchFamily="18" charset="0"/>
                                </a:rPr>
                                <m:t>⁡</m:t>
                              </m:r>
                              <m:sSup>
                                <m:sSupPr>
                                  <m:ctrlPr>
                                    <a:rPr lang="en-US" altLang="zh-CN" sz="1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400" b="0" i="1" dirty="0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1400" b="0" i="1" dirty="0" smtClean="0">
                                      <a:latin typeface="Cambria Math" panose="02040503050406030204" pitchFamily="18" charset="0"/>
                                    </a:rPr>
                                    <m:t>𝑙𝑜𝑔</m:t>
                                  </m:r>
                                  <m:f>
                                    <m:fPr>
                                      <m:ctrlPr>
                                        <a:rPr lang="en-US" altLang="zh-CN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400" i="1" dirty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num>
                                    <m:den>
                                      <m:r>
                                        <a:rPr lang="en-US" altLang="zh-CN" sz="1400" i="1" dirty="0">
                                          <a:latin typeface="Cambria Math" panose="02040503050406030204" pitchFamily="18" charset="0"/>
                                        </a:rPr>
                                        <m:t>𝑂</m:t>
                                      </m:r>
                                    </m:den>
                                  </m:f>
                                  <m:r>
                                    <a:rPr lang="en-US" altLang="zh-CN" sz="1400" b="0" i="1" dirty="0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sz="14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)∗</m:t>
                      </m:r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𝑠𝑖𝑔𝑛</m:t>
                      </m:r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𝑐𝑙𝑜𝑠𝑒</m:t>
                      </m:r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𝑜𝑝𝑒𝑛</m:t>
                      </m:r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14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4FA5C78-4F15-ECAB-3F76-0AEFD2D972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636" y="2843025"/>
                <a:ext cx="6159139" cy="1389611"/>
              </a:xfrm>
              <a:prstGeom prst="rect">
                <a:avLst/>
              </a:prstGeom>
              <a:blipFill>
                <a:blip r:embed="rId4"/>
                <a:stretch>
                  <a:fillRect b="-711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7943DC5B-7647-B7C2-45B2-E7C26663F024}"/>
              </a:ext>
            </a:extLst>
          </p:cNvPr>
          <p:cNvSpPr txBox="1"/>
          <p:nvPr/>
        </p:nvSpPr>
        <p:spPr>
          <a:xfrm>
            <a:off x="7592501" y="3343270"/>
            <a:ext cx="134568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900" dirty="0">
                <a:latin typeface="+mn-ea"/>
              </a:rPr>
              <a:t>胜率：</a:t>
            </a:r>
            <a:r>
              <a:rPr kumimoji="1" lang="en-US" altLang="zh-CN" sz="900" dirty="0">
                <a:latin typeface="+mn-ea"/>
              </a:rPr>
              <a:t>0.56</a:t>
            </a:r>
          </a:p>
          <a:p>
            <a:r>
              <a:rPr kumimoji="1" lang="zh-CN" altLang="en-US" sz="900" dirty="0">
                <a:latin typeface="+mn-ea"/>
              </a:rPr>
              <a:t>盈亏比：</a:t>
            </a:r>
            <a:r>
              <a:rPr kumimoji="1" lang="en-US" altLang="zh-CN" sz="900" dirty="0">
                <a:latin typeface="+mn-ea"/>
              </a:rPr>
              <a:t>1.18</a:t>
            </a:r>
          </a:p>
          <a:p>
            <a:r>
              <a:rPr kumimoji="1" lang="zh-CN" altLang="en-US" sz="900" dirty="0">
                <a:latin typeface="+mn-ea"/>
              </a:rPr>
              <a:t>年均交易次数：</a:t>
            </a:r>
            <a:r>
              <a:rPr kumimoji="1" lang="en-US" altLang="zh-CN" sz="900" dirty="0">
                <a:latin typeface="+mn-ea"/>
              </a:rPr>
              <a:t>26.01</a:t>
            </a:r>
            <a:endParaRPr kumimoji="1" lang="zh-CN" altLang="en-US" sz="900" dirty="0">
              <a:latin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7A7064A-6B41-557B-357B-FAF3BE2A3375}"/>
              </a:ext>
            </a:extLst>
          </p:cNvPr>
          <p:cNvSpPr txBox="1"/>
          <p:nvPr/>
        </p:nvSpPr>
        <p:spPr>
          <a:xfrm>
            <a:off x="6769087" y="6186941"/>
            <a:ext cx="47086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资料来源：</a:t>
            </a:r>
            <a:r>
              <a:rPr lang="en-US" altLang="zh-CN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</a:t>
            </a:r>
            <a:endParaRPr lang="zh-CN" altLang="en-US" sz="8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C5E2938-0D88-9626-0580-B81DF0B4955E}"/>
              </a:ext>
            </a:extLst>
          </p:cNvPr>
          <p:cNvSpPr txBox="1"/>
          <p:nvPr/>
        </p:nvSpPr>
        <p:spPr>
          <a:xfrm>
            <a:off x="60415" y="6607093"/>
            <a:ext cx="59218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" sz="800" b="0" i="0" dirty="0">
                <a:solidFill>
                  <a:srgbClr val="222222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资料来源</a:t>
            </a:r>
            <a:r>
              <a:rPr lang="zh-CN" altLang="en-US" sz="800" b="0" i="0" dirty="0">
                <a:solidFill>
                  <a:srgbClr val="222222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" altLang="zh-CN" sz="8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Garman M B, </a:t>
            </a:r>
            <a:r>
              <a:rPr lang="en" altLang="zh-CN" sz="8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" altLang="zh-CN" sz="8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 J. On the estimation of security price volatilities from historical data[J]. Journal of business, 1980: 67-78.</a:t>
            </a:r>
            <a:endParaRPr kumimoji="1" lang="zh-CN" alt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标题 11">
            <a:extLst>
              <a:ext uri="{FF2B5EF4-FFF2-40B4-BE49-F238E27FC236}">
                <a16:creationId xmlns:a16="http://schemas.microsoft.com/office/drawing/2014/main" id="{811C66C6-22A8-BC24-82F7-201BC6E85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j-cs"/>
              </a:rPr>
              <a:t>2.1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j-cs"/>
              </a:rPr>
              <a:t> 短期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j-cs"/>
              </a:rPr>
              <a:t>-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j-cs"/>
              </a:rPr>
              <a:t>动量反转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j-cs"/>
              </a:rPr>
              <a:t>抓住短期趋势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j-cs"/>
              </a:rPr>
              <a:t>/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j-cs"/>
              </a:rPr>
              <a:t>转折带来的投资机遇</a:t>
            </a:r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265B056-0AA6-DFFB-8573-614DC9A36B6A}"/>
              </a:ext>
            </a:extLst>
          </p:cNvPr>
          <p:cNvSpPr/>
          <p:nvPr/>
        </p:nvSpPr>
        <p:spPr>
          <a:xfrm>
            <a:off x="968672" y="1261869"/>
            <a:ext cx="9934707" cy="783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收益率有延续原来的运动方向的趋势，归因为投资者对市场信息反应不足、知情交易者的过度自信与有偏的自我归因、投资者获取信息的先后有别。收益的反转与均值回复，常由投资者反应过度导致。</a:t>
            </a:r>
          </a:p>
        </p:txBody>
      </p:sp>
    </p:spTree>
    <p:extLst>
      <p:ext uri="{BB962C8B-B14F-4D97-AF65-F5344CB8AC3E}">
        <p14:creationId xmlns:p14="http://schemas.microsoft.com/office/powerpoint/2010/main" val="28762406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>
            <a:extLst>
              <a:ext uri="{FF2B5EF4-FFF2-40B4-BE49-F238E27FC236}">
                <a16:creationId xmlns:a16="http://schemas.microsoft.com/office/drawing/2014/main" id="{BD46F397-0B06-ABA3-F955-EB6F2C6777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9200" y="3545249"/>
            <a:ext cx="4541321" cy="2212751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288620" y="2333786"/>
            <a:ext cx="4516436" cy="33528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/>
              <a:t>3.</a:t>
            </a:r>
            <a:r>
              <a:rPr lang="zh-CN" altLang="en-US" sz="1400" b="1" dirty="0"/>
              <a:t>日间价格动量</a:t>
            </a:r>
            <a:r>
              <a:rPr lang="en-US" altLang="zh-CN" sz="1400" b="1" dirty="0"/>
              <a:t>/</a:t>
            </a:r>
            <a:r>
              <a:rPr lang="zh-CN" altLang="en-US" sz="1400" b="1" dirty="0"/>
              <a:t>反转 </a:t>
            </a:r>
            <a:r>
              <a:rPr lang="en-US" altLang="zh-CN" sz="1400" b="1" dirty="0"/>
              <a:t>Boll</a:t>
            </a:r>
          </a:p>
        </p:txBody>
      </p:sp>
      <p:cxnSp>
        <p:nvCxnSpPr>
          <p:cNvPr id="8" name="直接连接符 7"/>
          <p:cNvCxnSpPr>
            <a:cxnSpLocks/>
          </p:cNvCxnSpPr>
          <p:nvPr/>
        </p:nvCxnSpPr>
        <p:spPr>
          <a:xfrm>
            <a:off x="1288621" y="2714786"/>
            <a:ext cx="451643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内容占位符 11">
            <a:extLst>
              <a:ext uri="{FF2B5EF4-FFF2-40B4-BE49-F238E27FC236}">
                <a16:creationId xmlns:a16="http://schemas.microsoft.com/office/drawing/2014/main" id="{7451B5A2-68DC-E1BF-7A0E-B4DFC730CFF2}"/>
              </a:ext>
            </a:extLst>
          </p:cNvPr>
          <p:cNvSpPr txBox="1">
            <a:spLocks/>
          </p:cNvSpPr>
          <p:nvPr/>
        </p:nvSpPr>
        <p:spPr>
          <a:xfrm>
            <a:off x="7236343" y="2354056"/>
            <a:ext cx="3667037" cy="360000"/>
          </a:xfrm>
          <a:prstGeom prst="rect">
            <a:avLst/>
          </a:prstGeom>
          <a:solidFill>
            <a:srgbClr val="EEEEE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kumimoji="0" lang="zh-CN" altLang="en-US" sz="1400" b="1" i="0" u="none" strike="noStrike" kern="1200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ea typeface="+mn-ea"/>
                <a:cs typeface="Times New Roman" pitchFamily="18" charset="0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>
                <a:latin typeface="+mn-lt"/>
              </a:rPr>
              <a:t>Boll</a:t>
            </a:r>
            <a:r>
              <a:rPr lang="zh-CN" altLang="en-US" sz="1400" b="1" dirty="0">
                <a:latin typeface="+mn-lt"/>
              </a:rPr>
              <a:t>动量</a:t>
            </a:r>
            <a:r>
              <a:rPr lang="zh-CN" altLang="en-US" dirty="0"/>
              <a:t>信号示例</a:t>
            </a:r>
            <a:r>
              <a:rPr lang="en-US" altLang="zh-CN" dirty="0">
                <a:latin typeface="+mn-lt"/>
              </a:rPr>
              <a:t>(N=3,n=1)</a:t>
            </a:r>
            <a:endParaRPr lang="zh-CN" altLang="en-US" dirty="0">
              <a:latin typeface="+mn-lt"/>
            </a:endParaRP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23C1E87B-1033-F590-9976-AC15DADC8AEE}"/>
              </a:ext>
            </a:extLst>
          </p:cNvPr>
          <p:cNvSpPr/>
          <p:nvPr/>
        </p:nvSpPr>
        <p:spPr>
          <a:xfrm>
            <a:off x="6769087" y="3041610"/>
            <a:ext cx="4601548" cy="2998972"/>
          </a:xfrm>
          <a:prstGeom prst="roundRect">
            <a:avLst>
              <a:gd name="adj" fmla="val 2450"/>
            </a:avLst>
          </a:prstGeom>
          <a:noFill/>
          <a:ln>
            <a:solidFill>
              <a:srgbClr val="4F81B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4EB4B39-9EBF-7742-570C-16064DC4B6F4}"/>
                  </a:ext>
                </a:extLst>
              </p:cNvPr>
              <p:cNvSpPr txBox="1"/>
              <p:nvPr/>
            </p:nvSpPr>
            <p:spPr>
              <a:xfrm>
                <a:off x="2214244" y="2972758"/>
                <a:ext cx="266518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400" i="1" smtClean="0">
                          <a:latin typeface="Cambria Math" panose="02040503050406030204" pitchFamily="18" charset="0"/>
                        </a:rPr>
                        <m:t>上轨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𝑀𝐴</m:t>
                      </m:r>
                      <m:d>
                        <m:d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400" i="1">
                              <a:latin typeface="Cambria Math" panose="02040503050406030204" pitchFamily="18" charset="0"/>
                            </a:rPr>
                            <m:t>close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𝑠𝑡𝑑</m:t>
                      </m:r>
                    </m:oMath>
                  </m:oMathPara>
                </a14:m>
                <a:endParaRPr lang="en-US" altLang="zh-CN" sz="14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400" i="1" dirty="0">
                          <a:latin typeface="Cambria Math" panose="02040503050406030204" pitchFamily="18" charset="0"/>
                        </a:rPr>
                        <m:t>下</m:t>
                      </m:r>
                      <m:r>
                        <a:rPr lang="zh-CN" altLang="en-US" sz="1400" i="1" smtClean="0">
                          <a:latin typeface="Cambria Math" panose="02040503050406030204" pitchFamily="18" charset="0"/>
                        </a:rPr>
                        <m:t>轨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𝑀𝐴</m:t>
                      </m:r>
                      <m:d>
                        <m:d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400" i="1">
                              <a:latin typeface="Cambria Math" panose="02040503050406030204" pitchFamily="18" charset="0"/>
                            </a:rPr>
                            <m:t>close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𝑠𝑡𝑑</m:t>
                      </m:r>
                    </m:oMath>
                  </m:oMathPara>
                </a14:m>
                <a:endParaRPr lang="en-US" altLang="zh-CN" sz="14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4EB4B39-9EBF-7742-570C-16064DC4B6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4244" y="2972758"/>
                <a:ext cx="2665188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6A6A50AF-306A-9DF5-A16D-9A6EDAE7350A}"/>
              </a:ext>
            </a:extLst>
          </p:cNvPr>
          <p:cNvCxnSpPr>
            <a:cxnSpLocks/>
          </p:cNvCxnSpPr>
          <p:nvPr/>
        </p:nvCxnSpPr>
        <p:spPr>
          <a:xfrm>
            <a:off x="9159814" y="3646930"/>
            <a:ext cx="830424" cy="329422"/>
          </a:xfrm>
          <a:prstGeom prst="straightConnector1">
            <a:avLst/>
          </a:prstGeom>
          <a:ln w="25400">
            <a:solidFill>
              <a:srgbClr val="4F81B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20E3809A-8C74-4C38-7A03-14512D9524E2}"/>
              </a:ext>
            </a:extLst>
          </p:cNvPr>
          <p:cNvSpPr txBox="1"/>
          <p:nvPr/>
        </p:nvSpPr>
        <p:spPr>
          <a:xfrm>
            <a:off x="9425672" y="3369931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rgbClr val="4F81BD"/>
                </a:solidFill>
              </a:rPr>
              <a:t>上轨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21084A2-7EBE-0F7D-65DA-73808B888459}"/>
              </a:ext>
            </a:extLst>
          </p:cNvPr>
          <p:cNvSpPr txBox="1"/>
          <p:nvPr/>
        </p:nvSpPr>
        <p:spPr>
          <a:xfrm>
            <a:off x="9517037" y="487545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rgbClr val="F79646"/>
                </a:solidFill>
              </a:rPr>
              <a:t>下轨</a:t>
            </a:r>
          </a:p>
        </p:txBody>
      </p: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C015FC68-5BFC-989F-3493-D0EC82B7D187}"/>
              </a:ext>
            </a:extLst>
          </p:cNvPr>
          <p:cNvCxnSpPr>
            <a:cxnSpLocks/>
          </p:cNvCxnSpPr>
          <p:nvPr/>
        </p:nvCxnSpPr>
        <p:spPr>
          <a:xfrm flipV="1">
            <a:off x="9159814" y="4606293"/>
            <a:ext cx="830424" cy="294822"/>
          </a:xfrm>
          <a:prstGeom prst="straightConnector1">
            <a:avLst/>
          </a:prstGeom>
          <a:ln w="25400">
            <a:solidFill>
              <a:srgbClr val="F7964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A4755870-DDEB-90FD-E1EF-FC3EBE346584}"/>
              </a:ext>
            </a:extLst>
          </p:cNvPr>
          <p:cNvSpPr/>
          <p:nvPr/>
        </p:nvSpPr>
        <p:spPr>
          <a:xfrm>
            <a:off x="7399371" y="3467564"/>
            <a:ext cx="1250992" cy="1329693"/>
          </a:xfrm>
          <a:prstGeom prst="rect">
            <a:avLst/>
          </a:prstGeom>
          <a:noFill/>
          <a:ln>
            <a:solidFill>
              <a:srgbClr val="F79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7E466B5-5DC0-102A-E84A-F16325044FB8}"/>
              </a:ext>
            </a:extLst>
          </p:cNvPr>
          <p:cNvSpPr txBox="1"/>
          <p:nvPr/>
        </p:nvSpPr>
        <p:spPr>
          <a:xfrm>
            <a:off x="7548974" y="4923129"/>
            <a:ext cx="106043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100" b="1" dirty="0">
                <a:solidFill>
                  <a:srgbClr val="F79646"/>
                </a:solidFill>
              </a:rPr>
              <a:t>短期下轨突破，空仓。规避了这段下跌。</a:t>
            </a: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1A721027-6144-14A0-AD68-678DEAF548FC}"/>
              </a:ext>
            </a:extLst>
          </p:cNvPr>
          <p:cNvSpPr/>
          <p:nvPr/>
        </p:nvSpPr>
        <p:spPr>
          <a:xfrm>
            <a:off x="7718621" y="3710634"/>
            <a:ext cx="55571" cy="55571"/>
          </a:xfrm>
          <a:prstGeom prst="ellipse">
            <a:avLst/>
          </a:prstGeom>
          <a:solidFill>
            <a:srgbClr val="F79646"/>
          </a:solidFill>
          <a:ln>
            <a:solidFill>
              <a:srgbClr val="F79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850CA90-3CFD-FA30-F4F2-F0E40D185688}"/>
              </a:ext>
            </a:extLst>
          </p:cNvPr>
          <p:cNvSpPr txBox="1"/>
          <p:nvPr/>
        </p:nvSpPr>
        <p:spPr>
          <a:xfrm>
            <a:off x="7587420" y="3472862"/>
            <a:ext cx="4443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b="1" dirty="0">
                <a:solidFill>
                  <a:srgbClr val="F79646"/>
                </a:solidFill>
              </a:rPr>
              <a:t>Ask</a:t>
            </a:r>
            <a:endParaRPr kumimoji="1" lang="zh-CN" altLang="en-US" sz="1100" b="1" dirty="0">
              <a:solidFill>
                <a:srgbClr val="F79646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6266D14-96E3-8D69-4D5A-4561F3D19843}"/>
              </a:ext>
            </a:extLst>
          </p:cNvPr>
          <p:cNvSpPr txBox="1"/>
          <p:nvPr/>
        </p:nvSpPr>
        <p:spPr>
          <a:xfrm>
            <a:off x="6769087" y="6186941"/>
            <a:ext cx="47086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资料来源：</a:t>
            </a:r>
            <a:r>
              <a:rPr lang="en-US" altLang="zh-CN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</a:t>
            </a:r>
            <a:endParaRPr lang="zh-CN" altLang="en-US" sz="8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标题 11">
            <a:extLst>
              <a:ext uri="{FF2B5EF4-FFF2-40B4-BE49-F238E27FC236}">
                <a16:creationId xmlns:a16="http://schemas.microsoft.com/office/drawing/2014/main" id="{F1F65028-89FE-F915-7610-F45349EBB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j-cs"/>
              </a:rPr>
              <a:t>2.1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j-cs"/>
              </a:rPr>
              <a:t> 短期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j-cs"/>
              </a:rPr>
              <a:t>-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j-cs"/>
              </a:rPr>
              <a:t>动量反转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j-cs"/>
              </a:rPr>
              <a:t>抓住短期趋势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j-cs"/>
              </a:rPr>
              <a:t>/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j-cs"/>
              </a:rPr>
              <a:t>转折带来的投资机遇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4560559-2D06-4092-CA80-76DB3501820B}"/>
              </a:ext>
            </a:extLst>
          </p:cNvPr>
          <p:cNvSpPr/>
          <p:nvPr/>
        </p:nvSpPr>
        <p:spPr>
          <a:xfrm>
            <a:off x="968674" y="3636088"/>
            <a:ext cx="4836382" cy="35540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含义：上轨和下轨是价格的压力线和支撑线，股价对</a:t>
            </a:r>
            <a:r>
              <a:rPr lang="zh-CN" altLang="en-US" sz="1400" b="1" dirty="0">
                <a:solidFill>
                  <a:srgbClr val="F796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小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价格中枢范围的突破代表着</a:t>
            </a:r>
            <a:r>
              <a:rPr lang="zh-CN" altLang="en-US" sz="1400" b="1" dirty="0">
                <a:solidFill>
                  <a:srgbClr val="F796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趋势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的形成，对</a:t>
            </a:r>
            <a:r>
              <a:rPr lang="zh-CN" altLang="en-US" sz="1400" b="1" dirty="0">
                <a:solidFill>
                  <a:srgbClr val="F796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大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价格中枢范围的突破代表着</a:t>
            </a:r>
            <a:r>
              <a:rPr lang="zh-CN" altLang="en-US" sz="1400" b="1" dirty="0">
                <a:solidFill>
                  <a:srgbClr val="F796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反转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可能性的提升。</a:t>
            </a:r>
            <a:endParaRPr lang="en-US" altLang="zh-CN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动量信号：最新价超过布林带上轨做多，跌破下轨做空。</a:t>
            </a:r>
            <a:endParaRPr lang="en-US" altLang="zh-CN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反转信号：多空相反。</a:t>
            </a:r>
            <a:endParaRPr lang="en-US" altLang="zh-CN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优势：最简单实用的突破规则，股价通道会随着股价的变化而自动调整。</a:t>
            </a: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endParaRPr lang="zh-CN" altLang="en-US" sz="13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endParaRPr lang="zh-CN" altLang="en-US" sz="13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C117872-B003-CE91-D7AB-D0FDCED912D0}"/>
              </a:ext>
            </a:extLst>
          </p:cNvPr>
          <p:cNvSpPr/>
          <p:nvPr/>
        </p:nvSpPr>
        <p:spPr>
          <a:xfrm>
            <a:off x="968672" y="1261869"/>
            <a:ext cx="9934707" cy="783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收益率有延续原来的运动方向的趋势，归因为投资者对市场信息反应不足、知情交易者的过度自信与有偏的自我归因、投资者获取信息的先后有别。收益的反转与均值回复，常由投资者反应过度导致。</a:t>
            </a:r>
          </a:p>
        </p:txBody>
      </p:sp>
    </p:spTree>
    <p:extLst>
      <p:ext uri="{BB962C8B-B14F-4D97-AF65-F5344CB8AC3E}">
        <p14:creationId xmlns:p14="http://schemas.microsoft.com/office/powerpoint/2010/main" val="35896098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90E65376-73AC-7AD7-2BC7-35ED66326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1445" y="3168605"/>
            <a:ext cx="4196832" cy="2797888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288620" y="2333786"/>
            <a:ext cx="4516436" cy="33528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/>
              <a:t>3.</a:t>
            </a:r>
            <a:r>
              <a:rPr lang="zh-CN" altLang="en-US" sz="1400" b="1" dirty="0"/>
              <a:t>日间价格动量</a:t>
            </a:r>
            <a:r>
              <a:rPr lang="en-US" altLang="zh-CN" sz="1400" b="1" dirty="0"/>
              <a:t>/</a:t>
            </a:r>
            <a:r>
              <a:rPr lang="zh-CN" altLang="en-US" sz="1400" b="1" dirty="0"/>
              <a:t>反转 </a:t>
            </a:r>
            <a:r>
              <a:rPr lang="en-US" altLang="zh-CN" sz="1400" b="1" dirty="0"/>
              <a:t>Boll</a:t>
            </a:r>
          </a:p>
        </p:txBody>
      </p:sp>
      <p:cxnSp>
        <p:nvCxnSpPr>
          <p:cNvPr id="8" name="直接连接符 7"/>
          <p:cNvCxnSpPr>
            <a:cxnSpLocks/>
          </p:cNvCxnSpPr>
          <p:nvPr/>
        </p:nvCxnSpPr>
        <p:spPr>
          <a:xfrm>
            <a:off x="1288621" y="2714786"/>
            <a:ext cx="451643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内容占位符 11">
            <a:extLst>
              <a:ext uri="{FF2B5EF4-FFF2-40B4-BE49-F238E27FC236}">
                <a16:creationId xmlns:a16="http://schemas.microsoft.com/office/drawing/2014/main" id="{7451B5A2-68DC-E1BF-7A0E-B4DFC730CFF2}"/>
              </a:ext>
            </a:extLst>
          </p:cNvPr>
          <p:cNvSpPr txBox="1">
            <a:spLocks/>
          </p:cNvSpPr>
          <p:nvPr/>
        </p:nvSpPr>
        <p:spPr>
          <a:xfrm>
            <a:off x="7236343" y="2354056"/>
            <a:ext cx="3667037" cy="360000"/>
          </a:xfrm>
          <a:prstGeom prst="rect">
            <a:avLst/>
          </a:prstGeom>
          <a:solidFill>
            <a:srgbClr val="EEEEE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kumimoji="0" lang="zh-CN" altLang="en-US" sz="1400" b="1" i="0" u="none" strike="noStrike" kern="1200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ea typeface="+mn-ea"/>
                <a:cs typeface="Times New Roman" pitchFamily="18" charset="0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b="1" dirty="0">
                <a:latin typeface="+mn-lt"/>
              </a:rPr>
              <a:t>Boll</a:t>
            </a:r>
            <a:r>
              <a:rPr lang="zh-CN" altLang="en-US" sz="1400" b="1" dirty="0">
                <a:latin typeface="+mn-lt"/>
              </a:rPr>
              <a:t>动量</a:t>
            </a:r>
            <a:r>
              <a:rPr lang="zh-CN" altLang="en-US" dirty="0"/>
              <a:t>单指标回测</a:t>
            </a:r>
            <a:endParaRPr lang="zh-CN" altLang="en-US" dirty="0">
              <a:latin typeface="+mn-lt"/>
            </a:endParaRP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23C1E87B-1033-F590-9976-AC15DADC8AEE}"/>
              </a:ext>
            </a:extLst>
          </p:cNvPr>
          <p:cNvSpPr/>
          <p:nvPr/>
        </p:nvSpPr>
        <p:spPr>
          <a:xfrm>
            <a:off x="6769087" y="3041610"/>
            <a:ext cx="4601548" cy="2998972"/>
          </a:xfrm>
          <a:prstGeom prst="roundRect">
            <a:avLst>
              <a:gd name="adj" fmla="val 2450"/>
            </a:avLst>
          </a:prstGeom>
          <a:noFill/>
          <a:ln>
            <a:solidFill>
              <a:srgbClr val="4F81B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1"/>
          </a:p>
        </p:txBody>
      </p:sp>
      <p:cxnSp>
        <p:nvCxnSpPr>
          <p:cNvPr id="21" name="直线连接符 20">
            <a:extLst>
              <a:ext uri="{FF2B5EF4-FFF2-40B4-BE49-F238E27FC236}">
                <a16:creationId xmlns:a16="http://schemas.microsoft.com/office/drawing/2014/main" id="{74906610-748D-08F2-238C-533073367B41}"/>
              </a:ext>
            </a:extLst>
          </p:cNvPr>
          <p:cNvCxnSpPr>
            <a:cxnSpLocks/>
          </p:cNvCxnSpPr>
          <p:nvPr/>
        </p:nvCxnSpPr>
        <p:spPr>
          <a:xfrm>
            <a:off x="9947564" y="3325091"/>
            <a:ext cx="0" cy="2071792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156BDF3D-9218-5DDB-68BC-DB065D1109CA}"/>
              </a:ext>
            </a:extLst>
          </p:cNvPr>
          <p:cNvSpPr txBox="1"/>
          <p:nvPr/>
        </p:nvSpPr>
        <p:spPr>
          <a:xfrm>
            <a:off x="7579350" y="3405255"/>
            <a:ext cx="134568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900" dirty="0">
                <a:latin typeface="+mn-ea"/>
              </a:rPr>
              <a:t>胜率：</a:t>
            </a:r>
            <a:r>
              <a:rPr kumimoji="1" lang="en-US" altLang="zh-CN" sz="900" dirty="0">
                <a:latin typeface="+mn-ea"/>
              </a:rPr>
              <a:t>0.53</a:t>
            </a:r>
          </a:p>
          <a:p>
            <a:r>
              <a:rPr kumimoji="1" lang="zh-CN" altLang="en-US" sz="900" dirty="0">
                <a:latin typeface="+mn-ea"/>
              </a:rPr>
              <a:t>盈亏比：</a:t>
            </a:r>
            <a:r>
              <a:rPr kumimoji="1" lang="en-US" altLang="zh-CN" sz="900" dirty="0">
                <a:latin typeface="+mn-ea"/>
              </a:rPr>
              <a:t>1.37</a:t>
            </a:r>
          </a:p>
          <a:p>
            <a:r>
              <a:rPr kumimoji="1" lang="zh-CN" altLang="en-US" sz="900" dirty="0">
                <a:latin typeface="+mn-ea"/>
              </a:rPr>
              <a:t>年均交易次数：</a:t>
            </a:r>
            <a:r>
              <a:rPr kumimoji="1" lang="en-US" altLang="zh-CN" sz="900" dirty="0">
                <a:latin typeface="+mn-ea"/>
              </a:rPr>
              <a:t>31.48</a:t>
            </a:r>
            <a:endParaRPr kumimoji="1" lang="zh-CN" altLang="en-US" sz="900" dirty="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622E6CA9-CF47-153B-3DEC-D4113F31FC59}"/>
                  </a:ext>
                </a:extLst>
              </p:cNvPr>
              <p:cNvSpPr txBox="1"/>
              <p:nvPr/>
            </p:nvSpPr>
            <p:spPr>
              <a:xfrm>
                <a:off x="2214244" y="2972758"/>
                <a:ext cx="266518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400" i="1" smtClean="0">
                          <a:latin typeface="Cambria Math" panose="02040503050406030204" pitchFamily="18" charset="0"/>
                        </a:rPr>
                        <m:t>上轨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𝑀𝐴</m:t>
                      </m:r>
                      <m:d>
                        <m:d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400" i="1">
                              <a:latin typeface="Cambria Math" panose="02040503050406030204" pitchFamily="18" charset="0"/>
                            </a:rPr>
                            <m:t>close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𝑠𝑡𝑑</m:t>
                      </m:r>
                    </m:oMath>
                  </m:oMathPara>
                </a14:m>
                <a:endParaRPr lang="en-US" altLang="zh-CN" sz="14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400" i="1" dirty="0">
                          <a:latin typeface="Cambria Math" panose="02040503050406030204" pitchFamily="18" charset="0"/>
                        </a:rPr>
                        <m:t>下</m:t>
                      </m:r>
                      <m:r>
                        <a:rPr lang="zh-CN" altLang="en-US" sz="1400" i="1" smtClean="0">
                          <a:latin typeface="Cambria Math" panose="02040503050406030204" pitchFamily="18" charset="0"/>
                        </a:rPr>
                        <m:t>轨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𝑀𝐴</m:t>
                      </m:r>
                      <m:d>
                        <m:d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1400" i="1">
                              <a:latin typeface="Cambria Math" panose="02040503050406030204" pitchFamily="18" charset="0"/>
                            </a:rPr>
                            <m:t>close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𝑠𝑡𝑑</m:t>
                      </m:r>
                    </m:oMath>
                  </m:oMathPara>
                </a14:m>
                <a:endParaRPr lang="en-US" altLang="zh-CN" sz="14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622E6CA9-CF47-153B-3DEC-D4113F31FC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4244" y="2972758"/>
                <a:ext cx="266518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85DFEE7F-63E8-5730-6EE2-8F8197420F14}"/>
              </a:ext>
            </a:extLst>
          </p:cNvPr>
          <p:cNvSpPr txBox="1"/>
          <p:nvPr/>
        </p:nvSpPr>
        <p:spPr>
          <a:xfrm>
            <a:off x="6769087" y="6186941"/>
            <a:ext cx="47086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资料来源：</a:t>
            </a:r>
            <a:r>
              <a:rPr lang="en-US" altLang="zh-CN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</a:t>
            </a:r>
            <a:endParaRPr lang="zh-CN" altLang="en-US" sz="8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标题 11">
            <a:extLst>
              <a:ext uri="{FF2B5EF4-FFF2-40B4-BE49-F238E27FC236}">
                <a16:creationId xmlns:a16="http://schemas.microsoft.com/office/drawing/2014/main" id="{3AC73AE9-1584-4977-A053-24F524FEF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j-cs"/>
              </a:rPr>
              <a:t>2.1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j-cs"/>
              </a:rPr>
              <a:t> 短期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j-cs"/>
              </a:rPr>
              <a:t>-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j-cs"/>
              </a:rPr>
              <a:t>动量反转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j-cs"/>
              </a:rPr>
              <a:t>抓住短期趋势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j-cs"/>
              </a:rPr>
              <a:t>/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j-cs"/>
              </a:rPr>
              <a:t>转折带来的投资机遇</a:t>
            </a:r>
            <a:endParaRPr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B01CC22-BCB1-41A8-F754-C2BD55AE40F9}"/>
              </a:ext>
            </a:extLst>
          </p:cNvPr>
          <p:cNvSpPr/>
          <p:nvPr/>
        </p:nvSpPr>
        <p:spPr>
          <a:xfrm>
            <a:off x="968672" y="1261869"/>
            <a:ext cx="9934707" cy="783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收益率有延续原来的运动方向的趋势，归因为投资者对市场信息反应不足、知情交易者的过度自信与有偏的自我归因、投资者获取信息的先后有别。收益的反转与均值回复，常由投资者反应过度导致。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A1F65F5-ADE6-0809-665B-3E5863EE108C}"/>
              </a:ext>
            </a:extLst>
          </p:cNvPr>
          <p:cNvSpPr/>
          <p:nvPr/>
        </p:nvSpPr>
        <p:spPr>
          <a:xfrm>
            <a:off x="968674" y="3636088"/>
            <a:ext cx="4836382" cy="35540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含义：上轨和下轨是价格的压力线和支撑线，股价对</a:t>
            </a:r>
            <a:r>
              <a:rPr lang="zh-CN" altLang="en-US" sz="1400" b="1" dirty="0">
                <a:solidFill>
                  <a:srgbClr val="F796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小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价格中枢范围的突破代表着</a:t>
            </a:r>
            <a:r>
              <a:rPr lang="zh-CN" altLang="en-US" sz="1400" b="1" dirty="0">
                <a:solidFill>
                  <a:srgbClr val="F796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趋势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的形成，对</a:t>
            </a:r>
            <a:r>
              <a:rPr lang="zh-CN" altLang="en-US" sz="1400" b="1" dirty="0">
                <a:solidFill>
                  <a:srgbClr val="F796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大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价格中枢范围的突破代表着</a:t>
            </a:r>
            <a:r>
              <a:rPr lang="zh-CN" altLang="en-US" sz="1400" b="1" dirty="0">
                <a:solidFill>
                  <a:srgbClr val="F796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反转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可能性的提升。</a:t>
            </a:r>
            <a:endParaRPr lang="en-US" altLang="zh-CN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动量信号：最新价超过布林带上轨做多，跌破下轨做空。</a:t>
            </a:r>
            <a:endParaRPr lang="en-US" altLang="zh-CN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反转信号：多空相反。</a:t>
            </a:r>
            <a:endParaRPr lang="en-US" altLang="zh-CN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优势：最简单实用的突破规则，股价通道会随着股价的变化而自动调整。</a:t>
            </a: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endParaRPr lang="zh-CN" altLang="en-US" sz="13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endParaRPr lang="zh-CN" altLang="en-US" sz="13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878732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73961F0-1524-0AF3-6814-7157DA540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8249" y="3154337"/>
            <a:ext cx="4287803" cy="2858535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288620" y="2333786"/>
            <a:ext cx="4516436" cy="33528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/>
              <a:t>4.</a:t>
            </a:r>
            <a:r>
              <a:rPr lang="zh-CN" altLang="en-US" sz="1400" b="1" dirty="0"/>
              <a:t>日间成交量动量</a:t>
            </a:r>
            <a:r>
              <a:rPr lang="en-US" altLang="zh-CN" sz="1400" b="1" dirty="0"/>
              <a:t>/</a:t>
            </a:r>
            <a:r>
              <a:rPr lang="zh-CN" altLang="en-US" sz="1400" b="1" dirty="0"/>
              <a:t>反转 </a:t>
            </a:r>
            <a:r>
              <a:rPr lang="en-US" altLang="zh-CN" sz="1400" b="1" dirty="0" err="1"/>
              <a:t>Chaikin</a:t>
            </a:r>
            <a:endParaRPr lang="en-US" altLang="zh-CN" sz="1400" b="1" dirty="0"/>
          </a:p>
        </p:txBody>
      </p:sp>
      <p:cxnSp>
        <p:nvCxnSpPr>
          <p:cNvPr id="8" name="直接连接符 7"/>
          <p:cNvCxnSpPr>
            <a:cxnSpLocks/>
          </p:cNvCxnSpPr>
          <p:nvPr/>
        </p:nvCxnSpPr>
        <p:spPr>
          <a:xfrm>
            <a:off x="1288621" y="2714786"/>
            <a:ext cx="451643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968674" y="3766720"/>
            <a:ext cx="4836382" cy="35309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含义：价格和数量被重塑为累积分配线。进入正区域表明累积分配线正在上升并且购买压力普遍存在。进入负值区域表明累积分配线正在下降并且抛售压力占上风。</a:t>
            </a:r>
            <a:endParaRPr lang="en-US" altLang="zh-CN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动量信号：短均线上穿长均线时看多，反之看空。</a:t>
            </a:r>
            <a:endParaRPr lang="en-US" altLang="zh-CN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反转信号：多空相反。</a:t>
            </a:r>
            <a:endParaRPr lang="en-US" altLang="zh-CN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优势：更有效衡量买卖压力背后的动量。把握短期反转。</a:t>
            </a: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endParaRPr lang="zh-CN" altLang="en-US" sz="13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endParaRPr lang="zh-CN" altLang="en-US" sz="13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endParaRPr lang="zh-CN" altLang="en-US" sz="13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内容占位符 11">
            <a:extLst>
              <a:ext uri="{FF2B5EF4-FFF2-40B4-BE49-F238E27FC236}">
                <a16:creationId xmlns:a16="http://schemas.microsoft.com/office/drawing/2014/main" id="{7451B5A2-68DC-E1BF-7A0E-B4DFC730CFF2}"/>
              </a:ext>
            </a:extLst>
          </p:cNvPr>
          <p:cNvSpPr txBox="1">
            <a:spLocks/>
          </p:cNvSpPr>
          <p:nvPr/>
        </p:nvSpPr>
        <p:spPr>
          <a:xfrm>
            <a:off x="7236343" y="2354056"/>
            <a:ext cx="3667037" cy="360000"/>
          </a:xfrm>
          <a:prstGeom prst="rect">
            <a:avLst/>
          </a:prstGeom>
          <a:solidFill>
            <a:srgbClr val="EEEEE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kumimoji="0" lang="zh-CN" altLang="en-US" sz="1400" b="1" i="0" u="none" strike="noStrike" kern="1200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ea typeface="+mn-ea"/>
                <a:cs typeface="Times New Roman" pitchFamily="18" charset="0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 err="1">
                <a:latin typeface="+mn-lt"/>
              </a:rPr>
              <a:t>Chaikin</a:t>
            </a:r>
            <a:r>
              <a:rPr lang="zh-CN" altLang="en-US" dirty="0">
                <a:latin typeface="+mn-lt"/>
              </a:rPr>
              <a:t>反转</a:t>
            </a:r>
            <a:r>
              <a:rPr lang="zh-CN" altLang="en-US" dirty="0"/>
              <a:t>单指标回测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23C1E87B-1033-F590-9976-AC15DADC8AEE}"/>
              </a:ext>
            </a:extLst>
          </p:cNvPr>
          <p:cNvSpPr/>
          <p:nvPr/>
        </p:nvSpPr>
        <p:spPr>
          <a:xfrm>
            <a:off x="6769087" y="3041610"/>
            <a:ext cx="4601548" cy="2998972"/>
          </a:xfrm>
          <a:prstGeom prst="roundRect">
            <a:avLst>
              <a:gd name="adj" fmla="val 2450"/>
            </a:avLst>
          </a:prstGeom>
          <a:noFill/>
          <a:ln>
            <a:solidFill>
              <a:srgbClr val="4F81B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1"/>
          </a:p>
        </p:txBody>
      </p:sp>
      <p:cxnSp>
        <p:nvCxnSpPr>
          <p:cNvPr id="21" name="直线连接符 20">
            <a:extLst>
              <a:ext uri="{FF2B5EF4-FFF2-40B4-BE49-F238E27FC236}">
                <a16:creationId xmlns:a16="http://schemas.microsoft.com/office/drawing/2014/main" id="{74906610-748D-08F2-238C-533073367B41}"/>
              </a:ext>
            </a:extLst>
          </p:cNvPr>
          <p:cNvCxnSpPr>
            <a:cxnSpLocks/>
          </p:cNvCxnSpPr>
          <p:nvPr/>
        </p:nvCxnSpPr>
        <p:spPr>
          <a:xfrm>
            <a:off x="9947564" y="3325091"/>
            <a:ext cx="0" cy="2071792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69A45EF-866A-1E44-1BF0-E69F6E13D714}"/>
                  </a:ext>
                </a:extLst>
              </p:cNvPr>
              <p:cNvSpPr txBox="1"/>
              <p:nvPr/>
            </p:nvSpPr>
            <p:spPr>
              <a:xfrm>
                <a:off x="1188737" y="2895177"/>
                <a:ext cx="4396256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400" i="1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𝑐𝑙𝑜𝑠𝑒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𝑙𝑜𝑤</m:t>
                          </m:r>
                        </m:e>
                      </m:d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−(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h𝑖𝑔h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𝑐𝑙𝑜𝑠𝑒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)]/(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h𝑖𝑔h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𝑙𝑜𝑤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14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zh-CN" altLang="en-US" sz="1400" i="1" smtClean="0">
                        <a:latin typeface="Cambria Math" panose="02040503050406030204" pitchFamily="18" charset="0"/>
                      </a:rPr>
                      <m:t>资金</m:t>
                    </m:r>
                    <m:r>
                      <a:rPr lang="zh-CN" altLang="en-US" sz="1400" i="1">
                        <a:latin typeface="Cambria Math" panose="02040503050406030204" pitchFamily="18" charset="0"/>
                      </a:rPr>
                      <m:t>流量</m:t>
                    </m:r>
                  </m:oMath>
                </a14:m>
                <a:r>
                  <a:rPr lang="en-US" altLang="zh-CN" sz="1400" b="0" i="1" dirty="0">
                    <a:latin typeface="Cambria Math" panose="020405030504060302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altLang="zh-CN" sz="1400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zh-CN" altLang="en-US" sz="1400" b="0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sz="1400" i="1" dirty="0">
                        <a:latin typeface="Cambria Math" panose="02040503050406030204" pitchFamily="18" charset="0"/>
                      </a:rPr>
                      <m:t>𝑣𝑜𝑙𝑢𝑚𝑒</m:t>
                    </m:r>
                  </m:oMath>
                </a14:m>
                <a:endParaRPr lang="en-US" altLang="zh-CN" sz="14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>
                          <a:latin typeface="Cambria Math" panose="02040503050406030204" pitchFamily="18" charset="0"/>
                        </a:rPr>
                        <m:t>𝐴𝐷𝐿</m:t>
                      </m:r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400" i="1" dirty="0">
                          <a:latin typeface="Cambria Math" panose="02040503050406030204" pitchFamily="18" charset="0"/>
                        </a:rPr>
                        <m:t>上期</m:t>
                      </m:r>
                      <m:r>
                        <a:rPr lang="en-US" altLang="zh-CN" sz="1400" i="1" dirty="0" smtClean="0">
                          <a:latin typeface="Cambria Math" panose="02040503050406030204" pitchFamily="18" charset="0"/>
                        </a:rPr>
                        <m:t>𝐴𝐷𝐿</m:t>
                      </m:r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1400" i="1" dirty="0">
                          <a:latin typeface="Cambria Math" panose="02040503050406030204" pitchFamily="18" charset="0"/>
                        </a:rPr>
                        <m:t>本期</m:t>
                      </m:r>
                      <m:r>
                        <a:rPr lang="zh-CN" altLang="en-US" sz="1400" i="1" dirty="0" smtClean="0">
                          <a:latin typeface="Cambria Math" panose="02040503050406030204" pitchFamily="18" charset="0"/>
                        </a:rPr>
                        <m:t>资金流量</m:t>
                      </m:r>
                    </m:oMath>
                  </m:oMathPara>
                </a14:m>
                <a:endParaRPr lang="en-US" altLang="zh-CN" sz="1400" b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69A45EF-866A-1E44-1BF0-E69F6E13D7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737" y="2895177"/>
                <a:ext cx="4396256" cy="738664"/>
              </a:xfrm>
              <a:prstGeom prst="rect">
                <a:avLst/>
              </a:prstGeom>
              <a:blipFill>
                <a:blip r:embed="rId4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D0577316-92F0-C3CD-80B2-92FD39E08DA9}"/>
              </a:ext>
            </a:extLst>
          </p:cNvPr>
          <p:cNvSpPr txBox="1"/>
          <p:nvPr/>
        </p:nvSpPr>
        <p:spPr>
          <a:xfrm>
            <a:off x="7508691" y="3429000"/>
            <a:ext cx="134568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900" dirty="0">
                <a:latin typeface="+mn-ea"/>
              </a:rPr>
              <a:t>胜率：</a:t>
            </a:r>
            <a:r>
              <a:rPr kumimoji="1" lang="en-US" altLang="zh-CN" sz="900" dirty="0">
                <a:latin typeface="+mn-ea"/>
              </a:rPr>
              <a:t>0.64</a:t>
            </a:r>
          </a:p>
          <a:p>
            <a:r>
              <a:rPr kumimoji="1" lang="zh-CN" altLang="en-US" sz="900" dirty="0">
                <a:latin typeface="+mn-ea"/>
              </a:rPr>
              <a:t>盈亏比：</a:t>
            </a:r>
            <a:r>
              <a:rPr kumimoji="1" lang="en-US" altLang="zh-CN" sz="900" dirty="0">
                <a:latin typeface="+mn-ea"/>
              </a:rPr>
              <a:t>1.07</a:t>
            </a:r>
          </a:p>
          <a:p>
            <a:r>
              <a:rPr kumimoji="1" lang="zh-CN" altLang="en-US" sz="900" dirty="0">
                <a:latin typeface="+mn-ea"/>
              </a:rPr>
              <a:t>年均交易次数：</a:t>
            </a:r>
            <a:r>
              <a:rPr kumimoji="1" lang="en-US" altLang="zh-CN" sz="900" dirty="0">
                <a:latin typeface="+mn-ea"/>
              </a:rPr>
              <a:t>23.78</a:t>
            </a:r>
            <a:endParaRPr kumimoji="1" lang="zh-CN" altLang="en-US" sz="900" dirty="0">
              <a:latin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3D0DA45-77B1-345D-047B-2D78EF405725}"/>
              </a:ext>
            </a:extLst>
          </p:cNvPr>
          <p:cNvSpPr txBox="1"/>
          <p:nvPr/>
        </p:nvSpPr>
        <p:spPr>
          <a:xfrm>
            <a:off x="6769087" y="6186941"/>
            <a:ext cx="47086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资料来源：</a:t>
            </a:r>
            <a:r>
              <a:rPr lang="en-US" altLang="zh-CN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</a:t>
            </a:r>
            <a:endParaRPr lang="zh-CN" altLang="en-US" sz="8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858FFDD-B3D2-2A28-7018-A45C3955F524}"/>
              </a:ext>
            </a:extLst>
          </p:cNvPr>
          <p:cNvSpPr txBox="1"/>
          <p:nvPr/>
        </p:nvSpPr>
        <p:spPr>
          <a:xfrm>
            <a:off x="60415" y="6607093"/>
            <a:ext cx="493115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" sz="800" b="0" i="0" dirty="0">
                <a:solidFill>
                  <a:srgbClr val="222222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资料来源</a:t>
            </a:r>
            <a:r>
              <a:rPr lang="zh-CN" altLang="en-US" sz="800" b="0" i="0" dirty="0">
                <a:solidFill>
                  <a:srgbClr val="222222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" altLang="zh-CN" sz="8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Thomsett</a:t>
            </a:r>
            <a:r>
              <a:rPr lang="en" altLang="zh-CN" sz="8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 C. CMF--</a:t>
            </a:r>
            <a:r>
              <a:rPr lang="en" altLang="zh-CN" sz="8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Chaikin</a:t>
            </a:r>
            <a:r>
              <a:rPr lang="en" altLang="zh-CN" sz="8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Money Flow: Changes Anticipating Price Reversal[M]. FT Press, 2010.</a:t>
            </a:r>
            <a:endParaRPr kumimoji="1" lang="zh-CN" alt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标题 11">
            <a:extLst>
              <a:ext uri="{FF2B5EF4-FFF2-40B4-BE49-F238E27FC236}">
                <a16:creationId xmlns:a16="http://schemas.microsoft.com/office/drawing/2014/main" id="{69D97A91-8D7A-5180-A3B6-A85AA228B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j-cs"/>
              </a:rPr>
              <a:t>2.1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j-cs"/>
              </a:rPr>
              <a:t> 短期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j-cs"/>
              </a:rPr>
              <a:t>-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j-cs"/>
              </a:rPr>
              <a:t>动量反转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j-cs"/>
              </a:rPr>
              <a:t>抓住短期趋势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j-cs"/>
              </a:rPr>
              <a:t>/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j-cs"/>
              </a:rPr>
              <a:t>转折带来的投资机遇</a:t>
            </a:r>
            <a:endParaRPr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874C017-ABB7-B57F-4F5B-FEBF3FF662DE}"/>
              </a:ext>
            </a:extLst>
          </p:cNvPr>
          <p:cNvSpPr/>
          <p:nvPr/>
        </p:nvSpPr>
        <p:spPr>
          <a:xfrm>
            <a:off x="968672" y="1261869"/>
            <a:ext cx="9934707" cy="783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收益率有延续原来的运动方向的趋势，归因为投资者对市场信息反应不足、知情交易者的过度自信与有偏的自我归因、投资者获取信息的先后有别。收益的反转与均值回复，常由投资者反应过度导致。</a:t>
            </a:r>
          </a:p>
        </p:txBody>
      </p:sp>
    </p:spTree>
    <p:extLst>
      <p:ext uri="{BB962C8B-B14F-4D97-AF65-F5344CB8AC3E}">
        <p14:creationId xmlns:p14="http://schemas.microsoft.com/office/powerpoint/2010/main" val="9473275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841098A9-0550-3F56-A617-0B95109D5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278" y="3050199"/>
            <a:ext cx="5002676" cy="3318027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968672" y="1176141"/>
            <a:ext cx="9874509" cy="783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以等权相加的方法合并四种动量</a:t>
            </a:r>
            <a:r>
              <a:rPr lang="en-US" altLang="zh-CN" sz="1600" dirty="0">
                <a:solidFill>
                  <a:srgbClr val="000000"/>
                </a:solidFill>
              </a:rPr>
              <a:t>/</a:t>
            </a:r>
            <a:r>
              <a:rPr lang="zh-CN" altLang="en-US" sz="1600" dirty="0">
                <a:solidFill>
                  <a:srgbClr val="000000"/>
                </a:solidFill>
              </a:rPr>
              <a:t>反转指标，在触发至少</a:t>
            </a:r>
            <a:r>
              <a:rPr lang="en-US" altLang="zh-CN" sz="1600" dirty="0">
                <a:solidFill>
                  <a:srgbClr val="000000"/>
                </a:solidFill>
              </a:rPr>
              <a:t>3</a:t>
            </a:r>
            <a:r>
              <a:rPr lang="zh-CN" altLang="en-US" sz="1600" dirty="0">
                <a:solidFill>
                  <a:srgbClr val="000000"/>
                </a:solidFill>
              </a:rPr>
              <a:t>种信号时看多，反之看空。目的是寻求</a:t>
            </a:r>
            <a:r>
              <a:rPr lang="zh-CN" altLang="en-US" sz="1600" dirty="0">
                <a:solidFill>
                  <a:srgbClr val="F79646"/>
                </a:solidFill>
              </a:rPr>
              <a:t>日内和日间动量</a:t>
            </a:r>
            <a:r>
              <a:rPr lang="en-US" altLang="zh-CN" sz="1600" dirty="0">
                <a:solidFill>
                  <a:srgbClr val="F79646"/>
                </a:solidFill>
              </a:rPr>
              <a:t>/</a:t>
            </a:r>
            <a:r>
              <a:rPr lang="zh-CN" altLang="en-US" sz="1600" dirty="0">
                <a:solidFill>
                  <a:srgbClr val="F79646"/>
                </a:solidFill>
              </a:rPr>
              <a:t>反转的共振</a:t>
            </a:r>
            <a:r>
              <a:rPr lang="zh-CN" altLang="en-US" sz="1600" dirty="0">
                <a:solidFill>
                  <a:srgbClr val="000000"/>
                </a:solidFill>
              </a:rPr>
              <a:t>，同时降低短周期单指标带来的虚假信号风险。本质是捕捉</a:t>
            </a:r>
            <a:r>
              <a:rPr lang="zh-CN" altLang="en-US" sz="1600" dirty="0">
                <a:solidFill>
                  <a:srgbClr val="F79646"/>
                </a:solidFill>
              </a:rPr>
              <a:t>顺畅的动量和有苗头的反转</a:t>
            </a:r>
            <a:r>
              <a:rPr lang="zh-CN" altLang="en-US" sz="1600" dirty="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17" name="内容占位符 11">
            <a:extLst>
              <a:ext uri="{FF2B5EF4-FFF2-40B4-BE49-F238E27FC236}">
                <a16:creationId xmlns:a16="http://schemas.microsoft.com/office/drawing/2014/main" id="{7451B5A2-68DC-E1BF-7A0E-B4DFC730CFF2}"/>
              </a:ext>
            </a:extLst>
          </p:cNvPr>
          <p:cNvSpPr txBox="1">
            <a:spLocks/>
          </p:cNvSpPr>
          <p:nvPr/>
        </p:nvSpPr>
        <p:spPr>
          <a:xfrm>
            <a:off x="1749940" y="2232734"/>
            <a:ext cx="3667037" cy="360000"/>
          </a:xfrm>
          <a:prstGeom prst="rect">
            <a:avLst/>
          </a:prstGeom>
          <a:solidFill>
            <a:srgbClr val="EEEEE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kumimoji="0" lang="zh-CN" altLang="en-US" sz="1400" b="1" i="0" u="none" strike="noStrike" kern="1200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ea typeface="+mn-ea"/>
                <a:cs typeface="Times New Roman" pitchFamily="18" charset="0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/>
              <a:t>4</a:t>
            </a:r>
            <a:r>
              <a:rPr lang="zh-CN" altLang="en-US" dirty="0"/>
              <a:t>动量反转指标合并回测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23C1E87B-1033-F590-9976-AC15DADC8AEE}"/>
              </a:ext>
            </a:extLst>
          </p:cNvPr>
          <p:cNvSpPr/>
          <p:nvPr/>
        </p:nvSpPr>
        <p:spPr>
          <a:xfrm>
            <a:off x="968672" y="2932840"/>
            <a:ext cx="5127327" cy="3423511"/>
          </a:xfrm>
          <a:prstGeom prst="roundRect">
            <a:avLst>
              <a:gd name="adj" fmla="val 2450"/>
            </a:avLst>
          </a:prstGeom>
          <a:noFill/>
          <a:ln>
            <a:solidFill>
              <a:srgbClr val="4F81B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1"/>
          </a:p>
        </p:txBody>
      </p:sp>
      <p:cxnSp>
        <p:nvCxnSpPr>
          <p:cNvPr id="21" name="直线连接符 20">
            <a:extLst>
              <a:ext uri="{FF2B5EF4-FFF2-40B4-BE49-F238E27FC236}">
                <a16:creationId xmlns:a16="http://schemas.microsoft.com/office/drawing/2014/main" id="{74906610-748D-08F2-238C-533073367B41}"/>
              </a:ext>
            </a:extLst>
          </p:cNvPr>
          <p:cNvCxnSpPr>
            <a:cxnSpLocks/>
          </p:cNvCxnSpPr>
          <p:nvPr/>
        </p:nvCxnSpPr>
        <p:spPr>
          <a:xfrm>
            <a:off x="4573681" y="3241964"/>
            <a:ext cx="0" cy="2438527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下箭头 19">
            <a:extLst>
              <a:ext uri="{FF2B5EF4-FFF2-40B4-BE49-F238E27FC236}">
                <a16:creationId xmlns:a16="http://schemas.microsoft.com/office/drawing/2014/main" id="{5AA2674F-67FF-793F-F830-5F7369712735}"/>
              </a:ext>
            </a:extLst>
          </p:cNvPr>
          <p:cNvSpPr/>
          <p:nvPr/>
        </p:nvSpPr>
        <p:spPr>
          <a:xfrm>
            <a:off x="9086038" y="3876656"/>
            <a:ext cx="309732" cy="293562"/>
          </a:xfrm>
          <a:prstGeom prst="downArrow">
            <a:avLst/>
          </a:prstGeom>
          <a:solidFill>
            <a:srgbClr val="4F8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3" name="Freeform 55">
            <a:extLst>
              <a:ext uri="{FF2B5EF4-FFF2-40B4-BE49-F238E27FC236}">
                <a16:creationId xmlns:a16="http://schemas.microsoft.com/office/drawing/2014/main" id="{AF70E06A-DB11-42EC-34CC-57028C3FCB5A}"/>
              </a:ext>
            </a:extLst>
          </p:cNvPr>
          <p:cNvSpPr/>
          <p:nvPr/>
        </p:nvSpPr>
        <p:spPr>
          <a:xfrm>
            <a:off x="7230734" y="2037840"/>
            <a:ext cx="1759202" cy="783163"/>
          </a:xfrm>
          <a:custGeom>
            <a:avLst/>
            <a:gdLst>
              <a:gd name="connsiteX0" fmla="*/ 0 w 1127550"/>
              <a:gd name="connsiteY0" fmla="*/ 75170 h 751700"/>
              <a:gd name="connsiteX1" fmla="*/ 22017 w 1127550"/>
              <a:gd name="connsiteY1" fmla="*/ 22017 h 751700"/>
              <a:gd name="connsiteX2" fmla="*/ 75170 w 1127550"/>
              <a:gd name="connsiteY2" fmla="*/ 0 h 751700"/>
              <a:gd name="connsiteX3" fmla="*/ 1052380 w 1127550"/>
              <a:gd name="connsiteY3" fmla="*/ 0 h 751700"/>
              <a:gd name="connsiteX4" fmla="*/ 1105533 w 1127550"/>
              <a:gd name="connsiteY4" fmla="*/ 22017 h 751700"/>
              <a:gd name="connsiteX5" fmla="*/ 1127550 w 1127550"/>
              <a:gd name="connsiteY5" fmla="*/ 75170 h 751700"/>
              <a:gd name="connsiteX6" fmla="*/ 1127550 w 1127550"/>
              <a:gd name="connsiteY6" fmla="*/ 676530 h 751700"/>
              <a:gd name="connsiteX7" fmla="*/ 1105533 w 1127550"/>
              <a:gd name="connsiteY7" fmla="*/ 729683 h 751700"/>
              <a:gd name="connsiteX8" fmla="*/ 1052380 w 1127550"/>
              <a:gd name="connsiteY8" fmla="*/ 751700 h 751700"/>
              <a:gd name="connsiteX9" fmla="*/ 75170 w 1127550"/>
              <a:gd name="connsiteY9" fmla="*/ 751700 h 751700"/>
              <a:gd name="connsiteX10" fmla="*/ 22017 w 1127550"/>
              <a:gd name="connsiteY10" fmla="*/ 729683 h 751700"/>
              <a:gd name="connsiteX11" fmla="*/ 0 w 1127550"/>
              <a:gd name="connsiteY11" fmla="*/ 676530 h 751700"/>
              <a:gd name="connsiteX12" fmla="*/ 0 w 1127550"/>
              <a:gd name="connsiteY12" fmla="*/ 75170 h 75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27550" h="751700">
                <a:moveTo>
                  <a:pt x="0" y="75170"/>
                </a:moveTo>
                <a:cubicBezTo>
                  <a:pt x="0" y="55234"/>
                  <a:pt x="7920" y="36114"/>
                  <a:pt x="22017" y="22017"/>
                </a:cubicBezTo>
                <a:cubicBezTo>
                  <a:pt x="36114" y="7920"/>
                  <a:pt x="55234" y="0"/>
                  <a:pt x="75170" y="0"/>
                </a:cubicBezTo>
                <a:lnTo>
                  <a:pt x="1052380" y="0"/>
                </a:lnTo>
                <a:cubicBezTo>
                  <a:pt x="1072316" y="0"/>
                  <a:pt x="1091436" y="7920"/>
                  <a:pt x="1105533" y="22017"/>
                </a:cubicBezTo>
                <a:cubicBezTo>
                  <a:pt x="1119630" y="36114"/>
                  <a:pt x="1127550" y="55234"/>
                  <a:pt x="1127550" y="75170"/>
                </a:cubicBezTo>
                <a:lnTo>
                  <a:pt x="1127550" y="676530"/>
                </a:lnTo>
                <a:cubicBezTo>
                  <a:pt x="1127550" y="696466"/>
                  <a:pt x="1119630" y="715586"/>
                  <a:pt x="1105533" y="729683"/>
                </a:cubicBezTo>
                <a:cubicBezTo>
                  <a:pt x="1091436" y="743780"/>
                  <a:pt x="1072316" y="751700"/>
                  <a:pt x="1052380" y="751700"/>
                </a:cubicBezTo>
                <a:lnTo>
                  <a:pt x="75170" y="751700"/>
                </a:lnTo>
                <a:cubicBezTo>
                  <a:pt x="55234" y="751700"/>
                  <a:pt x="36114" y="743780"/>
                  <a:pt x="22017" y="729683"/>
                </a:cubicBezTo>
                <a:cubicBezTo>
                  <a:pt x="7920" y="715586"/>
                  <a:pt x="0" y="696466"/>
                  <a:pt x="0" y="676530"/>
                </a:cubicBezTo>
                <a:lnTo>
                  <a:pt x="0" y="7517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25400" cap="flat" cmpd="sng" algn="ctr">
            <a:solidFill>
              <a:sysClr val="window" lastClr="FFFFFF">
                <a:hueOff val="0"/>
                <a:satOff val="0"/>
                <a:lumOff val="0"/>
                <a:alphaOff val="0"/>
              </a:sysClr>
            </a:solidFill>
            <a:prstDash val="solid"/>
          </a:ln>
          <a:effectLst/>
        </p:spPr>
        <p:txBody>
          <a:bodyPr spcFirstLastPara="0" vert="horz" wrap="square" lIns="132507" tIns="132507" rIns="132507" bIns="132507" numCol="1" spcCol="1270" anchor="ctr" anchorCtr="0">
            <a:noAutofit/>
          </a:bodyPr>
          <a:lstStyle/>
          <a:p>
            <a:pPr algn="ctr" defTabSz="1289018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zh-CN" altLang="en-US" sz="1100" kern="0" dirty="0">
                <a:solidFill>
                  <a:schemeClr val="bg1"/>
                </a:solidFill>
                <a:latin typeface="+mn-ea"/>
              </a:rPr>
              <a:t>胜率：</a:t>
            </a:r>
            <a:r>
              <a:rPr lang="en-US" altLang="zh-CN" sz="1100" kern="0" dirty="0">
                <a:solidFill>
                  <a:schemeClr val="bg1"/>
                </a:solidFill>
                <a:latin typeface="+mn-ea"/>
              </a:rPr>
              <a:t>0.56</a:t>
            </a:r>
          </a:p>
          <a:p>
            <a:pPr algn="ctr" defTabSz="1289018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zh-CN" altLang="en-US" sz="1100" kern="0" dirty="0">
                <a:solidFill>
                  <a:schemeClr val="bg1"/>
                </a:solidFill>
                <a:latin typeface="+mn-ea"/>
              </a:rPr>
              <a:t>盈亏比：</a:t>
            </a:r>
            <a:r>
              <a:rPr lang="en-US" altLang="zh-CN" sz="1100" kern="0" dirty="0">
                <a:solidFill>
                  <a:schemeClr val="bg1"/>
                </a:solidFill>
                <a:latin typeface="+mn-ea"/>
              </a:rPr>
              <a:t>1.99</a:t>
            </a:r>
          </a:p>
          <a:p>
            <a:pPr algn="ctr" defTabSz="1289018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zh-CN" altLang="en-US" sz="1100" kern="0" dirty="0">
                <a:solidFill>
                  <a:schemeClr val="bg1"/>
                </a:solidFill>
                <a:latin typeface="+mn-ea"/>
              </a:rPr>
              <a:t>年均交易次数：</a:t>
            </a:r>
            <a:r>
              <a:rPr lang="en-US" altLang="zh-CN" sz="1100" kern="0" dirty="0">
                <a:solidFill>
                  <a:schemeClr val="bg1"/>
                </a:solidFill>
                <a:latin typeface="+mn-ea"/>
              </a:rPr>
              <a:t>11.29</a:t>
            </a:r>
          </a:p>
        </p:txBody>
      </p:sp>
      <p:sp>
        <p:nvSpPr>
          <p:cNvPr id="24" name="Freeform 55">
            <a:extLst>
              <a:ext uri="{FF2B5EF4-FFF2-40B4-BE49-F238E27FC236}">
                <a16:creationId xmlns:a16="http://schemas.microsoft.com/office/drawing/2014/main" id="{EFCCB05E-26F4-5E6E-4D55-7B96A56F1C8C}"/>
              </a:ext>
            </a:extLst>
          </p:cNvPr>
          <p:cNvSpPr/>
          <p:nvPr/>
        </p:nvSpPr>
        <p:spPr>
          <a:xfrm>
            <a:off x="9395770" y="2045032"/>
            <a:ext cx="1759202" cy="775972"/>
          </a:xfrm>
          <a:custGeom>
            <a:avLst/>
            <a:gdLst>
              <a:gd name="connsiteX0" fmla="*/ 0 w 1127550"/>
              <a:gd name="connsiteY0" fmla="*/ 75170 h 751700"/>
              <a:gd name="connsiteX1" fmla="*/ 22017 w 1127550"/>
              <a:gd name="connsiteY1" fmla="*/ 22017 h 751700"/>
              <a:gd name="connsiteX2" fmla="*/ 75170 w 1127550"/>
              <a:gd name="connsiteY2" fmla="*/ 0 h 751700"/>
              <a:gd name="connsiteX3" fmla="*/ 1052380 w 1127550"/>
              <a:gd name="connsiteY3" fmla="*/ 0 h 751700"/>
              <a:gd name="connsiteX4" fmla="*/ 1105533 w 1127550"/>
              <a:gd name="connsiteY4" fmla="*/ 22017 h 751700"/>
              <a:gd name="connsiteX5" fmla="*/ 1127550 w 1127550"/>
              <a:gd name="connsiteY5" fmla="*/ 75170 h 751700"/>
              <a:gd name="connsiteX6" fmla="*/ 1127550 w 1127550"/>
              <a:gd name="connsiteY6" fmla="*/ 676530 h 751700"/>
              <a:gd name="connsiteX7" fmla="*/ 1105533 w 1127550"/>
              <a:gd name="connsiteY7" fmla="*/ 729683 h 751700"/>
              <a:gd name="connsiteX8" fmla="*/ 1052380 w 1127550"/>
              <a:gd name="connsiteY8" fmla="*/ 751700 h 751700"/>
              <a:gd name="connsiteX9" fmla="*/ 75170 w 1127550"/>
              <a:gd name="connsiteY9" fmla="*/ 751700 h 751700"/>
              <a:gd name="connsiteX10" fmla="*/ 22017 w 1127550"/>
              <a:gd name="connsiteY10" fmla="*/ 729683 h 751700"/>
              <a:gd name="connsiteX11" fmla="*/ 0 w 1127550"/>
              <a:gd name="connsiteY11" fmla="*/ 676530 h 751700"/>
              <a:gd name="connsiteX12" fmla="*/ 0 w 1127550"/>
              <a:gd name="connsiteY12" fmla="*/ 75170 h 75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27550" h="751700">
                <a:moveTo>
                  <a:pt x="0" y="75170"/>
                </a:moveTo>
                <a:cubicBezTo>
                  <a:pt x="0" y="55234"/>
                  <a:pt x="7920" y="36114"/>
                  <a:pt x="22017" y="22017"/>
                </a:cubicBezTo>
                <a:cubicBezTo>
                  <a:pt x="36114" y="7920"/>
                  <a:pt x="55234" y="0"/>
                  <a:pt x="75170" y="0"/>
                </a:cubicBezTo>
                <a:lnTo>
                  <a:pt x="1052380" y="0"/>
                </a:lnTo>
                <a:cubicBezTo>
                  <a:pt x="1072316" y="0"/>
                  <a:pt x="1091436" y="7920"/>
                  <a:pt x="1105533" y="22017"/>
                </a:cubicBezTo>
                <a:cubicBezTo>
                  <a:pt x="1119630" y="36114"/>
                  <a:pt x="1127550" y="55234"/>
                  <a:pt x="1127550" y="75170"/>
                </a:cubicBezTo>
                <a:lnTo>
                  <a:pt x="1127550" y="676530"/>
                </a:lnTo>
                <a:cubicBezTo>
                  <a:pt x="1127550" y="696466"/>
                  <a:pt x="1119630" y="715586"/>
                  <a:pt x="1105533" y="729683"/>
                </a:cubicBezTo>
                <a:cubicBezTo>
                  <a:pt x="1091436" y="743780"/>
                  <a:pt x="1072316" y="751700"/>
                  <a:pt x="1052380" y="751700"/>
                </a:cubicBezTo>
                <a:lnTo>
                  <a:pt x="75170" y="751700"/>
                </a:lnTo>
                <a:cubicBezTo>
                  <a:pt x="55234" y="751700"/>
                  <a:pt x="36114" y="743780"/>
                  <a:pt x="22017" y="729683"/>
                </a:cubicBezTo>
                <a:cubicBezTo>
                  <a:pt x="7920" y="715586"/>
                  <a:pt x="0" y="696466"/>
                  <a:pt x="0" y="676530"/>
                </a:cubicBezTo>
                <a:lnTo>
                  <a:pt x="0" y="7517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25400" cap="flat" cmpd="sng" algn="ctr">
            <a:solidFill>
              <a:sysClr val="window" lastClr="FFFFFF">
                <a:hueOff val="0"/>
                <a:satOff val="0"/>
                <a:lumOff val="0"/>
                <a:alphaOff val="0"/>
              </a:sysClr>
            </a:solidFill>
            <a:prstDash val="solid"/>
          </a:ln>
          <a:effectLst/>
        </p:spPr>
        <p:txBody>
          <a:bodyPr spcFirstLastPara="0" vert="horz" wrap="square" lIns="132507" tIns="132507" rIns="132507" bIns="132507" numCol="1" spcCol="1270" anchor="ctr" anchorCtr="0">
            <a:noAutofit/>
          </a:bodyPr>
          <a:lstStyle/>
          <a:p>
            <a:pPr algn="ctr" defTabSz="1289018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zh-CN" altLang="en-US" sz="1100" kern="0" dirty="0">
                <a:solidFill>
                  <a:schemeClr val="bg1"/>
                </a:solidFill>
                <a:latin typeface="+mn-ea"/>
              </a:rPr>
              <a:t>胜率：</a:t>
            </a:r>
            <a:r>
              <a:rPr lang="en-US" altLang="zh-CN" sz="1100" kern="0" dirty="0">
                <a:solidFill>
                  <a:schemeClr val="bg1"/>
                </a:solidFill>
                <a:latin typeface="+mn-ea"/>
              </a:rPr>
              <a:t>0.56</a:t>
            </a:r>
          </a:p>
          <a:p>
            <a:pPr algn="ctr" defTabSz="1289018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zh-CN" altLang="en-US" sz="1100" kern="0" dirty="0">
                <a:solidFill>
                  <a:schemeClr val="bg1"/>
                </a:solidFill>
                <a:latin typeface="+mn-ea"/>
              </a:rPr>
              <a:t>盈亏比：</a:t>
            </a:r>
            <a:r>
              <a:rPr lang="en-US" altLang="zh-CN" sz="1100" kern="0" dirty="0">
                <a:solidFill>
                  <a:schemeClr val="bg1"/>
                </a:solidFill>
                <a:latin typeface="+mn-ea"/>
              </a:rPr>
              <a:t>1.18</a:t>
            </a:r>
          </a:p>
          <a:p>
            <a:pPr algn="ctr" defTabSz="1289018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zh-CN" altLang="en-US" sz="1100" kern="0" dirty="0">
                <a:solidFill>
                  <a:schemeClr val="bg1"/>
                </a:solidFill>
                <a:latin typeface="+mn-ea"/>
              </a:rPr>
              <a:t>年均交易次数：</a:t>
            </a:r>
            <a:r>
              <a:rPr lang="en-US" altLang="zh-CN" sz="1100" kern="0" dirty="0">
                <a:solidFill>
                  <a:schemeClr val="bg1"/>
                </a:solidFill>
                <a:latin typeface="+mn-ea"/>
              </a:rPr>
              <a:t>26.01</a:t>
            </a:r>
          </a:p>
        </p:txBody>
      </p:sp>
      <p:sp>
        <p:nvSpPr>
          <p:cNvPr id="25" name="Freeform 55">
            <a:extLst>
              <a:ext uri="{FF2B5EF4-FFF2-40B4-BE49-F238E27FC236}">
                <a16:creationId xmlns:a16="http://schemas.microsoft.com/office/drawing/2014/main" id="{DFA0A3DC-1A6D-7B75-EE8E-DBFB5D4A4DE5}"/>
              </a:ext>
            </a:extLst>
          </p:cNvPr>
          <p:cNvSpPr/>
          <p:nvPr/>
        </p:nvSpPr>
        <p:spPr>
          <a:xfrm>
            <a:off x="7230734" y="3038324"/>
            <a:ext cx="1759202" cy="783163"/>
          </a:xfrm>
          <a:custGeom>
            <a:avLst/>
            <a:gdLst>
              <a:gd name="connsiteX0" fmla="*/ 0 w 1127550"/>
              <a:gd name="connsiteY0" fmla="*/ 75170 h 751700"/>
              <a:gd name="connsiteX1" fmla="*/ 22017 w 1127550"/>
              <a:gd name="connsiteY1" fmla="*/ 22017 h 751700"/>
              <a:gd name="connsiteX2" fmla="*/ 75170 w 1127550"/>
              <a:gd name="connsiteY2" fmla="*/ 0 h 751700"/>
              <a:gd name="connsiteX3" fmla="*/ 1052380 w 1127550"/>
              <a:gd name="connsiteY3" fmla="*/ 0 h 751700"/>
              <a:gd name="connsiteX4" fmla="*/ 1105533 w 1127550"/>
              <a:gd name="connsiteY4" fmla="*/ 22017 h 751700"/>
              <a:gd name="connsiteX5" fmla="*/ 1127550 w 1127550"/>
              <a:gd name="connsiteY5" fmla="*/ 75170 h 751700"/>
              <a:gd name="connsiteX6" fmla="*/ 1127550 w 1127550"/>
              <a:gd name="connsiteY6" fmla="*/ 676530 h 751700"/>
              <a:gd name="connsiteX7" fmla="*/ 1105533 w 1127550"/>
              <a:gd name="connsiteY7" fmla="*/ 729683 h 751700"/>
              <a:gd name="connsiteX8" fmla="*/ 1052380 w 1127550"/>
              <a:gd name="connsiteY8" fmla="*/ 751700 h 751700"/>
              <a:gd name="connsiteX9" fmla="*/ 75170 w 1127550"/>
              <a:gd name="connsiteY9" fmla="*/ 751700 h 751700"/>
              <a:gd name="connsiteX10" fmla="*/ 22017 w 1127550"/>
              <a:gd name="connsiteY10" fmla="*/ 729683 h 751700"/>
              <a:gd name="connsiteX11" fmla="*/ 0 w 1127550"/>
              <a:gd name="connsiteY11" fmla="*/ 676530 h 751700"/>
              <a:gd name="connsiteX12" fmla="*/ 0 w 1127550"/>
              <a:gd name="connsiteY12" fmla="*/ 75170 h 75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27550" h="751700">
                <a:moveTo>
                  <a:pt x="0" y="75170"/>
                </a:moveTo>
                <a:cubicBezTo>
                  <a:pt x="0" y="55234"/>
                  <a:pt x="7920" y="36114"/>
                  <a:pt x="22017" y="22017"/>
                </a:cubicBezTo>
                <a:cubicBezTo>
                  <a:pt x="36114" y="7920"/>
                  <a:pt x="55234" y="0"/>
                  <a:pt x="75170" y="0"/>
                </a:cubicBezTo>
                <a:lnTo>
                  <a:pt x="1052380" y="0"/>
                </a:lnTo>
                <a:cubicBezTo>
                  <a:pt x="1072316" y="0"/>
                  <a:pt x="1091436" y="7920"/>
                  <a:pt x="1105533" y="22017"/>
                </a:cubicBezTo>
                <a:cubicBezTo>
                  <a:pt x="1119630" y="36114"/>
                  <a:pt x="1127550" y="55234"/>
                  <a:pt x="1127550" y="75170"/>
                </a:cubicBezTo>
                <a:lnTo>
                  <a:pt x="1127550" y="676530"/>
                </a:lnTo>
                <a:cubicBezTo>
                  <a:pt x="1127550" y="696466"/>
                  <a:pt x="1119630" y="715586"/>
                  <a:pt x="1105533" y="729683"/>
                </a:cubicBezTo>
                <a:cubicBezTo>
                  <a:pt x="1091436" y="743780"/>
                  <a:pt x="1072316" y="751700"/>
                  <a:pt x="1052380" y="751700"/>
                </a:cubicBezTo>
                <a:lnTo>
                  <a:pt x="75170" y="751700"/>
                </a:lnTo>
                <a:cubicBezTo>
                  <a:pt x="55234" y="751700"/>
                  <a:pt x="36114" y="743780"/>
                  <a:pt x="22017" y="729683"/>
                </a:cubicBezTo>
                <a:cubicBezTo>
                  <a:pt x="7920" y="715586"/>
                  <a:pt x="0" y="696466"/>
                  <a:pt x="0" y="676530"/>
                </a:cubicBezTo>
                <a:lnTo>
                  <a:pt x="0" y="7517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25400" cap="flat" cmpd="sng" algn="ctr">
            <a:solidFill>
              <a:sysClr val="window" lastClr="FFFFFF">
                <a:hueOff val="0"/>
                <a:satOff val="0"/>
                <a:lumOff val="0"/>
                <a:alphaOff val="0"/>
              </a:sysClr>
            </a:solidFill>
            <a:prstDash val="solid"/>
          </a:ln>
          <a:effectLst/>
        </p:spPr>
        <p:txBody>
          <a:bodyPr spcFirstLastPara="0" vert="horz" wrap="square" lIns="132507" tIns="132507" rIns="132507" bIns="132507" numCol="1" spcCol="1270" anchor="ctr" anchorCtr="0">
            <a:noAutofit/>
          </a:bodyPr>
          <a:lstStyle/>
          <a:p>
            <a:pPr algn="ctr" defTabSz="1289018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zh-CN" altLang="en-US" sz="1100" kern="0" dirty="0">
                <a:solidFill>
                  <a:schemeClr val="bg1"/>
                </a:solidFill>
                <a:latin typeface="+mn-ea"/>
              </a:rPr>
              <a:t>胜率：</a:t>
            </a:r>
            <a:r>
              <a:rPr lang="en-US" altLang="zh-CN" sz="1100" kern="0" dirty="0">
                <a:solidFill>
                  <a:schemeClr val="bg1"/>
                </a:solidFill>
                <a:latin typeface="+mn-ea"/>
              </a:rPr>
              <a:t>0.53</a:t>
            </a:r>
          </a:p>
          <a:p>
            <a:pPr algn="ctr" defTabSz="1289018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zh-CN" altLang="en-US" sz="1100" kern="0" dirty="0">
                <a:solidFill>
                  <a:schemeClr val="bg1"/>
                </a:solidFill>
                <a:latin typeface="+mn-ea"/>
              </a:rPr>
              <a:t>盈亏比：</a:t>
            </a:r>
            <a:r>
              <a:rPr lang="en-US" altLang="zh-CN" sz="1100" kern="0" dirty="0">
                <a:solidFill>
                  <a:schemeClr val="bg1"/>
                </a:solidFill>
                <a:latin typeface="+mn-ea"/>
              </a:rPr>
              <a:t>1.37</a:t>
            </a:r>
          </a:p>
          <a:p>
            <a:pPr algn="ctr" defTabSz="1289018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zh-CN" altLang="en-US" sz="1100" kern="0" dirty="0">
                <a:solidFill>
                  <a:schemeClr val="bg1"/>
                </a:solidFill>
                <a:latin typeface="+mn-ea"/>
              </a:rPr>
              <a:t>年均交易次数：</a:t>
            </a:r>
            <a:r>
              <a:rPr lang="en-US" altLang="zh-CN" sz="1100" kern="0" dirty="0">
                <a:solidFill>
                  <a:schemeClr val="bg1"/>
                </a:solidFill>
                <a:latin typeface="+mn-ea"/>
              </a:rPr>
              <a:t>31.48</a:t>
            </a:r>
          </a:p>
        </p:txBody>
      </p:sp>
      <p:sp>
        <p:nvSpPr>
          <p:cNvPr id="26" name="Freeform 55">
            <a:extLst>
              <a:ext uri="{FF2B5EF4-FFF2-40B4-BE49-F238E27FC236}">
                <a16:creationId xmlns:a16="http://schemas.microsoft.com/office/drawing/2014/main" id="{909B64A5-2A00-5511-E7C2-D0E5218A381C}"/>
              </a:ext>
            </a:extLst>
          </p:cNvPr>
          <p:cNvSpPr/>
          <p:nvPr/>
        </p:nvSpPr>
        <p:spPr>
          <a:xfrm>
            <a:off x="9395770" y="3053524"/>
            <a:ext cx="1759202" cy="767963"/>
          </a:xfrm>
          <a:custGeom>
            <a:avLst/>
            <a:gdLst>
              <a:gd name="connsiteX0" fmla="*/ 0 w 1127550"/>
              <a:gd name="connsiteY0" fmla="*/ 75170 h 751700"/>
              <a:gd name="connsiteX1" fmla="*/ 22017 w 1127550"/>
              <a:gd name="connsiteY1" fmla="*/ 22017 h 751700"/>
              <a:gd name="connsiteX2" fmla="*/ 75170 w 1127550"/>
              <a:gd name="connsiteY2" fmla="*/ 0 h 751700"/>
              <a:gd name="connsiteX3" fmla="*/ 1052380 w 1127550"/>
              <a:gd name="connsiteY3" fmla="*/ 0 h 751700"/>
              <a:gd name="connsiteX4" fmla="*/ 1105533 w 1127550"/>
              <a:gd name="connsiteY4" fmla="*/ 22017 h 751700"/>
              <a:gd name="connsiteX5" fmla="*/ 1127550 w 1127550"/>
              <a:gd name="connsiteY5" fmla="*/ 75170 h 751700"/>
              <a:gd name="connsiteX6" fmla="*/ 1127550 w 1127550"/>
              <a:gd name="connsiteY6" fmla="*/ 676530 h 751700"/>
              <a:gd name="connsiteX7" fmla="*/ 1105533 w 1127550"/>
              <a:gd name="connsiteY7" fmla="*/ 729683 h 751700"/>
              <a:gd name="connsiteX8" fmla="*/ 1052380 w 1127550"/>
              <a:gd name="connsiteY8" fmla="*/ 751700 h 751700"/>
              <a:gd name="connsiteX9" fmla="*/ 75170 w 1127550"/>
              <a:gd name="connsiteY9" fmla="*/ 751700 h 751700"/>
              <a:gd name="connsiteX10" fmla="*/ 22017 w 1127550"/>
              <a:gd name="connsiteY10" fmla="*/ 729683 h 751700"/>
              <a:gd name="connsiteX11" fmla="*/ 0 w 1127550"/>
              <a:gd name="connsiteY11" fmla="*/ 676530 h 751700"/>
              <a:gd name="connsiteX12" fmla="*/ 0 w 1127550"/>
              <a:gd name="connsiteY12" fmla="*/ 75170 h 75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27550" h="751700">
                <a:moveTo>
                  <a:pt x="0" y="75170"/>
                </a:moveTo>
                <a:cubicBezTo>
                  <a:pt x="0" y="55234"/>
                  <a:pt x="7920" y="36114"/>
                  <a:pt x="22017" y="22017"/>
                </a:cubicBezTo>
                <a:cubicBezTo>
                  <a:pt x="36114" y="7920"/>
                  <a:pt x="55234" y="0"/>
                  <a:pt x="75170" y="0"/>
                </a:cubicBezTo>
                <a:lnTo>
                  <a:pt x="1052380" y="0"/>
                </a:lnTo>
                <a:cubicBezTo>
                  <a:pt x="1072316" y="0"/>
                  <a:pt x="1091436" y="7920"/>
                  <a:pt x="1105533" y="22017"/>
                </a:cubicBezTo>
                <a:cubicBezTo>
                  <a:pt x="1119630" y="36114"/>
                  <a:pt x="1127550" y="55234"/>
                  <a:pt x="1127550" y="75170"/>
                </a:cubicBezTo>
                <a:lnTo>
                  <a:pt x="1127550" y="676530"/>
                </a:lnTo>
                <a:cubicBezTo>
                  <a:pt x="1127550" y="696466"/>
                  <a:pt x="1119630" y="715586"/>
                  <a:pt x="1105533" y="729683"/>
                </a:cubicBezTo>
                <a:cubicBezTo>
                  <a:pt x="1091436" y="743780"/>
                  <a:pt x="1072316" y="751700"/>
                  <a:pt x="1052380" y="751700"/>
                </a:cubicBezTo>
                <a:lnTo>
                  <a:pt x="75170" y="751700"/>
                </a:lnTo>
                <a:cubicBezTo>
                  <a:pt x="55234" y="751700"/>
                  <a:pt x="36114" y="743780"/>
                  <a:pt x="22017" y="729683"/>
                </a:cubicBezTo>
                <a:cubicBezTo>
                  <a:pt x="7920" y="715586"/>
                  <a:pt x="0" y="696466"/>
                  <a:pt x="0" y="676530"/>
                </a:cubicBezTo>
                <a:lnTo>
                  <a:pt x="0" y="7517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25400" cap="flat" cmpd="sng" algn="ctr">
            <a:solidFill>
              <a:sysClr val="window" lastClr="FFFFFF">
                <a:hueOff val="0"/>
                <a:satOff val="0"/>
                <a:lumOff val="0"/>
                <a:alphaOff val="0"/>
              </a:sysClr>
            </a:solidFill>
            <a:prstDash val="solid"/>
          </a:ln>
          <a:effectLst/>
        </p:spPr>
        <p:txBody>
          <a:bodyPr spcFirstLastPara="0" vert="horz" wrap="square" lIns="132507" tIns="132507" rIns="132507" bIns="132507" numCol="1" spcCol="1270" anchor="ctr" anchorCtr="0">
            <a:noAutofit/>
          </a:bodyPr>
          <a:lstStyle/>
          <a:p>
            <a:pPr algn="ctr" defTabSz="1289018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endParaRPr lang="en-US" altLang="zh-CN" sz="1200" kern="0" dirty="0">
              <a:solidFill>
                <a:schemeClr val="bg1"/>
              </a:solidFill>
              <a:latin typeface="FontAwesome" pitchFamily="2" charset="0"/>
            </a:endParaRPr>
          </a:p>
          <a:p>
            <a:pPr algn="ctr" defTabSz="1289018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zh-CN" altLang="en-US" sz="1100" kern="0" dirty="0">
                <a:solidFill>
                  <a:schemeClr val="bg1"/>
                </a:solidFill>
                <a:latin typeface="+mn-ea"/>
              </a:rPr>
              <a:t>胜率：</a:t>
            </a:r>
            <a:r>
              <a:rPr lang="en-US" altLang="zh-CN" sz="1100" kern="0" dirty="0">
                <a:solidFill>
                  <a:schemeClr val="bg1"/>
                </a:solidFill>
                <a:latin typeface="+mn-ea"/>
              </a:rPr>
              <a:t>0.64</a:t>
            </a:r>
          </a:p>
          <a:p>
            <a:pPr algn="ctr" defTabSz="1289018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zh-CN" altLang="en-US" sz="1100" kern="0" dirty="0">
                <a:solidFill>
                  <a:schemeClr val="bg1"/>
                </a:solidFill>
                <a:latin typeface="+mn-ea"/>
              </a:rPr>
              <a:t>盈亏比：</a:t>
            </a:r>
            <a:r>
              <a:rPr lang="en-US" altLang="zh-CN" sz="1100" kern="0" dirty="0">
                <a:solidFill>
                  <a:schemeClr val="bg1"/>
                </a:solidFill>
                <a:latin typeface="+mn-ea"/>
              </a:rPr>
              <a:t>1.07</a:t>
            </a:r>
          </a:p>
          <a:p>
            <a:pPr algn="ctr" defTabSz="1289018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zh-CN" altLang="en-US" sz="1100" kern="0" dirty="0">
                <a:solidFill>
                  <a:schemeClr val="bg1"/>
                </a:solidFill>
                <a:latin typeface="+mn-ea"/>
              </a:rPr>
              <a:t>年均交易次数：</a:t>
            </a:r>
            <a:r>
              <a:rPr lang="en-US" altLang="zh-CN" sz="1100" kern="0" dirty="0">
                <a:solidFill>
                  <a:schemeClr val="bg1"/>
                </a:solidFill>
                <a:latin typeface="+mn-ea"/>
              </a:rPr>
              <a:t>23.78</a:t>
            </a:r>
          </a:p>
          <a:p>
            <a:pPr algn="ctr" defTabSz="1289018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endParaRPr lang="en-US" altLang="zh-CN" sz="1200" kern="0" dirty="0">
              <a:solidFill>
                <a:schemeClr val="bg1"/>
              </a:solidFill>
              <a:latin typeface="FontAwesome" pitchFamily="2" charset="0"/>
            </a:endParaRPr>
          </a:p>
        </p:txBody>
      </p:sp>
      <p:graphicFrame>
        <p:nvGraphicFramePr>
          <p:cNvPr id="30" name="表格 29">
            <a:extLst>
              <a:ext uri="{FF2B5EF4-FFF2-40B4-BE49-F238E27FC236}">
                <a16:creationId xmlns:a16="http://schemas.microsoft.com/office/drawing/2014/main" id="{10A6C7E5-DB8D-BA58-4026-58B7ABF376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490741"/>
              </p:ext>
            </p:extLst>
          </p:nvPr>
        </p:nvGraphicFramePr>
        <p:xfrm>
          <a:off x="7087299" y="4278480"/>
          <a:ext cx="4274579" cy="18542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302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1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52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5282">
                  <a:extLst>
                    <a:ext uri="{9D8B030D-6E8A-4147-A177-3AD203B41FA5}">
                      <a16:colId xmlns:a16="http://schemas.microsoft.com/office/drawing/2014/main" val="25058029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/>
                        <a:t>样本内</a:t>
                      </a:r>
                      <a:r>
                        <a:rPr lang="en-US" altLang="zh-CN" sz="1100" dirty="0"/>
                        <a:t>15-20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/>
                        <a:t>样本外</a:t>
                      </a:r>
                      <a:r>
                        <a:rPr lang="en-US" altLang="zh-CN" sz="1100" dirty="0"/>
                        <a:t>21-23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/>
                        <a:t>全部区间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年化收益率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19.20%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1.96%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13.96%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胜率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b="1" kern="1200" dirty="0">
                          <a:solidFill>
                            <a:srgbClr val="F796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0.63</a:t>
                      </a:r>
                      <a:endParaRPr lang="zh-CN" altLang="en-US" sz="1050" b="1" kern="1200" dirty="0">
                        <a:solidFill>
                          <a:srgbClr val="F796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0.53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0.60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盈亏比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b="1" kern="1200" dirty="0">
                          <a:solidFill>
                            <a:srgbClr val="F796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1.60</a:t>
                      </a:r>
                      <a:endParaRPr lang="zh-CN" altLang="en-US" sz="1050" b="1" kern="1200" dirty="0">
                        <a:solidFill>
                          <a:srgbClr val="F796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1.04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1.51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年均交易次数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b="1" kern="1200" dirty="0">
                          <a:solidFill>
                            <a:srgbClr val="F796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23.79</a:t>
                      </a:r>
                      <a:endParaRPr lang="zh-CN" altLang="en-US" sz="1050" b="1" kern="1200" dirty="0">
                        <a:solidFill>
                          <a:srgbClr val="F7964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25.47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24.26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9A0C499E-F3C0-C16A-E9B4-ABBA2542EC0D}"/>
              </a:ext>
            </a:extLst>
          </p:cNvPr>
          <p:cNvSpPr txBox="1"/>
          <p:nvPr/>
        </p:nvSpPr>
        <p:spPr>
          <a:xfrm>
            <a:off x="968672" y="6431192"/>
            <a:ext cx="47086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资料来源：</a:t>
            </a:r>
            <a:r>
              <a:rPr lang="en-US" altLang="zh-CN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</a:t>
            </a:r>
            <a:endParaRPr lang="zh-CN" altLang="en-US" sz="8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标题 11">
            <a:extLst>
              <a:ext uri="{FF2B5EF4-FFF2-40B4-BE49-F238E27FC236}">
                <a16:creationId xmlns:a16="http://schemas.microsoft.com/office/drawing/2014/main" id="{DD6977CF-1A3D-DA2B-120F-E273ACA41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j-cs"/>
              </a:rPr>
              <a:t>2.1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j-cs"/>
              </a:rPr>
              <a:t> 短期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j-cs"/>
              </a:rPr>
              <a:t>-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j-cs"/>
              </a:rPr>
              <a:t>动量反转 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j-cs"/>
              </a:rPr>
              <a:t>抓住短期趋势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j-cs"/>
              </a:rPr>
              <a:t>/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F81BD">
                    <a:lumMod val="7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j-cs"/>
              </a:rPr>
              <a:t>转折带来的投资机遇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548580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2.2</a:t>
            </a:r>
            <a:r>
              <a:rPr lang="zh-CN" altLang="en-US" dirty="0"/>
              <a:t> 中期</a:t>
            </a:r>
            <a:r>
              <a:rPr lang="en-US" altLang="zh-CN" dirty="0"/>
              <a:t>-</a:t>
            </a:r>
            <a:r>
              <a:rPr lang="zh-CN" altLang="en-US" dirty="0"/>
              <a:t>分歧度和流动性 </a:t>
            </a:r>
            <a:r>
              <a:rPr lang="zh-CN" altLang="en-US" sz="1600" dirty="0"/>
              <a:t>做高确定性的中期收益的增厚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21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968672" y="1261869"/>
            <a:ext cx="9874509" cy="783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市场的分歧度和流动性影响股价中长期的演绎方向和特征，用波动率和成交额上下行分别作分歧度和流动性最直观的度量，寻找</a:t>
            </a:r>
            <a:r>
              <a:rPr lang="zh-CN" altLang="en-US" sz="1600" dirty="0">
                <a:solidFill>
                  <a:srgbClr val="F79646"/>
                </a:solidFill>
              </a:rPr>
              <a:t>四象限内高胜率</a:t>
            </a:r>
            <a:r>
              <a:rPr lang="zh-CN" altLang="en-US" sz="1600" dirty="0">
                <a:solidFill>
                  <a:srgbClr val="000000"/>
                </a:solidFill>
              </a:rPr>
              <a:t>的市场状态，能一定程度上把握市场的牛熊，实现收益的增厚。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BC4C0DA-25CC-4152-2AA1-B05C0A044F7D}"/>
              </a:ext>
            </a:extLst>
          </p:cNvPr>
          <p:cNvSpPr/>
          <p:nvPr/>
        </p:nvSpPr>
        <p:spPr>
          <a:xfrm>
            <a:off x="590809" y="3041134"/>
            <a:ext cx="3037179" cy="3207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F796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波动率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与市场走势的相关性存在轮动规律，但统计结果显示，下跌的波动率通常高于上涨情形。</a:t>
            </a:r>
          </a:p>
          <a:p>
            <a:pPr algn="just">
              <a:lnSpc>
                <a:spcPct val="150000"/>
              </a:lnSpc>
              <a:buClr>
                <a:srgbClr val="F5781B"/>
              </a:buClr>
            </a:pPr>
            <a:endParaRPr lang="zh-CN" altLang="en-US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F796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成交额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与市场走势呈明显的正相关性，直观的理解是牛市通常都需要成交额推动。</a:t>
            </a: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endParaRPr lang="zh-CN" altLang="en-US" sz="13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endParaRPr lang="zh-CN" altLang="en-US" sz="13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endParaRPr lang="zh-CN" altLang="en-US" sz="13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037726A-C288-C45C-A15B-77B0BBFA5644}"/>
              </a:ext>
            </a:extLst>
          </p:cNvPr>
          <p:cNvGrpSpPr/>
          <p:nvPr/>
        </p:nvGrpSpPr>
        <p:grpSpPr>
          <a:xfrm>
            <a:off x="4122768" y="2243164"/>
            <a:ext cx="7432864" cy="3939187"/>
            <a:chOff x="4122768" y="2243164"/>
            <a:chExt cx="7432864" cy="3939187"/>
          </a:xfrm>
        </p:grpSpPr>
        <p:sp>
          <p:nvSpPr>
            <p:cNvPr id="18" name="圆角矩形 17">
              <a:extLst>
                <a:ext uri="{FF2B5EF4-FFF2-40B4-BE49-F238E27FC236}">
                  <a16:creationId xmlns:a16="http://schemas.microsoft.com/office/drawing/2014/main" id="{23C1E87B-1033-F590-9976-AC15DADC8AEE}"/>
                </a:ext>
              </a:extLst>
            </p:cNvPr>
            <p:cNvSpPr/>
            <p:nvPr/>
          </p:nvSpPr>
          <p:spPr>
            <a:xfrm>
              <a:off x="4779820" y="4267561"/>
              <a:ext cx="6747818" cy="1914790"/>
            </a:xfrm>
            <a:prstGeom prst="roundRect">
              <a:avLst>
                <a:gd name="adj" fmla="val 2450"/>
              </a:avLst>
            </a:prstGeom>
            <a:noFill/>
            <a:ln>
              <a:solidFill>
                <a:srgbClr val="4F81BD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14359DFC-8BFF-7ECE-9034-ED0BA4440E0B}"/>
                </a:ext>
              </a:extLst>
            </p:cNvPr>
            <p:cNvSpPr txBox="1"/>
            <p:nvPr/>
          </p:nvSpPr>
          <p:spPr>
            <a:xfrm>
              <a:off x="5400929" y="2431576"/>
              <a:ext cx="1706453" cy="1600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400" dirty="0">
                  <a:latin typeface="SimSun" panose="02010600030101010101" pitchFamily="2" charset="-122"/>
                  <a:ea typeface="SimSun" panose="02010600030101010101" pitchFamily="2" charset="-122"/>
                </a:rPr>
                <a:t>回看</a:t>
              </a:r>
              <a:r>
                <a:rPr kumimoji="1" lang="en-US" altLang="zh-CN" sz="1400" dirty="0">
                  <a:latin typeface="SimSun" panose="02010600030101010101" pitchFamily="2" charset="-122"/>
                  <a:ea typeface="SimSun" panose="02010600030101010101" pitchFamily="2" charset="-122"/>
                </a:rPr>
                <a:t>M</a:t>
              </a:r>
              <a:r>
                <a:rPr kumimoji="1" lang="zh-CN" altLang="en-US" sz="1400" dirty="0">
                  <a:latin typeface="SimSun" panose="02010600030101010101" pitchFamily="2" charset="-122"/>
                  <a:ea typeface="SimSun" panose="02010600030101010101" pitchFamily="2" charset="-122"/>
                </a:rPr>
                <a:t>交易日，如果最大值距今超过</a:t>
              </a:r>
              <a:r>
                <a:rPr kumimoji="1" lang="en-US" altLang="zh-CN" sz="1400" dirty="0">
                  <a:latin typeface="SimSun" panose="02010600030101010101" pitchFamily="2" charset="-122"/>
                  <a:ea typeface="SimSun" panose="02010600030101010101" pitchFamily="2" charset="-122"/>
                </a:rPr>
                <a:t>L</a:t>
              </a:r>
              <a:r>
                <a:rPr kumimoji="1" lang="zh-CN" altLang="en-US" sz="1400" dirty="0">
                  <a:latin typeface="SimSun" panose="02010600030101010101" pitchFamily="2" charset="-122"/>
                  <a:ea typeface="SimSun" panose="02010600030101010101" pitchFamily="2" charset="-122"/>
                </a:rPr>
                <a:t>日，判断为下行，反之上行。</a:t>
              </a:r>
              <a:endParaRPr kumimoji="1" lang="en-US" altLang="zh-CN" sz="1400" dirty="0">
                <a:latin typeface="SimSun" panose="02010600030101010101" pitchFamily="2" charset="-122"/>
                <a:ea typeface="SimSun" panose="02010600030101010101" pitchFamily="2" charset="-122"/>
              </a:endParaRPr>
            </a:p>
            <a:p>
              <a:endParaRPr kumimoji="1" lang="en-US" altLang="zh-CN" sz="1400" dirty="0">
                <a:latin typeface="SimSun" panose="02010600030101010101" pitchFamily="2" charset="-122"/>
                <a:ea typeface="SimSun" panose="02010600030101010101" pitchFamily="2" charset="-122"/>
              </a:endParaRPr>
            </a:p>
            <a:p>
              <a:r>
                <a:rPr lang="zh-CN" altLang="en-US" sz="1400" b="1" dirty="0">
                  <a:effectLst/>
                  <a:latin typeface="SimSun" panose="02010600030101010101" pitchFamily="2" charset="-122"/>
                  <a:ea typeface="SimSun" panose="02010600030101010101" pitchFamily="2" charset="-122"/>
                </a:rPr>
                <a:t>构造缓冲区间，平滑噪音带来的波动。</a:t>
              </a:r>
              <a:endParaRPr kumimoji="1" lang="zh-CN" altLang="en-US" sz="1400" b="1" dirty="0">
                <a:latin typeface="SimSun" panose="02010600030101010101" pitchFamily="2" charset="-122"/>
                <a:ea typeface="SimSun" panose="02010600030101010101" pitchFamily="2" charset="-122"/>
              </a:endParaRPr>
            </a:p>
          </p:txBody>
        </p:sp>
        <p:pic>
          <p:nvPicPr>
            <p:cNvPr id="8" name="图片 7" descr="图示&#10;&#10;描述已自动生成">
              <a:extLst>
                <a:ext uri="{FF2B5EF4-FFF2-40B4-BE49-F238E27FC236}">
                  <a16:creationId xmlns:a16="http://schemas.microsoft.com/office/drawing/2014/main" id="{D3AC6391-6D54-3AEE-3574-964D30EB87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55"/>
            <a:stretch/>
          </p:blipFill>
          <p:spPr>
            <a:xfrm>
              <a:off x="7107382" y="2412641"/>
              <a:ext cx="4448250" cy="1645040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D15CF39D-743D-369C-2C19-FE34BCB59ACC}"/>
                </a:ext>
              </a:extLst>
            </p:cNvPr>
            <p:cNvSpPr txBox="1"/>
            <p:nvPr/>
          </p:nvSpPr>
          <p:spPr>
            <a:xfrm>
              <a:off x="5400929" y="4327431"/>
              <a:ext cx="1706453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400" dirty="0">
                  <a:latin typeface="SimSun" panose="02010600030101010101" pitchFamily="2" charset="-122"/>
                  <a:ea typeface="SimSun" panose="02010600030101010101" pitchFamily="2" charset="-122"/>
                </a:rPr>
                <a:t>最新值上穿</a:t>
              </a:r>
              <a:r>
                <a:rPr kumimoji="1" lang="en-US" altLang="zh-CN" sz="1400" dirty="0">
                  <a:latin typeface="SimSun" panose="02010600030101010101" pitchFamily="2" charset="-122"/>
                  <a:ea typeface="SimSun" panose="02010600030101010101" pitchFamily="2" charset="-122"/>
                </a:rPr>
                <a:t>N</a:t>
              </a:r>
              <a:r>
                <a:rPr kumimoji="1" lang="zh-CN" altLang="en-US" sz="1400" dirty="0">
                  <a:latin typeface="SimSun" panose="02010600030101010101" pitchFamily="2" charset="-122"/>
                  <a:ea typeface="SimSun" panose="02010600030101010101" pitchFamily="2" charset="-122"/>
                </a:rPr>
                <a:t>日均值</a:t>
              </a:r>
              <a:r>
                <a:rPr kumimoji="1" lang="en-US" altLang="zh-CN" sz="1400" dirty="0">
                  <a:latin typeface="SimSun" panose="02010600030101010101" pitchFamily="2" charset="-122"/>
                  <a:ea typeface="SimSun" panose="02010600030101010101" pitchFamily="2" charset="-122"/>
                </a:rPr>
                <a:t>+n</a:t>
              </a:r>
              <a:r>
                <a:rPr kumimoji="1" lang="zh-CN" altLang="en-US" sz="1400" dirty="0">
                  <a:latin typeface="SimSun" panose="02010600030101010101" pitchFamily="2" charset="-122"/>
                  <a:ea typeface="SimSun" panose="02010600030101010101" pitchFamily="2" charset="-122"/>
                </a:rPr>
                <a:t>倍标准差为上行，下穿</a:t>
              </a:r>
              <a:r>
                <a:rPr kumimoji="1" lang="en-US" altLang="zh-CN" sz="1400" dirty="0">
                  <a:latin typeface="SimSun" panose="02010600030101010101" pitchFamily="2" charset="-122"/>
                  <a:ea typeface="SimSun" panose="02010600030101010101" pitchFamily="2" charset="-122"/>
                </a:rPr>
                <a:t>N</a:t>
              </a:r>
              <a:r>
                <a:rPr kumimoji="1" lang="zh-CN" altLang="en-US" sz="1400" dirty="0">
                  <a:latin typeface="SimSun" panose="02010600030101010101" pitchFamily="2" charset="-122"/>
                  <a:ea typeface="SimSun" panose="02010600030101010101" pitchFamily="2" charset="-122"/>
                </a:rPr>
                <a:t>日均值</a:t>
              </a:r>
              <a:r>
                <a:rPr kumimoji="1" lang="en-US" altLang="zh-CN" sz="1400" dirty="0">
                  <a:latin typeface="SimSun" panose="02010600030101010101" pitchFamily="2" charset="-122"/>
                  <a:ea typeface="SimSun" panose="02010600030101010101" pitchFamily="2" charset="-122"/>
                </a:rPr>
                <a:t>-n</a:t>
              </a:r>
              <a:r>
                <a:rPr kumimoji="1" lang="zh-CN" altLang="en-US" sz="1400" dirty="0">
                  <a:latin typeface="SimSun" panose="02010600030101010101" pitchFamily="2" charset="-122"/>
                  <a:ea typeface="SimSun" panose="02010600030101010101" pitchFamily="2" charset="-122"/>
                </a:rPr>
                <a:t>倍标准差为下行。</a:t>
              </a:r>
              <a:endParaRPr kumimoji="1" lang="en-US" altLang="zh-CN" sz="1400" dirty="0">
                <a:latin typeface="SimSun" panose="02010600030101010101" pitchFamily="2" charset="-122"/>
                <a:ea typeface="SimSun" panose="02010600030101010101" pitchFamily="2" charset="-122"/>
              </a:endParaRPr>
            </a:p>
            <a:p>
              <a:endParaRPr kumimoji="1" lang="en-US" altLang="zh-CN" sz="1400" dirty="0">
                <a:latin typeface="SimSun" panose="02010600030101010101" pitchFamily="2" charset="-122"/>
                <a:ea typeface="SimSun" panose="02010600030101010101" pitchFamily="2" charset="-122"/>
              </a:endParaRPr>
            </a:p>
            <a:p>
              <a:r>
                <a:rPr lang="zh-CN" altLang="en-US" sz="1400" b="1" dirty="0">
                  <a:effectLst/>
                  <a:latin typeface="SimSun" panose="02010600030101010101" pitchFamily="2" charset="-122"/>
                  <a:ea typeface="SimSun" panose="02010600030101010101" pitchFamily="2" charset="-122"/>
                </a:rPr>
                <a:t>借鉴布林带构造思路，实现通道自动调整。</a:t>
              </a:r>
              <a:endParaRPr kumimoji="1" lang="zh-CN" altLang="en-US" sz="1400" b="1" dirty="0">
                <a:latin typeface="SimSun" panose="02010600030101010101" pitchFamily="2" charset="-122"/>
                <a:ea typeface="SimSun" panose="02010600030101010101" pitchFamily="2" charset="-122"/>
              </a:endParaRPr>
            </a:p>
          </p:txBody>
        </p:sp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E3F8D6BB-1DD9-C976-3C98-44824F6B202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530"/>
            <a:stretch/>
          </p:blipFill>
          <p:spPr bwMode="auto">
            <a:xfrm>
              <a:off x="7107383" y="4451189"/>
              <a:ext cx="4264398" cy="15410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圆角矩形 21">
              <a:extLst>
                <a:ext uri="{FF2B5EF4-FFF2-40B4-BE49-F238E27FC236}">
                  <a16:creationId xmlns:a16="http://schemas.microsoft.com/office/drawing/2014/main" id="{E46A3A00-C2AF-4258-4171-08F0CD819EC6}"/>
                </a:ext>
              </a:extLst>
            </p:cNvPr>
            <p:cNvSpPr/>
            <p:nvPr/>
          </p:nvSpPr>
          <p:spPr>
            <a:xfrm>
              <a:off x="4779819" y="2243164"/>
              <a:ext cx="6747818" cy="1914790"/>
            </a:xfrm>
            <a:prstGeom prst="roundRect">
              <a:avLst>
                <a:gd name="adj" fmla="val 2450"/>
              </a:avLst>
            </a:prstGeom>
            <a:noFill/>
            <a:ln>
              <a:solidFill>
                <a:srgbClr val="4F81BD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1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1AC218B7-3069-8D08-01F8-C31A468C3B52}"/>
                </a:ext>
              </a:extLst>
            </p:cNvPr>
            <p:cNvSpPr/>
            <p:nvPr/>
          </p:nvSpPr>
          <p:spPr>
            <a:xfrm rot="5400000">
              <a:off x="3538495" y="4001748"/>
              <a:ext cx="1503826" cy="335280"/>
            </a:xfrm>
            <a:prstGeom prst="rect">
              <a:avLst/>
            </a:prstGeom>
            <a:solidFill>
              <a:srgbClr val="4F81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zh-CN" altLang="en-US" sz="1400" b="1" dirty="0"/>
                <a:t>上下行刻画</a:t>
              </a:r>
              <a:endParaRPr lang="en-US" altLang="zh-CN" sz="1400" b="1" dirty="0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A2B6119-7988-D7D5-9E76-3926A2860299}"/>
                </a:ext>
              </a:extLst>
            </p:cNvPr>
            <p:cNvSpPr/>
            <p:nvPr/>
          </p:nvSpPr>
          <p:spPr>
            <a:xfrm rot="5400000">
              <a:off x="4376368" y="5060131"/>
              <a:ext cx="1503826" cy="335280"/>
            </a:xfrm>
            <a:prstGeom prst="rect">
              <a:avLst/>
            </a:prstGeom>
            <a:solidFill>
              <a:srgbClr val="4F81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zh-CN" altLang="en-US" sz="1400" b="1" dirty="0"/>
                <a:t>通道突破法</a:t>
              </a:r>
              <a:endParaRPr lang="en-US" altLang="zh-CN" sz="1400" b="1" dirty="0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CAD7DBE7-E60F-C08C-A363-52652039D082}"/>
                </a:ext>
              </a:extLst>
            </p:cNvPr>
            <p:cNvSpPr/>
            <p:nvPr/>
          </p:nvSpPr>
          <p:spPr>
            <a:xfrm rot="5400000">
              <a:off x="4376368" y="3022692"/>
              <a:ext cx="1503826" cy="335280"/>
            </a:xfrm>
            <a:prstGeom prst="rect">
              <a:avLst/>
            </a:prstGeom>
            <a:solidFill>
              <a:srgbClr val="4F81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zh-CN" altLang="en-US" sz="1400" b="1" dirty="0"/>
                <a:t>大小窗口法</a:t>
              </a:r>
              <a:endParaRPr lang="en-US" altLang="zh-CN" sz="1400" b="1" dirty="0"/>
            </a:p>
          </p:txBody>
        </p:sp>
        <p:cxnSp>
          <p:nvCxnSpPr>
            <p:cNvPr id="35" name="肘形连接符 34">
              <a:extLst>
                <a:ext uri="{FF2B5EF4-FFF2-40B4-BE49-F238E27FC236}">
                  <a16:creationId xmlns:a16="http://schemas.microsoft.com/office/drawing/2014/main" id="{221A1944-758A-9379-72DB-41A99DFA0F9C}"/>
                </a:ext>
              </a:extLst>
            </p:cNvPr>
            <p:cNvCxnSpPr>
              <a:stCxn id="27" idx="1"/>
              <a:endCxn id="22" idx="1"/>
            </p:cNvCxnSpPr>
            <p:nvPr/>
          </p:nvCxnSpPr>
          <p:spPr>
            <a:xfrm rot="5400000" flipH="1" flipV="1">
              <a:off x="4426655" y="3064312"/>
              <a:ext cx="216916" cy="489411"/>
            </a:xfrm>
            <a:prstGeom prst="bentConnector2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肘形连接符 36">
              <a:extLst>
                <a:ext uri="{FF2B5EF4-FFF2-40B4-BE49-F238E27FC236}">
                  <a16:creationId xmlns:a16="http://schemas.microsoft.com/office/drawing/2014/main" id="{5531BD4D-1DC1-6FF3-7921-199E881B48D6}"/>
                </a:ext>
              </a:extLst>
            </p:cNvPr>
            <p:cNvCxnSpPr>
              <a:stCxn id="27" idx="3"/>
              <a:endCxn id="18" idx="1"/>
            </p:cNvCxnSpPr>
            <p:nvPr/>
          </p:nvCxnSpPr>
          <p:spPr>
            <a:xfrm rot="16200000" flipH="1">
              <a:off x="4383287" y="4828422"/>
              <a:ext cx="303655" cy="489412"/>
            </a:xfrm>
            <a:prstGeom prst="bentConnector2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86B7EE3D-9DD3-973D-7594-BBD4C84547FF}"/>
              </a:ext>
            </a:extLst>
          </p:cNvPr>
          <p:cNvSpPr txBox="1"/>
          <p:nvPr/>
        </p:nvSpPr>
        <p:spPr>
          <a:xfrm>
            <a:off x="251954" y="6562583"/>
            <a:ext cx="47086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资料来源：民生证券</a:t>
            </a:r>
          </a:p>
        </p:txBody>
      </p:sp>
    </p:spTree>
    <p:extLst>
      <p:ext uri="{BB962C8B-B14F-4D97-AF65-F5344CB8AC3E}">
        <p14:creationId xmlns:p14="http://schemas.microsoft.com/office/powerpoint/2010/main" val="2898578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2.2</a:t>
            </a:r>
            <a:r>
              <a:rPr lang="zh-CN" altLang="en-US" dirty="0"/>
              <a:t> 中期</a:t>
            </a:r>
            <a:r>
              <a:rPr lang="en-US" altLang="zh-CN" dirty="0"/>
              <a:t>-</a:t>
            </a:r>
            <a:r>
              <a:rPr lang="zh-CN" altLang="en-US" dirty="0"/>
              <a:t>分歧度和流动性 </a:t>
            </a:r>
            <a:r>
              <a:rPr lang="zh-CN" altLang="en-US" sz="1600" dirty="0"/>
              <a:t>做高确定性的中期收益的增厚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22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BC4C0DA-25CC-4152-2AA1-B05C0A044F7D}"/>
              </a:ext>
            </a:extLst>
          </p:cNvPr>
          <p:cNvSpPr/>
          <p:nvPr/>
        </p:nvSpPr>
        <p:spPr>
          <a:xfrm>
            <a:off x="590809" y="3041134"/>
            <a:ext cx="3037179" cy="32078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F796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波动率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与市场走势的相关性存在轮动规律，但统计结果显示，下跌的波动率通常高于上涨情形。</a:t>
            </a:r>
          </a:p>
          <a:p>
            <a:pPr algn="just">
              <a:lnSpc>
                <a:spcPct val="150000"/>
              </a:lnSpc>
              <a:buClr>
                <a:srgbClr val="F5781B"/>
              </a:buClr>
            </a:pPr>
            <a:endParaRPr lang="zh-CN" altLang="en-US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F796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成交额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与市场走势呈明显的正相关性，直观的理解是牛市通常都需要成交额推动。</a:t>
            </a: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endParaRPr lang="zh-CN" altLang="en-US" sz="13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endParaRPr lang="zh-CN" altLang="en-US" sz="13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endParaRPr lang="zh-CN" altLang="en-US" sz="13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3D3A1BE4-E72B-D044-1F01-1B5075BCD78E}"/>
              </a:ext>
            </a:extLst>
          </p:cNvPr>
          <p:cNvCxnSpPr>
            <a:cxnSpLocks/>
          </p:cNvCxnSpPr>
          <p:nvPr/>
        </p:nvCxnSpPr>
        <p:spPr>
          <a:xfrm>
            <a:off x="4061292" y="4209171"/>
            <a:ext cx="6781890" cy="0"/>
          </a:xfrm>
          <a:prstGeom prst="straightConnector1">
            <a:avLst/>
          </a:prstGeom>
          <a:ln w="222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C4B8C40A-F27E-3AA5-AC6F-2E13DE207D15}"/>
              </a:ext>
            </a:extLst>
          </p:cNvPr>
          <p:cNvCxnSpPr>
            <a:cxnSpLocks/>
          </p:cNvCxnSpPr>
          <p:nvPr/>
        </p:nvCxnSpPr>
        <p:spPr>
          <a:xfrm>
            <a:off x="7476639" y="2220686"/>
            <a:ext cx="0" cy="4000500"/>
          </a:xfrm>
          <a:prstGeom prst="straightConnector1">
            <a:avLst/>
          </a:prstGeom>
          <a:ln w="222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8444A2D9-E650-7A33-5652-6B2DDEE90BF3}"/>
              </a:ext>
            </a:extLst>
          </p:cNvPr>
          <p:cNvSpPr/>
          <p:nvPr/>
        </p:nvSpPr>
        <p:spPr>
          <a:xfrm rot="5400000">
            <a:off x="6724726" y="3066189"/>
            <a:ext cx="1503826" cy="33528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zh-CN" altLang="en-US" sz="1400" b="1" dirty="0"/>
              <a:t>波动率上行</a:t>
            </a:r>
            <a:endParaRPr lang="en-US" altLang="zh-CN" sz="1400" b="1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9A5D251-213A-8D7D-14EE-5701ECCB9457}"/>
              </a:ext>
            </a:extLst>
          </p:cNvPr>
          <p:cNvSpPr/>
          <p:nvPr/>
        </p:nvSpPr>
        <p:spPr>
          <a:xfrm rot="5400000">
            <a:off x="6724726" y="5016874"/>
            <a:ext cx="1503826" cy="33528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zh-CN" altLang="en-US" sz="1400" b="1" dirty="0"/>
              <a:t>波动率下行</a:t>
            </a:r>
            <a:endParaRPr lang="en-US" altLang="zh-CN" sz="1400" b="1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9D149E9-3CB6-D3CE-428F-CA0FF30FB896}"/>
              </a:ext>
            </a:extLst>
          </p:cNvPr>
          <p:cNvSpPr/>
          <p:nvPr/>
        </p:nvSpPr>
        <p:spPr>
          <a:xfrm>
            <a:off x="8334690" y="4053296"/>
            <a:ext cx="1503826" cy="33528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sz="1400" b="1" dirty="0"/>
              <a:t>成交额上行</a:t>
            </a:r>
            <a:endParaRPr lang="en-US" altLang="zh-CN" sz="1400" b="1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CB9FDFC-15E5-049D-9D6A-E399CA25F94E}"/>
              </a:ext>
            </a:extLst>
          </p:cNvPr>
          <p:cNvSpPr/>
          <p:nvPr/>
        </p:nvSpPr>
        <p:spPr>
          <a:xfrm>
            <a:off x="5304721" y="4093721"/>
            <a:ext cx="1503826" cy="33528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sz="1400" b="1" dirty="0"/>
              <a:t>成交额下行</a:t>
            </a:r>
            <a:endParaRPr lang="en-US" altLang="zh-CN" sz="1400" b="1" dirty="0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43318671-D036-4790-2CB7-0B9724A04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2420" y="4441026"/>
            <a:ext cx="3053618" cy="1780155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D0726163-37A9-7A27-06D2-9818A3B4A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1292" y="4502338"/>
            <a:ext cx="3053614" cy="1780154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57123532-7096-09FD-F103-240C5BDEA2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9237" y="2315163"/>
            <a:ext cx="2981376" cy="1738041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F2AB1864-987D-DDB4-3E5B-7AF86E8158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3482" y="2330043"/>
            <a:ext cx="2957663" cy="1724217"/>
          </a:xfrm>
          <a:prstGeom prst="rect">
            <a:avLst/>
          </a:prstGeom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6B0ED9AD-A249-DC42-8883-A7FAF47352A7}"/>
              </a:ext>
            </a:extLst>
          </p:cNvPr>
          <p:cNvSpPr txBox="1"/>
          <p:nvPr/>
        </p:nvSpPr>
        <p:spPr>
          <a:xfrm>
            <a:off x="4457605" y="2192033"/>
            <a:ext cx="152462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900" dirty="0">
                <a:latin typeface="+mn-ea"/>
              </a:rPr>
              <a:t>胜率：</a:t>
            </a:r>
            <a:r>
              <a:rPr kumimoji="1" lang="en-US" altLang="zh-CN" sz="900" dirty="0">
                <a:latin typeface="+mn-ea"/>
              </a:rPr>
              <a:t>0.25</a:t>
            </a:r>
          </a:p>
          <a:p>
            <a:r>
              <a:rPr kumimoji="1" lang="zh-CN" altLang="en-US" sz="900" dirty="0">
                <a:latin typeface="+mn-ea"/>
              </a:rPr>
              <a:t>盈亏比：</a:t>
            </a:r>
            <a:r>
              <a:rPr kumimoji="1" lang="en-US" altLang="zh-CN" sz="900" dirty="0">
                <a:latin typeface="+mn-ea"/>
              </a:rPr>
              <a:t>0.43</a:t>
            </a:r>
          </a:p>
          <a:p>
            <a:r>
              <a:rPr kumimoji="1" lang="zh-CN" altLang="en-US" sz="900" dirty="0">
                <a:latin typeface="+mn-ea"/>
              </a:rPr>
              <a:t>年均交易次数：</a:t>
            </a:r>
            <a:r>
              <a:rPr kumimoji="1" lang="en-US" altLang="zh-CN" sz="900" dirty="0">
                <a:latin typeface="+mn-ea"/>
              </a:rPr>
              <a:t>2.73</a:t>
            </a:r>
            <a:endParaRPr kumimoji="1" lang="zh-CN" altLang="en-US" sz="900" dirty="0">
              <a:latin typeface="+mn-ea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60F572AE-13C8-00F4-560F-25F405BFE4DE}"/>
              </a:ext>
            </a:extLst>
          </p:cNvPr>
          <p:cNvSpPr txBox="1"/>
          <p:nvPr/>
        </p:nvSpPr>
        <p:spPr>
          <a:xfrm>
            <a:off x="8208738" y="2228000"/>
            <a:ext cx="152462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900" dirty="0">
                <a:latin typeface="+mn-ea"/>
              </a:rPr>
              <a:t>胜率：</a:t>
            </a:r>
            <a:r>
              <a:rPr kumimoji="1" lang="en-US" altLang="zh-CN" sz="900" dirty="0">
                <a:latin typeface="+mn-ea"/>
              </a:rPr>
              <a:t>0.5</a:t>
            </a:r>
          </a:p>
          <a:p>
            <a:r>
              <a:rPr kumimoji="1" lang="zh-CN" altLang="en-US" sz="900" dirty="0">
                <a:latin typeface="+mn-ea"/>
              </a:rPr>
              <a:t>盈亏比：</a:t>
            </a:r>
            <a:r>
              <a:rPr kumimoji="1" lang="en-US" altLang="zh-CN" sz="900" dirty="0">
                <a:latin typeface="+mn-ea"/>
              </a:rPr>
              <a:t>2.26</a:t>
            </a:r>
          </a:p>
          <a:p>
            <a:r>
              <a:rPr kumimoji="1" lang="zh-CN" altLang="en-US" sz="900" dirty="0">
                <a:latin typeface="+mn-ea"/>
              </a:rPr>
              <a:t>年均交易次数：</a:t>
            </a:r>
            <a:r>
              <a:rPr kumimoji="1" lang="en-US" altLang="zh-CN" sz="900" dirty="0">
                <a:latin typeface="+mn-ea"/>
              </a:rPr>
              <a:t>1.71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90D179E8-D701-EC16-1AB4-5D46AC91FA13}"/>
              </a:ext>
            </a:extLst>
          </p:cNvPr>
          <p:cNvSpPr txBox="1"/>
          <p:nvPr/>
        </p:nvSpPr>
        <p:spPr>
          <a:xfrm>
            <a:off x="4457605" y="4334789"/>
            <a:ext cx="152462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900" dirty="0">
                <a:latin typeface="+mn-ea"/>
              </a:rPr>
              <a:t>胜率：</a:t>
            </a:r>
            <a:r>
              <a:rPr kumimoji="1" lang="en-US" altLang="zh-CN" sz="900" dirty="0">
                <a:latin typeface="+mn-ea"/>
              </a:rPr>
              <a:t>0.61</a:t>
            </a:r>
          </a:p>
          <a:p>
            <a:r>
              <a:rPr kumimoji="1" lang="zh-CN" altLang="en-US" sz="900" dirty="0">
                <a:latin typeface="+mn-ea"/>
              </a:rPr>
              <a:t>盈亏比：</a:t>
            </a:r>
            <a:r>
              <a:rPr kumimoji="1" lang="en-US" altLang="zh-CN" sz="900" dirty="0">
                <a:latin typeface="+mn-ea"/>
              </a:rPr>
              <a:t>3.51</a:t>
            </a:r>
          </a:p>
          <a:p>
            <a:r>
              <a:rPr kumimoji="1" lang="zh-CN" altLang="en-US" sz="900" dirty="0">
                <a:latin typeface="+mn-ea"/>
              </a:rPr>
              <a:t>年均交易次数：</a:t>
            </a:r>
            <a:r>
              <a:rPr kumimoji="1" lang="en-US" altLang="zh-CN" sz="900" dirty="0">
                <a:latin typeface="+mn-ea"/>
              </a:rPr>
              <a:t>2.22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58E00DB-41E9-E3D8-2ADC-509F8B28ADDA}"/>
              </a:ext>
            </a:extLst>
          </p:cNvPr>
          <p:cNvSpPr txBox="1"/>
          <p:nvPr/>
        </p:nvSpPr>
        <p:spPr>
          <a:xfrm>
            <a:off x="8208738" y="4646054"/>
            <a:ext cx="152462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900" b="1" dirty="0">
                <a:solidFill>
                  <a:srgbClr val="E8380C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胜率：</a:t>
            </a:r>
            <a:r>
              <a:rPr kumimoji="1" lang="en-US" altLang="zh-CN" sz="900" b="1" dirty="0">
                <a:solidFill>
                  <a:srgbClr val="E8380C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0.85</a:t>
            </a:r>
          </a:p>
          <a:p>
            <a:r>
              <a:rPr kumimoji="1" lang="zh-CN" altLang="en-US" sz="900" b="1" dirty="0">
                <a:solidFill>
                  <a:srgbClr val="E8380C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盈亏比：</a:t>
            </a:r>
            <a:r>
              <a:rPr kumimoji="1" lang="en-US" altLang="zh-CN" sz="900" b="1" dirty="0">
                <a:solidFill>
                  <a:srgbClr val="E8380C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353.01</a:t>
            </a:r>
          </a:p>
          <a:p>
            <a:r>
              <a:rPr kumimoji="1" lang="zh-CN" altLang="en-US" sz="900" b="1" dirty="0">
                <a:solidFill>
                  <a:srgbClr val="E8380C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年均交易次数：</a:t>
            </a:r>
            <a:r>
              <a:rPr kumimoji="1" lang="en-US" altLang="zh-CN" sz="900" b="1" dirty="0">
                <a:solidFill>
                  <a:srgbClr val="E8380C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1.19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0215876-E94B-A8DE-C7A9-0AC841EC175B}"/>
              </a:ext>
            </a:extLst>
          </p:cNvPr>
          <p:cNvSpPr txBox="1"/>
          <p:nvPr/>
        </p:nvSpPr>
        <p:spPr>
          <a:xfrm>
            <a:off x="4061292" y="6265589"/>
            <a:ext cx="47086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资料来源：</a:t>
            </a:r>
            <a:r>
              <a:rPr lang="en-US" altLang="zh-CN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</a:t>
            </a:r>
            <a:endParaRPr lang="zh-CN" altLang="en-US" sz="8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2EA7BAB-E786-D43F-92DF-801B5F8C8A49}"/>
              </a:ext>
            </a:extLst>
          </p:cNvPr>
          <p:cNvSpPr/>
          <p:nvPr/>
        </p:nvSpPr>
        <p:spPr>
          <a:xfrm>
            <a:off x="968672" y="1261869"/>
            <a:ext cx="9874509" cy="783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市场的分歧度和流动性影响股价中长期的演绎方向和特征，用波动率和成交额上下行分别作分歧度和流动性最直观的度量，寻找</a:t>
            </a:r>
            <a:r>
              <a:rPr lang="zh-CN" altLang="en-US" sz="1600" dirty="0">
                <a:solidFill>
                  <a:srgbClr val="F79646"/>
                </a:solidFill>
              </a:rPr>
              <a:t>四象限内高胜率</a:t>
            </a:r>
            <a:r>
              <a:rPr lang="zh-CN" altLang="en-US" sz="1600" dirty="0">
                <a:solidFill>
                  <a:srgbClr val="000000"/>
                </a:solidFill>
              </a:rPr>
              <a:t>的市场状态，能一定程度上把握市场的牛熊，实现收益的增厚。</a:t>
            </a:r>
          </a:p>
        </p:txBody>
      </p:sp>
    </p:spTree>
    <p:extLst>
      <p:ext uri="{BB962C8B-B14F-4D97-AF65-F5344CB8AC3E}">
        <p14:creationId xmlns:p14="http://schemas.microsoft.com/office/powerpoint/2010/main" val="21453505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9BA5A81A-B2BE-9C17-A29F-0756ED345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1208" y="3474745"/>
            <a:ext cx="4335106" cy="288160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2.2</a:t>
            </a:r>
            <a:r>
              <a:rPr lang="zh-CN" altLang="en-US" dirty="0"/>
              <a:t> 中期</a:t>
            </a:r>
            <a:r>
              <a:rPr lang="en-US" altLang="zh-CN" dirty="0"/>
              <a:t>-</a:t>
            </a:r>
            <a:r>
              <a:rPr lang="zh-CN" altLang="en-US" dirty="0"/>
              <a:t>分歧度和流动性 </a:t>
            </a:r>
            <a:r>
              <a:rPr lang="zh-CN" altLang="en-US" sz="1600" dirty="0"/>
              <a:t>做高确定性的中期收益的增厚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23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968673" y="1261869"/>
            <a:ext cx="9616200" cy="18933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F79646"/>
                </a:solidFill>
              </a:rPr>
              <a:t>波动率下行和成交额上行</a:t>
            </a:r>
            <a:r>
              <a:rPr lang="zh-CN" altLang="en-US" sz="1600" dirty="0">
                <a:solidFill>
                  <a:srgbClr val="000000"/>
                </a:solidFill>
              </a:rPr>
              <a:t>的组合，实现了样本内</a:t>
            </a:r>
            <a:r>
              <a:rPr lang="en-US" altLang="zh-CN" sz="1600" dirty="0">
                <a:solidFill>
                  <a:srgbClr val="000000"/>
                </a:solidFill>
              </a:rPr>
              <a:t>85.7%</a:t>
            </a:r>
            <a:r>
              <a:rPr lang="zh-CN" altLang="en-US" sz="1600" dirty="0">
                <a:solidFill>
                  <a:srgbClr val="000000"/>
                </a:solidFill>
              </a:rPr>
              <a:t>的胜率。</a:t>
            </a:r>
          </a:p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波动率的刻画可以是多维度的，充分利用从指数到成分股、从日频到分钟频的信息作多维度的相互印证和补充，</a:t>
            </a:r>
            <a:r>
              <a:rPr lang="zh-CN" altLang="en-US" sz="1600" dirty="0">
                <a:solidFill>
                  <a:srgbClr val="F79646"/>
                </a:solidFill>
              </a:rPr>
              <a:t>是共振下确定性的提升，也是确定性下增量机会的挖掘</a:t>
            </a:r>
            <a:r>
              <a:rPr lang="zh-CN" altLang="en-US" sz="1600" dirty="0">
                <a:solidFill>
                  <a:srgbClr val="000000"/>
                </a:solidFill>
              </a:rPr>
              <a:t>。</a:t>
            </a:r>
          </a:p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波动率下行信号：</a:t>
            </a:r>
            <a:r>
              <a:rPr lang="en-US" altLang="zh-CN" sz="1600" dirty="0">
                <a:solidFill>
                  <a:srgbClr val="000000"/>
                </a:solidFill>
              </a:rPr>
              <a:t>5</a:t>
            </a:r>
            <a:r>
              <a:rPr lang="zh-CN" altLang="en-US" sz="1600" dirty="0">
                <a:solidFill>
                  <a:srgbClr val="000000"/>
                </a:solidFill>
              </a:rPr>
              <a:t>种波动率中至少有</a:t>
            </a:r>
            <a:r>
              <a:rPr lang="en-US" altLang="zh-CN" sz="1600" dirty="0">
                <a:solidFill>
                  <a:srgbClr val="000000"/>
                </a:solidFill>
              </a:rPr>
              <a:t>3</a:t>
            </a:r>
            <a:r>
              <a:rPr lang="zh-CN" altLang="en-US" sz="1600" dirty="0">
                <a:solidFill>
                  <a:srgbClr val="000000"/>
                </a:solidFill>
              </a:rPr>
              <a:t>种波动率处于下行状态看多，反之看空。</a:t>
            </a:r>
          </a:p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endParaRPr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BC4C0DA-25CC-4152-2AA1-B05C0A044F7D}"/>
              </a:ext>
            </a:extLst>
          </p:cNvPr>
          <p:cNvSpPr/>
          <p:nvPr/>
        </p:nvSpPr>
        <p:spPr>
          <a:xfrm>
            <a:off x="968673" y="3430508"/>
            <a:ext cx="3037179" cy="23039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普通日度波动率</a:t>
            </a: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上下行波动率</a:t>
            </a: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尾盘波动率</a:t>
            </a: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en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GK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波动率</a:t>
            </a: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波动率的波动率</a:t>
            </a: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指数成分股截面分歧度</a:t>
            </a:r>
            <a:endParaRPr lang="en-US" altLang="zh-CN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endParaRPr lang="zh-CN" altLang="en-US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5796C73B-D0F2-1D59-AD06-56C2868AA0C4}"/>
              </a:ext>
            </a:extLst>
          </p:cNvPr>
          <p:cNvSpPr/>
          <p:nvPr/>
        </p:nvSpPr>
        <p:spPr>
          <a:xfrm>
            <a:off x="3627988" y="3398108"/>
            <a:ext cx="4601548" cy="2958244"/>
          </a:xfrm>
          <a:prstGeom prst="roundRect">
            <a:avLst>
              <a:gd name="adj" fmla="val 2450"/>
            </a:avLst>
          </a:prstGeom>
          <a:noFill/>
          <a:ln>
            <a:solidFill>
              <a:srgbClr val="4F81B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1"/>
          </a:p>
        </p:txBody>
      </p:sp>
      <p:sp>
        <p:nvSpPr>
          <p:cNvPr id="8" name="内容占位符 11">
            <a:extLst>
              <a:ext uri="{FF2B5EF4-FFF2-40B4-BE49-F238E27FC236}">
                <a16:creationId xmlns:a16="http://schemas.microsoft.com/office/drawing/2014/main" id="{4D067522-C3D2-4A43-6F0A-DE1251DFA01B}"/>
              </a:ext>
            </a:extLst>
          </p:cNvPr>
          <p:cNvSpPr txBox="1">
            <a:spLocks/>
          </p:cNvSpPr>
          <p:nvPr/>
        </p:nvSpPr>
        <p:spPr>
          <a:xfrm>
            <a:off x="4095243" y="2899877"/>
            <a:ext cx="3667037" cy="360000"/>
          </a:xfrm>
          <a:prstGeom prst="rect">
            <a:avLst/>
          </a:prstGeom>
          <a:solidFill>
            <a:srgbClr val="EEEEE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kumimoji="0" lang="zh-CN" altLang="en-US" sz="1400" b="1" i="0" u="none" strike="noStrike" kern="1200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ea typeface="+mn-ea"/>
                <a:cs typeface="Times New Roman" pitchFamily="18" charset="0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/>
              <a:t>波动率增强指标回测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8B79047-652D-417C-B1C8-7CD8B58DC7F5}"/>
              </a:ext>
            </a:extLst>
          </p:cNvPr>
          <p:cNvSpPr/>
          <p:nvPr/>
        </p:nvSpPr>
        <p:spPr>
          <a:xfrm>
            <a:off x="8834480" y="2899877"/>
            <a:ext cx="3037179" cy="1657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rgbClr val="F5781B"/>
              </a:buClr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样本内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】</a:t>
            </a:r>
          </a:p>
          <a:p>
            <a:pPr algn="just">
              <a:lnSpc>
                <a:spcPct val="150000"/>
              </a:lnSpc>
              <a:buClr>
                <a:srgbClr val="F5781B"/>
              </a:buClr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年化收益：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10.81%</a:t>
            </a:r>
          </a:p>
          <a:p>
            <a:pPr algn="just">
              <a:lnSpc>
                <a:spcPct val="150000"/>
              </a:lnSpc>
              <a:buClr>
                <a:srgbClr val="F5781B"/>
              </a:buClr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胜率：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0.85</a:t>
            </a:r>
          </a:p>
          <a:p>
            <a:pPr algn="just">
              <a:lnSpc>
                <a:spcPct val="150000"/>
              </a:lnSpc>
              <a:buClr>
                <a:srgbClr val="F5781B"/>
              </a:buClr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盈亏比：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353.01</a:t>
            </a:r>
          </a:p>
          <a:p>
            <a:pPr algn="just">
              <a:lnSpc>
                <a:spcPct val="150000"/>
              </a:lnSpc>
              <a:buClr>
                <a:srgbClr val="F5781B"/>
              </a:buClr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年均交易次数：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1.19</a:t>
            </a:r>
            <a:endParaRPr lang="zh-CN" altLang="en-US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988F84B-2C0D-2BFB-2BEA-5B633FF56957}"/>
              </a:ext>
            </a:extLst>
          </p:cNvPr>
          <p:cNvSpPr/>
          <p:nvPr/>
        </p:nvSpPr>
        <p:spPr>
          <a:xfrm>
            <a:off x="8834480" y="4877230"/>
            <a:ext cx="3037179" cy="1277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rgbClr val="F5781B"/>
              </a:buClr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1400" b="1" dirty="0">
                <a:solidFill>
                  <a:srgbClr val="E8380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400" b="1" dirty="0">
                <a:solidFill>
                  <a:srgbClr val="E8380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zh-CN" altLang="en-US" sz="1400" b="1" dirty="0">
                <a:solidFill>
                  <a:srgbClr val="E8380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样本内</a:t>
            </a:r>
            <a:r>
              <a:rPr lang="en-US" altLang="zh-CN" sz="1400" b="1" dirty="0">
                <a:solidFill>
                  <a:srgbClr val="E8380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】</a:t>
            </a:r>
          </a:p>
          <a:p>
            <a:r>
              <a:rPr lang="zh-CN" altLang="en-US" sz="1400" b="1" dirty="0">
                <a:solidFill>
                  <a:srgbClr val="E8380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年化收益：</a:t>
            </a:r>
            <a:r>
              <a:rPr lang="en-US" altLang="zh-CN" sz="1400" b="1" dirty="0">
                <a:solidFill>
                  <a:srgbClr val="E8380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12.62%</a:t>
            </a:r>
          </a:p>
          <a:p>
            <a:r>
              <a:rPr lang="zh-CN" altLang="en-US" sz="1400" b="1" dirty="0">
                <a:solidFill>
                  <a:srgbClr val="E8380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胜率：</a:t>
            </a:r>
            <a:r>
              <a:rPr lang="en-US" altLang="zh-CN" sz="1400" b="1" dirty="0">
                <a:solidFill>
                  <a:srgbClr val="E8380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0.82</a:t>
            </a:r>
          </a:p>
          <a:p>
            <a:r>
              <a:rPr lang="zh-CN" altLang="en-US" sz="1400" b="1" dirty="0">
                <a:solidFill>
                  <a:srgbClr val="E8380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盈亏比：</a:t>
            </a:r>
            <a:r>
              <a:rPr lang="en-US" altLang="zh-CN" sz="1400" b="1" dirty="0">
                <a:solidFill>
                  <a:srgbClr val="E8380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6.25</a:t>
            </a:r>
          </a:p>
          <a:p>
            <a:r>
              <a:rPr lang="zh-CN" altLang="en-US" sz="1400" b="1" dirty="0">
                <a:solidFill>
                  <a:srgbClr val="E8380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年均交易次数：</a:t>
            </a:r>
            <a:r>
              <a:rPr lang="en-US" altLang="zh-CN" sz="1400" b="1" dirty="0">
                <a:solidFill>
                  <a:srgbClr val="E8380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2.91</a:t>
            </a:r>
            <a:endParaRPr lang="zh-CN" altLang="en-US" sz="1400" b="1" dirty="0">
              <a:solidFill>
                <a:srgbClr val="E8380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C860B0D-EAD0-AE46-EDB8-C0962D7A75A0}"/>
              </a:ext>
            </a:extLst>
          </p:cNvPr>
          <p:cNvSpPr txBox="1"/>
          <p:nvPr/>
        </p:nvSpPr>
        <p:spPr>
          <a:xfrm>
            <a:off x="3627885" y="6451848"/>
            <a:ext cx="47086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资料来源：</a:t>
            </a:r>
            <a:r>
              <a:rPr lang="en-US" altLang="zh-CN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</a:t>
            </a:r>
            <a:r>
              <a:rPr lang="zh-CN" altLang="en-US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800" dirty="0" err="1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Tushare</a:t>
            </a:r>
            <a:endParaRPr lang="zh-CN" altLang="en-US" sz="8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6400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7" grpId="0" animBg="1"/>
      <p:bldP spid="8" grpId="0" animBg="1"/>
      <p:bldP spid="11" grpId="0"/>
      <p:bldP spid="12" grpId="0"/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2.3</a:t>
            </a:r>
            <a:r>
              <a:rPr lang="zh-CN" altLang="en-US" dirty="0"/>
              <a:t> 长期</a:t>
            </a:r>
            <a:r>
              <a:rPr lang="en-US" altLang="zh-CN" dirty="0"/>
              <a:t>-</a:t>
            </a:r>
            <a:r>
              <a:rPr lang="zh-CN" altLang="en-US" dirty="0"/>
              <a:t>交易拥挤度 </a:t>
            </a:r>
            <a:r>
              <a:rPr lang="zh-CN" altLang="en-US" sz="1600" dirty="0"/>
              <a:t>降低潜在的顶部风险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>
          <a:xfrm>
            <a:off x="4562860" y="6267315"/>
            <a:ext cx="2844800" cy="365125"/>
          </a:xfrm>
        </p:spPr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968673" y="1261869"/>
            <a:ext cx="9616200" cy="783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从市场交易风险控制的角度出发，分析市场在短时间内是否存在交易过热的现象，能够帮助我们在市场顶部及时逃离，实现理智的止盈。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BC4C0DA-25CC-4152-2AA1-B05C0A044F7D}"/>
              </a:ext>
            </a:extLst>
          </p:cNvPr>
          <p:cNvSpPr/>
          <p:nvPr/>
        </p:nvSpPr>
        <p:spPr>
          <a:xfrm>
            <a:off x="7293654" y="2363449"/>
            <a:ext cx="3037179" cy="10113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警惕“天量”的出现</a:t>
            </a: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【20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40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60】【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正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】</a:t>
            </a: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endParaRPr lang="zh-CN" altLang="en-US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D1CE0D8D-70BE-F396-C5FD-CACF7D212EC8}"/>
              </a:ext>
            </a:extLst>
          </p:cNvPr>
          <p:cNvGrpSpPr/>
          <p:nvPr/>
        </p:nvGrpSpPr>
        <p:grpSpPr>
          <a:xfrm>
            <a:off x="3902223" y="2481916"/>
            <a:ext cx="3811183" cy="3389050"/>
            <a:chOff x="4383296" y="2520895"/>
            <a:chExt cx="3425390" cy="3045988"/>
          </a:xfrm>
        </p:grpSpPr>
        <p:sp>
          <p:nvSpPr>
            <p:cNvPr id="23" name="Freeform 45">
              <a:extLst>
                <a:ext uri="{FF2B5EF4-FFF2-40B4-BE49-F238E27FC236}">
                  <a16:creationId xmlns:a16="http://schemas.microsoft.com/office/drawing/2014/main" id="{25CE949A-487A-A688-FC55-71B2E171653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2615" y="3302220"/>
              <a:ext cx="510165" cy="741669"/>
            </a:xfrm>
            <a:custGeom>
              <a:avLst/>
              <a:gdLst>
                <a:gd name="T0" fmla="*/ 476 w 476"/>
                <a:gd name="T1" fmla="*/ 0 h 692"/>
                <a:gd name="T2" fmla="*/ 0 w 476"/>
                <a:gd name="T3" fmla="*/ 559 h 692"/>
                <a:gd name="T4" fmla="*/ 78 w 476"/>
                <a:gd name="T5" fmla="*/ 692 h 692"/>
                <a:gd name="T6" fmla="*/ 476 w 476"/>
                <a:gd name="T7" fmla="*/ 0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6" h="692">
                  <a:moveTo>
                    <a:pt x="476" y="0"/>
                  </a:moveTo>
                  <a:lnTo>
                    <a:pt x="0" y="559"/>
                  </a:lnTo>
                  <a:lnTo>
                    <a:pt x="78" y="692"/>
                  </a:lnTo>
                  <a:lnTo>
                    <a:pt x="476" y="0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09E8E84-426E-40dd-AFC4-6F175D3DCCD1}">
                <a14:hiddenFill xmlns="" xmlns:lc="http://schemas.openxmlformats.org/drawingml/2006/lockedCanvas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lc="http://schemas.openxmlformats.org/drawingml/2006/lockedCanvas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  <a:sym typeface="OPPOSans M" panose="00020600040101010101" pitchFamily="18" charset="-122"/>
              </a:endParaRPr>
            </a:p>
          </p:txBody>
        </p:sp>
        <p:sp>
          <p:nvSpPr>
            <p:cNvPr id="24" name="Freeform 46">
              <a:extLst>
                <a:ext uri="{FF2B5EF4-FFF2-40B4-BE49-F238E27FC236}">
                  <a16:creationId xmlns:a16="http://schemas.microsoft.com/office/drawing/2014/main" id="{6722B039-02AB-03BC-DF4B-8A097CB1FF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441102" y="4498322"/>
              <a:ext cx="81455" cy="144690"/>
            </a:xfrm>
            <a:custGeom>
              <a:avLst/>
              <a:gdLst>
                <a:gd name="T0" fmla="*/ 76 w 76"/>
                <a:gd name="T1" fmla="*/ 0 h 135"/>
                <a:gd name="T2" fmla="*/ 0 w 76"/>
                <a:gd name="T3" fmla="*/ 135 h 135"/>
                <a:gd name="T4" fmla="*/ 76 w 76"/>
                <a:gd name="T5" fmla="*/ 0 h 135"/>
                <a:gd name="T6" fmla="*/ 76 w 76"/>
                <a:gd name="T7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135">
                  <a:moveTo>
                    <a:pt x="76" y="0"/>
                  </a:moveTo>
                  <a:lnTo>
                    <a:pt x="0" y="135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lc="http://schemas.openxmlformats.org/drawingml/2006/lockedCanvas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  <a:sym typeface="OPPOSans M" panose="00020600040101010101" pitchFamily="18" charset="-122"/>
              </a:endParaRPr>
            </a:p>
          </p:txBody>
        </p:sp>
        <p:sp>
          <p:nvSpPr>
            <p:cNvPr id="25" name="Freeform 47">
              <a:extLst>
                <a:ext uri="{FF2B5EF4-FFF2-40B4-BE49-F238E27FC236}">
                  <a16:creationId xmlns:a16="http://schemas.microsoft.com/office/drawing/2014/main" id="{1FF21121-7B8F-0584-3002-60E3D3A2DE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41102" y="4498322"/>
              <a:ext cx="81455" cy="144690"/>
            </a:xfrm>
            <a:custGeom>
              <a:avLst/>
              <a:gdLst>
                <a:gd name="T0" fmla="*/ 76 w 76"/>
                <a:gd name="T1" fmla="*/ 0 h 135"/>
                <a:gd name="T2" fmla="*/ 0 w 76"/>
                <a:gd name="T3" fmla="*/ 135 h 135"/>
                <a:gd name="T4" fmla="*/ 76 w 76"/>
                <a:gd name="T5" fmla="*/ 0 h 135"/>
                <a:gd name="T6" fmla="*/ 76 w 76"/>
                <a:gd name="T7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135">
                  <a:moveTo>
                    <a:pt x="76" y="0"/>
                  </a:moveTo>
                  <a:lnTo>
                    <a:pt x="0" y="135"/>
                  </a:lnTo>
                  <a:lnTo>
                    <a:pt x="76" y="0"/>
                  </a:lnTo>
                  <a:lnTo>
                    <a:pt x="76" y="0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09E8E84-426E-40dd-AFC4-6F175D3DCCD1}">
                <a14:hiddenFill xmlns="" xmlns:lc="http://schemas.openxmlformats.org/drawingml/2006/lockedCanvas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lc="http://schemas.openxmlformats.org/drawingml/2006/lockedCanvas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  <a:sym typeface="OPPOSans M" panose="00020600040101010101" pitchFamily="18" charset="-122"/>
              </a:endParaRPr>
            </a:p>
          </p:txBody>
        </p:sp>
        <p:sp>
          <p:nvSpPr>
            <p:cNvPr id="26" name="Freeform 48">
              <a:extLst>
                <a:ext uri="{FF2B5EF4-FFF2-40B4-BE49-F238E27FC236}">
                  <a16:creationId xmlns:a16="http://schemas.microsoft.com/office/drawing/2014/main" id="{979A199A-5058-54BF-604B-DC423A0A8B45}"/>
                </a:ext>
              </a:extLst>
            </p:cNvPr>
            <p:cNvSpPr>
              <a:spLocks/>
            </p:cNvSpPr>
            <p:nvPr/>
          </p:nvSpPr>
          <p:spPr bwMode="auto">
            <a:xfrm>
              <a:off x="6441102" y="4498322"/>
              <a:ext cx="855276" cy="144690"/>
            </a:xfrm>
            <a:custGeom>
              <a:avLst/>
              <a:gdLst>
                <a:gd name="T0" fmla="*/ 76 w 798"/>
                <a:gd name="T1" fmla="*/ 0 h 135"/>
                <a:gd name="T2" fmla="*/ 0 w 798"/>
                <a:gd name="T3" fmla="*/ 135 h 135"/>
                <a:gd name="T4" fmla="*/ 798 w 798"/>
                <a:gd name="T5" fmla="*/ 135 h 135"/>
                <a:gd name="T6" fmla="*/ 76 w 798"/>
                <a:gd name="T7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98" h="135">
                  <a:moveTo>
                    <a:pt x="76" y="0"/>
                  </a:moveTo>
                  <a:lnTo>
                    <a:pt x="0" y="135"/>
                  </a:lnTo>
                  <a:lnTo>
                    <a:pt x="798" y="135"/>
                  </a:lnTo>
                  <a:lnTo>
                    <a:pt x="76" y="0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09E8E84-426E-40dd-AFC4-6F175D3DCCD1}">
                <a14:hiddenFill xmlns="" xmlns:lc="http://schemas.openxmlformats.org/drawingml/2006/lockedCanvas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lc="http://schemas.openxmlformats.org/drawingml/2006/lockedCanvas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  <a:sym typeface="OPPOSans M" panose="00020600040101010101" pitchFamily="18" charset="-122"/>
              </a:endParaRPr>
            </a:p>
          </p:txBody>
        </p:sp>
        <p:sp>
          <p:nvSpPr>
            <p:cNvPr id="27" name="Freeform 49">
              <a:extLst>
                <a:ext uri="{FF2B5EF4-FFF2-40B4-BE49-F238E27FC236}">
                  <a16:creationId xmlns:a16="http://schemas.microsoft.com/office/drawing/2014/main" id="{0B6A7B37-CBA8-EC2D-0AB4-4A95AFADBF88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0880" y="4643011"/>
              <a:ext cx="165053" cy="0"/>
            </a:xfrm>
            <a:custGeom>
              <a:avLst/>
              <a:gdLst>
                <a:gd name="T0" fmla="*/ 154 w 154"/>
                <a:gd name="T1" fmla="*/ 0 w 154"/>
                <a:gd name="T2" fmla="*/ 154 w 154"/>
                <a:gd name="T3" fmla="*/ 154 w 15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54">
                  <a:moveTo>
                    <a:pt x="154" y="0"/>
                  </a:moveTo>
                  <a:lnTo>
                    <a:pt x="0" y="0"/>
                  </a:lnTo>
                  <a:lnTo>
                    <a:pt x="154" y="0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lc="http://schemas.openxmlformats.org/drawingml/2006/lockedCanvas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  <a:sym typeface="OPPOSans M" panose="00020600040101010101" pitchFamily="18" charset="-122"/>
              </a:endParaRPr>
            </a:p>
          </p:txBody>
        </p:sp>
        <p:sp>
          <p:nvSpPr>
            <p:cNvPr id="28" name="Freeform 50">
              <a:extLst>
                <a:ext uri="{FF2B5EF4-FFF2-40B4-BE49-F238E27FC236}">
                  <a16:creationId xmlns:a16="http://schemas.microsoft.com/office/drawing/2014/main" id="{2AEC7E37-741A-C91E-2CA2-AC0E6E937B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0880" y="4643011"/>
              <a:ext cx="165053" cy="0"/>
            </a:xfrm>
            <a:custGeom>
              <a:avLst/>
              <a:gdLst>
                <a:gd name="T0" fmla="*/ 154 w 154"/>
                <a:gd name="T1" fmla="*/ 0 w 154"/>
                <a:gd name="T2" fmla="*/ 154 w 154"/>
                <a:gd name="T3" fmla="*/ 154 w 15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54">
                  <a:moveTo>
                    <a:pt x="154" y="0"/>
                  </a:moveTo>
                  <a:lnTo>
                    <a:pt x="0" y="0"/>
                  </a:lnTo>
                  <a:lnTo>
                    <a:pt x="154" y="0"/>
                  </a:lnTo>
                  <a:lnTo>
                    <a:pt x="154" y="0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09E8E84-426E-40dd-AFC4-6F175D3DCCD1}">
                <a14:hiddenFill xmlns="" xmlns:lc="http://schemas.openxmlformats.org/drawingml/2006/lockedCanvas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lc="http://schemas.openxmlformats.org/drawingml/2006/lockedCanvas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  <a:sym typeface="OPPOSans M" panose="00020600040101010101" pitchFamily="18" charset="-122"/>
              </a:endParaRPr>
            </a:p>
          </p:txBody>
        </p:sp>
        <p:sp>
          <p:nvSpPr>
            <p:cNvPr id="29" name="Freeform 51">
              <a:extLst>
                <a:ext uri="{FF2B5EF4-FFF2-40B4-BE49-F238E27FC236}">
                  <a16:creationId xmlns:a16="http://schemas.microsoft.com/office/drawing/2014/main" id="{1F6030C6-02CF-9190-9D2E-072E780D42AF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0880" y="4643011"/>
              <a:ext cx="426566" cy="740598"/>
            </a:xfrm>
            <a:custGeom>
              <a:avLst/>
              <a:gdLst>
                <a:gd name="T0" fmla="*/ 0 w 398"/>
                <a:gd name="T1" fmla="*/ 0 h 691"/>
                <a:gd name="T2" fmla="*/ 5 w 398"/>
                <a:gd name="T3" fmla="*/ 7 h 691"/>
                <a:gd name="T4" fmla="*/ 398 w 398"/>
                <a:gd name="T5" fmla="*/ 691 h 691"/>
                <a:gd name="T6" fmla="*/ 154 w 398"/>
                <a:gd name="T7" fmla="*/ 0 h 691"/>
                <a:gd name="T8" fmla="*/ 0 w 398"/>
                <a:gd name="T9" fmla="*/ 0 h 6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8" h="691">
                  <a:moveTo>
                    <a:pt x="0" y="0"/>
                  </a:moveTo>
                  <a:lnTo>
                    <a:pt x="5" y="7"/>
                  </a:lnTo>
                  <a:lnTo>
                    <a:pt x="398" y="691"/>
                  </a:lnTo>
                  <a:lnTo>
                    <a:pt x="154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09E8E84-426E-40dd-AFC4-6F175D3DCCD1}">
                <a14:hiddenFill xmlns="" xmlns:lc="http://schemas.openxmlformats.org/drawingml/2006/lockedCanvas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lc="http://schemas.openxmlformats.org/drawingml/2006/lockedCanvas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  <a:sym typeface="OPPOSans M" panose="00020600040101010101" pitchFamily="18" charset="-122"/>
              </a:endParaRPr>
            </a:p>
          </p:txBody>
        </p:sp>
        <p:sp>
          <p:nvSpPr>
            <p:cNvPr id="30" name="Freeform 52">
              <a:extLst>
                <a:ext uri="{FF2B5EF4-FFF2-40B4-BE49-F238E27FC236}">
                  <a16:creationId xmlns:a16="http://schemas.microsoft.com/office/drawing/2014/main" id="{6FFDCB35-33A7-C4FC-7024-D9E0327D55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7059" y="4043888"/>
              <a:ext cx="510165" cy="740598"/>
            </a:xfrm>
            <a:custGeom>
              <a:avLst/>
              <a:gdLst>
                <a:gd name="T0" fmla="*/ 400 w 476"/>
                <a:gd name="T1" fmla="*/ 0 h 691"/>
                <a:gd name="T2" fmla="*/ 0 w 476"/>
                <a:gd name="T3" fmla="*/ 691 h 691"/>
                <a:gd name="T4" fmla="*/ 400 w 476"/>
                <a:gd name="T5" fmla="*/ 0 h 691"/>
                <a:gd name="T6" fmla="*/ 476 w 476"/>
                <a:gd name="T7" fmla="*/ 132 h 691"/>
                <a:gd name="T8" fmla="*/ 476 w 476"/>
                <a:gd name="T9" fmla="*/ 132 h 691"/>
                <a:gd name="T10" fmla="*/ 400 w 476"/>
                <a:gd name="T11" fmla="*/ 0 h 6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6" h="691">
                  <a:moveTo>
                    <a:pt x="400" y="0"/>
                  </a:moveTo>
                  <a:lnTo>
                    <a:pt x="0" y="691"/>
                  </a:lnTo>
                  <a:lnTo>
                    <a:pt x="400" y="0"/>
                  </a:lnTo>
                  <a:lnTo>
                    <a:pt x="476" y="132"/>
                  </a:lnTo>
                  <a:lnTo>
                    <a:pt x="476" y="132"/>
                  </a:lnTo>
                  <a:lnTo>
                    <a:pt x="40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lc="http://schemas.openxmlformats.org/drawingml/2006/lockedCanvas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  <a:sym typeface="OPPOSans M" panose="00020600040101010101" pitchFamily="18" charset="-122"/>
              </a:endParaRPr>
            </a:p>
          </p:txBody>
        </p:sp>
        <p:sp>
          <p:nvSpPr>
            <p:cNvPr id="32" name="Freeform 53">
              <a:extLst>
                <a:ext uri="{FF2B5EF4-FFF2-40B4-BE49-F238E27FC236}">
                  <a16:creationId xmlns:a16="http://schemas.microsoft.com/office/drawing/2014/main" id="{1D085D12-C0BD-4360-5252-929C92EB30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7059" y="4043888"/>
              <a:ext cx="510165" cy="740598"/>
            </a:xfrm>
            <a:custGeom>
              <a:avLst/>
              <a:gdLst>
                <a:gd name="T0" fmla="*/ 400 w 476"/>
                <a:gd name="T1" fmla="*/ 0 h 691"/>
                <a:gd name="T2" fmla="*/ 0 w 476"/>
                <a:gd name="T3" fmla="*/ 691 h 691"/>
                <a:gd name="T4" fmla="*/ 400 w 476"/>
                <a:gd name="T5" fmla="*/ 0 h 691"/>
                <a:gd name="T6" fmla="*/ 476 w 476"/>
                <a:gd name="T7" fmla="*/ 132 h 691"/>
                <a:gd name="T8" fmla="*/ 476 w 476"/>
                <a:gd name="T9" fmla="*/ 132 h 691"/>
                <a:gd name="T10" fmla="*/ 400 w 476"/>
                <a:gd name="T11" fmla="*/ 0 h 6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6" h="691">
                  <a:moveTo>
                    <a:pt x="400" y="0"/>
                  </a:moveTo>
                  <a:lnTo>
                    <a:pt x="0" y="691"/>
                  </a:lnTo>
                  <a:lnTo>
                    <a:pt x="400" y="0"/>
                  </a:lnTo>
                  <a:lnTo>
                    <a:pt x="476" y="132"/>
                  </a:lnTo>
                  <a:lnTo>
                    <a:pt x="476" y="132"/>
                  </a:lnTo>
                  <a:lnTo>
                    <a:pt x="400" y="0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09E8E84-426E-40dd-AFC4-6F175D3DCCD1}">
                <a14:hiddenFill xmlns="" xmlns:lc="http://schemas.openxmlformats.org/drawingml/2006/lockedCanvas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lc="http://schemas.openxmlformats.org/drawingml/2006/lockedCanvas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  <a:sym typeface="OPPOSans M" panose="00020600040101010101" pitchFamily="18" charset="-122"/>
              </a:endParaRPr>
            </a:p>
          </p:txBody>
        </p:sp>
        <p:sp>
          <p:nvSpPr>
            <p:cNvPr id="33" name="Freeform 54">
              <a:extLst>
                <a:ext uri="{FF2B5EF4-FFF2-40B4-BE49-F238E27FC236}">
                  <a16:creationId xmlns:a16="http://schemas.microsoft.com/office/drawing/2014/main" id="{33E9F2DE-C2DA-45F1-DC38-166E7E39E1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7059" y="4043888"/>
              <a:ext cx="510165" cy="740598"/>
            </a:xfrm>
            <a:custGeom>
              <a:avLst/>
              <a:gdLst>
                <a:gd name="T0" fmla="*/ 400 w 476"/>
                <a:gd name="T1" fmla="*/ 0 h 691"/>
                <a:gd name="T2" fmla="*/ 0 w 476"/>
                <a:gd name="T3" fmla="*/ 691 h 691"/>
                <a:gd name="T4" fmla="*/ 476 w 476"/>
                <a:gd name="T5" fmla="*/ 132 h 691"/>
                <a:gd name="T6" fmla="*/ 400 w 476"/>
                <a:gd name="T7" fmla="*/ 0 h 6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76" h="691">
                  <a:moveTo>
                    <a:pt x="400" y="0"/>
                  </a:moveTo>
                  <a:lnTo>
                    <a:pt x="0" y="691"/>
                  </a:lnTo>
                  <a:lnTo>
                    <a:pt x="476" y="132"/>
                  </a:lnTo>
                  <a:lnTo>
                    <a:pt x="400" y="0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09E8E84-426E-40dd-AFC4-6F175D3DCCD1}">
                <a14:hiddenFill xmlns="" xmlns:lc="http://schemas.openxmlformats.org/drawingml/2006/lockedCanvas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lc="http://schemas.openxmlformats.org/drawingml/2006/lockedCanvas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  <a:sym typeface="OPPOSans M" panose="00020600040101010101" pitchFamily="18" charset="-122"/>
              </a:endParaRPr>
            </a:p>
          </p:txBody>
        </p:sp>
        <p:sp>
          <p:nvSpPr>
            <p:cNvPr id="34" name="Freeform 55">
              <a:extLst>
                <a:ext uri="{FF2B5EF4-FFF2-40B4-BE49-F238E27FC236}">
                  <a16:creationId xmlns:a16="http://schemas.microsoft.com/office/drawing/2014/main" id="{8E128291-D0EC-1653-4EBC-393DA39372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7281" y="3446909"/>
              <a:ext cx="83598" cy="142546"/>
            </a:xfrm>
            <a:custGeom>
              <a:avLst/>
              <a:gdLst>
                <a:gd name="T0" fmla="*/ 78 w 78"/>
                <a:gd name="T1" fmla="*/ 0 h 133"/>
                <a:gd name="T2" fmla="*/ 0 w 78"/>
                <a:gd name="T3" fmla="*/ 133 h 133"/>
                <a:gd name="T4" fmla="*/ 0 w 78"/>
                <a:gd name="T5" fmla="*/ 133 h 133"/>
                <a:gd name="T6" fmla="*/ 78 w 78"/>
                <a:gd name="T7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" h="133">
                  <a:moveTo>
                    <a:pt x="78" y="0"/>
                  </a:moveTo>
                  <a:lnTo>
                    <a:pt x="0" y="133"/>
                  </a:lnTo>
                  <a:lnTo>
                    <a:pt x="0" y="133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lc="http://schemas.openxmlformats.org/drawingml/2006/lockedCanvas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  <a:sym typeface="OPPOSans M" panose="00020600040101010101" pitchFamily="18" charset="-122"/>
              </a:endParaRPr>
            </a:p>
          </p:txBody>
        </p:sp>
        <p:sp>
          <p:nvSpPr>
            <p:cNvPr id="35" name="Freeform 56">
              <a:extLst>
                <a:ext uri="{FF2B5EF4-FFF2-40B4-BE49-F238E27FC236}">
                  <a16:creationId xmlns:a16="http://schemas.microsoft.com/office/drawing/2014/main" id="{77303B6C-A1A2-C493-1871-EFE5353ED59A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7281" y="3446909"/>
              <a:ext cx="83598" cy="142546"/>
            </a:xfrm>
            <a:custGeom>
              <a:avLst/>
              <a:gdLst>
                <a:gd name="T0" fmla="*/ 78 w 78"/>
                <a:gd name="T1" fmla="*/ 0 h 133"/>
                <a:gd name="T2" fmla="*/ 0 w 78"/>
                <a:gd name="T3" fmla="*/ 133 h 133"/>
                <a:gd name="T4" fmla="*/ 0 w 78"/>
                <a:gd name="T5" fmla="*/ 133 h 133"/>
                <a:gd name="T6" fmla="*/ 78 w 78"/>
                <a:gd name="T7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" h="133">
                  <a:moveTo>
                    <a:pt x="78" y="0"/>
                  </a:moveTo>
                  <a:lnTo>
                    <a:pt x="0" y="133"/>
                  </a:lnTo>
                  <a:lnTo>
                    <a:pt x="0" y="133"/>
                  </a:lnTo>
                  <a:lnTo>
                    <a:pt x="78" y="0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09E8E84-426E-40dd-AFC4-6F175D3DCCD1}">
                <a14:hiddenFill xmlns="" xmlns:lc="http://schemas.openxmlformats.org/drawingml/2006/lockedCanvas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lc="http://schemas.openxmlformats.org/drawingml/2006/lockedCanvas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  <a:sym typeface="OPPOSans M" panose="00020600040101010101" pitchFamily="18" charset="-122"/>
              </a:endParaRPr>
            </a:p>
          </p:txBody>
        </p:sp>
        <p:sp>
          <p:nvSpPr>
            <p:cNvPr id="36" name="Freeform 57">
              <a:extLst>
                <a:ext uri="{FF2B5EF4-FFF2-40B4-BE49-F238E27FC236}">
                  <a16:creationId xmlns:a16="http://schemas.microsoft.com/office/drawing/2014/main" id="{9A3EBDB7-B0DE-79D9-14E8-99173D7B63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3461" y="3446909"/>
              <a:ext cx="857419" cy="142546"/>
            </a:xfrm>
            <a:custGeom>
              <a:avLst/>
              <a:gdLst>
                <a:gd name="T0" fmla="*/ 800 w 800"/>
                <a:gd name="T1" fmla="*/ 0 h 133"/>
                <a:gd name="T2" fmla="*/ 0 w 800"/>
                <a:gd name="T3" fmla="*/ 0 h 133"/>
                <a:gd name="T4" fmla="*/ 722 w 800"/>
                <a:gd name="T5" fmla="*/ 133 h 133"/>
                <a:gd name="T6" fmla="*/ 800 w 800"/>
                <a:gd name="T7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00" h="133">
                  <a:moveTo>
                    <a:pt x="800" y="0"/>
                  </a:moveTo>
                  <a:lnTo>
                    <a:pt x="0" y="0"/>
                  </a:lnTo>
                  <a:lnTo>
                    <a:pt x="722" y="133"/>
                  </a:lnTo>
                  <a:lnTo>
                    <a:pt x="800" y="0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09E8E84-426E-40dd-AFC4-6F175D3DCCD1}">
                <a14:hiddenFill xmlns="" xmlns:lc="http://schemas.openxmlformats.org/drawingml/2006/lockedCanvas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lc="http://schemas.openxmlformats.org/drawingml/2006/lockedCanvas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  <a:sym typeface="OPPOSans M" panose="00020600040101010101" pitchFamily="18" charset="-122"/>
              </a:endParaRPr>
            </a:p>
          </p:txBody>
        </p:sp>
        <p:sp>
          <p:nvSpPr>
            <p:cNvPr id="37" name="Freeform 58">
              <a:extLst>
                <a:ext uri="{FF2B5EF4-FFF2-40B4-BE49-F238E27FC236}">
                  <a16:creationId xmlns:a16="http://schemas.microsoft.com/office/drawing/2014/main" id="{0E2800F3-5A97-C67A-8071-6D838FC3F07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6049" y="3446909"/>
              <a:ext cx="165053" cy="0"/>
            </a:xfrm>
            <a:custGeom>
              <a:avLst/>
              <a:gdLst>
                <a:gd name="T0" fmla="*/ 0 w 154"/>
                <a:gd name="T1" fmla="*/ 0 w 154"/>
                <a:gd name="T2" fmla="*/ 154 w 154"/>
                <a:gd name="T3" fmla="*/ 0 w 15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54">
                  <a:moveTo>
                    <a:pt x="0" y="0"/>
                  </a:moveTo>
                  <a:lnTo>
                    <a:pt x="0" y="0"/>
                  </a:lnTo>
                  <a:lnTo>
                    <a:pt x="1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lc="http://schemas.openxmlformats.org/drawingml/2006/lockedCanvas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  <a:sym typeface="OPPOSans M" panose="00020600040101010101" pitchFamily="18" charset="-122"/>
              </a:endParaRPr>
            </a:p>
          </p:txBody>
        </p:sp>
        <p:sp>
          <p:nvSpPr>
            <p:cNvPr id="38" name="Freeform 59">
              <a:extLst>
                <a:ext uri="{FF2B5EF4-FFF2-40B4-BE49-F238E27FC236}">
                  <a16:creationId xmlns:a16="http://schemas.microsoft.com/office/drawing/2014/main" id="{355E06A0-7229-6BAE-2072-C0495EDC20A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6049" y="3446909"/>
              <a:ext cx="165053" cy="0"/>
            </a:xfrm>
            <a:custGeom>
              <a:avLst/>
              <a:gdLst>
                <a:gd name="T0" fmla="*/ 0 w 154"/>
                <a:gd name="T1" fmla="*/ 0 w 154"/>
                <a:gd name="T2" fmla="*/ 154 w 154"/>
                <a:gd name="T3" fmla="*/ 0 w 15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54">
                  <a:moveTo>
                    <a:pt x="0" y="0"/>
                  </a:moveTo>
                  <a:lnTo>
                    <a:pt x="0" y="0"/>
                  </a:lnTo>
                  <a:lnTo>
                    <a:pt x="154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09E8E84-426E-40dd-AFC4-6F175D3DCCD1}">
                <a14:hiddenFill xmlns="" xmlns:lc="http://schemas.openxmlformats.org/drawingml/2006/lockedCanvas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lc="http://schemas.openxmlformats.org/drawingml/2006/lockedCanvas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  <a:sym typeface="OPPOSans M" panose="00020600040101010101" pitchFamily="18" charset="-122"/>
              </a:endParaRPr>
            </a:p>
          </p:txBody>
        </p:sp>
        <p:sp>
          <p:nvSpPr>
            <p:cNvPr id="39" name="Freeform 60">
              <a:extLst>
                <a:ext uri="{FF2B5EF4-FFF2-40B4-BE49-F238E27FC236}">
                  <a16:creationId xmlns:a16="http://schemas.microsoft.com/office/drawing/2014/main" id="{70E604E0-28C4-9510-8F51-B9D534A4DCF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2393" y="2706312"/>
              <a:ext cx="428710" cy="740598"/>
            </a:xfrm>
            <a:custGeom>
              <a:avLst/>
              <a:gdLst>
                <a:gd name="T0" fmla="*/ 0 w 400"/>
                <a:gd name="T1" fmla="*/ 0 h 691"/>
                <a:gd name="T2" fmla="*/ 246 w 400"/>
                <a:gd name="T3" fmla="*/ 691 h 691"/>
                <a:gd name="T4" fmla="*/ 400 w 400"/>
                <a:gd name="T5" fmla="*/ 691 h 691"/>
                <a:gd name="T6" fmla="*/ 182 w 400"/>
                <a:gd name="T7" fmla="*/ 315 h 691"/>
                <a:gd name="T8" fmla="*/ 0 w 400"/>
                <a:gd name="T9" fmla="*/ 0 h 6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0" h="691">
                  <a:moveTo>
                    <a:pt x="0" y="0"/>
                  </a:moveTo>
                  <a:lnTo>
                    <a:pt x="246" y="691"/>
                  </a:lnTo>
                  <a:lnTo>
                    <a:pt x="400" y="691"/>
                  </a:lnTo>
                  <a:lnTo>
                    <a:pt x="182" y="315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09E8E84-426E-40dd-AFC4-6F175D3DCCD1}">
                <a14:hiddenFill xmlns="" xmlns:lc="http://schemas.openxmlformats.org/drawingml/2006/lockedCanvas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lc="http://schemas.openxmlformats.org/drawingml/2006/lockedCanvas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  <a:sym typeface="OPPOSans M" panose="00020600040101010101" pitchFamily="18" charset="-122"/>
              </a:endParaRPr>
            </a:p>
          </p:txBody>
        </p:sp>
        <p:sp>
          <p:nvSpPr>
            <p:cNvPr id="40" name="Freeform 61">
              <a:extLst>
                <a:ext uri="{FF2B5EF4-FFF2-40B4-BE49-F238E27FC236}">
                  <a16:creationId xmlns:a16="http://schemas.microsoft.com/office/drawing/2014/main" id="{5057C079-2EC2-B4D9-D3C4-392E1E426C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8713" y="2520895"/>
              <a:ext cx="1872389" cy="1121077"/>
            </a:xfrm>
            <a:custGeom>
              <a:avLst/>
              <a:gdLst>
                <a:gd name="T0" fmla="*/ 569 w 738"/>
                <a:gd name="T1" fmla="*/ 73 h 442"/>
                <a:gd name="T2" fmla="*/ 438 w 738"/>
                <a:gd name="T3" fmla="*/ 0 h 442"/>
                <a:gd name="T4" fmla="*/ 335 w 738"/>
                <a:gd name="T5" fmla="*/ 0 h 442"/>
                <a:gd name="T6" fmla="*/ 215 w 738"/>
                <a:gd name="T7" fmla="*/ 69 h 442"/>
                <a:gd name="T8" fmla="*/ 0 w 738"/>
                <a:gd name="T9" fmla="*/ 442 h 442"/>
                <a:gd name="T10" fmla="*/ 128 w 738"/>
                <a:gd name="T11" fmla="*/ 365 h 442"/>
                <a:gd name="T12" fmla="*/ 738 w 738"/>
                <a:gd name="T13" fmla="*/ 365 h 442"/>
                <a:gd name="T14" fmla="*/ 569 w 738"/>
                <a:gd name="T15" fmla="*/ 73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38" h="442">
                  <a:moveTo>
                    <a:pt x="569" y="73"/>
                  </a:moveTo>
                  <a:cubicBezTo>
                    <a:pt x="542" y="29"/>
                    <a:pt x="493" y="0"/>
                    <a:pt x="438" y="0"/>
                  </a:cubicBezTo>
                  <a:cubicBezTo>
                    <a:pt x="335" y="0"/>
                    <a:pt x="335" y="0"/>
                    <a:pt x="335" y="0"/>
                  </a:cubicBezTo>
                  <a:cubicBezTo>
                    <a:pt x="291" y="0"/>
                    <a:pt x="237" y="31"/>
                    <a:pt x="215" y="69"/>
                  </a:cubicBezTo>
                  <a:cubicBezTo>
                    <a:pt x="0" y="442"/>
                    <a:pt x="0" y="442"/>
                    <a:pt x="0" y="442"/>
                  </a:cubicBezTo>
                  <a:cubicBezTo>
                    <a:pt x="28" y="394"/>
                    <a:pt x="77" y="367"/>
                    <a:pt x="128" y="365"/>
                  </a:cubicBezTo>
                  <a:cubicBezTo>
                    <a:pt x="738" y="365"/>
                    <a:pt x="738" y="365"/>
                    <a:pt x="738" y="365"/>
                  </a:cubicBezTo>
                  <a:cubicBezTo>
                    <a:pt x="569" y="73"/>
                    <a:pt x="569" y="73"/>
                    <a:pt x="569" y="73"/>
                  </a:cubicBezTo>
                </a:path>
              </a:pathLst>
            </a:custGeom>
            <a:solidFill>
              <a:srgbClr val="4F81BD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  <a:sym typeface="OPPOSans M" panose="00020600040101010101" pitchFamily="18" charset="-122"/>
              </a:endParaRPr>
            </a:p>
          </p:txBody>
        </p:sp>
        <p:sp>
          <p:nvSpPr>
            <p:cNvPr id="41" name="Freeform 64">
              <a:extLst>
                <a:ext uri="{FF2B5EF4-FFF2-40B4-BE49-F238E27FC236}">
                  <a16:creationId xmlns:a16="http://schemas.microsoft.com/office/drawing/2014/main" id="{9A2BA698-5A83-F5BB-3F31-EB9E542854C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0143" y="2520895"/>
              <a:ext cx="1595872" cy="1522994"/>
            </a:xfrm>
            <a:custGeom>
              <a:avLst/>
              <a:gdLst>
                <a:gd name="T0" fmla="*/ 604 w 629"/>
                <a:gd name="T1" fmla="*/ 308 h 600"/>
                <a:gd name="T2" fmla="*/ 602 w 629"/>
                <a:gd name="T3" fmla="*/ 158 h 600"/>
                <a:gd name="T4" fmla="*/ 550 w 629"/>
                <a:gd name="T5" fmla="*/ 69 h 600"/>
                <a:gd name="T6" fmla="*/ 430 w 629"/>
                <a:gd name="T7" fmla="*/ 0 h 600"/>
                <a:gd name="T8" fmla="*/ 0 w 629"/>
                <a:gd name="T9" fmla="*/ 0 h 600"/>
                <a:gd name="T10" fmla="*/ 131 w 629"/>
                <a:gd name="T11" fmla="*/ 73 h 600"/>
                <a:gd name="T12" fmla="*/ 436 w 629"/>
                <a:gd name="T13" fmla="*/ 600 h 600"/>
                <a:gd name="T14" fmla="*/ 604 w 629"/>
                <a:gd name="T15" fmla="*/ 30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29" h="600">
                  <a:moveTo>
                    <a:pt x="604" y="308"/>
                  </a:moveTo>
                  <a:cubicBezTo>
                    <a:pt x="628" y="262"/>
                    <a:pt x="629" y="206"/>
                    <a:pt x="602" y="158"/>
                  </a:cubicBezTo>
                  <a:cubicBezTo>
                    <a:pt x="550" y="69"/>
                    <a:pt x="550" y="69"/>
                    <a:pt x="550" y="69"/>
                  </a:cubicBezTo>
                  <a:cubicBezTo>
                    <a:pt x="528" y="31"/>
                    <a:pt x="474" y="0"/>
                    <a:pt x="43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5" y="0"/>
                    <a:pt x="104" y="29"/>
                    <a:pt x="131" y="73"/>
                  </a:cubicBezTo>
                  <a:cubicBezTo>
                    <a:pt x="436" y="600"/>
                    <a:pt x="436" y="600"/>
                    <a:pt x="436" y="600"/>
                  </a:cubicBezTo>
                  <a:cubicBezTo>
                    <a:pt x="604" y="308"/>
                    <a:pt x="604" y="308"/>
                    <a:pt x="604" y="308"/>
                  </a:cubicBezTo>
                </a:path>
              </a:pathLst>
            </a:custGeom>
            <a:solidFill>
              <a:srgbClr val="FDBE94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  <a:sym typeface="OPPOSans M" panose="00020600040101010101" pitchFamily="18" charset="-122"/>
              </a:endParaRPr>
            </a:p>
          </p:txBody>
        </p:sp>
        <p:sp>
          <p:nvSpPr>
            <p:cNvPr id="42" name="Freeform 67">
              <a:extLst>
                <a:ext uri="{FF2B5EF4-FFF2-40B4-BE49-F238E27FC236}">
                  <a16:creationId xmlns:a16="http://schemas.microsoft.com/office/drawing/2014/main" id="{B10B0716-CC17-32E8-7086-8ABD86367089}"/>
                </a:ext>
              </a:extLst>
            </p:cNvPr>
            <p:cNvSpPr>
              <a:spLocks/>
            </p:cNvSpPr>
            <p:nvPr/>
          </p:nvSpPr>
          <p:spPr bwMode="auto">
            <a:xfrm>
              <a:off x="6441102" y="2921739"/>
              <a:ext cx="1367584" cy="1721272"/>
            </a:xfrm>
            <a:custGeom>
              <a:avLst/>
              <a:gdLst>
                <a:gd name="T0" fmla="*/ 337 w 539"/>
                <a:gd name="T1" fmla="*/ 678 h 678"/>
                <a:gd name="T2" fmla="*/ 466 w 539"/>
                <a:gd name="T3" fmla="*/ 600 h 678"/>
                <a:gd name="T4" fmla="*/ 517 w 539"/>
                <a:gd name="T5" fmla="*/ 511 h 678"/>
                <a:gd name="T6" fmla="*/ 517 w 539"/>
                <a:gd name="T7" fmla="*/ 373 h 678"/>
                <a:gd name="T8" fmla="*/ 302 w 539"/>
                <a:gd name="T9" fmla="*/ 0 h 678"/>
                <a:gd name="T10" fmla="*/ 304 w 539"/>
                <a:gd name="T11" fmla="*/ 150 h 678"/>
                <a:gd name="T12" fmla="*/ 0 w 539"/>
                <a:gd name="T13" fmla="*/ 678 h 678"/>
                <a:gd name="T14" fmla="*/ 337 w 539"/>
                <a:gd name="T15" fmla="*/ 678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39" h="678">
                  <a:moveTo>
                    <a:pt x="337" y="678"/>
                  </a:moveTo>
                  <a:cubicBezTo>
                    <a:pt x="389" y="676"/>
                    <a:pt x="438" y="648"/>
                    <a:pt x="466" y="600"/>
                  </a:cubicBezTo>
                  <a:cubicBezTo>
                    <a:pt x="517" y="511"/>
                    <a:pt x="517" y="511"/>
                    <a:pt x="517" y="511"/>
                  </a:cubicBezTo>
                  <a:cubicBezTo>
                    <a:pt x="539" y="473"/>
                    <a:pt x="539" y="411"/>
                    <a:pt x="517" y="373"/>
                  </a:cubicBezTo>
                  <a:cubicBezTo>
                    <a:pt x="302" y="0"/>
                    <a:pt x="302" y="0"/>
                    <a:pt x="302" y="0"/>
                  </a:cubicBezTo>
                  <a:cubicBezTo>
                    <a:pt x="329" y="48"/>
                    <a:pt x="328" y="104"/>
                    <a:pt x="304" y="150"/>
                  </a:cubicBezTo>
                  <a:cubicBezTo>
                    <a:pt x="0" y="678"/>
                    <a:pt x="0" y="678"/>
                    <a:pt x="0" y="678"/>
                  </a:cubicBezTo>
                  <a:cubicBezTo>
                    <a:pt x="337" y="678"/>
                    <a:pt x="337" y="678"/>
                    <a:pt x="337" y="678"/>
                  </a:cubicBezTo>
                </a:path>
              </a:pathLst>
            </a:custGeom>
            <a:solidFill>
              <a:srgbClr val="4F81BD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  <a:sym typeface="OPPOSans M" panose="00020600040101010101" pitchFamily="18" charset="-122"/>
              </a:endParaRPr>
            </a:p>
          </p:txBody>
        </p:sp>
        <p:sp>
          <p:nvSpPr>
            <p:cNvPr id="43" name="Freeform 70">
              <a:extLst>
                <a:ext uri="{FF2B5EF4-FFF2-40B4-BE49-F238E27FC236}">
                  <a16:creationId xmlns:a16="http://schemas.microsoft.com/office/drawing/2014/main" id="{C84CEF7A-C921-ED0B-0BCB-9A3DDCCA3A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0880" y="4444733"/>
              <a:ext cx="1872389" cy="1122149"/>
            </a:xfrm>
            <a:custGeom>
              <a:avLst/>
              <a:gdLst>
                <a:gd name="T0" fmla="*/ 168 w 738"/>
                <a:gd name="T1" fmla="*/ 370 h 442"/>
                <a:gd name="T2" fmla="*/ 300 w 738"/>
                <a:gd name="T3" fmla="*/ 442 h 442"/>
                <a:gd name="T4" fmla="*/ 402 w 738"/>
                <a:gd name="T5" fmla="*/ 442 h 442"/>
                <a:gd name="T6" fmla="*/ 522 w 738"/>
                <a:gd name="T7" fmla="*/ 373 h 442"/>
                <a:gd name="T8" fmla="*/ 738 w 738"/>
                <a:gd name="T9" fmla="*/ 0 h 442"/>
                <a:gd name="T10" fmla="*/ 609 w 738"/>
                <a:gd name="T11" fmla="*/ 78 h 442"/>
                <a:gd name="T12" fmla="*/ 0 w 738"/>
                <a:gd name="T13" fmla="*/ 78 h 442"/>
                <a:gd name="T14" fmla="*/ 168 w 738"/>
                <a:gd name="T15" fmla="*/ 370 h 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38" h="442">
                  <a:moveTo>
                    <a:pt x="168" y="370"/>
                  </a:moveTo>
                  <a:cubicBezTo>
                    <a:pt x="196" y="413"/>
                    <a:pt x="244" y="442"/>
                    <a:pt x="300" y="442"/>
                  </a:cubicBezTo>
                  <a:cubicBezTo>
                    <a:pt x="402" y="442"/>
                    <a:pt x="402" y="442"/>
                    <a:pt x="402" y="442"/>
                  </a:cubicBezTo>
                  <a:cubicBezTo>
                    <a:pt x="446" y="442"/>
                    <a:pt x="500" y="411"/>
                    <a:pt x="522" y="373"/>
                  </a:cubicBezTo>
                  <a:cubicBezTo>
                    <a:pt x="738" y="0"/>
                    <a:pt x="738" y="0"/>
                    <a:pt x="738" y="0"/>
                  </a:cubicBezTo>
                  <a:cubicBezTo>
                    <a:pt x="710" y="48"/>
                    <a:pt x="661" y="76"/>
                    <a:pt x="609" y="78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168" y="370"/>
                    <a:pt x="168" y="370"/>
                    <a:pt x="168" y="370"/>
                  </a:cubicBezTo>
                </a:path>
              </a:pathLst>
            </a:custGeom>
            <a:solidFill>
              <a:srgbClr val="FDBE94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  <a:sym typeface="OPPOSans M" panose="00020600040101010101" pitchFamily="18" charset="-122"/>
              </a:endParaRPr>
            </a:p>
          </p:txBody>
        </p:sp>
        <p:sp>
          <p:nvSpPr>
            <p:cNvPr id="44" name="Freeform 73">
              <a:extLst>
                <a:ext uri="{FF2B5EF4-FFF2-40B4-BE49-F238E27FC236}">
                  <a16:creationId xmlns:a16="http://schemas.microsoft.com/office/drawing/2014/main" id="{162DFC16-4DF7-F73F-06F1-543D71F6C0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3825" y="4043889"/>
              <a:ext cx="1598016" cy="1522994"/>
            </a:xfrm>
            <a:custGeom>
              <a:avLst/>
              <a:gdLst>
                <a:gd name="T0" fmla="*/ 25 w 630"/>
                <a:gd name="T1" fmla="*/ 292 h 600"/>
                <a:gd name="T2" fmla="*/ 28 w 630"/>
                <a:gd name="T3" fmla="*/ 442 h 600"/>
                <a:gd name="T4" fmla="*/ 79 w 630"/>
                <a:gd name="T5" fmla="*/ 531 h 600"/>
                <a:gd name="T6" fmla="*/ 199 w 630"/>
                <a:gd name="T7" fmla="*/ 600 h 600"/>
                <a:gd name="T8" fmla="*/ 630 w 630"/>
                <a:gd name="T9" fmla="*/ 600 h 600"/>
                <a:gd name="T10" fmla="*/ 498 w 630"/>
                <a:gd name="T11" fmla="*/ 528 h 600"/>
                <a:gd name="T12" fmla="*/ 194 w 630"/>
                <a:gd name="T13" fmla="*/ 0 h 600"/>
                <a:gd name="T14" fmla="*/ 25 w 630"/>
                <a:gd name="T15" fmla="*/ 292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30" h="600">
                  <a:moveTo>
                    <a:pt x="25" y="292"/>
                  </a:moveTo>
                  <a:cubicBezTo>
                    <a:pt x="1" y="338"/>
                    <a:pt x="0" y="394"/>
                    <a:pt x="28" y="442"/>
                  </a:cubicBezTo>
                  <a:cubicBezTo>
                    <a:pt x="79" y="531"/>
                    <a:pt x="79" y="531"/>
                    <a:pt x="79" y="531"/>
                  </a:cubicBezTo>
                  <a:cubicBezTo>
                    <a:pt x="101" y="569"/>
                    <a:pt x="155" y="600"/>
                    <a:pt x="199" y="600"/>
                  </a:cubicBezTo>
                  <a:cubicBezTo>
                    <a:pt x="630" y="600"/>
                    <a:pt x="630" y="600"/>
                    <a:pt x="630" y="600"/>
                  </a:cubicBezTo>
                  <a:cubicBezTo>
                    <a:pt x="574" y="600"/>
                    <a:pt x="526" y="571"/>
                    <a:pt x="498" y="528"/>
                  </a:cubicBezTo>
                  <a:cubicBezTo>
                    <a:pt x="194" y="0"/>
                    <a:pt x="194" y="0"/>
                    <a:pt x="194" y="0"/>
                  </a:cubicBezTo>
                  <a:cubicBezTo>
                    <a:pt x="25" y="292"/>
                    <a:pt x="25" y="292"/>
                    <a:pt x="25" y="292"/>
                  </a:cubicBezTo>
                </a:path>
              </a:pathLst>
            </a:custGeom>
            <a:solidFill>
              <a:srgbClr val="4F81BD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  <a:sym typeface="OPPOSans M" panose="00020600040101010101" pitchFamily="18" charset="-122"/>
              </a:endParaRPr>
            </a:p>
          </p:txBody>
        </p:sp>
        <p:sp>
          <p:nvSpPr>
            <p:cNvPr id="45" name="Freeform 76">
              <a:extLst>
                <a:ext uri="{FF2B5EF4-FFF2-40B4-BE49-F238E27FC236}">
                  <a16:creationId xmlns:a16="http://schemas.microsoft.com/office/drawing/2014/main" id="{EEDE763B-9183-4A2E-EA55-950B046095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3296" y="3446909"/>
              <a:ext cx="1367584" cy="1718057"/>
            </a:xfrm>
            <a:custGeom>
              <a:avLst/>
              <a:gdLst>
                <a:gd name="T0" fmla="*/ 201 w 539"/>
                <a:gd name="T1" fmla="*/ 0 h 677"/>
                <a:gd name="T2" fmla="*/ 73 w 539"/>
                <a:gd name="T3" fmla="*/ 77 h 677"/>
                <a:gd name="T4" fmla="*/ 22 w 539"/>
                <a:gd name="T5" fmla="*/ 166 h 677"/>
                <a:gd name="T6" fmla="*/ 22 w 539"/>
                <a:gd name="T7" fmla="*/ 304 h 677"/>
                <a:gd name="T8" fmla="*/ 237 w 539"/>
                <a:gd name="T9" fmla="*/ 677 h 677"/>
                <a:gd name="T10" fmla="*/ 234 w 539"/>
                <a:gd name="T11" fmla="*/ 527 h 677"/>
                <a:gd name="T12" fmla="*/ 539 w 539"/>
                <a:gd name="T13" fmla="*/ 0 h 677"/>
                <a:gd name="T14" fmla="*/ 201 w 539"/>
                <a:gd name="T15" fmla="*/ 0 h 6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39" h="677">
                  <a:moveTo>
                    <a:pt x="201" y="0"/>
                  </a:moveTo>
                  <a:cubicBezTo>
                    <a:pt x="150" y="2"/>
                    <a:pt x="101" y="29"/>
                    <a:pt x="73" y="77"/>
                  </a:cubicBezTo>
                  <a:cubicBezTo>
                    <a:pt x="22" y="166"/>
                    <a:pt x="22" y="166"/>
                    <a:pt x="22" y="166"/>
                  </a:cubicBezTo>
                  <a:cubicBezTo>
                    <a:pt x="0" y="204"/>
                    <a:pt x="0" y="266"/>
                    <a:pt x="22" y="304"/>
                  </a:cubicBezTo>
                  <a:cubicBezTo>
                    <a:pt x="237" y="677"/>
                    <a:pt x="237" y="677"/>
                    <a:pt x="237" y="677"/>
                  </a:cubicBezTo>
                  <a:cubicBezTo>
                    <a:pt x="209" y="629"/>
                    <a:pt x="210" y="573"/>
                    <a:pt x="234" y="527"/>
                  </a:cubicBezTo>
                  <a:cubicBezTo>
                    <a:pt x="539" y="0"/>
                    <a:pt x="539" y="0"/>
                    <a:pt x="539" y="0"/>
                  </a:cubicBezTo>
                  <a:cubicBezTo>
                    <a:pt x="201" y="0"/>
                    <a:pt x="201" y="0"/>
                    <a:pt x="201" y="0"/>
                  </a:cubicBezTo>
                </a:path>
              </a:pathLst>
            </a:custGeom>
            <a:solidFill>
              <a:srgbClr val="FDBE94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M" panose="00020600040101010101" pitchFamily="18" charset="-122"/>
                <a:ea typeface="OPPOSans M" panose="00020600040101010101" pitchFamily="18" charset="-122"/>
                <a:cs typeface="OPPOSans M" panose="00020600040101010101" pitchFamily="18" charset="-122"/>
                <a:sym typeface="OPPOSans M" panose="00020600040101010101" pitchFamily="18" charset="-122"/>
              </a:endParaRPr>
            </a:p>
          </p:txBody>
        </p:sp>
      </p:grpSp>
      <p:sp>
        <p:nvSpPr>
          <p:cNvPr id="46" name="文本框 45">
            <a:extLst>
              <a:ext uri="{FF2B5EF4-FFF2-40B4-BE49-F238E27FC236}">
                <a16:creationId xmlns:a16="http://schemas.microsoft.com/office/drawing/2014/main" id="{E2181C39-0321-F822-759F-78F045B62E0A}"/>
              </a:ext>
            </a:extLst>
          </p:cNvPr>
          <p:cNvSpPr txBox="1"/>
          <p:nvPr/>
        </p:nvSpPr>
        <p:spPr>
          <a:xfrm>
            <a:off x="4815841" y="2869160"/>
            <a:ext cx="868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</a:rPr>
              <a:t>动量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020C4DB6-5521-44A0-66A8-3B85E6DDAD14}"/>
              </a:ext>
            </a:extLst>
          </p:cNvPr>
          <p:cNvSpPr txBox="1"/>
          <p:nvPr/>
        </p:nvSpPr>
        <p:spPr>
          <a:xfrm>
            <a:off x="6186684" y="2803680"/>
            <a:ext cx="8681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</a:rPr>
              <a:t>流动性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93F64176-0096-BAF8-1825-67F0C9B5AC87}"/>
              </a:ext>
            </a:extLst>
          </p:cNvPr>
          <p:cNvSpPr txBox="1"/>
          <p:nvPr/>
        </p:nvSpPr>
        <p:spPr>
          <a:xfrm>
            <a:off x="6780716" y="3898311"/>
            <a:ext cx="8681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</a:rPr>
              <a:t>乖离率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AAEA8BA8-38F1-76BE-3E50-E5606A94C553}"/>
              </a:ext>
            </a:extLst>
          </p:cNvPr>
          <p:cNvSpPr txBox="1"/>
          <p:nvPr/>
        </p:nvSpPr>
        <p:spPr>
          <a:xfrm>
            <a:off x="5912768" y="5001241"/>
            <a:ext cx="12079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</a:rPr>
              <a:t>量价相关系数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5D86DC82-862C-AC26-C759-5063A82329B0}"/>
              </a:ext>
            </a:extLst>
          </p:cNvPr>
          <p:cNvSpPr txBox="1"/>
          <p:nvPr/>
        </p:nvSpPr>
        <p:spPr>
          <a:xfrm>
            <a:off x="4789431" y="5001042"/>
            <a:ext cx="8681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</a:rPr>
              <a:t>波动率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16834CF1-7DA8-B233-37A8-70A3866FC463}"/>
              </a:ext>
            </a:extLst>
          </p:cNvPr>
          <p:cNvSpPr txBox="1"/>
          <p:nvPr/>
        </p:nvSpPr>
        <p:spPr>
          <a:xfrm>
            <a:off x="4109665" y="3681008"/>
            <a:ext cx="8681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</a:rPr>
              <a:t>收益分布特征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27764ED7-503C-AE4E-50BF-FD9076CE7DDA}"/>
              </a:ext>
            </a:extLst>
          </p:cNvPr>
          <p:cNvSpPr/>
          <p:nvPr/>
        </p:nvSpPr>
        <p:spPr>
          <a:xfrm>
            <a:off x="7806003" y="3518501"/>
            <a:ext cx="3037179" cy="1657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量价同均值的显著偏离，是超买超卖的直观体现</a:t>
            </a: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【20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40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60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120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250】【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正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】</a:t>
            </a: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endParaRPr lang="zh-CN" altLang="en-US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69DCC9CE-C48C-187C-EA62-D1BEDEB222A7}"/>
              </a:ext>
            </a:extLst>
          </p:cNvPr>
          <p:cNvSpPr/>
          <p:nvPr/>
        </p:nvSpPr>
        <p:spPr>
          <a:xfrm>
            <a:off x="7800457" y="4923374"/>
            <a:ext cx="3037179" cy="19807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量价走势的背离，可能意味着价格走势将发生转变</a:t>
            </a:r>
            <a:endParaRPr lang="en-US" altLang="zh-CN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【20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40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60】【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反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】</a:t>
            </a: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endParaRPr lang="zh-CN" altLang="en-US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72C7DD03-6428-ABED-AC19-B55314EC6788}"/>
              </a:ext>
            </a:extLst>
          </p:cNvPr>
          <p:cNvSpPr/>
          <p:nvPr/>
        </p:nvSpPr>
        <p:spPr>
          <a:xfrm>
            <a:off x="1668992" y="2427013"/>
            <a:ext cx="3037179" cy="10113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动量和顶部反转是一对孪生兄弟</a:t>
            </a: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【20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40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60】【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正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】</a:t>
            </a: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endParaRPr lang="zh-CN" altLang="en-US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7665F5E2-8749-2C71-8E10-AE969EE8ED6E}"/>
              </a:ext>
            </a:extLst>
          </p:cNvPr>
          <p:cNvSpPr/>
          <p:nvPr/>
        </p:nvSpPr>
        <p:spPr>
          <a:xfrm>
            <a:off x="1660870" y="3518502"/>
            <a:ext cx="2083945" cy="1657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从峰度偏度中挖掘异常的收益分布特征</a:t>
            </a: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【20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40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60】【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反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】</a:t>
            </a: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endParaRPr lang="zh-CN" altLang="en-US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753D4984-BAF4-36C6-C899-6A8ADE98B40A}"/>
              </a:ext>
            </a:extLst>
          </p:cNvPr>
          <p:cNvSpPr/>
          <p:nvPr/>
        </p:nvSpPr>
        <p:spPr>
          <a:xfrm>
            <a:off x="1668032" y="4923375"/>
            <a:ext cx="2083945" cy="19807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波动率急剧上升，是分歧也是风险 </a:t>
            </a:r>
            <a:endParaRPr lang="en-US" altLang="zh-CN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【20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40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60】【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正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】</a:t>
            </a:r>
            <a:endParaRPr lang="zh-CN" altLang="en-US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endParaRPr lang="zh-CN" altLang="en-US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2320AC-DB93-2C2B-6BD8-4A593FA69E80}"/>
              </a:ext>
            </a:extLst>
          </p:cNvPr>
          <p:cNvSpPr txBox="1"/>
          <p:nvPr/>
        </p:nvSpPr>
        <p:spPr>
          <a:xfrm>
            <a:off x="668639" y="6210428"/>
            <a:ext cx="47086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注：</a:t>
            </a:r>
            <a:r>
              <a:rPr lang="en-US" altLang="zh-CN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【20</a:t>
            </a:r>
            <a:r>
              <a:rPr lang="zh-CN" altLang="en-US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40</a:t>
            </a:r>
            <a:r>
              <a:rPr lang="zh-CN" altLang="en-US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60】</a:t>
            </a:r>
            <a:r>
              <a:rPr lang="zh-CN" altLang="en-US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为窗口参数。</a:t>
            </a:r>
            <a:r>
              <a:rPr lang="en-US" altLang="zh-CN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zh-CN" altLang="en-US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正</a:t>
            </a:r>
            <a:r>
              <a:rPr lang="en-US" altLang="zh-CN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反</a:t>
            </a:r>
            <a:r>
              <a:rPr lang="en-US" altLang="zh-CN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】</a:t>
            </a:r>
            <a:r>
              <a:rPr lang="zh-CN" altLang="en-US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分别对应高于</a:t>
            </a:r>
            <a:r>
              <a:rPr lang="en-US" altLang="zh-CN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低于阈值判定为拥挤。</a:t>
            </a:r>
          </a:p>
        </p:txBody>
      </p:sp>
    </p:spTree>
    <p:extLst>
      <p:ext uri="{BB962C8B-B14F-4D97-AF65-F5344CB8AC3E}">
        <p14:creationId xmlns:p14="http://schemas.microsoft.com/office/powerpoint/2010/main" val="7434568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FD499B25-AA6C-DF68-3AB1-00568F4395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3332" y="4226929"/>
            <a:ext cx="7772400" cy="214384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2.3</a:t>
            </a:r>
            <a:r>
              <a:rPr lang="zh-CN" altLang="en-US" dirty="0"/>
              <a:t> 长期</a:t>
            </a:r>
            <a:r>
              <a:rPr lang="en-US" altLang="zh-CN" dirty="0"/>
              <a:t>-</a:t>
            </a:r>
            <a:r>
              <a:rPr lang="zh-CN" altLang="en-US" dirty="0"/>
              <a:t>交易拥挤度 </a:t>
            </a:r>
            <a:r>
              <a:rPr lang="zh-CN" altLang="en-US" sz="1600" dirty="0"/>
              <a:t>降低潜在的顶部风险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>
          <a:xfrm>
            <a:off x="4562860" y="6267315"/>
            <a:ext cx="2844800" cy="365125"/>
          </a:xfrm>
        </p:spPr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25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968673" y="1261869"/>
            <a:ext cx="9616200" cy="21582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单指标拥挤状态判定条件：</a:t>
            </a: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指数上行：过去</a:t>
            </a:r>
            <a:r>
              <a:rPr lang="en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日的窗口期指数涨跌幅为正（选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交易日）</a:t>
            </a: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量价指标处于历史临界位置：量价指标的历史分位数是否达到规定阈值（选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95%/5%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</a:p>
          <a:p>
            <a:pPr>
              <a:lnSpc>
                <a:spcPct val="150000"/>
              </a:lnSpc>
              <a:buClr>
                <a:srgbClr val="F5781B"/>
              </a:buClr>
            </a:pPr>
            <a:endParaRPr lang="zh-CN" altLang="en-US" sz="1600" dirty="0">
              <a:solidFill>
                <a:srgbClr val="000000"/>
              </a:solidFill>
            </a:endParaRPr>
          </a:p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市场拥挤状态判定条件：</a:t>
            </a: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至少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类指标触发拥挤信号：极度过热的交易市场往往伴随着多指标共同的拥挤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718AC4FF-96A1-DC2D-073A-066E1CF4154C}"/>
              </a:ext>
            </a:extLst>
          </p:cNvPr>
          <p:cNvSpPr/>
          <p:nvPr/>
        </p:nvSpPr>
        <p:spPr>
          <a:xfrm>
            <a:off x="2162734" y="4190622"/>
            <a:ext cx="7866530" cy="2083867"/>
          </a:xfrm>
          <a:prstGeom prst="roundRect">
            <a:avLst>
              <a:gd name="adj" fmla="val 2450"/>
            </a:avLst>
          </a:prstGeom>
          <a:noFill/>
          <a:ln>
            <a:solidFill>
              <a:srgbClr val="4F81B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1"/>
          </a:p>
        </p:txBody>
      </p:sp>
      <p:sp>
        <p:nvSpPr>
          <p:cNvPr id="9" name="内容占位符 11">
            <a:extLst>
              <a:ext uri="{FF2B5EF4-FFF2-40B4-BE49-F238E27FC236}">
                <a16:creationId xmlns:a16="http://schemas.microsoft.com/office/drawing/2014/main" id="{BFAB7142-BBD9-D6A0-3977-39E3E266A136}"/>
              </a:ext>
            </a:extLst>
          </p:cNvPr>
          <p:cNvSpPr txBox="1">
            <a:spLocks/>
          </p:cNvSpPr>
          <p:nvPr/>
        </p:nvSpPr>
        <p:spPr>
          <a:xfrm>
            <a:off x="4262481" y="3629181"/>
            <a:ext cx="3667037" cy="360000"/>
          </a:xfrm>
          <a:prstGeom prst="rect">
            <a:avLst/>
          </a:prstGeom>
          <a:solidFill>
            <a:srgbClr val="EEEEE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kumimoji="0" lang="zh-CN" altLang="en-US" sz="1400" b="1" i="0" u="none" strike="noStrike" kern="1200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ea typeface="+mn-ea"/>
                <a:cs typeface="Times New Roman" pitchFamily="18" charset="0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/>
              <a:t>上证</a:t>
            </a:r>
            <a:r>
              <a:rPr lang="en-US" altLang="zh-CN" dirty="0"/>
              <a:t>50</a:t>
            </a:r>
            <a:r>
              <a:rPr lang="zh-CN" altLang="en-US" dirty="0"/>
              <a:t>拥挤度信号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5AAAE4D-9AFD-4302-15B5-654079DFA85E}"/>
              </a:ext>
            </a:extLst>
          </p:cNvPr>
          <p:cNvSpPr txBox="1"/>
          <p:nvPr/>
        </p:nvSpPr>
        <p:spPr>
          <a:xfrm>
            <a:off x="2162734" y="6363865"/>
            <a:ext cx="47086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资料来源：</a:t>
            </a:r>
            <a:r>
              <a:rPr lang="en-US" altLang="zh-CN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</a:t>
            </a:r>
            <a:endParaRPr lang="zh-CN" altLang="en-US" sz="8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393812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C2A5B-FD07-4229-8F8C-1BFEB44AF40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第三部分  回测分析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>
          <a:xfrm>
            <a:off x="1505979" y="3481982"/>
            <a:ext cx="1620957" cy="338554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指标有效性检验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5"/>
          </p:nvPr>
        </p:nvSpPr>
        <p:spPr>
          <a:xfrm>
            <a:off x="1505979" y="4258923"/>
            <a:ext cx="1620957" cy="338554"/>
          </a:xfrm>
        </p:spPr>
        <p:txBody>
          <a:bodyPr/>
          <a:lstStyle/>
          <a:p>
            <a:r>
              <a:rPr lang="zh-CN" altLang="en-US" dirty="0"/>
              <a:t>上证</a:t>
            </a:r>
            <a:r>
              <a:rPr lang="en-US" altLang="zh-CN" dirty="0"/>
              <a:t>50</a:t>
            </a:r>
            <a:r>
              <a:rPr lang="zh-CN" altLang="en-US" dirty="0"/>
              <a:t>回测分析</a:t>
            </a:r>
          </a:p>
        </p:txBody>
      </p:sp>
      <p:sp>
        <p:nvSpPr>
          <p:cNvPr id="3" name="文本占位符 5">
            <a:extLst>
              <a:ext uri="{FF2B5EF4-FFF2-40B4-BE49-F238E27FC236}">
                <a16:creationId xmlns:a16="http://schemas.microsoft.com/office/drawing/2014/main" id="{8D1022DE-EAD6-C3AF-40C9-16CD063B4F18}"/>
              </a:ext>
            </a:extLst>
          </p:cNvPr>
          <p:cNvSpPr txBox="1">
            <a:spLocks/>
          </p:cNvSpPr>
          <p:nvPr/>
        </p:nvSpPr>
        <p:spPr>
          <a:xfrm>
            <a:off x="1505979" y="5035864"/>
            <a:ext cx="1620957" cy="33855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marL="0" indent="0" algn="l" defTabSz="914377" rtl="0" eaLnBrk="1" latinLnBrk="0" hangingPunct="1">
              <a:spcBef>
                <a:spcPct val="20000"/>
              </a:spcBef>
              <a:buFont typeface="Arial" pitchFamily="34" charset="0"/>
              <a:buNone/>
              <a:defRPr lang="zh-CN" altLang="en-US" sz="1600" kern="12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742932" indent="-285744" algn="l" defTabSz="91437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多指数回测对比</a:t>
            </a:r>
          </a:p>
        </p:txBody>
      </p:sp>
    </p:spTree>
    <p:extLst>
      <p:ext uri="{BB962C8B-B14F-4D97-AF65-F5344CB8AC3E}">
        <p14:creationId xmlns:p14="http://schemas.microsoft.com/office/powerpoint/2010/main" val="30668081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3.1</a:t>
            </a:r>
            <a:r>
              <a:rPr lang="zh-CN" altLang="en-US" dirty="0"/>
              <a:t> 指标有效性检验 </a:t>
            </a:r>
            <a:r>
              <a:rPr lang="zh-CN" altLang="en-US" sz="1600" dirty="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+mn-lt"/>
              </a:rPr>
              <a:t>将择时中的参数从样本内推向样本外的重要基础</a:t>
            </a:r>
            <a:endParaRPr lang="zh-CN" altLang="en-US" sz="16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>
          <a:xfrm>
            <a:off x="4562860" y="6267315"/>
            <a:ext cx="2844800" cy="365125"/>
          </a:xfrm>
        </p:spPr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27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968672" y="1261869"/>
            <a:ext cx="9874509" cy="5528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en-US" altLang="zh-CN" sz="1600" dirty="0">
                <a:solidFill>
                  <a:srgbClr val="000000"/>
                </a:solidFill>
              </a:rPr>
              <a:t>1.</a:t>
            </a:r>
            <a:r>
              <a:rPr lang="zh-CN" altLang="en-US" sz="1600" dirty="0">
                <a:solidFill>
                  <a:srgbClr val="000000"/>
                </a:solidFill>
              </a:rPr>
              <a:t>显著性检验：</a:t>
            </a: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基于</a:t>
            </a:r>
            <a:r>
              <a:rPr lang="en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Newey-West 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残差调整的</a:t>
            </a:r>
            <a:r>
              <a:rPr lang="en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检验。</a:t>
            </a: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以信号为自变量，以未来一个月指数收益率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(20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个交易日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作为因变量，检验回归系数是否显著异于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，比较</a:t>
            </a:r>
            <a:r>
              <a:rPr lang="en-US" altLang="zh-CN" sz="1400" b="1" dirty="0">
                <a:solidFill>
                  <a:srgbClr val="F796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</a:t>
            </a:r>
            <a:r>
              <a:rPr lang="zh-CN" altLang="en-US" sz="1400" b="1" dirty="0">
                <a:solidFill>
                  <a:srgbClr val="F796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值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  <a:p>
            <a:pPr>
              <a:lnSpc>
                <a:spcPct val="150000"/>
              </a:lnSpc>
              <a:buClr>
                <a:srgbClr val="F5781B"/>
              </a:buClr>
            </a:pPr>
            <a:endParaRPr lang="zh-CN" altLang="en-US" sz="1600" dirty="0">
              <a:solidFill>
                <a:srgbClr val="000000"/>
              </a:solidFill>
            </a:endParaRPr>
          </a:p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en-US" altLang="zh-CN" sz="1600" dirty="0">
                <a:solidFill>
                  <a:srgbClr val="000000"/>
                </a:solidFill>
              </a:rPr>
              <a:t>2.</a:t>
            </a:r>
            <a:r>
              <a:rPr lang="zh-CN" altLang="en-US" sz="1600" dirty="0">
                <a:solidFill>
                  <a:srgbClr val="000000"/>
                </a:solidFill>
              </a:rPr>
              <a:t>过拟合检验：</a:t>
            </a: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en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CSCV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对称交叉验证求</a:t>
            </a:r>
            <a:r>
              <a:rPr lang="zh-CN" altLang="en-US" sz="1400" b="1" dirty="0">
                <a:solidFill>
                  <a:srgbClr val="F796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过拟合概率</a:t>
            </a:r>
            <a:r>
              <a:rPr lang="en" altLang="zh-CN" sz="1400" b="1" dirty="0">
                <a:solidFill>
                  <a:srgbClr val="F796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PBO</a:t>
            </a:r>
            <a:r>
              <a:rPr lang="zh-CN" altLang="e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核心是计算“训练集”夏普比率最高的策略，在“测试集”中的相对排名。如果相对排名靠前，代表回测过拟合概率较低，反之则代表回测过拟合概率较高。 </a:t>
            </a:r>
            <a:endParaRPr lang="en-US" altLang="zh-CN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endParaRPr lang="en-US" altLang="zh-CN" sz="16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  <a:buClr>
                <a:srgbClr val="F5781B"/>
              </a:buClr>
            </a:pP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）汇总基于不同参数计算的策略收益率序列。若总共有 </a:t>
            </a:r>
            <a:r>
              <a:rPr lang="en" altLang="zh-CN" sz="12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 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组参数，收益率序列长度为 </a:t>
            </a:r>
            <a:r>
              <a:rPr lang="en" altLang="zh-CN" sz="12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</a:t>
            </a:r>
            <a:r>
              <a:rPr lang="zh-CN" altLang="en" sz="12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可以得到收益率矩阵𝑀𝑇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×𝑁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。将𝑀𝑇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×𝑁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矩阵从时间维度上划分为 </a:t>
            </a:r>
            <a:r>
              <a:rPr lang="en" altLang="zh-CN" sz="12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 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个子矩阵。 </a:t>
            </a:r>
          </a:p>
          <a:p>
            <a:pPr algn="just">
              <a:lnSpc>
                <a:spcPct val="150000"/>
              </a:lnSpc>
              <a:buClr>
                <a:srgbClr val="F5781B"/>
              </a:buClr>
            </a:pP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）从 </a:t>
            </a:r>
            <a:r>
              <a:rPr lang="en" altLang="zh-CN" sz="12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 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个子矩阵中任意选出半数作为测试集，余下作为训练集。遍历所有可能组合，依据组合原理，可以得到𝐶𝑆𝑆⁄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 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组测试集和对应训练集。 </a:t>
            </a:r>
          </a:p>
          <a:p>
            <a:pPr algn="just">
              <a:lnSpc>
                <a:spcPct val="150000"/>
              </a:lnSpc>
              <a:buClr>
                <a:srgbClr val="F5781B"/>
              </a:buClr>
            </a:pP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）分析每组训练集中夏普比最高的参数组合，计算其在相应测试集的相对排名𝜔𝑖，汇总依据所有测试集和训练集计算的排名情况𝜔 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 (𝜔1, 𝜔2, ... , 𝜔𝑛) (𝑛 = 𝐶𝑆𝑆⁄2)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 </a:t>
            </a:r>
          </a:p>
          <a:p>
            <a:pPr algn="just">
              <a:lnSpc>
                <a:spcPct val="150000"/>
              </a:lnSpc>
              <a:buClr>
                <a:srgbClr val="F5781B"/>
              </a:buClr>
            </a:pP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）统计𝜔中位于测试集后一半排名的个数占比，作为回测过拟合概率 </a:t>
            </a:r>
            <a:r>
              <a:rPr lang="en" altLang="zh-CN" sz="12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PBO</a:t>
            </a:r>
            <a:r>
              <a:rPr lang="zh-CN" altLang="en" sz="12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 </a:t>
            </a:r>
          </a:p>
          <a:p>
            <a:pPr algn="just">
              <a:lnSpc>
                <a:spcPct val="150000"/>
              </a:lnSpc>
              <a:buClr>
                <a:srgbClr val="F5781B"/>
              </a:buClr>
            </a:pPr>
            <a:endParaRPr lang="zh-CN" altLang="en-US" sz="16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endParaRPr lang="zh-CN" altLang="en-US" sz="16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54ADCFD-2045-9392-00BA-568A5F92345C}"/>
              </a:ext>
            </a:extLst>
          </p:cNvPr>
          <p:cNvSpPr txBox="1"/>
          <p:nvPr/>
        </p:nvSpPr>
        <p:spPr>
          <a:xfrm>
            <a:off x="60415" y="6502652"/>
            <a:ext cx="84737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" sz="800" b="0" i="0" dirty="0">
                <a:solidFill>
                  <a:srgbClr val="222222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资料来源</a:t>
            </a:r>
            <a:r>
              <a:rPr lang="zh-CN" altLang="en-US" sz="800" b="0" i="0" dirty="0">
                <a:solidFill>
                  <a:srgbClr val="222222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8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[1] Newey W K, West K D. A simple, positive semi-definite, heteroskedasticity and autocorrelation consistent covariance matrix[J]. </a:t>
            </a:r>
            <a:r>
              <a:rPr lang="az-Cyrl-AZ" altLang="zh-CN" sz="8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Прикладная эконометрика </a:t>
            </a:r>
            <a:r>
              <a:rPr lang="en-US" altLang="zh-CN" sz="8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No1 (33) 2014, 2017, 125.</a:t>
            </a:r>
          </a:p>
          <a:p>
            <a:r>
              <a:rPr lang="en-US" altLang="zh-CN" sz="800" dirty="0">
                <a:solidFill>
                  <a:srgbClr val="222222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                 [2] </a:t>
            </a:r>
            <a:r>
              <a:rPr lang="en-US" altLang="zh-CN" sz="8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8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Bailey D H, </a:t>
            </a:r>
            <a:r>
              <a:rPr lang="en" altLang="zh-CN" sz="8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Borwein</a:t>
            </a:r>
            <a:r>
              <a:rPr lang="en" altLang="zh-CN" sz="8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J, Lopez de Prado M, et al. The probability of </a:t>
            </a:r>
            <a:r>
              <a:rPr lang="en" altLang="zh-CN" sz="8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backtest</a:t>
            </a:r>
            <a:r>
              <a:rPr lang="en" altLang="zh-CN" sz="8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overfitting[J]. Journal of Computational Finance, forthcoming, 2016.</a:t>
            </a:r>
            <a:endParaRPr kumimoji="1" lang="zh-CN" alt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37317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3.1</a:t>
            </a:r>
            <a:r>
              <a:rPr lang="zh-CN" altLang="en-US" dirty="0"/>
              <a:t> 指标有效性检验 </a:t>
            </a:r>
            <a:r>
              <a:rPr lang="zh-CN" altLang="en-US" sz="1600" dirty="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+mn-lt"/>
              </a:rPr>
              <a:t>将择时中的参数从样本内推向样本外的重要基础</a:t>
            </a:r>
            <a:endParaRPr lang="zh-CN" altLang="en-US" sz="16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>
          <a:xfrm>
            <a:off x="4562860" y="6267315"/>
            <a:ext cx="2844800" cy="365125"/>
          </a:xfrm>
        </p:spPr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28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968672" y="1261869"/>
            <a:ext cx="9874509" cy="38274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marR="0" lvl="0" indent="-285744" algn="l" defTabSz="914377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781B"/>
              </a:buClr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1.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显著性检验：</a:t>
            </a:r>
          </a:p>
          <a:p>
            <a:pPr marL="285744" marR="0" lvl="0" indent="-285744" algn="just" defTabSz="914377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781B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基于</a:t>
            </a:r>
            <a:r>
              <a:rPr kumimoji="0" lang="e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Newey-West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残差调整的</a:t>
            </a:r>
            <a:r>
              <a:rPr kumimoji="0" lang="e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t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检验。</a:t>
            </a:r>
          </a:p>
          <a:p>
            <a:pPr marL="285744" marR="0" lvl="0" indent="-285744" algn="just" defTabSz="914377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781B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以信号为自变量，以未来一个月指数收益率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(20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个交易日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)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作为因变量，检验回归系数是否显著异于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，比较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79646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p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79646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值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。</a:t>
            </a:r>
          </a:p>
          <a:p>
            <a:pPr marL="0" marR="0" lvl="0" indent="0" algn="l" defTabSz="914377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781B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黑体"/>
              <a:cs typeface="+mn-cs"/>
            </a:endParaRPr>
          </a:p>
          <a:p>
            <a:pPr marL="285744" marR="0" lvl="0" indent="-285744" algn="l" defTabSz="914377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781B"/>
              </a:buClr>
              <a:buSzTx/>
              <a:buFont typeface="Wingdings" panose="05000000000000000000" pitchFamily="2" charset="2"/>
              <a:buChar char="u"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2.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黑体"/>
                <a:cs typeface="+mn-cs"/>
              </a:rPr>
              <a:t>过拟合检验：</a:t>
            </a:r>
          </a:p>
          <a:p>
            <a:pPr marL="285744" marR="0" lvl="0" indent="-285744" algn="just" defTabSz="914377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781B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CSCV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对称交叉验证求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79646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过拟合概率</a:t>
            </a:r>
            <a:r>
              <a:rPr kumimoji="0" lang="en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79646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PBO</a:t>
            </a:r>
            <a:r>
              <a:rPr kumimoji="0" lang="zh-CN" altLang="e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。</a:t>
            </a:r>
          </a:p>
          <a:p>
            <a:pPr marL="285744" marR="0" lvl="0" indent="-285744" algn="just" defTabSz="914377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781B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核心是计算“训练集”夏普比率最高的策略，在“测试集”中的相对排名。如果相对排名靠前，代表回测过拟合概率较低，反之则代表回测过拟合概率较高。 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endParaRPr lang="en-US" altLang="zh-CN" sz="16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en-US" altLang="zh-CN" sz="1600" dirty="0">
                <a:solidFill>
                  <a:srgbClr val="000000"/>
                </a:solidFill>
              </a:rPr>
              <a:t>3.</a:t>
            </a:r>
            <a:r>
              <a:rPr lang="zh-CN" altLang="en-US" sz="1600" dirty="0">
                <a:solidFill>
                  <a:srgbClr val="000000"/>
                </a:solidFill>
              </a:rPr>
              <a:t>参数敏感性分析：</a:t>
            </a: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评估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指标在不同参数设计下的收益、胜率差异。</a:t>
            </a:r>
            <a:endParaRPr lang="zh-CN" altLang="en-US" sz="16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98069C5-BF14-9638-064D-7DE575B5495A}"/>
              </a:ext>
            </a:extLst>
          </p:cNvPr>
          <p:cNvSpPr txBox="1"/>
          <p:nvPr/>
        </p:nvSpPr>
        <p:spPr>
          <a:xfrm>
            <a:off x="60415" y="6502652"/>
            <a:ext cx="84737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" sz="800" b="0" i="0" dirty="0">
                <a:solidFill>
                  <a:srgbClr val="222222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资料来源</a:t>
            </a:r>
            <a:r>
              <a:rPr lang="zh-CN" altLang="en-US" sz="800" b="0" i="0" dirty="0">
                <a:solidFill>
                  <a:srgbClr val="222222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8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[1] Newey W K, West K D. A simple, positive semi-definite, heteroskedasticity and autocorrelation consistent covariance matrix[J]. </a:t>
            </a:r>
            <a:r>
              <a:rPr lang="az-Cyrl-AZ" altLang="zh-CN" sz="8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Прикладная эконометрика </a:t>
            </a:r>
            <a:r>
              <a:rPr lang="en-US" altLang="zh-CN" sz="8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No1 (33) 2014, 2017, 125.</a:t>
            </a:r>
          </a:p>
          <a:p>
            <a:r>
              <a:rPr lang="en-US" altLang="zh-CN" sz="800" dirty="0">
                <a:solidFill>
                  <a:srgbClr val="222222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                 [2] </a:t>
            </a:r>
            <a:r>
              <a:rPr lang="en-US" altLang="zh-CN" sz="8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" altLang="zh-CN" sz="8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Bailey D H, </a:t>
            </a:r>
            <a:r>
              <a:rPr lang="en" altLang="zh-CN" sz="8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Borwein</a:t>
            </a:r>
            <a:r>
              <a:rPr lang="en" altLang="zh-CN" sz="8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J, Lopez de Prado M, et al. The probability of </a:t>
            </a:r>
            <a:r>
              <a:rPr lang="en" altLang="zh-CN" sz="800" b="0" i="0" dirty="0" err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backtest</a:t>
            </a:r>
            <a:r>
              <a:rPr lang="en" altLang="zh-CN" sz="8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overfitting[J]. Journal of Computational Finance, forthcoming, 2016.</a:t>
            </a:r>
            <a:endParaRPr kumimoji="1" lang="zh-CN" alt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4002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3.1</a:t>
            </a:r>
            <a:r>
              <a:rPr lang="zh-CN" altLang="en-US" dirty="0"/>
              <a:t> 指标有效性检验 </a:t>
            </a:r>
            <a:r>
              <a:rPr lang="zh-CN" altLang="en-US" sz="1600" dirty="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+mn-lt"/>
              </a:rPr>
              <a:t>将择时中的参数从样本内推向样本外的重要基础</a:t>
            </a:r>
            <a:endParaRPr lang="zh-CN" altLang="en-US" sz="16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>
          <a:xfrm>
            <a:off x="4562860" y="6267315"/>
            <a:ext cx="2844800" cy="365125"/>
          </a:xfrm>
        </p:spPr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29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28FCDAF5-8D8C-6FC7-4FE5-3F3270AACD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398490"/>
              </p:ext>
            </p:extLst>
          </p:nvPr>
        </p:nvGraphicFramePr>
        <p:xfrm>
          <a:off x="1332297" y="2215159"/>
          <a:ext cx="9305925" cy="3930332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8099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47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76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7652">
                  <a:extLst>
                    <a:ext uri="{9D8B030D-6E8A-4147-A177-3AD203B41FA5}">
                      <a16:colId xmlns:a16="http://schemas.microsoft.com/office/drawing/2014/main" val="3571976764"/>
                    </a:ext>
                  </a:extLst>
                </a:gridCol>
                <a:gridCol w="897652">
                  <a:extLst>
                    <a:ext uri="{9D8B030D-6E8A-4147-A177-3AD203B41FA5}">
                      <a16:colId xmlns:a16="http://schemas.microsoft.com/office/drawing/2014/main" val="2549490151"/>
                    </a:ext>
                  </a:extLst>
                </a:gridCol>
                <a:gridCol w="897652">
                  <a:extLst>
                    <a:ext uri="{9D8B030D-6E8A-4147-A177-3AD203B41FA5}">
                      <a16:colId xmlns:a16="http://schemas.microsoft.com/office/drawing/2014/main" val="325064613"/>
                    </a:ext>
                  </a:extLst>
                </a:gridCol>
                <a:gridCol w="897652">
                  <a:extLst>
                    <a:ext uri="{9D8B030D-6E8A-4147-A177-3AD203B41FA5}">
                      <a16:colId xmlns:a16="http://schemas.microsoft.com/office/drawing/2014/main" val="3345608466"/>
                    </a:ext>
                  </a:extLst>
                </a:gridCol>
                <a:gridCol w="897652">
                  <a:extLst>
                    <a:ext uri="{9D8B030D-6E8A-4147-A177-3AD203B41FA5}">
                      <a16:colId xmlns:a16="http://schemas.microsoft.com/office/drawing/2014/main" val="1800446048"/>
                    </a:ext>
                  </a:extLst>
                </a:gridCol>
                <a:gridCol w="897652">
                  <a:extLst>
                    <a:ext uri="{9D8B030D-6E8A-4147-A177-3AD203B41FA5}">
                      <a16:colId xmlns:a16="http://schemas.microsoft.com/office/drawing/2014/main" val="3623527527"/>
                    </a:ext>
                  </a:extLst>
                </a:gridCol>
                <a:gridCol w="897652">
                  <a:extLst>
                    <a:ext uri="{9D8B030D-6E8A-4147-A177-3AD203B41FA5}">
                      <a16:colId xmlns:a16="http://schemas.microsoft.com/office/drawing/2014/main" val="12089575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指标</a:t>
                      </a:r>
                      <a:endParaRPr lang="en-US" altLang="zh-CN" sz="1100" b="1" u="none" strike="noStrike" kern="120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参数组合数量</a:t>
                      </a:r>
                      <a:endParaRPr lang="zh-CN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1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S=8</a:t>
                      </a:r>
                      <a:endParaRPr lang="en" sz="11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100" b="1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S=10</a:t>
                      </a:r>
                      <a:endParaRPr lang="en" sz="11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100" b="1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S=12</a:t>
                      </a:r>
                      <a:endParaRPr lang="en" sz="11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1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PBO</a:t>
                      </a:r>
                      <a:r>
                        <a:rPr lang="zh-CN" altLang="en" sz="11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均值</a:t>
                      </a:r>
                      <a:endParaRPr lang="zh-CN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1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p</a:t>
                      </a:r>
                      <a:r>
                        <a:rPr lang="zh-CN" alt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值</a:t>
                      </a:r>
                      <a:endParaRPr lang="zh-CN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因子说明</a:t>
                      </a:r>
                      <a:endParaRPr lang="zh-CN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信号类别</a:t>
                      </a:r>
                      <a:endParaRPr lang="zh-CN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46" marR="1746" marT="1746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1" dirty="0"/>
                        <a:t>短期</a:t>
                      </a:r>
                      <a:r>
                        <a:rPr lang="en-US" altLang="zh-CN" sz="1100" b="1" dirty="0"/>
                        <a:t>-</a:t>
                      </a:r>
                      <a:r>
                        <a:rPr lang="zh-CN" altLang="en-US" sz="1100" b="1" dirty="0"/>
                        <a:t>动量反转指标</a:t>
                      </a: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100" b="1" dirty="0"/>
                    </a:p>
                  </a:txBody>
                  <a:tcPr anchor="ctr"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05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IntraMOM_20_1</a:t>
                      </a:r>
                      <a:endParaRPr lang="en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37.14%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22.61%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15.36%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25.04%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0.0062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u="none" strike="noStrike" dirty="0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日内动量</a:t>
                      </a: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u="none" strike="noStrike" dirty="0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固定阈值突破</a:t>
                      </a: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1746" marR="1746" marT="1746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05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STDS_5_80</a:t>
                      </a:r>
                      <a:endParaRPr lang="en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182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21.42%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17.06%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8.98%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15.82%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05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3.61E-02</a:t>
                      </a:r>
                      <a:endParaRPr lang="e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u="none" strike="noStrike" dirty="0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日内振幅动量</a:t>
                      </a:r>
                      <a:r>
                        <a:rPr lang="en-US" altLang="zh-CN" sz="1050" b="0" u="none" strike="noStrike" dirty="0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/</a:t>
                      </a:r>
                      <a:r>
                        <a:rPr lang="zh-CN" altLang="en-US" sz="1050" b="0" u="none" strike="noStrike" dirty="0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反转</a:t>
                      </a: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u="none" strike="noStrike" dirty="0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长短均线突破</a:t>
                      </a: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1746" marR="1746" marT="1746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05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Chaikin_5_3</a:t>
                      </a:r>
                      <a:endParaRPr lang="en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169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22.85%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34.12%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26.19%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27.72%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0.0222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u="none" strike="noStrike" dirty="0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日间成交量反转</a:t>
                      </a: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u="none" strike="noStrike" dirty="0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长短均线突破</a:t>
                      </a: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1746" marR="1746" marT="1746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05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Bolling_3_1_1</a:t>
                      </a:r>
                      <a:endParaRPr lang="en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54.28%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48.41%</a:t>
                      </a:r>
                      <a:endParaRPr lang="en-US" altLang="zh-CN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43.83%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48.84%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0.0465</a:t>
                      </a:r>
                      <a:endParaRPr lang="en-US" altLang="zh-CN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u="none" strike="noStrike" dirty="0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日间价格动量</a:t>
                      </a: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u="none" strike="noStrike" dirty="0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通道突破</a:t>
                      </a:r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1746" marR="1746" marT="1746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r>
                        <a:rPr lang="zh-CN" altLang="en-US" sz="1100" b="1" dirty="0">
                          <a:latin typeface="+mn-ea"/>
                          <a:ea typeface="+mn-ea"/>
                        </a:rPr>
                        <a:t>中期</a:t>
                      </a:r>
                      <a:r>
                        <a:rPr lang="en-US" altLang="zh-CN" sz="1100" b="1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zh-CN" altLang="en-US" sz="1100" b="1" dirty="0">
                          <a:latin typeface="+mn-ea"/>
                          <a:ea typeface="+mn-ea"/>
                        </a:rPr>
                        <a:t>分歧度与流动性指标</a:t>
                      </a:r>
                    </a:p>
                    <a:p>
                      <a:endParaRPr lang="zh-CN" altLang="en-US" sz="1100" b="1" dirty="0"/>
                    </a:p>
                  </a:txBody>
                  <a:tcPr anchor="ctr"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" sz="1050" b="0" u="none" strike="noStrike" kern="1200" dirty="0">
                          <a:solidFill>
                            <a:srgbClr val="A6A6A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ret_TSStd_10_60_1.5</a:t>
                      </a: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050" b="0" u="none" strike="noStrike" kern="1200" dirty="0">
                          <a:solidFill>
                            <a:srgbClr val="A6A6A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95</a:t>
                      </a: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050" b="0" u="none" strike="noStrike" kern="1200">
                          <a:solidFill>
                            <a:srgbClr val="A6A6A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77.14%</a:t>
                      </a: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050" b="0" u="none" strike="noStrike" kern="1200">
                          <a:solidFill>
                            <a:srgbClr val="A6A6A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83.73%</a:t>
                      </a: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050" b="0" u="none" strike="noStrike" kern="1200">
                          <a:solidFill>
                            <a:srgbClr val="A6A6A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76.83%</a:t>
                      </a: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050" b="0" u="none" strike="noStrike" kern="1200" dirty="0">
                          <a:solidFill>
                            <a:srgbClr val="A6A6A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79.23%</a:t>
                      </a: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" sz="1050" b="0" u="none" strike="noStrike" kern="1200" dirty="0">
                          <a:solidFill>
                            <a:srgbClr val="A6A6A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3.76E-14</a:t>
                      </a: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zh-CN" altLang="en-US" sz="1050" b="0" u="none" strike="noStrike" kern="1200" dirty="0">
                          <a:solidFill>
                            <a:srgbClr val="A6A6A6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收益波动率</a:t>
                      </a: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zh-CN" altLang="en-US" sz="1050" b="0" u="none" strike="noStrike" kern="1200" dirty="0">
                          <a:solidFill>
                            <a:srgbClr val="A6A6A6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通道突破</a:t>
                      </a:r>
                    </a:p>
                  </a:txBody>
                  <a:tcPr marL="1746" marR="1746" marT="1746" marB="0" anchor="ctr"/>
                </a:tc>
                <a:extLst>
                  <a:ext uri="{0D108BD9-81ED-4DB2-BD59-A6C34878D82A}">
                    <a16:rowId xmlns:a16="http://schemas.microsoft.com/office/drawing/2014/main" val="308393748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" sz="105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retUp_TSStd_60_10_1</a:t>
                      </a: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050" b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95</a:t>
                      </a: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050" b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20.00%</a:t>
                      </a: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05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22.61%</a:t>
                      </a: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05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39.06%</a:t>
                      </a: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05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27.22%</a:t>
                      </a: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" sz="1050" b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1.54E-12</a:t>
                      </a: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zh-CN" altLang="en-US" sz="105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上行波动率</a:t>
                      </a: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zh-CN" altLang="en-US" sz="105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通道突破</a:t>
                      </a:r>
                    </a:p>
                  </a:txBody>
                  <a:tcPr marL="1746" marR="1746" marT="1746" marB="0" anchor="ctr"/>
                </a:tc>
                <a:extLst>
                  <a:ext uri="{0D108BD9-81ED-4DB2-BD59-A6C34878D82A}">
                    <a16:rowId xmlns:a16="http://schemas.microsoft.com/office/drawing/2014/main" val="369979036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" sz="105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250_Volatility_20_60_1.5</a:t>
                      </a: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05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641</a:t>
                      </a: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050" b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32.85%</a:t>
                      </a: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050" b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48.80%</a:t>
                      </a: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05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50.43%</a:t>
                      </a: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05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44.03%</a:t>
                      </a: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" sz="105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1.17E-10</a:t>
                      </a: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zh-CN" altLang="en-US" sz="105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过去</a:t>
                      </a:r>
                      <a:r>
                        <a:rPr lang="en-US" altLang="zh-CN" sz="105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250</a:t>
                      </a:r>
                      <a:r>
                        <a:rPr lang="zh-CN" altLang="en-US" sz="105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天收益波动率的波动率</a:t>
                      </a: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zh-CN" altLang="en-US" sz="105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通道突破</a:t>
                      </a:r>
                    </a:p>
                  </a:txBody>
                  <a:tcPr marL="1746" marR="1746" marT="1746" marB="0" anchor="ctr"/>
                </a:tc>
                <a:extLst>
                  <a:ext uri="{0D108BD9-81ED-4DB2-BD59-A6C34878D82A}">
                    <a16:rowId xmlns:a16="http://schemas.microsoft.com/office/drawing/2014/main" val="388570979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" sz="105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ret_std_TSMean_60_20_2</a:t>
                      </a: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050" b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102</a:t>
                      </a: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050" b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32.85%</a:t>
                      </a: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050" b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41.26%</a:t>
                      </a: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050" b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35.38%</a:t>
                      </a: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050" b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36.50%</a:t>
                      </a: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" sz="105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2.90E-09</a:t>
                      </a: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zh-CN" altLang="en-US" sz="105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截面成分股收益分歧度</a:t>
                      </a: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zh-CN" altLang="en-US" sz="105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通道突破</a:t>
                      </a:r>
                    </a:p>
                  </a:txBody>
                  <a:tcPr marL="1746" marR="1746" marT="1746" marB="0" anchor="ctr"/>
                </a:tc>
                <a:extLst>
                  <a:ext uri="{0D108BD9-81ED-4DB2-BD59-A6C34878D82A}">
                    <a16:rowId xmlns:a16="http://schemas.microsoft.com/office/drawing/2014/main" val="278538949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" sz="105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amt_TSLastMaxDiff_10_60_1.5</a:t>
                      </a: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05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105</a:t>
                      </a: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05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32.85%</a:t>
                      </a: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050" b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32.53%</a:t>
                      </a: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050" b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34.63%</a:t>
                      </a: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050" b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33.34%</a:t>
                      </a: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" sz="105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1.17E-10</a:t>
                      </a: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zh-CN" altLang="en-US" sz="105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成交额与窗口内最大值的差值</a:t>
                      </a: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zh-CN" altLang="en-US" sz="105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+mn-cs"/>
                        </a:rPr>
                        <a:t>通道突破</a:t>
                      </a:r>
                    </a:p>
                  </a:txBody>
                  <a:tcPr marL="1746" marR="1746" marT="1746" marB="0" anchor="ctr"/>
                </a:tc>
                <a:extLst>
                  <a:ext uri="{0D108BD9-81ED-4DB2-BD59-A6C34878D82A}">
                    <a16:rowId xmlns:a16="http://schemas.microsoft.com/office/drawing/2014/main" val="3596518665"/>
                  </a:ext>
                </a:extLst>
              </a:tr>
            </a:tbl>
          </a:graphicData>
        </a:graphic>
      </p:graphicFrame>
      <p:sp>
        <p:nvSpPr>
          <p:cNvPr id="9" name="内容占位符 11">
            <a:extLst>
              <a:ext uri="{FF2B5EF4-FFF2-40B4-BE49-F238E27FC236}">
                <a16:creationId xmlns:a16="http://schemas.microsoft.com/office/drawing/2014/main" id="{68EB4DA1-1778-00B9-2D7C-3D50BF1572B6}"/>
              </a:ext>
            </a:extLst>
          </p:cNvPr>
          <p:cNvSpPr txBox="1">
            <a:spLocks/>
          </p:cNvSpPr>
          <p:nvPr/>
        </p:nvSpPr>
        <p:spPr>
          <a:xfrm>
            <a:off x="4387990" y="1171627"/>
            <a:ext cx="3667037" cy="360000"/>
          </a:xfrm>
          <a:prstGeom prst="rect">
            <a:avLst/>
          </a:prstGeom>
          <a:solidFill>
            <a:srgbClr val="EEEEE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kumimoji="0" lang="zh-CN" altLang="en-US" sz="1400" b="1" i="0" u="none" strike="noStrike" kern="1200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ea typeface="+mn-ea"/>
                <a:cs typeface="Times New Roman" pitchFamily="18" charset="0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/>
              <a:t>指标有效性检验结果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74343D8-41CD-C40A-C0FC-D9D9A58407E2}"/>
              </a:ext>
            </a:extLst>
          </p:cNvPr>
          <p:cNvSpPr/>
          <p:nvPr/>
        </p:nvSpPr>
        <p:spPr>
          <a:xfrm>
            <a:off x="968673" y="1588444"/>
            <a:ext cx="10447040" cy="413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在</a:t>
            </a:r>
            <a:r>
              <a:rPr lang="en-US" altLang="zh-CN" sz="1600" dirty="0">
                <a:solidFill>
                  <a:srgbClr val="000000"/>
                </a:solidFill>
              </a:rPr>
              <a:t>PBO</a:t>
            </a:r>
            <a:r>
              <a:rPr lang="zh-CN" altLang="en-US" sz="1600" dirty="0">
                <a:solidFill>
                  <a:srgbClr val="000000"/>
                </a:solidFill>
              </a:rPr>
              <a:t>小于</a:t>
            </a:r>
            <a:r>
              <a:rPr lang="en-US" altLang="zh-CN" sz="1600" dirty="0">
                <a:solidFill>
                  <a:srgbClr val="000000"/>
                </a:solidFill>
              </a:rPr>
              <a:t>50%</a:t>
            </a:r>
            <a:r>
              <a:rPr lang="zh-CN" altLang="en-US" sz="1600" dirty="0">
                <a:solidFill>
                  <a:srgbClr val="000000"/>
                </a:solidFill>
              </a:rPr>
              <a:t>，</a:t>
            </a:r>
            <a:r>
              <a:rPr lang="en-US" altLang="zh-CN" sz="1600" dirty="0">
                <a:solidFill>
                  <a:srgbClr val="000000"/>
                </a:solidFill>
              </a:rPr>
              <a:t>p</a:t>
            </a:r>
            <a:r>
              <a:rPr lang="zh-CN" altLang="en-US" sz="1600" dirty="0">
                <a:solidFill>
                  <a:srgbClr val="000000"/>
                </a:solidFill>
              </a:rPr>
              <a:t>值置信水平</a:t>
            </a:r>
            <a:r>
              <a:rPr lang="en-US" altLang="zh-CN" sz="1600" dirty="0">
                <a:solidFill>
                  <a:srgbClr val="000000"/>
                </a:solidFill>
              </a:rPr>
              <a:t>0.95</a:t>
            </a:r>
            <a:r>
              <a:rPr lang="zh-CN" altLang="en-US" sz="1600" dirty="0">
                <a:solidFill>
                  <a:srgbClr val="000000"/>
                </a:solidFill>
              </a:rPr>
              <a:t>标准下，除收益波动率外全部通过检验。短期指标显著性较中长期指标稍弱。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6F02480-7E01-CB3B-B6B2-281AEF1443F3}"/>
              </a:ext>
            </a:extLst>
          </p:cNvPr>
          <p:cNvSpPr txBox="1"/>
          <p:nvPr/>
        </p:nvSpPr>
        <p:spPr>
          <a:xfrm>
            <a:off x="1276572" y="6234433"/>
            <a:ext cx="47086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检验周期：</a:t>
            </a:r>
            <a:r>
              <a:rPr lang="en-US" altLang="zh-CN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2010/01/01-2023/06/09</a:t>
            </a:r>
          </a:p>
          <a:p>
            <a:r>
              <a:rPr lang="zh-CN" altLang="en-US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资料来源：</a:t>
            </a:r>
            <a:r>
              <a:rPr lang="en-US" altLang="zh-CN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</a:t>
            </a:r>
            <a:r>
              <a:rPr lang="zh-CN" altLang="en-US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800" dirty="0" err="1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Tushare</a:t>
            </a:r>
            <a:endParaRPr lang="zh-CN" altLang="en-US" sz="8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436670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3.1</a:t>
            </a:r>
            <a:r>
              <a:rPr lang="zh-CN" altLang="en-US" dirty="0"/>
              <a:t> 指标有效性检验 </a:t>
            </a:r>
            <a:r>
              <a:rPr lang="zh-CN" altLang="en-US" sz="1600" dirty="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+mn-lt"/>
              </a:rPr>
              <a:t>将择时中的参数从样本内推向样本外的重要基础</a:t>
            </a:r>
            <a:endParaRPr lang="zh-CN" altLang="en-US" sz="16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>
          <a:xfrm>
            <a:off x="4562860" y="6267315"/>
            <a:ext cx="2844800" cy="365125"/>
          </a:xfrm>
        </p:spPr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30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28FCDAF5-8D8C-6FC7-4FE5-3F3270AACD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7741597"/>
              </p:ext>
            </p:extLst>
          </p:nvPr>
        </p:nvGraphicFramePr>
        <p:xfrm>
          <a:off x="1332297" y="2149844"/>
          <a:ext cx="9305925" cy="25958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8099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47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76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7652">
                  <a:extLst>
                    <a:ext uri="{9D8B030D-6E8A-4147-A177-3AD203B41FA5}">
                      <a16:colId xmlns:a16="http://schemas.microsoft.com/office/drawing/2014/main" val="3571976764"/>
                    </a:ext>
                  </a:extLst>
                </a:gridCol>
                <a:gridCol w="897652">
                  <a:extLst>
                    <a:ext uri="{9D8B030D-6E8A-4147-A177-3AD203B41FA5}">
                      <a16:colId xmlns:a16="http://schemas.microsoft.com/office/drawing/2014/main" val="2549490151"/>
                    </a:ext>
                  </a:extLst>
                </a:gridCol>
                <a:gridCol w="897652">
                  <a:extLst>
                    <a:ext uri="{9D8B030D-6E8A-4147-A177-3AD203B41FA5}">
                      <a16:colId xmlns:a16="http://schemas.microsoft.com/office/drawing/2014/main" val="325064613"/>
                    </a:ext>
                  </a:extLst>
                </a:gridCol>
                <a:gridCol w="897652">
                  <a:extLst>
                    <a:ext uri="{9D8B030D-6E8A-4147-A177-3AD203B41FA5}">
                      <a16:colId xmlns:a16="http://schemas.microsoft.com/office/drawing/2014/main" val="3345608466"/>
                    </a:ext>
                  </a:extLst>
                </a:gridCol>
                <a:gridCol w="897652">
                  <a:extLst>
                    <a:ext uri="{9D8B030D-6E8A-4147-A177-3AD203B41FA5}">
                      <a16:colId xmlns:a16="http://schemas.microsoft.com/office/drawing/2014/main" val="1800446048"/>
                    </a:ext>
                  </a:extLst>
                </a:gridCol>
                <a:gridCol w="897652">
                  <a:extLst>
                    <a:ext uri="{9D8B030D-6E8A-4147-A177-3AD203B41FA5}">
                      <a16:colId xmlns:a16="http://schemas.microsoft.com/office/drawing/2014/main" val="3623527527"/>
                    </a:ext>
                  </a:extLst>
                </a:gridCol>
                <a:gridCol w="897652">
                  <a:extLst>
                    <a:ext uri="{9D8B030D-6E8A-4147-A177-3AD203B41FA5}">
                      <a16:colId xmlns:a16="http://schemas.microsoft.com/office/drawing/2014/main" val="12089575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/>
                      <a:endParaRPr lang="en-US" altLang="zh-CN" sz="11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指标</a:t>
                      </a:r>
                      <a:endParaRPr lang="en-US" altLang="zh-CN" sz="1100" b="1" u="none" strike="noStrike" kern="120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参数组合数量</a:t>
                      </a:r>
                      <a:endParaRPr lang="zh-CN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1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S=8</a:t>
                      </a:r>
                      <a:endParaRPr lang="en" sz="11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100" b="1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S=10</a:t>
                      </a:r>
                      <a:endParaRPr lang="en" sz="11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100" b="1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S=12</a:t>
                      </a:r>
                      <a:endParaRPr lang="en" sz="11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altLang="zh-CN" sz="11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PBO</a:t>
                      </a:r>
                      <a:r>
                        <a:rPr lang="zh-CN" altLang="en" sz="11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均值</a:t>
                      </a:r>
                      <a:endParaRPr lang="zh-CN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" sz="11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p</a:t>
                      </a:r>
                      <a:r>
                        <a:rPr lang="zh-CN" alt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值</a:t>
                      </a:r>
                      <a:endParaRPr lang="zh-CN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因子说明</a:t>
                      </a:r>
                      <a:endParaRPr lang="zh-CN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信号类别</a:t>
                      </a:r>
                      <a:endParaRPr lang="zh-CN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46" marR="1746" marT="1746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6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1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长期</a:t>
                      </a:r>
                      <a:r>
                        <a:rPr lang="en-US" altLang="zh-CN" sz="1100" b="1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zh-CN" altLang="en-US" sz="1100" b="1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交易拥挤度指标</a:t>
                      </a:r>
                    </a:p>
                  </a:txBody>
                  <a:tcPr marL="1746" marR="1746" marT="1746" marB="0" anchor="ctr"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" sz="1050" b="0" u="none" strike="noStrike" kern="1200" dirty="0">
                          <a:solidFill>
                            <a:srgbClr val="A6A6A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ret_TSMaxMinDiff_60_Pct_0.95_40</a:t>
                      </a:r>
                      <a:r>
                        <a:rPr lang="zh-CN" altLang="en-US" sz="1050" b="0" u="none" strike="noStrike" kern="1200" dirty="0">
                          <a:solidFill>
                            <a:srgbClr val="A6A6A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（剔除）</a:t>
                      </a:r>
                      <a:endParaRPr lang="en" sz="1050" b="0" u="none" strike="noStrike" kern="1200" dirty="0">
                        <a:solidFill>
                          <a:srgbClr val="A6A6A6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050" b="0" u="none" strike="noStrike" kern="1200" dirty="0">
                          <a:solidFill>
                            <a:srgbClr val="A6A6A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050" b="0" u="none" strike="noStrike" kern="1200" dirty="0">
                          <a:solidFill>
                            <a:srgbClr val="A6A6A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81.43%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050" b="0" u="none" strike="noStrike" kern="1200" dirty="0">
                          <a:solidFill>
                            <a:srgbClr val="A6A6A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77.78%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050" b="0" u="none" strike="noStrike" kern="1200">
                          <a:solidFill>
                            <a:srgbClr val="A6A6A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77.81%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050" b="0" u="none" strike="noStrike" kern="1200" dirty="0">
                          <a:solidFill>
                            <a:srgbClr val="A6A6A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79.01%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050" b="0" u="none" strike="noStrike" kern="1200" dirty="0">
                          <a:solidFill>
                            <a:srgbClr val="A6A6A6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0.0202</a:t>
                      </a:r>
                      <a:endParaRPr lang="en" sz="1050" b="0" u="none" strike="noStrike" kern="1200" dirty="0">
                        <a:solidFill>
                          <a:srgbClr val="A6A6A6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zh-CN" altLang="en-US" sz="1050" b="0" u="none" strike="noStrike" kern="1200" dirty="0">
                          <a:solidFill>
                            <a:srgbClr val="A6A6A6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动量类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zh-CN" altLang="en-US" sz="1050" b="0" u="none" strike="noStrike" kern="1200" dirty="0">
                          <a:solidFill>
                            <a:srgbClr val="A6A6A6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历史分位数阈值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fontAlgn="ctr"/>
                      <a:endParaRPr lang="en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" sz="105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ret_std_TSMean_60_Pct_0.95_20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05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050" b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24.29%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05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17.46%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05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22.94%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05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21.56%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" sz="105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8.79E-06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zh-CN" altLang="en-US" sz="105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波动率类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zh-CN" altLang="en-US" sz="105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历史分位数阈值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fontAlgn="ctr"/>
                      <a:endParaRPr lang="en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" sz="1050" b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close_TSBias_250_Pct_0.95_250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05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05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38.57%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050" b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36.11%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05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29.76%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050" b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34.81%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" sz="105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1.22E-05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zh-CN" altLang="en-US" sz="105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乖离率类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zh-CN" altLang="en-US" sz="1050" b="0" u="none" strike="noStrike" kern="1200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历史分位数阈值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fontAlgn="ctr"/>
                      <a:endParaRPr lang="en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" sz="105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volume_TSMean_60_Pct_0.95_20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050" b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050" b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38.57%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050" b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54.76%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05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47.29%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05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46.88%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" sz="105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1.21E-09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zh-CN" altLang="en-US" sz="105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流动性类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zh-CN" altLang="en-US" sz="105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历史分位数阈值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" sz="1100" b="1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中期</a:t>
                      </a:r>
                      <a:endParaRPr lang="en" sz="1100" b="1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46" marR="1746" marT="1746" marB="0" anchor="ctr"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" sz="1050" b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CorrP20_volume_Pct_0.05_20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050" b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050" b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28.57%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050" b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34.52%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050" b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27.06%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050" b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30.05%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" sz="105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9.69E-04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zh-CN" altLang="en-US" sz="105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量价相关系数类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zh-CN" altLang="en-US" sz="105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历史分位数阈值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8393748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fontAlgn="ctr"/>
                      <a:endParaRPr lang="en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746" marR="1746" marT="1746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" sz="105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ret_TSSkew_20_Pct_0.05_40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050" b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050" b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12.86%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05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23.81%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050" b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17.42%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05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18.03%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" sz="1050" b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5.07E-03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zh-CN" altLang="en-US" sz="105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收益分布特征类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zh-CN" altLang="en-US" sz="105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历史分位数阈值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99790360"/>
                  </a:ext>
                </a:extLst>
              </a:tr>
            </a:tbl>
          </a:graphicData>
        </a:graphic>
      </p:graphicFrame>
      <p:sp>
        <p:nvSpPr>
          <p:cNvPr id="5" name="内容占位符 11">
            <a:extLst>
              <a:ext uri="{FF2B5EF4-FFF2-40B4-BE49-F238E27FC236}">
                <a16:creationId xmlns:a16="http://schemas.microsoft.com/office/drawing/2014/main" id="{C3CC1707-8F2C-638D-B6CB-8BA40EE94415}"/>
              </a:ext>
            </a:extLst>
          </p:cNvPr>
          <p:cNvSpPr txBox="1">
            <a:spLocks/>
          </p:cNvSpPr>
          <p:nvPr/>
        </p:nvSpPr>
        <p:spPr>
          <a:xfrm>
            <a:off x="4387990" y="1171627"/>
            <a:ext cx="3667037" cy="360000"/>
          </a:xfrm>
          <a:prstGeom prst="rect">
            <a:avLst/>
          </a:prstGeom>
          <a:solidFill>
            <a:srgbClr val="EEEEE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kumimoji="0" lang="zh-CN" altLang="en-US" sz="1400" b="1" i="0" u="none" strike="noStrike" kern="1200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ea typeface="+mn-ea"/>
                <a:cs typeface="Times New Roman" pitchFamily="18" charset="0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/>
              <a:t>指标有效性检验结果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0649613-3030-1523-B0AC-3B66E78AB818}"/>
              </a:ext>
            </a:extLst>
          </p:cNvPr>
          <p:cNvSpPr/>
          <p:nvPr/>
        </p:nvSpPr>
        <p:spPr>
          <a:xfrm>
            <a:off x="968673" y="5255889"/>
            <a:ext cx="10173944" cy="413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参数敏感性分析结果在附录中展示。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CD81C85-4B67-88F7-2070-958D36E53167}"/>
              </a:ext>
            </a:extLst>
          </p:cNvPr>
          <p:cNvSpPr txBox="1"/>
          <p:nvPr/>
        </p:nvSpPr>
        <p:spPr>
          <a:xfrm>
            <a:off x="1276572" y="4862830"/>
            <a:ext cx="47086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检验周期：</a:t>
            </a:r>
            <a:r>
              <a:rPr lang="en-US" altLang="zh-CN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2010/01/01-2023/06/09</a:t>
            </a:r>
          </a:p>
          <a:p>
            <a:r>
              <a:rPr lang="zh-CN" altLang="en-US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资料来源：</a:t>
            </a:r>
            <a:r>
              <a:rPr lang="en-US" altLang="zh-CN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</a:t>
            </a:r>
            <a:r>
              <a:rPr lang="zh-CN" altLang="en-US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800" dirty="0" err="1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Tushare</a:t>
            </a:r>
            <a:endParaRPr lang="zh-CN" altLang="en-US" sz="8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6A1071A-2AD7-337D-D5F1-04E2791AFC82}"/>
              </a:ext>
            </a:extLst>
          </p:cNvPr>
          <p:cNvSpPr/>
          <p:nvPr/>
        </p:nvSpPr>
        <p:spPr>
          <a:xfrm>
            <a:off x="968673" y="1588444"/>
            <a:ext cx="10447040" cy="413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在</a:t>
            </a:r>
            <a:r>
              <a:rPr lang="en-US" altLang="zh-CN" sz="1600" dirty="0">
                <a:solidFill>
                  <a:srgbClr val="000000"/>
                </a:solidFill>
              </a:rPr>
              <a:t>PBO</a:t>
            </a:r>
            <a:r>
              <a:rPr lang="zh-CN" altLang="en-US" sz="1600" dirty="0">
                <a:solidFill>
                  <a:srgbClr val="000000"/>
                </a:solidFill>
              </a:rPr>
              <a:t>小于</a:t>
            </a:r>
            <a:r>
              <a:rPr lang="en-US" altLang="zh-CN" sz="1600" dirty="0">
                <a:solidFill>
                  <a:srgbClr val="000000"/>
                </a:solidFill>
              </a:rPr>
              <a:t>50%</a:t>
            </a:r>
            <a:r>
              <a:rPr lang="zh-CN" altLang="en-US" sz="1600" dirty="0">
                <a:solidFill>
                  <a:srgbClr val="000000"/>
                </a:solidFill>
              </a:rPr>
              <a:t>，</a:t>
            </a:r>
            <a:r>
              <a:rPr lang="en-US" altLang="zh-CN" sz="1600" dirty="0">
                <a:solidFill>
                  <a:srgbClr val="000000"/>
                </a:solidFill>
              </a:rPr>
              <a:t>p</a:t>
            </a:r>
            <a:r>
              <a:rPr lang="zh-CN" altLang="en-US" sz="1600" dirty="0">
                <a:solidFill>
                  <a:srgbClr val="000000"/>
                </a:solidFill>
              </a:rPr>
              <a:t>值置信水平</a:t>
            </a:r>
            <a:r>
              <a:rPr lang="en-US" altLang="zh-CN" sz="1600" dirty="0">
                <a:solidFill>
                  <a:srgbClr val="000000"/>
                </a:solidFill>
              </a:rPr>
              <a:t>0.95</a:t>
            </a:r>
            <a:r>
              <a:rPr lang="zh-CN" altLang="en-US" sz="1600" dirty="0">
                <a:solidFill>
                  <a:srgbClr val="000000"/>
                </a:solidFill>
              </a:rPr>
              <a:t>标准下，除收益波动率外全部通过检验。短期指标显著性较中长期指标稍弱。</a:t>
            </a:r>
          </a:p>
        </p:txBody>
      </p:sp>
    </p:spTree>
    <p:extLst>
      <p:ext uri="{BB962C8B-B14F-4D97-AF65-F5344CB8AC3E}">
        <p14:creationId xmlns:p14="http://schemas.microsoft.com/office/powerpoint/2010/main" val="20966661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>
            <a:extLst>
              <a:ext uri="{FF2B5EF4-FFF2-40B4-BE49-F238E27FC236}">
                <a16:creationId xmlns:a16="http://schemas.microsoft.com/office/drawing/2014/main" id="{4D6FA63B-DEBF-CFB2-C0A0-6519E85096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57" y="2014196"/>
            <a:ext cx="5986458" cy="40874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3.2</a:t>
            </a:r>
            <a:r>
              <a:rPr lang="zh-CN" altLang="en-US" dirty="0"/>
              <a:t> 上证</a:t>
            </a:r>
            <a:r>
              <a:rPr lang="en-US" altLang="zh-CN" dirty="0"/>
              <a:t>50</a:t>
            </a:r>
            <a:r>
              <a:rPr lang="zh-CN" altLang="en-US" dirty="0"/>
              <a:t>回测分析 </a:t>
            </a:r>
            <a:r>
              <a:rPr lang="zh-CN" altLang="en-US" sz="1600" dirty="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+mn-lt"/>
              </a:rPr>
              <a:t>整体表现</a:t>
            </a:r>
            <a:endParaRPr lang="zh-CN" altLang="en-US" sz="16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>
          <a:xfrm>
            <a:off x="4562860" y="6267315"/>
            <a:ext cx="2844800" cy="365125"/>
          </a:xfrm>
        </p:spPr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31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7FA512A1-A1A0-AF48-D1BC-29752C3B6D35}"/>
              </a:ext>
            </a:extLst>
          </p:cNvPr>
          <p:cNvSpPr/>
          <p:nvPr/>
        </p:nvSpPr>
        <p:spPr>
          <a:xfrm>
            <a:off x="531907" y="1829363"/>
            <a:ext cx="6260779" cy="4310185"/>
          </a:xfrm>
          <a:prstGeom prst="roundRect">
            <a:avLst>
              <a:gd name="adj" fmla="val 2450"/>
            </a:avLst>
          </a:prstGeom>
          <a:noFill/>
          <a:ln>
            <a:solidFill>
              <a:srgbClr val="4F81B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1"/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376DC356-D305-82AF-1BC6-CE6EEE3CE3C4}"/>
              </a:ext>
            </a:extLst>
          </p:cNvPr>
          <p:cNvCxnSpPr>
            <a:cxnSpLocks/>
          </p:cNvCxnSpPr>
          <p:nvPr/>
        </p:nvCxnSpPr>
        <p:spPr>
          <a:xfrm>
            <a:off x="4998225" y="2188029"/>
            <a:ext cx="0" cy="3100576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A8A9B6DF-299D-6749-26F1-8101A77AB751}"/>
              </a:ext>
            </a:extLst>
          </p:cNvPr>
          <p:cNvSpPr txBox="1"/>
          <p:nvPr/>
        </p:nvSpPr>
        <p:spPr>
          <a:xfrm>
            <a:off x="7965706" y="1829363"/>
            <a:ext cx="216024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年化收益：</a:t>
            </a:r>
            <a:r>
              <a:rPr kumimoji="1" lang="en-US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0.42%</a:t>
            </a:r>
          </a:p>
          <a:p>
            <a:r>
              <a:rPr kumimoji="1"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最大回撤：</a:t>
            </a:r>
            <a:r>
              <a:rPr kumimoji="1" lang="en-US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-10.99%</a:t>
            </a:r>
          </a:p>
          <a:p>
            <a:r>
              <a:rPr kumimoji="1"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胜率：</a:t>
            </a:r>
            <a:r>
              <a:rPr kumimoji="1" lang="en-US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0.53</a:t>
            </a:r>
            <a:r>
              <a:rPr kumimoji="1"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  </a:t>
            </a:r>
            <a:endParaRPr kumimoji="1" lang="en-US" altLang="zh-CN" sz="1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kumimoji="1"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盈亏比：</a:t>
            </a:r>
            <a:r>
              <a:rPr kumimoji="1" lang="en-US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1.04</a:t>
            </a:r>
          </a:p>
          <a:p>
            <a:r>
              <a:rPr kumimoji="1"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年均交易次数：</a:t>
            </a:r>
            <a:r>
              <a:rPr kumimoji="1" lang="en-US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25.47</a:t>
            </a:r>
            <a:endParaRPr kumimoji="1" lang="zh-CN" altLang="en-US" sz="14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981FAFD-0063-8CAC-638E-6920BC11BDD2}"/>
              </a:ext>
            </a:extLst>
          </p:cNvPr>
          <p:cNvSpPr txBox="1"/>
          <p:nvPr/>
        </p:nvSpPr>
        <p:spPr>
          <a:xfrm>
            <a:off x="7965706" y="3230485"/>
            <a:ext cx="216024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年化收益：</a:t>
            </a:r>
            <a:r>
              <a:rPr kumimoji="1" lang="en-US" altLang="zh-CN" sz="1400" b="1" dirty="0">
                <a:solidFill>
                  <a:srgbClr val="F79646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6.10%</a:t>
            </a:r>
          </a:p>
          <a:p>
            <a:r>
              <a:rPr kumimoji="1"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最大回撤：</a:t>
            </a:r>
            <a:r>
              <a:rPr kumimoji="1" lang="en-US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-8.90%</a:t>
            </a:r>
          </a:p>
          <a:p>
            <a:r>
              <a:rPr kumimoji="1"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胜率：</a:t>
            </a:r>
            <a:r>
              <a:rPr kumimoji="1" lang="en-US" altLang="zh-CN" sz="1400" b="1" dirty="0">
                <a:solidFill>
                  <a:srgbClr val="F79646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0.60</a:t>
            </a:r>
          </a:p>
          <a:p>
            <a:r>
              <a:rPr kumimoji="1"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盈亏比：</a:t>
            </a:r>
            <a:r>
              <a:rPr kumimoji="1" lang="en-US" altLang="zh-CN" sz="1400" b="1" dirty="0">
                <a:solidFill>
                  <a:srgbClr val="F79646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1.26</a:t>
            </a:r>
          </a:p>
          <a:p>
            <a:r>
              <a:rPr kumimoji="1"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年均交易次数：</a:t>
            </a:r>
            <a:r>
              <a:rPr kumimoji="1" lang="en-US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23.34</a:t>
            </a:r>
          </a:p>
          <a:p>
            <a:endParaRPr kumimoji="1" lang="zh-CN" altLang="en-US" sz="12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7B3BFC4-0884-E9B9-B1B9-4B17BCA2593C}"/>
              </a:ext>
            </a:extLst>
          </p:cNvPr>
          <p:cNvSpPr txBox="1"/>
          <p:nvPr/>
        </p:nvSpPr>
        <p:spPr>
          <a:xfrm>
            <a:off x="7965706" y="4688440"/>
            <a:ext cx="2160240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年化收益：</a:t>
            </a:r>
            <a:r>
              <a:rPr kumimoji="1" lang="en-US" altLang="zh-CN" sz="1400" b="1" dirty="0">
                <a:solidFill>
                  <a:srgbClr val="F79646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7.73%</a:t>
            </a:r>
          </a:p>
          <a:p>
            <a:r>
              <a:rPr kumimoji="1"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最大回撤：</a:t>
            </a:r>
            <a:r>
              <a:rPr kumimoji="1" lang="en-US" altLang="zh-CN" sz="1400" b="1" dirty="0">
                <a:solidFill>
                  <a:srgbClr val="F79646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-7.67%</a:t>
            </a:r>
          </a:p>
          <a:p>
            <a:r>
              <a:rPr kumimoji="1"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胜率：</a:t>
            </a:r>
            <a:r>
              <a:rPr kumimoji="1" lang="en-US" altLang="zh-CN" sz="1400" b="1" dirty="0">
                <a:solidFill>
                  <a:srgbClr val="F79646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0.64</a:t>
            </a:r>
            <a:r>
              <a:rPr kumimoji="1" lang="en-US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</a:p>
          <a:p>
            <a:r>
              <a:rPr kumimoji="1"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盈亏比：</a:t>
            </a:r>
            <a:r>
              <a:rPr kumimoji="1" lang="en-US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1.20</a:t>
            </a:r>
          </a:p>
          <a:p>
            <a:r>
              <a:rPr kumimoji="1"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年均交易次数：</a:t>
            </a:r>
            <a:r>
              <a:rPr kumimoji="1" lang="en-US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22.50</a:t>
            </a:r>
          </a:p>
          <a:p>
            <a:endParaRPr kumimoji="1" lang="en-US" altLang="zh-CN" sz="1200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endParaRPr kumimoji="1" lang="zh-CN" altLang="en-US" sz="12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4" name="下箭头 13">
            <a:extLst>
              <a:ext uri="{FF2B5EF4-FFF2-40B4-BE49-F238E27FC236}">
                <a16:creationId xmlns:a16="http://schemas.microsoft.com/office/drawing/2014/main" id="{E1FD40C4-A699-EE52-BBBE-09E3C1E80453}"/>
              </a:ext>
            </a:extLst>
          </p:cNvPr>
          <p:cNvSpPr/>
          <p:nvPr/>
        </p:nvSpPr>
        <p:spPr>
          <a:xfrm>
            <a:off x="10125946" y="2589379"/>
            <a:ext cx="291683" cy="819069"/>
          </a:xfrm>
          <a:prstGeom prst="downArrow">
            <a:avLst/>
          </a:prstGeom>
          <a:solidFill>
            <a:srgbClr val="4F8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" name="下箭头 14">
            <a:extLst>
              <a:ext uri="{FF2B5EF4-FFF2-40B4-BE49-F238E27FC236}">
                <a16:creationId xmlns:a16="http://schemas.microsoft.com/office/drawing/2014/main" id="{146A358C-D2D1-C9DD-7B39-CA0DCE217672}"/>
              </a:ext>
            </a:extLst>
          </p:cNvPr>
          <p:cNvSpPr/>
          <p:nvPr/>
        </p:nvSpPr>
        <p:spPr>
          <a:xfrm>
            <a:off x="10125946" y="4077438"/>
            <a:ext cx="291683" cy="819069"/>
          </a:xfrm>
          <a:prstGeom prst="downArrow">
            <a:avLst/>
          </a:prstGeom>
          <a:solidFill>
            <a:srgbClr val="4F8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73695C5-7FB3-F1DB-0F95-D8B92EE0E8D1}"/>
              </a:ext>
            </a:extLst>
          </p:cNvPr>
          <p:cNvSpPr txBox="1"/>
          <p:nvPr/>
        </p:nvSpPr>
        <p:spPr>
          <a:xfrm>
            <a:off x="10413380" y="2746622"/>
            <a:ext cx="21347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600" b="1" dirty="0">
                <a:latin typeface="SimSun" panose="02010600030101010101" pitchFamily="2" charset="-122"/>
                <a:ea typeface="SimSun" panose="02010600030101010101" pitchFamily="2" charset="-122"/>
              </a:rPr>
              <a:t>收益增强</a:t>
            </a:r>
            <a:endParaRPr kumimoji="1" lang="en-US" altLang="zh-CN" sz="16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DA6217E-040D-0B64-2B1C-1072AE48C904}"/>
              </a:ext>
            </a:extLst>
          </p:cNvPr>
          <p:cNvSpPr txBox="1"/>
          <p:nvPr/>
        </p:nvSpPr>
        <p:spPr>
          <a:xfrm>
            <a:off x="10413379" y="4246148"/>
            <a:ext cx="21347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600" b="1" dirty="0">
                <a:latin typeface="SimSun" panose="02010600030101010101" pitchFamily="2" charset="-122"/>
                <a:ea typeface="SimSun" panose="02010600030101010101" pitchFamily="2" charset="-122"/>
              </a:rPr>
              <a:t>风险控制</a:t>
            </a:r>
            <a:endParaRPr kumimoji="1" lang="en-US" altLang="zh-CN" sz="16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3312473-A12F-2B59-9D83-020049DD5ACC}"/>
              </a:ext>
            </a:extLst>
          </p:cNvPr>
          <p:cNvSpPr txBox="1"/>
          <p:nvPr/>
        </p:nvSpPr>
        <p:spPr>
          <a:xfrm>
            <a:off x="8253139" y="1363669"/>
            <a:ext cx="2160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【</a:t>
            </a:r>
            <a:r>
              <a:rPr kumimoji="1" lang="zh-CN" altLang="en-US" sz="1400" dirty="0">
                <a:latin typeface="SimSun" panose="02010600030101010101" pitchFamily="2" charset="-122"/>
                <a:ea typeface="SimSun" panose="02010600030101010101" pitchFamily="2" charset="-122"/>
              </a:rPr>
              <a:t>样本外</a:t>
            </a:r>
            <a:r>
              <a:rPr kumimoji="1" lang="en-US" altLang="zh-CN" sz="1400" dirty="0">
                <a:latin typeface="SimSun" panose="02010600030101010101" pitchFamily="2" charset="-122"/>
                <a:ea typeface="SimSun" panose="02010600030101010101" pitchFamily="2" charset="-122"/>
              </a:rPr>
              <a:t>】</a:t>
            </a:r>
            <a:endParaRPr kumimoji="1" lang="zh-CN" altLang="en-US" sz="14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4" name="Freeform 69">
            <a:extLst>
              <a:ext uri="{FF2B5EF4-FFF2-40B4-BE49-F238E27FC236}">
                <a16:creationId xmlns:a16="http://schemas.microsoft.com/office/drawing/2014/main" id="{6F53BEEA-2C51-133B-71AE-8A557794A9A0}"/>
              </a:ext>
            </a:extLst>
          </p:cNvPr>
          <p:cNvSpPr/>
          <p:nvPr/>
        </p:nvSpPr>
        <p:spPr>
          <a:xfrm>
            <a:off x="7407660" y="1958587"/>
            <a:ext cx="375619" cy="911102"/>
          </a:xfrm>
          <a:custGeom>
            <a:avLst/>
            <a:gdLst>
              <a:gd name="connsiteX0" fmla="*/ 0 w 1283962"/>
              <a:gd name="connsiteY0" fmla="*/ 64198 h 641981"/>
              <a:gd name="connsiteX1" fmla="*/ 18803 w 1283962"/>
              <a:gd name="connsiteY1" fmla="*/ 18803 h 641981"/>
              <a:gd name="connsiteX2" fmla="*/ 64198 w 1283962"/>
              <a:gd name="connsiteY2" fmla="*/ 0 h 641981"/>
              <a:gd name="connsiteX3" fmla="*/ 1219764 w 1283962"/>
              <a:gd name="connsiteY3" fmla="*/ 0 h 641981"/>
              <a:gd name="connsiteX4" fmla="*/ 1265159 w 1283962"/>
              <a:gd name="connsiteY4" fmla="*/ 18803 h 641981"/>
              <a:gd name="connsiteX5" fmla="*/ 1283962 w 1283962"/>
              <a:gd name="connsiteY5" fmla="*/ 64198 h 641981"/>
              <a:gd name="connsiteX6" fmla="*/ 1283962 w 1283962"/>
              <a:gd name="connsiteY6" fmla="*/ 577783 h 641981"/>
              <a:gd name="connsiteX7" fmla="*/ 1265159 w 1283962"/>
              <a:gd name="connsiteY7" fmla="*/ 623178 h 641981"/>
              <a:gd name="connsiteX8" fmla="*/ 1219764 w 1283962"/>
              <a:gd name="connsiteY8" fmla="*/ 641981 h 641981"/>
              <a:gd name="connsiteX9" fmla="*/ 64198 w 1283962"/>
              <a:gd name="connsiteY9" fmla="*/ 641981 h 641981"/>
              <a:gd name="connsiteX10" fmla="*/ 18803 w 1283962"/>
              <a:gd name="connsiteY10" fmla="*/ 623178 h 641981"/>
              <a:gd name="connsiteX11" fmla="*/ 0 w 1283962"/>
              <a:gd name="connsiteY11" fmla="*/ 577783 h 641981"/>
              <a:gd name="connsiteX12" fmla="*/ 0 w 1283962"/>
              <a:gd name="connsiteY12" fmla="*/ 64198 h 641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83962" h="641981">
                <a:moveTo>
                  <a:pt x="0" y="64198"/>
                </a:moveTo>
                <a:cubicBezTo>
                  <a:pt x="0" y="47172"/>
                  <a:pt x="6764" y="30843"/>
                  <a:pt x="18803" y="18803"/>
                </a:cubicBezTo>
                <a:cubicBezTo>
                  <a:pt x="30842" y="6764"/>
                  <a:pt x="47172" y="0"/>
                  <a:pt x="64198" y="0"/>
                </a:cubicBezTo>
                <a:lnTo>
                  <a:pt x="1219764" y="0"/>
                </a:lnTo>
                <a:cubicBezTo>
                  <a:pt x="1236790" y="0"/>
                  <a:pt x="1253119" y="6764"/>
                  <a:pt x="1265159" y="18803"/>
                </a:cubicBezTo>
                <a:cubicBezTo>
                  <a:pt x="1277198" y="30842"/>
                  <a:pt x="1283962" y="47172"/>
                  <a:pt x="1283962" y="64198"/>
                </a:cubicBezTo>
                <a:lnTo>
                  <a:pt x="1283962" y="577783"/>
                </a:lnTo>
                <a:cubicBezTo>
                  <a:pt x="1283962" y="594809"/>
                  <a:pt x="1277198" y="611138"/>
                  <a:pt x="1265159" y="623178"/>
                </a:cubicBezTo>
                <a:cubicBezTo>
                  <a:pt x="1253120" y="635217"/>
                  <a:pt x="1236791" y="641981"/>
                  <a:pt x="1219764" y="641981"/>
                </a:cubicBezTo>
                <a:lnTo>
                  <a:pt x="64198" y="641981"/>
                </a:lnTo>
                <a:cubicBezTo>
                  <a:pt x="47172" y="641981"/>
                  <a:pt x="30843" y="635217"/>
                  <a:pt x="18803" y="623178"/>
                </a:cubicBezTo>
                <a:cubicBezTo>
                  <a:pt x="6764" y="611139"/>
                  <a:pt x="0" y="594809"/>
                  <a:pt x="0" y="577783"/>
                </a:cubicBezTo>
                <a:lnTo>
                  <a:pt x="0" y="64198"/>
                </a:lnTo>
                <a:close/>
              </a:path>
            </a:pathLst>
          </a:cu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spcFirstLastPara="0" vert="eaVert" wrap="square" lIns="43568" tIns="43568" rIns="43568" bIns="43568" numCol="1" spcCol="1270" anchor="ctr" anchorCtr="0">
            <a:noAutofit/>
          </a:bodyPr>
          <a:lstStyle/>
          <a:p>
            <a:pPr algn="ctr" defTabSz="1289018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zh-CN" altLang="en-US" sz="1400" kern="0" dirty="0">
                <a:solidFill>
                  <a:schemeClr val="bg1"/>
                </a:solidFill>
                <a:latin typeface="FontAwesome" pitchFamily="2" charset="0"/>
              </a:rPr>
              <a:t>短期</a:t>
            </a:r>
            <a:endParaRPr lang="en-US" altLang="zh-CN" sz="1400" kern="0" dirty="0">
              <a:solidFill>
                <a:schemeClr val="bg1"/>
              </a:solidFill>
              <a:latin typeface="FontAwesome" pitchFamily="2" charset="0"/>
            </a:endParaRPr>
          </a:p>
        </p:txBody>
      </p:sp>
      <p:sp>
        <p:nvSpPr>
          <p:cNvPr id="7" name="Freeform 69">
            <a:extLst>
              <a:ext uri="{FF2B5EF4-FFF2-40B4-BE49-F238E27FC236}">
                <a16:creationId xmlns:a16="http://schemas.microsoft.com/office/drawing/2014/main" id="{15FAB3C6-17D5-E174-BB58-583EE3E38126}"/>
              </a:ext>
            </a:extLst>
          </p:cNvPr>
          <p:cNvSpPr/>
          <p:nvPr/>
        </p:nvSpPr>
        <p:spPr>
          <a:xfrm>
            <a:off x="7407659" y="3408448"/>
            <a:ext cx="375619" cy="911102"/>
          </a:xfrm>
          <a:custGeom>
            <a:avLst/>
            <a:gdLst>
              <a:gd name="connsiteX0" fmla="*/ 0 w 1283962"/>
              <a:gd name="connsiteY0" fmla="*/ 64198 h 641981"/>
              <a:gd name="connsiteX1" fmla="*/ 18803 w 1283962"/>
              <a:gd name="connsiteY1" fmla="*/ 18803 h 641981"/>
              <a:gd name="connsiteX2" fmla="*/ 64198 w 1283962"/>
              <a:gd name="connsiteY2" fmla="*/ 0 h 641981"/>
              <a:gd name="connsiteX3" fmla="*/ 1219764 w 1283962"/>
              <a:gd name="connsiteY3" fmla="*/ 0 h 641981"/>
              <a:gd name="connsiteX4" fmla="*/ 1265159 w 1283962"/>
              <a:gd name="connsiteY4" fmla="*/ 18803 h 641981"/>
              <a:gd name="connsiteX5" fmla="*/ 1283962 w 1283962"/>
              <a:gd name="connsiteY5" fmla="*/ 64198 h 641981"/>
              <a:gd name="connsiteX6" fmla="*/ 1283962 w 1283962"/>
              <a:gd name="connsiteY6" fmla="*/ 577783 h 641981"/>
              <a:gd name="connsiteX7" fmla="*/ 1265159 w 1283962"/>
              <a:gd name="connsiteY7" fmla="*/ 623178 h 641981"/>
              <a:gd name="connsiteX8" fmla="*/ 1219764 w 1283962"/>
              <a:gd name="connsiteY8" fmla="*/ 641981 h 641981"/>
              <a:gd name="connsiteX9" fmla="*/ 64198 w 1283962"/>
              <a:gd name="connsiteY9" fmla="*/ 641981 h 641981"/>
              <a:gd name="connsiteX10" fmla="*/ 18803 w 1283962"/>
              <a:gd name="connsiteY10" fmla="*/ 623178 h 641981"/>
              <a:gd name="connsiteX11" fmla="*/ 0 w 1283962"/>
              <a:gd name="connsiteY11" fmla="*/ 577783 h 641981"/>
              <a:gd name="connsiteX12" fmla="*/ 0 w 1283962"/>
              <a:gd name="connsiteY12" fmla="*/ 64198 h 641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83962" h="641981">
                <a:moveTo>
                  <a:pt x="0" y="64198"/>
                </a:moveTo>
                <a:cubicBezTo>
                  <a:pt x="0" y="47172"/>
                  <a:pt x="6764" y="30843"/>
                  <a:pt x="18803" y="18803"/>
                </a:cubicBezTo>
                <a:cubicBezTo>
                  <a:pt x="30842" y="6764"/>
                  <a:pt x="47172" y="0"/>
                  <a:pt x="64198" y="0"/>
                </a:cubicBezTo>
                <a:lnTo>
                  <a:pt x="1219764" y="0"/>
                </a:lnTo>
                <a:cubicBezTo>
                  <a:pt x="1236790" y="0"/>
                  <a:pt x="1253119" y="6764"/>
                  <a:pt x="1265159" y="18803"/>
                </a:cubicBezTo>
                <a:cubicBezTo>
                  <a:pt x="1277198" y="30842"/>
                  <a:pt x="1283962" y="47172"/>
                  <a:pt x="1283962" y="64198"/>
                </a:cubicBezTo>
                <a:lnTo>
                  <a:pt x="1283962" y="577783"/>
                </a:lnTo>
                <a:cubicBezTo>
                  <a:pt x="1283962" y="594809"/>
                  <a:pt x="1277198" y="611138"/>
                  <a:pt x="1265159" y="623178"/>
                </a:cubicBezTo>
                <a:cubicBezTo>
                  <a:pt x="1253120" y="635217"/>
                  <a:pt x="1236791" y="641981"/>
                  <a:pt x="1219764" y="641981"/>
                </a:cubicBezTo>
                <a:lnTo>
                  <a:pt x="64198" y="641981"/>
                </a:lnTo>
                <a:cubicBezTo>
                  <a:pt x="47172" y="641981"/>
                  <a:pt x="30843" y="635217"/>
                  <a:pt x="18803" y="623178"/>
                </a:cubicBezTo>
                <a:cubicBezTo>
                  <a:pt x="6764" y="611139"/>
                  <a:pt x="0" y="594809"/>
                  <a:pt x="0" y="577783"/>
                </a:cubicBezTo>
                <a:lnTo>
                  <a:pt x="0" y="64198"/>
                </a:lnTo>
                <a:close/>
              </a:path>
            </a:pathLst>
          </a:cu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spcFirstLastPara="0" vert="eaVert" wrap="square" lIns="43568" tIns="43568" rIns="43568" bIns="43568" numCol="1" spcCol="1270" anchor="ctr" anchorCtr="0">
            <a:noAutofit/>
          </a:bodyPr>
          <a:lstStyle/>
          <a:p>
            <a:pPr algn="ctr" defTabSz="1289018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zh-CN" altLang="en-US" sz="1400" kern="0" dirty="0">
                <a:solidFill>
                  <a:schemeClr val="bg1"/>
                </a:solidFill>
                <a:latin typeface="FontAwesome" pitchFamily="2" charset="0"/>
              </a:rPr>
              <a:t>短中期</a:t>
            </a:r>
            <a:endParaRPr lang="en-US" altLang="zh-CN" sz="1400" kern="0" dirty="0">
              <a:solidFill>
                <a:schemeClr val="bg1"/>
              </a:solidFill>
              <a:latin typeface="FontAwesome" pitchFamily="2" charset="0"/>
            </a:endParaRPr>
          </a:p>
        </p:txBody>
      </p:sp>
      <p:sp>
        <p:nvSpPr>
          <p:cNvPr id="16" name="Freeform 69">
            <a:extLst>
              <a:ext uri="{FF2B5EF4-FFF2-40B4-BE49-F238E27FC236}">
                <a16:creationId xmlns:a16="http://schemas.microsoft.com/office/drawing/2014/main" id="{463E57B6-27C0-6035-8C52-6EF59258EDBE}"/>
              </a:ext>
            </a:extLst>
          </p:cNvPr>
          <p:cNvSpPr/>
          <p:nvPr/>
        </p:nvSpPr>
        <p:spPr>
          <a:xfrm>
            <a:off x="7407659" y="4833054"/>
            <a:ext cx="375619" cy="911102"/>
          </a:xfrm>
          <a:custGeom>
            <a:avLst/>
            <a:gdLst>
              <a:gd name="connsiteX0" fmla="*/ 0 w 1283962"/>
              <a:gd name="connsiteY0" fmla="*/ 64198 h 641981"/>
              <a:gd name="connsiteX1" fmla="*/ 18803 w 1283962"/>
              <a:gd name="connsiteY1" fmla="*/ 18803 h 641981"/>
              <a:gd name="connsiteX2" fmla="*/ 64198 w 1283962"/>
              <a:gd name="connsiteY2" fmla="*/ 0 h 641981"/>
              <a:gd name="connsiteX3" fmla="*/ 1219764 w 1283962"/>
              <a:gd name="connsiteY3" fmla="*/ 0 h 641981"/>
              <a:gd name="connsiteX4" fmla="*/ 1265159 w 1283962"/>
              <a:gd name="connsiteY4" fmla="*/ 18803 h 641981"/>
              <a:gd name="connsiteX5" fmla="*/ 1283962 w 1283962"/>
              <a:gd name="connsiteY5" fmla="*/ 64198 h 641981"/>
              <a:gd name="connsiteX6" fmla="*/ 1283962 w 1283962"/>
              <a:gd name="connsiteY6" fmla="*/ 577783 h 641981"/>
              <a:gd name="connsiteX7" fmla="*/ 1265159 w 1283962"/>
              <a:gd name="connsiteY7" fmla="*/ 623178 h 641981"/>
              <a:gd name="connsiteX8" fmla="*/ 1219764 w 1283962"/>
              <a:gd name="connsiteY8" fmla="*/ 641981 h 641981"/>
              <a:gd name="connsiteX9" fmla="*/ 64198 w 1283962"/>
              <a:gd name="connsiteY9" fmla="*/ 641981 h 641981"/>
              <a:gd name="connsiteX10" fmla="*/ 18803 w 1283962"/>
              <a:gd name="connsiteY10" fmla="*/ 623178 h 641981"/>
              <a:gd name="connsiteX11" fmla="*/ 0 w 1283962"/>
              <a:gd name="connsiteY11" fmla="*/ 577783 h 641981"/>
              <a:gd name="connsiteX12" fmla="*/ 0 w 1283962"/>
              <a:gd name="connsiteY12" fmla="*/ 64198 h 641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83962" h="641981">
                <a:moveTo>
                  <a:pt x="0" y="64198"/>
                </a:moveTo>
                <a:cubicBezTo>
                  <a:pt x="0" y="47172"/>
                  <a:pt x="6764" y="30843"/>
                  <a:pt x="18803" y="18803"/>
                </a:cubicBezTo>
                <a:cubicBezTo>
                  <a:pt x="30842" y="6764"/>
                  <a:pt x="47172" y="0"/>
                  <a:pt x="64198" y="0"/>
                </a:cubicBezTo>
                <a:lnTo>
                  <a:pt x="1219764" y="0"/>
                </a:lnTo>
                <a:cubicBezTo>
                  <a:pt x="1236790" y="0"/>
                  <a:pt x="1253119" y="6764"/>
                  <a:pt x="1265159" y="18803"/>
                </a:cubicBezTo>
                <a:cubicBezTo>
                  <a:pt x="1277198" y="30842"/>
                  <a:pt x="1283962" y="47172"/>
                  <a:pt x="1283962" y="64198"/>
                </a:cubicBezTo>
                <a:lnTo>
                  <a:pt x="1283962" y="577783"/>
                </a:lnTo>
                <a:cubicBezTo>
                  <a:pt x="1283962" y="594809"/>
                  <a:pt x="1277198" y="611138"/>
                  <a:pt x="1265159" y="623178"/>
                </a:cubicBezTo>
                <a:cubicBezTo>
                  <a:pt x="1253120" y="635217"/>
                  <a:pt x="1236791" y="641981"/>
                  <a:pt x="1219764" y="641981"/>
                </a:cubicBezTo>
                <a:lnTo>
                  <a:pt x="64198" y="641981"/>
                </a:lnTo>
                <a:cubicBezTo>
                  <a:pt x="47172" y="641981"/>
                  <a:pt x="30843" y="635217"/>
                  <a:pt x="18803" y="623178"/>
                </a:cubicBezTo>
                <a:cubicBezTo>
                  <a:pt x="6764" y="611139"/>
                  <a:pt x="0" y="594809"/>
                  <a:pt x="0" y="577783"/>
                </a:cubicBezTo>
                <a:lnTo>
                  <a:pt x="0" y="64198"/>
                </a:lnTo>
                <a:close/>
              </a:path>
            </a:pathLst>
          </a:cu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spcFirstLastPara="0" vert="eaVert" wrap="square" lIns="43568" tIns="43568" rIns="43568" bIns="43568" numCol="1" spcCol="1270" anchor="ctr" anchorCtr="0">
            <a:noAutofit/>
          </a:bodyPr>
          <a:lstStyle/>
          <a:p>
            <a:pPr algn="ctr" defTabSz="1289018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zh-CN" altLang="en-US" sz="1400" kern="0" dirty="0">
                <a:solidFill>
                  <a:schemeClr val="bg1"/>
                </a:solidFill>
                <a:latin typeface="FontAwesome" pitchFamily="2" charset="0"/>
              </a:rPr>
              <a:t>短中长期</a:t>
            </a:r>
            <a:endParaRPr lang="en-US" altLang="zh-CN" sz="1400" kern="0" dirty="0">
              <a:solidFill>
                <a:schemeClr val="bg1"/>
              </a:solidFill>
              <a:latin typeface="FontAwesome" pitchFamily="2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D0C45C6-D81C-C0A7-E673-F1CDC6EC561D}"/>
              </a:ext>
            </a:extLst>
          </p:cNvPr>
          <p:cNvSpPr txBox="1"/>
          <p:nvPr/>
        </p:nvSpPr>
        <p:spPr>
          <a:xfrm>
            <a:off x="531907" y="6298002"/>
            <a:ext cx="47086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资料来源：</a:t>
            </a:r>
            <a:r>
              <a:rPr lang="en-US" altLang="zh-CN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</a:t>
            </a:r>
            <a:r>
              <a:rPr lang="zh-CN" altLang="en-US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800" dirty="0" err="1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Tushare</a:t>
            </a:r>
            <a:endParaRPr lang="zh-CN" altLang="en-US" sz="8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内容占位符 11">
            <a:extLst>
              <a:ext uri="{FF2B5EF4-FFF2-40B4-BE49-F238E27FC236}">
                <a16:creationId xmlns:a16="http://schemas.microsoft.com/office/drawing/2014/main" id="{3996D670-3C79-68ED-5D9B-E4F8D6C4CD34}"/>
              </a:ext>
            </a:extLst>
          </p:cNvPr>
          <p:cNvSpPr txBox="1">
            <a:spLocks/>
          </p:cNvSpPr>
          <p:nvPr/>
        </p:nvSpPr>
        <p:spPr>
          <a:xfrm>
            <a:off x="1653529" y="1211786"/>
            <a:ext cx="4017534" cy="360000"/>
          </a:xfrm>
          <a:prstGeom prst="rect">
            <a:avLst/>
          </a:prstGeom>
          <a:solidFill>
            <a:srgbClr val="EEEEE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kumimoji="0" lang="zh-CN" altLang="en-US" sz="1400" b="1" i="0" u="none" strike="noStrike" kern="1200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ea typeface="+mn-ea"/>
                <a:cs typeface="Times New Roman" pitchFamily="18" charset="0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/>
              <a:t>短中长期复合策略上证</a:t>
            </a:r>
            <a:r>
              <a:rPr lang="en-US" altLang="zh-CN" dirty="0"/>
              <a:t>50</a:t>
            </a:r>
            <a:r>
              <a:rPr lang="zh-CN" altLang="en-US" dirty="0"/>
              <a:t>择时结果对比</a:t>
            </a:r>
          </a:p>
        </p:txBody>
      </p:sp>
    </p:spTree>
    <p:extLst>
      <p:ext uri="{BB962C8B-B14F-4D97-AF65-F5344CB8AC3E}">
        <p14:creationId xmlns:p14="http://schemas.microsoft.com/office/powerpoint/2010/main" val="4945740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内容占位符 11">
            <a:extLst>
              <a:ext uri="{FF2B5EF4-FFF2-40B4-BE49-F238E27FC236}">
                <a16:creationId xmlns:a16="http://schemas.microsoft.com/office/drawing/2014/main" id="{DFA53A6E-CE3C-5A04-7AA4-182354A88183}"/>
              </a:ext>
            </a:extLst>
          </p:cNvPr>
          <p:cNvSpPr txBox="1">
            <a:spLocks/>
          </p:cNvSpPr>
          <p:nvPr/>
        </p:nvSpPr>
        <p:spPr>
          <a:xfrm>
            <a:off x="1653529" y="2024500"/>
            <a:ext cx="4017534" cy="360000"/>
          </a:xfrm>
          <a:prstGeom prst="rect">
            <a:avLst/>
          </a:prstGeom>
          <a:solidFill>
            <a:srgbClr val="EEEEE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kumimoji="0" lang="zh-CN" altLang="en-US" sz="1400" b="1" i="0" u="none" strike="noStrike" kern="1200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ea typeface="+mn-ea"/>
                <a:cs typeface="Times New Roman" pitchFamily="18" charset="0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/>
              <a:t>短中长期复合策略上证</a:t>
            </a:r>
            <a:r>
              <a:rPr lang="en-US" altLang="zh-CN" dirty="0"/>
              <a:t>50</a:t>
            </a:r>
            <a:r>
              <a:rPr lang="zh-CN" altLang="en-US" dirty="0"/>
              <a:t>择时净值曲线（多头）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452181D-CB28-E1EF-F0E4-DEABF4276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475" y="2623140"/>
            <a:ext cx="6307515" cy="364092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3.2</a:t>
            </a:r>
            <a:r>
              <a:rPr lang="zh-CN" altLang="en-US" dirty="0"/>
              <a:t> 上证</a:t>
            </a:r>
            <a:r>
              <a:rPr lang="en-US" altLang="zh-CN" dirty="0"/>
              <a:t>50</a:t>
            </a:r>
            <a:r>
              <a:rPr lang="zh-CN" altLang="en-US" dirty="0"/>
              <a:t>回测分析 </a:t>
            </a:r>
            <a:r>
              <a:rPr lang="zh-CN" altLang="en-US" sz="1600" dirty="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+mn-lt"/>
              </a:rPr>
              <a:t>整体表现</a:t>
            </a:r>
            <a:endParaRPr lang="zh-CN" altLang="en-US" sz="16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>
          <a:xfrm>
            <a:off x="4562860" y="6267315"/>
            <a:ext cx="2844800" cy="365125"/>
          </a:xfrm>
        </p:spPr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32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7FA512A1-A1A0-AF48-D1BC-29752C3B6D35}"/>
              </a:ext>
            </a:extLst>
          </p:cNvPr>
          <p:cNvSpPr/>
          <p:nvPr/>
        </p:nvSpPr>
        <p:spPr>
          <a:xfrm>
            <a:off x="546475" y="2589201"/>
            <a:ext cx="6260779" cy="3650679"/>
          </a:xfrm>
          <a:prstGeom prst="roundRect">
            <a:avLst>
              <a:gd name="adj" fmla="val 2450"/>
            </a:avLst>
          </a:prstGeom>
          <a:noFill/>
          <a:ln>
            <a:solidFill>
              <a:srgbClr val="4F81B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1"/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376DC356-D305-82AF-1BC6-CE6EEE3CE3C4}"/>
              </a:ext>
            </a:extLst>
          </p:cNvPr>
          <p:cNvCxnSpPr>
            <a:cxnSpLocks/>
          </p:cNvCxnSpPr>
          <p:nvPr/>
        </p:nvCxnSpPr>
        <p:spPr>
          <a:xfrm>
            <a:off x="4686221" y="2782217"/>
            <a:ext cx="0" cy="2894678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552FFD2B-3A7A-320E-24C1-915F9D2BA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3003446"/>
              </p:ext>
            </p:extLst>
          </p:nvPr>
        </p:nvGraphicFramePr>
        <p:xfrm>
          <a:off x="7385514" y="1263165"/>
          <a:ext cx="4274579" cy="23317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302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1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52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5282">
                  <a:extLst>
                    <a:ext uri="{9D8B030D-6E8A-4147-A177-3AD203B41FA5}">
                      <a16:colId xmlns:a16="http://schemas.microsoft.com/office/drawing/2014/main" val="2505802984"/>
                    </a:ext>
                  </a:extLst>
                </a:gridCol>
              </a:tblGrid>
              <a:tr h="21017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/>
                        <a:t>（空仓</a:t>
                      </a:r>
                      <a:r>
                        <a:rPr lang="en-US" altLang="zh-CN" sz="1100" dirty="0"/>
                        <a:t>1</a:t>
                      </a:r>
                      <a:r>
                        <a:rPr lang="zh-CN" altLang="en-US" sz="1100" dirty="0"/>
                        <a:t>交易日）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/>
                        <a:t>样本内</a:t>
                      </a:r>
                      <a:r>
                        <a:rPr lang="en-US" altLang="zh-CN" sz="1100" dirty="0"/>
                        <a:t>15-20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/>
                        <a:t>样本外</a:t>
                      </a:r>
                      <a:r>
                        <a:rPr lang="en-US" altLang="zh-CN" sz="1100" dirty="0"/>
                        <a:t>21-23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/>
                        <a:t>全部区间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17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年化收益率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33.45%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7.73%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25.48%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17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年化波动率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12.06%</a:t>
                      </a:r>
                      <a:endParaRPr lang="zh-CN" altLang="en-US" sz="105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9.83%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11.47%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17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夏普比率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2.77</a:t>
                      </a:r>
                      <a:endParaRPr lang="zh-CN" altLang="en-US" sz="105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0.79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2.22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17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最大回撤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-12.41%</a:t>
                      </a:r>
                      <a:endParaRPr lang="zh-CN" altLang="en-US" sz="105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-7.67%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-12.41%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17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胜率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0.70</a:t>
                      </a:r>
                      <a:endParaRPr lang="zh-CN" altLang="en-US" sz="105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b="1" kern="1200" dirty="0">
                          <a:solidFill>
                            <a:srgbClr val="F7964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0.64</a:t>
                      </a:r>
                      <a:endParaRPr lang="zh-CN" altLang="en-US" sz="1050" b="1" kern="1200" dirty="0">
                        <a:solidFill>
                          <a:srgbClr val="F7964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0.68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6474188"/>
                  </a:ext>
                </a:extLst>
              </a:tr>
              <a:tr h="21017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盈亏比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2.31</a:t>
                      </a:r>
                      <a:endParaRPr lang="zh-CN" altLang="en-US" sz="105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b="1" kern="1200" dirty="0">
                          <a:solidFill>
                            <a:srgbClr val="F79646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1.20</a:t>
                      </a:r>
                      <a:endParaRPr lang="zh-CN" altLang="en-US" sz="1050" b="1" kern="1200" dirty="0">
                        <a:solidFill>
                          <a:srgbClr val="F79646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2.04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1790459"/>
                  </a:ext>
                </a:extLst>
              </a:tr>
              <a:tr h="21017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盈利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1.32</a:t>
                      </a:r>
                      <a:endParaRPr lang="zh-CN" altLang="en-US" sz="105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0.41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1.08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092398"/>
                  </a:ext>
                </a:extLst>
              </a:tr>
              <a:tr h="21017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年均交易次数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21.05</a:t>
                      </a:r>
                      <a:endParaRPr lang="zh-CN" altLang="en-US" sz="105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22.50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21.45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2004653"/>
                  </a:ext>
                </a:extLst>
              </a:tr>
            </a:tbl>
          </a:graphicData>
        </a:graphic>
      </p:graphicFrame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7E3F27CC-BD0B-E7D0-02FA-CB32AF4358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7255405"/>
              </p:ext>
            </p:extLst>
          </p:nvPr>
        </p:nvGraphicFramePr>
        <p:xfrm>
          <a:off x="7385513" y="3853556"/>
          <a:ext cx="4274579" cy="23317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302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1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52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5282">
                  <a:extLst>
                    <a:ext uri="{9D8B030D-6E8A-4147-A177-3AD203B41FA5}">
                      <a16:colId xmlns:a16="http://schemas.microsoft.com/office/drawing/2014/main" val="2505802984"/>
                    </a:ext>
                  </a:extLst>
                </a:gridCol>
              </a:tblGrid>
              <a:tr h="22426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/>
                        <a:t>（空仓</a:t>
                      </a:r>
                      <a:r>
                        <a:rPr lang="en-US" altLang="zh-CN" sz="1100" dirty="0"/>
                        <a:t>10</a:t>
                      </a:r>
                      <a:r>
                        <a:rPr lang="zh-CN" altLang="en-US" sz="1100" dirty="0"/>
                        <a:t>交易日）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/>
                        <a:t>样本内</a:t>
                      </a:r>
                      <a:r>
                        <a:rPr lang="en-US" altLang="zh-CN" sz="1100" dirty="0"/>
                        <a:t>15-20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/>
                        <a:t>样本外</a:t>
                      </a:r>
                      <a:r>
                        <a:rPr lang="en-US" altLang="zh-CN" sz="1100" dirty="0"/>
                        <a:t>21-23</a:t>
                      </a:r>
                      <a:endParaRPr lang="zh-CN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/>
                        <a:t>全部区间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26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年化收益率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31.70%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6.91%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24.03%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26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年化波动率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11.74%</a:t>
                      </a:r>
                      <a:endParaRPr lang="zh-CN" altLang="en-US" sz="105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9.69%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11.20%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26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夏普比率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2.70</a:t>
                      </a:r>
                      <a:endParaRPr lang="zh-CN" altLang="en-US" sz="105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0.71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2.15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26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最大回撤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b="1" kern="1200" dirty="0">
                          <a:solidFill>
                            <a:srgbClr val="F79646"/>
                          </a:solidFill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-10.77%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b="1" kern="1200" dirty="0">
                          <a:solidFill>
                            <a:srgbClr val="F79646"/>
                          </a:solidFill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-7.67%</a:t>
                      </a:r>
                      <a:endParaRPr lang="zh-CN" altLang="en-US" sz="1050" b="1" kern="1200" dirty="0">
                        <a:solidFill>
                          <a:srgbClr val="F79646"/>
                        </a:solidFill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b="1" kern="1200" dirty="0">
                          <a:solidFill>
                            <a:srgbClr val="F79646"/>
                          </a:solidFill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-10.77%</a:t>
                      </a:r>
                      <a:endParaRPr lang="zh-CN" altLang="en-US" sz="1050" b="1" kern="1200" dirty="0">
                        <a:solidFill>
                          <a:srgbClr val="F79646"/>
                        </a:solidFill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26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胜率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0.71</a:t>
                      </a:r>
                      <a:endParaRPr lang="zh-CN" altLang="en-US" sz="105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b="1" kern="1200" dirty="0">
                          <a:solidFill>
                            <a:srgbClr val="F79646"/>
                          </a:solidFill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0.63</a:t>
                      </a:r>
                      <a:endParaRPr lang="zh-CN" altLang="en-US" sz="1050" b="1" kern="1200" dirty="0">
                        <a:solidFill>
                          <a:srgbClr val="F79646"/>
                        </a:solidFill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0.69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6474188"/>
                  </a:ext>
                </a:extLst>
              </a:tr>
              <a:tr h="22426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盈亏比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2.29</a:t>
                      </a:r>
                      <a:endParaRPr lang="zh-CN" altLang="en-US" sz="105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b="1" kern="1200" dirty="0">
                          <a:solidFill>
                            <a:srgbClr val="F79646"/>
                          </a:solidFill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1.27</a:t>
                      </a:r>
                      <a:endParaRPr lang="zh-CN" altLang="en-US" sz="1050" b="1" kern="1200" dirty="0">
                        <a:solidFill>
                          <a:srgbClr val="F79646"/>
                        </a:solidFill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2.10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1790459"/>
                  </a:ext>
                </a:extLst>
              </a:tr>
              <a:tr h="22426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盈利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b="1" kern="1200" dirty="0">
                          <a:solidFill>
                            <a:srgbClr val="F79646"/>
                          </a:solidFill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1.35</a:t>
                      </a:r>
                      <a:endParaRPr lang="zh-CN" altLang="en-US" sz="1050" b="1" kern="1200" dirty="0">
                        <a:solidFill>
                          <a:srgbClr val="F79646"/>
                        </a:solidFill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b="1" kern="1200" dirty="0">
                          <a:solidFill>
                            <a:srgbClr val="F79646"/>
                          </a:solidFill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0.43</a:t>
                      </a:r>
                      <a:endParaRPr lang="zh-CN" altLang="en-US" sz="1050" b="1" kern="1200" dirty="0">
                        <a:solidFill>
                          <a:srgbClr val="F79646"/>
                        </a:solidFill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b="1" kern="1200" dirty="0">
                          <a:solidFill>
                            <a:srgbClr val="F79646"/>
                          </a:solidFill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1.14</a:t>
                      </a:r>
                      <a:endParaRPr lang="zh-CN" altLang="en-US" sz="1050" b="1" kern="1200" dirty="0">
                        <a:solidFill>
                          <a:srgbClr val="F79646"/>
                        </a:solidFill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092398"/>
                  </a:ext>
                </a:extLst>
              </a:tr>
              <a:tr h="22426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年均交易次数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b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17.97</a:t>
                      </a:r>
                      <a:endParaRPr lang="zh-CN" altLang="en-US" sz="1050" b="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19.52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05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18.41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2004653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D9BC571C-56D0-9A7F-C991-8EDE5878102D}"/>
              </a:ext>
            </a:extLst>
          </p:cNvPr>
          <p:cNvSpPr txBox="1"/>
          <p:nvPr/>
        </p:nvSpPr>
        <p:spPr>
          <a:xfrm>
            <a:off x="531907" y="6298002"/>
            <a:ext cx="47086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资料来源：</a:t>
            </a:r>
            <a:r>
              <a:rPr lang="en-US" altLang="zh-CN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</a:t>
            </a:r>
            <a:r>
              <a:rPr lang="zh-CN" altLang="en-US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800" dirty="0" err="1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Tushare</a:t>
            </a:r>
            <a:endParaRPr lang="zh-CN" altLang="en-US" sz="8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609056-130C-3391-EC6F-697308DDE67E}"/>
              </a:ext>
            </a:extLst>
          </p:cNvPr>
          <p:cNvSpPr/>
          <p:nvPr/>
        </p:nvSpPr>
        <p:spPr>
          <a:xfrm>
            <a:off x="477741" y="1054421"/>
            <a:ext cx="6329513" cy="783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从触发交易拥挤度后空仓</a:t>
            </a:r>
            <a:r>
              <a:rPr lang="en-US" altLang="zh-CN" sz="1600" dirty="0">
                <a:solidFill>
                  <a:srgbClr val="000000"/>
                </a:solidFill>
              </a:rPr>
              <a:t>1</a:t>
            </a:r>
            <a:r>
              <a:rPr lang="zh-CN" altLang="en-US" sz="1600" dirty="0">
                <a:solidFill>
                  <a:srgbClr val="000000"/>
                </a:solidFill>
              </a:rPr>
              <a:t>日增加至</a:t>
            </a:r>
            <a:r>
              <a:rPr lang="en-US" altLang="zh-CN" sz="1600" dirty="0">
                <a:solidFill>
                  <a:srgbClr val="000000"/>
                </a:solidFill>
              </a:rPr>
              <a:t>10</a:t>
            </a:r>
            <a:r>
              <a:rPr lang="zh-CN" altLang="en-US" sz="1600" dirty="0">
                <a:solidFill>
                  <a:srgbClr val="000000"/>
                </a:solidFill>
              </a:rPr>
              <a:t>日，可在牺牲一定收益的情况下减小回撤，提高整体开仓盈利水平。</a:t>
            </a:r>
          </a:p>
        </p:txBody>
      </p:sp>
    </p:spTree>
    <p:extLst>
      <p:ext uri="{BB962C8B-B14F-4D97-AF65-F5344CB8AC3E}">
        <p14:creationId xmlns:p14="http://schemas.microsoft.com/office/powerpoint/2010/main" val="3769354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59B41DA0-51D7-FE72-0CD9-031B05F2D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092" y="1701090"/>
            <a:ext cx="6997293" cy="232194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3.2</a:t>
            </a:r>
            <a:r>
              <a:rPr lang="zh-CN" altLang="en-US" dirty="0"/>
              <a:t> 上证</a:t>
            </a:r>
            <a:r>
              <a:rPr lang="en-US" altLang="zh-CN" dirty="0"/>
              <a:t>50</a:t>
            </a:r>
            <a:r>
              <a:rPr lang="zh-CN" altLang="en-US" dirty="0"/>
              <a:t>回测分析</a:t>
            </a:r>
            <a:r>
              <a:rPr lang="zh-CN" altLang="en-US" sz="1600" dirty="0">
                <a:ea typeface="OPPOSans R" panose="00020600040101010101" pitchFamily="18" charset="-122"/>
                <a:sym typeface="+mn-lt"/>
              </a:rPr>
              <a:t> </a:t>
            </a:r>
            <a:r>
              <a:rPr lang="zh-CN" altLang="en-US" sz="1600" dirty="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+mn-lt"/>
              </a:rPr>
              <a:t>最大回撤</a:t>
            </a:r>
            <a:endParaRPr lang="zh-CN" altLang="en-US" sz="16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>
          <a:xfrm>
            <a:off x="4562860" y="6178827"/>
            <a:ext cx="2844800" cy="365125"/>
          </a:xfrm>
        </p:spPr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33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内容占位符 11">
            <a:extLst>
              <a:ext uri="{FF2B5EF4-FFF2-40B4-BE49-F238E27FC236}">
                <a16:creationId xmlns:a16="http://schemas.microsoft.com/office/drawing/2014/main" id="{68EB4DA1-1778-00B9-2D7C-3D50BF1572B6}"/>
              </a:ext>
            </a:extLst>
          </p:cNvPr>
          <p:cNvSpPr txBox="1">
            <a:spLocks/>
          </p:cNvSpPr>
          <p:nvPr/>
        </p:nvSpPr>
        <p:spPr>
          <a:xfrm>
            <a:off x="1693890" y="1102860"/>
            <a:ext cx="4402110" cy="399463"/>
          </a:xfrm>
          <a:prstGeom prst="rect">
            <a:avLst/>
          </a:prstGeom>
          <a:solidFill>
            <a:srgbClr val="EEEEE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kumimoji="0" lang="zh-CN" altLang="en-US" sz="1400" b="1" i="0" u="none" strike="noStrike" kern="1200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ea typeface="+mn-ea"/>
                <a:cs typeface="Times New Roman" pitchFamily="18" charset="0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/>
              <a:t>2020</a:t>
            </a:r>
            <a:r>
              <a:rPr lang="zh-CN" altLang="en-US" dirty="0"/>
              <a:t>年短中长期复合策略上证</a:t>
            </a:r>
            <a:r>
              <a:rPr lang="en-US" altLang="zh-CN" dirty="0"/>
              <a:t>50</a:t>
            </a:r>
            <a:r>
              <a:rPr lang="zh-CN" altLang="en-US" dirty="0"/>
              <a:t>择时净值曲线（多头）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7FA512A1-A1A0-AF48-D1BC-29752C3B6D35}"/>
              </a:ext>
            </a:extLst>
          </p:cNvPr>
          <p:cNvSpPr/>
          <p:nvPr/>
        </p:nvSpPr>
        <p:spPr>
          <a:xfrm>
            <a:off x="531907" y="1691889"/>
            <a:ext cx="6841664" cy="2331144"/>
          </a:xfrm>
          <a:prstGeom prst="roundRect">
            <a:avLst>
              <a:gd name="adj" fmla="val 2450"/>
            </a:avLst>
          </a:prstGeom>
          <a:noFill/>
          <a:ln>
            <a:solidFill>
              <a:srgbClr val="4F81B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1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44EB2AD-762B-7833-7D5D-2654C47EAC00}"/>
              </a:ext>
            </a:extLst>
          </p:cNvPr>
          <p:cNvSpPr/>
          <p:nvPr/>
        </p:nvSpPr>
        <p:spPr>
          <a:xfrm>
            <a:off x="1828777" y="2099541"/>
            <a:ext cx="979737" cy="1404257"/>
          </a:xfrm>
          <a:prstGeom prst="rect">
            <a:avLst/>
          </a:prstGeom>
          <a:noFill/>
          <a:ln>
            <a:solidFill>
              <a:srgbClr val="E83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2" name="图片 11" descr="图形用户界面, 图表&#10;&#10;描述已自动生成">
            <a:extLst>
              <a:ext uri="{FF2B5EF4-FFF2-40B4-BE49-F238E27FC236}">
                <a16:creationId xmlns:a16="http://schemas.microsoft.com/office/drawing/2014/main" id="{D6E038CC-1656-3D16-47CA-372BA04DBE0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2" t="18444" r="8378" b="14357"/>
          <a:stretch/>
        </p:blipFill>
        <p:spPr>
          <a:xfrm>
            <a:off x="738691" y="4947837"/>
            <a:ext cx="6418071" cy="1460161"/>
          </a:xfrm>
          <a:prstGeom prst="rect">
            <a:avLst/>
          </a:prstGeom>
        </p:spPr>
      </p:pic>
      <p:sp>
        <p:nvSpPr>
          <p:cNvPr id="13" name="圆角矩形 12">
            <a:extLst>
              <a:ext uri="{FF2B5EF4-FFF2-40B4-BE49-F238E27FC236}">
                <a16:creationId xmlns:a16="http://schemas.microsoft.com/office/drawing/2014/main" id="{F398DA73-A519-EF52-4DA5-F4C3B91D979A}"/>
              </a:ext>
            </a:extLst>
          </p:cNvPr>
          <p:cNvSpPr/>
          <p:nvPr/>
        </p:nvSpPr>
        <p:spPr>
          <a:xfrm>
            <a:off x="530523" y="4801012"/>
            <a:ext cx="6841664" cy="1778466"/>
          </a:xfrm>
          <a:prstGeom prst="roundRect">
            <a:avLst>
              <a:gd name="adj" fmla="val 2450"/>
            </a:avLst>
          </a:prstGeom>
          <a:noFill/>
          <a:ln>
            <a:solidFill>
              <a:srgbClr val="4F81B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1"/>
          </a:p>
        </p:txBody>
      </p:sp>
      <p:sp>
        <p:nvSpPr>
          <p:cNvPr id="14" name="内容占位符 11">
            <a:extLst>
              <a:ext uri="{FF2B5EF4-FFF2-40B4-BE49-F238E27FC236}">
                <a16:creationId xmlns:a16="http://schemas.microsoft.com/office/drawing/2014/main" id="{1144B828-5633-E155-D4CD-CF9FF1BE74D9}"/>
              </a:ext>
            </a:extLst>
          </p:cNvPr>
          <p:cNvSpPr txBox="1">
            <a:spLocks/>
          </p:cNvSpPr>
          <p:nvPr/>
        </p:nvSpPr>
        <p:spPr>
          <a:xfrm>
            <a:off x="1693890" y="4206647"/>
            <a:ext cx="4402110" cy="399463"/>
          </a:xfrm>
          <a:prstGeom prst="rect">
            <a:avLst/>
          </a:prstGeom>
          <a:solidFill>
            <a:srgbClr val="EEEEE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kumimoji="0" lang="zh-CN" altLang="en-US" sz="1400" b="1" i="0" u="none" strike="noStrike" kern="1200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ea typeface="+mn-ea"/>
                <a:cs typeface="Times New Roman" pitchFamily="18" charset="0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/>
              <a:t>2020</a:t>
            </a:r>
            <a:r>
              <a:rPr lang="zh-CN" altLang="en-US" dirty="0"/>
              <a:t>年上证</a:t>
            </a:r>
            <a:r>
              <a:rPr lang="en-US" altLang="zh-CN" dirty="0"/>
              <a:t>50K</a:t>
            </a:r>
            <a:r>
              <a:rPr lang="zh-CN" altLang="en-US" dirty="0"/>
              <a:t>线图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724B9A6-A17F-9598-F147-498B81D5AAD3}"/>
              </a:ext>
            </a:extLst>
          </p:cNvPr>
          <p:cNvSpPr/>
          <p:nvPr/>
        </p:nvSpPr>
        <p:spPr>
          <a:xfrm>
            <a:off x="2810328" y="4987626"/>
            <a:ext cx="979737" cy="892886"/>
          </a:xfrm>
          <a:prstGeom prst="rect">
            <a:avLst/>
          </a:prstGeom>
          <a:noFill/>
          <a:ln>
            <a:solidFill>
              <a:srgbClr val="E83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299E2AC-AEA0-E7BD-C8B5-462503BBC36B}"/>
              </a:ext>
            </a:extLst>
          </p:cNvPr>
          <p:cNvSpPr txBox="1"/>
          <p:nvPr/>
        </p:nvSpPr>
        <p:spPr>
          <a:xfrm>
            <a:off x="7721909" y="1606611"/>
            <a:ext cx="4024009" cy="3827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最大回撤：</a:t>
            </a:r>
            <a:r>
              <a:rPr lang="en-US" altLang="zh-CN" sz="1600" dirty="0">
                <a:solidFill>
                  <a:srgbClr val="000000"/>
                </a:solidFill>
              </a:rPr>
              <a:t>10.77%</a:t>
            </a:r>
          </a:p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en-US" altLang="zh-CN" sz="1600" dirty="0">
                <a:solidFill>
                  <a:srgbClr val="000000"/>
                </a:solidFill>
              </a:rPr>
              <a:t>2020/01/21-2020/03/19</a:t>
            </a:r>
          </a:p>
          <a:p>
            <a:pPr>
              <a:lnSpc>
                <a:spcPct val="150000"/>
              </a:lnSpc>
              <a:buClr>
                <a:srgbClr val="F5781B"/>
              </a:buClr>
            </a:pPr>
            <a:endParaRPr lang="zh-CN" altLang="en-US" sz="2000" dirty="0">
              <a:solidFill>
                <a:srgbClr val="000000"/>
              </a:solidFill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看多信号：来自短期动量反转</a:t>
            </a: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除</a:t>
            </a:r>
            <a:r>
              <a:rPr lang="en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Boll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外其余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指标全部看多。信号触发的逻辑是“放量下跌叠加高水平的日内做多资金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zh-CN" altLang="en-US" sz="1400" b="1" dirty="0">
                <a:solidFill>
                  <a:srgbClr val="F796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有苗头的反转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endParaRPr lang="en-US" altLang="zh-CN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日内动量</a:t>
            </a:r>
            <a:r>
              <a:rPr lang="en" altLang="zh-CN" sz="1400" dirty="0" err="1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IntraMOM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中包含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日参数，对短期恐慌性的下跌反应不及时。</a:t>
            </a: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下跌前期的放量下跌直接触发</a:t>
            </a:r>
            <a:r>
              <a:rPr lang="en" altLang="zh-CN" sz="1400" dirty="0" err="1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Chaikin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STDS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反转信号，实际反转未出现。</a:t>
            </a:r>
            <a:endParaRPr lang="en-US" altLang="zh-CN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FC4F6E7-2D35-ABA2-B224-6D5C8BEB40F4}"/>
              </a:ext>
            </a:extLst>
          </p:cNvPr>
          <p:cNvSpPr txBox="1"/>
          <p:nvPr/>
        </p:nvSpPr>
        <p:spPr>
          <a:xfrm>
            <a:off x="530523" y="6627777"/>
            <a:ext cx="47086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资料来源：</a:t>
            </a:r>
            <a:r>
              <a:rPr lang="en-US" altLang="zh-CN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</a:t>
            </a:r>
            <a:r>
              <a:rPr lang="zh-CN" altLang="en-US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800" dirty="0" err="1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Tushare</a:t>
            </a:r>
            <a:endParaRPr lang="zh-CN" altLang="en-US" sz="8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655820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7850B32E-C042-87CB-39C8-080A81374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545" y="4721002"/>
            <a:ext cx="5817027" cy="206827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9B41DA0-51D7-FE72-0CD9-031B05F2DF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092" y="1701090"/>
            <a:ext cx="6997293" cy="232194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3.2</a:t>
            </a:r>
            <a:r>
              <a:rPr lang="zh-CN" altLang="en-US" dirty="0"/>
              <a:t> 上证</a:t>
            </a:r>
            <a:r>
              <a:rPr lang="en-US" altLang="zh-CN" dirty="0"/>
              <a:t>50</a:t>
            </a:r>
            <a:r>
              <a:rPr lang="zh-CN" altLang="en-US" dirty="0"/>
              <a:t>回测分析</a:t>
            </a:r>
            <a:r>
              <a:rPr lang="zh-CN" altLang="en-US" sz="1600" dirty="0">
                <a:ea typeface="OPPOSans R" panose="00020600040101010101" pitchFamily="18" charset="-122"/>
                <a:sym typeface="+mn-lt"/>
              </a:rPr>
              <a:t> </a:t>
            </a:r>
            <a:r>
              <a:rPr lang="zh-CN" altLang="en-US" sz="1600" dirty="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+mn-lt"/>
              </a:rPr>
              <a:t>最大回撤</a:t>
            </a:r>
            <a:endParaRPr lang="zh-CN" altLang="en-US" sz="16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>
          <a:xfrm>
            <a:off x="4562860" y="6178827"/>
            <a:ext cx="2844800" cy="365125"/>
          </a:xfrm>
        </p:spPr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34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内容占位符 11">
            <a:extLst>
              <a:ext uri="{FF2B5EF4-FFF2-40B4-BE49-F238E27FC236}">
                <a16:creationId xmlns:a16="http://schemas.microsoft.com/office/drawing/2014/main" id="{68EB4DA1-1778-00B9-2D7C-3D50BF1572B6}"/>
              </a:ext>
            </a:extLst>
          </p:cNvPr>
          <p:cNvSpPr txBox="1">
            <a:spLocks/>
          </p:cNvSpPr>
          <p:nvPr/>
        </p:nvSpPr>
        <p:spPr>
          <a:xfrm>
            <a:off x="1913823" y="1102860"/>
            <a:ext cx="4075066" cy="399463"/>
          </a:xfrm>
          <a:prstGeom prst="rect">
            <a:avLst/>
          </a:prstGeom>
          <a:solidFill>
            <a:srgbClr val="EEEEE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kumimoji="0" lang="zh-CN" altLang="en-US" sz="1400" b="1" i="0" u="none" strike="noStrike" kern="1200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ea typeface="+mn-ea"/>
                <a:cs typeface="Times New Roman" pitchFamily="18" charset="0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/>
              <a:t>2020</a:t>
            </a:r>
            <a:r>
              <a:rPr lang="zh-CN" altLang="en-US" dirty="0"/>
              <a:t>年短中长策略上证</a:t>
            </a:r>
            <a:r>
              <a:rPr lang="en-US" altLang="zh-CN" dirty="0"/>
              <a:t>50</a:t>
            </a:r>
            <a:r>
              <a:rPr lang="zh-CN" altLang="en-US" dirty="0"/>
              <a:t>择时净值曲线（多头）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7FA512A1-A1A0-AF48-D1BC-29752C3B6D35}"/>
              </a:ext>
            </a:extLst>
          </p:cNvPr>
          <p:cNvSpPr/>
          <p:nvPr/>
        </p:nvSpPr>
        <p:spPr>
          <a:xfrm>
            <a:off x="531907" y="1691889"/>
            <a:ext cx="6841664" cy="2331144"/>
          </a:xfrm>
          <a:prstGeom prst="roundRect">
            <a:avLst>
              <a:gd name="adj" fmla="val 2450"/>
            </a:avLst>
          </a:prstGeom>
          <a:noFill/>
          <a:ln>
            <a:solidFill>
              <a:srgbClr val="4F81B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1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44EB2AD-762B-7833-7D5D-2654C47EAC00}"/>
              </a:ext>
            </a:extLst>
          </p:cNvPr>
          <p:cNvSpPr/>
          <p:nvPr/>
        </p:nvSpPr>
        <p:spPr>
          <a:xfrm>
            <a:off x="1828777" y="2099541"/>
            <a:ext cx="979737" cy="1404257"/>
          </a:xfrm>
          <a:prstGeom prst="rect">
            <a:avLst/>
          </a:prstGeom>
          <a:noFill/>
          <a:ln>
            <a:solidFill>
              <a:srgbClr val="E83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F398DA73-A519-EF52-4DA5-F4C3B91D979A}"/>
              </a:ext>
            </a:extLst>
          </p:cNvPr>
          <p:cNvSpPr/>
          <p:nvPr/>
        </p:nvSpPr>
        <p:spPr>
          <a:xfrm>
            <a:off x="530523" y="4801012"/>
            <a:ext cx="6841664" cy="1778466"/>
          </a:xfrm>
          <a:prstGeom prst="roundRect">
            <a:avLst>
              <a:gd name="adj" fmla="val 2450"/>
            </a:avLst>
          </a:prstGeom>
          <a:noFill/>
          <a:ln>
            <a:solidFill>
              <a:srgbClr val="4F81B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1"/>
          </a:p>
        </p:txBody>
      </p:sp>
      <p:sp>
        <p:nvSpPr>
          <p:cNvPr id="14" name="内容占位符 11">
            <a:extLst>
              <a:ext uri="{FF2B5EF4-FFF2-40B4-BE49-F238E27FC236}">
                <a16:creationId xmlns:a16="http://schemas.microsoft.com/office/drawing/2014/main" id="{1144B828-5633-E155-D4CD-CF9FF1BE74D9}"/>
              </a:ext>
            </a:extLst>
          </p:cNvPr>
          <p:cNvSpPr txBox="1">
            <a:spLocks/>
          </p:cNvSpPr>
          <p:nvPr/>
        </p:nvSpPr>
        <p:spPr>
          <a:xfrm>
            <a:off x="1910194" y="4206647"/>
            <a:ext cx="4075066" cy="399463"/>
          </a:xfrm>
          <a:prstGeom prst="rect">
            <a:avLst/>
          </a:prstGeom>
          <a:solidFill>
            <a:srgbClr val="EEEEE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kumimoji="0" lang="zh-CN" altLang="en-US" sz="1400" b="1" i="0" u="none" strike="noStrike" kern="1200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ea typeface="+mn-ea"/>
                <a:cs typeface="Times New Roman" pitchFamily="18" charset="0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/>
              <a:t>2020</a:t>
            </a:r>
            <a:r>
              <a:rPr lang="zh-CN" altLang="en-US" dirty="0"/>
              <a:t>年拥挤度信号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724B9A6-A17F-9598-F147-498B81D5AAD3}"/>
              </a:ext>
            </a:extLst>
          </p:cNvPr>
          <p:cNvSpPr/>
          <p:nvPr/>
        </p:nvSpPr>
        <p:spPr>
          <a:xfrm>
            <a:off x="2058161" y="5199558"/>
            <a:ext cx="979737" cy="892886"/>
          </a:xfrm>
          <a:prstGeom prst="rect">
            <a:avLst/>
          </a:prstGeom>
          <a:noFill/>
          <a:ln>
            <a:solidFill>
              <a:srgbClr val="E83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299E2AC-AEA0-E7BD-C8B5-462503BBC36B}"/>
              </a:ext>
            </a:extLst>
          </p:cNvPr>
          <p:cNvSpPr txBox="1"/>
          <p:nvPr/>
        </p:nvSpPr>
        <p:spPr>
          <a:xfrm>
            <a:off x="7721909" y="1606611"/>
            <a:ext cx="4024009" cy="2857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最大回撤：</a:t>
            </a:r>
            <a:r>
              <a:rPr lang="en-US" altLang="zh-CN" sz="1600" dirty="0">
                <a:solidFill>
                  <a:srgbClr val="000000"/>
                </a:solidFill>
              </a:rPr>
              <a:t>10.77%</a:t>
            </a:r>
          </a:p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en-US" altLang="zh-CN" sz="1600" dirty="0">
                <a:solidFill>
                  <a:srgbClr val="000000"/>
                </a:solidFill>
              </a:rPr>
              <a:t>2020/01/21-2020/03/19</a:t>
            </a:r>
          </a:p>
          <a:p>
            <a:pPr>
              <a:lnSpc>
                <a:spcPct val="150000"/>
              </a:lnSpc>
              <a:buClr>
                <a:srgbClr val="F5781B"/>
              </a:buClr>
            </a:pPr>
            <a:endParaRPr lang="zh-CN" altLang="en-US" sz="2000" dirty="0">
              <a:solidFill>
                <a:srgbClr val="000000"/>
              </a:solidFill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交易拥挤度：未触发</a:t>
            </a:r>
            <a:endParaRPr lang="en-US" altLang="zh-CN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主因新冠疫情带来的全球恐慌性下跌，不是来自过热市场后的反转，交易拥挤度无法规避这类风险。</a:t>
            </a:r>
          </a:p>
          <a:p>
            <a:pPr algn="just">
              <a:lnSpc>
                <a:spcPct val="150000"/>
              </a:lnSpc>
              <a:buClr>
                <a:srgbClr val="F5781B"/>
              </a:buClr>
            </a:pPr>
            <a:endParaRPr lang="zh-CN" altLang="en-US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374F11B-0EC5-A1CC-2738-1659C35F1B9F}"/>
              </a:ext>
            </a:extLst>
          </p:cNvPr>
          <p:cNvSpPr txBox="1"/>
          <p:nvPr/>
        </p:nvSpPr>
        <p:spPr>
          <a:xfrm>
            <a:off x="530523" y="6625218"/>
            <a:ext cx="47086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资料来源：</a:t>
            </a:r>
            <a:r>
              <a:rPr lang="en-US" altLang="zh-CN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</a:t>
            </a:r>
            <a:r>
              <a:rPr lang="zh-CN" altLang="en-US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800" dirty="0" err="1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Tushare</a:t>
            </a:r>
            <a:endParaRPr lang="zh-CN" altLang="en-US" sz="8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77232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6D949FFC-7B4D-29EC-17F2-616D4838E0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7001" y="3574702"/>
            <a:ext cx="3536632" cy="252998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3.3</a:t>
            </a:r>
            <a:r>
              <a:rPr lang="zh-CN" altLang="en-US" dirty="0"/>
              <a:t> 多指数回测对比</a:t>
            </a:r>
            <a:r>
              <a:rPr lang="zh-CN" altLang="en-US" sz="1600" dirty="0">
                <a:ea typeface="OPPOSans R" panose="00020600040101010101" pitchFamily="18" charset="-122"/>
                <a:sym typeface="+mn-lt"/>
              </a:rPr>
              <a:t> 上证</a:t>
            </a:r>
            <a:r>
              <a:rPr lang="en-US" altLang="zh-CN" sz="1600" dirty="0">
                <a:ea typeface="OPPOSans R" panose="00020600040101010101" pitchFamily="18" charset="-122"/>
                <a:sym typeface="+mn-lt"/>
              </a:rPr>
              <a:t>50</a:t>
            </a:r>
            <a:r>
              <a:rPr lang="zh-CN" altLang="en-US" sz="1600" dirty="0">
                <a:ea typeface="OPPOSans R" panose="00020600040101010101" pitchFamily="18" charset="-122"/>
                <a:sym typeface="+mn-lt"/>
              </a:rPr>
              <a:t>择时策略分年度统计</a:t>
            </a:r>
            <a:endParaRPr lang="zh-CN" altLang="en-US" sz="16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>
          <a:xfrm>
            <a:off x="4562860" y="6178827"/>
            <a:ext cx="2844800" cy="365125"/>
          </a:xfrm>
        </p:spPr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35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内容占位符 11">
            <a:extLst>
              <a:ext uri="{FF2B5EF4-FFF2-40B4-BE49-F238E27FC236}">
                <a16:creationId xmlns:a16="http://schemas.microsoft.com/office/drawing/2014/main" id="{D2AB4464-7B78-DD88-78AF-B1FD6D4C6D27}"/>
              </a:ext>
            </a:extLst>
          </p:cNvPr>
          <p:cNvSpPr txBox="1">
            <a:spLocks/>
          </p:cNvSpPr>
          <p:nvPr/>
        </p:nvSpPr>
        <p:spPr>
          <a:xfrm>
            <a:off x="2428963" y="2837292"/>
            <a:ext cx="3667037" cy="360000"/>
          </a:xfrm>
          <a:prstGeom prst="rect">
            <a:avLst/>
          </a:prstGeom>
          <a:solidFill>
            <a:srgbClr val="EEEEE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kumimoji="0" lang="zh-CN" altLang="en-US" sz="1400" b="1" i="0" u="none" strike="noStrike" kern="1200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ea typeface="+mn-ea"/>
                <a:cs typeface="Times New Roman" pitchFamily="18" charset="0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/>
              <a:t>上证</a:t>
            </a:r>
            <a:r>
              <a:rPr lang="en-US" altLang="zh-CN" dirty="0"/>
              <a:t>50</a:t>
            </a:r>
            <a:r>
              <a:rPr lang="zh-CN" altLang="en-US" dirty="0"/>
              <a:t>择时策略分年度结果统计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FAC49CF-2033-8A05-A7DB-E26CE1DCC6EB}"/>
              </a:ext>
            </a:extLst>
          </p:cNvPr>
          <p:cNvSpPr txBox="1"/>
          <p:nvPr/>
        </p:nvSpPr>
        <p:spPr>
          <a:xfrm>
            <a:off x="531906" y="643340"/>
            <a:ext cx="9965075" cy="2119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F5781B"/>
              </a:buClr>
            </a:pPr>
            <a:endParaRPr lang="zh-CN" altLang="en-US" sz="2000" dirty="0">
              <a:solidFill>
                <a:srgbClr val="000000"/>
              </a:solidFill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回测区间自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2015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年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月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日至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2023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年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月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日。</a:t>
            </a:r>
            <a:endParaRPr lang="en-US" altLang="zh-CN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策略年化收益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24.03%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，年度胜率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88.9%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，开仓胜率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0.69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，盈亏比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2.1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。样本外</a:t>
            </a:r>
            <a:r>
              <a:rPr lang="zh-CN" altLang="en-US" sz="1400" b="1" dirty="0">
                <a:solidFill>
                  <a:srgbClr val="F796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开仓胜率</a:t>
            </a:r>
            <a:r>
              <a:rPr lang="en-US" altLang="zh-CN" sz="1400" b="1" dirty="0">
                <a:solidFill>
                  <a:srgbClr val="F796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0.63</a:t>
            </a:r>
            <a:r>
              <a:rPr lang="zh-CN" altLang="en-US" sz="1400" b="1" dirty="0">
                <a:solidFill>
                  <a:srgbClr val="F796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，盈亏比</a:t>
            </a:r>
            <a:r>
              <a:rPr lang="en-US" altLang="zh-CN" sz="1400" b="1" dirty="0">
                <a:solidFill>
                  <a:srgbClr val="F796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1.27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策略在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2023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年表现稍弱，其余时间表现优异。归因：</a:t>
            </a:r>
            <a:r>
              <a:rPr lang="zh-CN" altLang="en-US" sz="1400" dirty="0">
                <a:solidFill>
                  <a:srgbClr val="F796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策略对</a:t>
            </a:r>
            <a:r>
              <a:rPr lang="zh-CN" altLang="en-US" sz="1400" b="1" dirty="0">
                <a:solidFill>
                  <a:srgbClr val="F796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横盘震荡后的单日大幅上涨捕捉能力较弱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策略通过把握短期的顺畅动量、有苗头的反转和中期的合力行情赚取绝对收益，通过预判交易拥挤度规避顶部风险，有效创造超额收益。对震荡市把握稍显欠缺。</a:t>
            </a:r>
          </a:p>
        </p:txBody>
      </p:sp>
      <p:sp>
        <p:nvSpPr>
          <p:cNvPr id="6" name="内容占位符 11">
            <a:extLst>
              <a:ext uri="{FF2B5EF4-FFF2-40B4-BE49-F238E27FC236}">
                <a16:creationId xmlns:a16="http://schemas.microsoft.com/office/drawing/2014/main" id="{AB1C134B-7240-3CDF-9785-E6B02FDF77CE}"/>
              </a:ext>
            </a:extLst>
          </p:cNvPr>
          <p:cNvSpPr txBox="1">
            <a:spLocks/>
          </p:cNvSpPr>
          <p:nvPr/>
        </p:nvSpPr>
        <p:spPr>
          <a:xfrm>
            <a:off x="8708819" y="2827569"/>
            <a:ext cx="2572996" cy="360000"/>
          </a:xfrm>
          <a:prstGeom prst="rect">
            <a:avLst/>
          </a:prstGeom>
          <a:solidFill>
            <a:srgbClr val="EEEEE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kumimoji="0" lang="zh-CN" altLang="en-US" sz="1400" b="1" i="0" u="none" strike="noStrike" kern="1200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ea typeface="+mn-ea"/>
                <a:cs typeface="Times New Roman" pitchFamily="18" charset="0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/>
              <a:t>上证</a:t>
            </a:r>
            <a:r>
              <a:rPr lang="en-US" altLang="zh-CN" dirty="0"/>
              <a:t>50</a:t>
            </a:r>
            <a:r>
              <a:rPr lang="zh-CN" altLang="en-US" dirty="0"/>
              <a:t>择时策略净值走势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71EB1011-21E7-4EF7-D82C-971B43121598}"/>
              </a:ext>
            </a:extLst>
          </p:cNvPr>
          <p:cNvSpPr/>
          <p:nvPr/>
        </p:nvSpPr>
        <p:spPr>
          <a:xfrm>
            <a:off x="8278213" y="3350111"/>
            <a:ext cx="3485420" cy="2849880"/>
          </a:xfrm>
          <a:prstGeom prst="roundRect">
            <a:avLst>
              <a:gd name="adj" fmla="val 2450"/>
            </a:avLst>
          </a:prstGeom>
          <a:noFill/>
          <a:ln>
            <a:solidFill>
              <a:srgbClr val="4F81B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1"/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FC766A08-71DA-F382-5D88-596BA2F4752E}"/>
              </a:ext>
            </a:extLst>
          </p:cNvPr>
          <p:cNvCxnSpPr>
            <a:cxnSpLocks/>
          </p:cNvCxnSpPr>
          <p:nvPr/>
        </p:nvCxnSpPr>
        <p:spPr>
          <a:xfrm>
            <a:off x="10496981" y="3669957"/>
            <a:ext cx="0" cy="2038778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E6B3B187-0B15-3ABB-875B-156E7A533C08}"/>
              </a:ext>
            </a:extLst>
          </p:cNvPr>
          <p:cNvSpPr txBox="1"/>
          <p:nvPr/>
        </p:nvSpPr>
        <p:spPr>
          <a:xfrm>
            <a:off x="374187" y="6328508"/>
            <a:ext cx="47086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资料来源：</a:t>
            </a:r>
            <a:r>
              <a:rPr lang="en-US" altLang="zh-CN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</a:t>
            </a:r>
            <a:r>
              <a:rPr lang="zh-CN" altLang="en-US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800" dirty="0" err="1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Tushare</a:t>
            </a:r>
            <a:endParaRPr lang="zh-CN" altLang="en-US" sz="8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EBA95CC5-B438-142D-F618-2CBAA171821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605" t="19382" r="56807" b="48927"/>
          <a:stretch/>
        </p:blipFill>
        <p:spPr>
          <a:xfrm>
            <a:off x="10595530" y="1234747"/>
            <a:ext cx="1229040" cy="1135229"/>
          </a:xfrm>
          <a:prstGeom prst="rect">
            <a:avLst/>
          </a:prstGeom>
        </p:spPr>
      </p:pic>
      <p:sp>
        <p:nvSpPr>
          <p:cNvPr id="23" name="圆角矩形 22">
            <a:extLst>
              <a:ext uri="{FF2B5EF4-FFF2-40B4-BE49-F238E27FC236}">
                <a16:creationId xmlns:a16="http://schemas.microsoft.com/office/drawing/2014/main" id="{B789AED5-E675-5D9E-DBD9-17616857186D}"/>
              </a:ext>
            </a:extLst>
          </p:cNvPr>
          <p:cNvSpPr/>
          <p:nvPr/>
        </p:nvSpPr>
        <p:spPr>
          <a:xfrm>
            <a:off x="10520302" y="1149265"/>
            <a:ext cx="1366898" cy="1294341"/>
          </a:xfrm>
          <a:prstGeom prst="roundRect">
            <a:avLst>
              <a:gd name="adj" fmla="val 2450"/>
            </a:avLst>
          </a:prstGeom>
          <a:noFill/>
          <a:ln>
            <a:solidFill>
              <a:srgbClr val="4F81B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1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65E73EBA-897F-4848-5C35-8FB201DE9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603664"/>
              </p:ext>
            </p:extLst>
          </p:nvPr>
        </p:nvGraphicFramePr>
        <p:xfrm>
          <a:off x="249382" y="3350112"/>
          <a:ext cx="7730835" cy="2856365"/>
        </p:xfrm>
        <a:graphic>
          <a:graphicData uri="http://schemas.openxmlformats.org/drawingml/2006/table">
            <a:tbl>
              <a:tblPr/>
              <a:tblGrid>
                <a:gridCol w="803563">
                  <a:extLst>
                    <a:ext uri="{9D8B030D-6E8A-4147-A177-3AD203B41FA5}">
                      <a16:colId xmlns:a16="http://schemas.microsoft.com/office/drawing/2014/main" val="3419086890"/>
                    </a:ext>
                  </a:extLst>
                </a:gridCol>
                <a:gridCol w="629752">
                  <a:extLst>
                    <a:ext uri="{9D8B030D-6E8A-4147-A177-3AD203B41FA5}">
                      <a16:colId xmlns:a16="http://schemas.microsoft.com/office/drawing/2014/main" val="3602384772"/>
                    </a:ext>
                  </a:extLst>
                </a:gridCol>
                <a:gridCol w="629752">
                  <a:extLst>
                    <a:ext uri="{9D8B030D-6E8A-4147-A177-3AD203B41FA5}">
                      <a16:colId xmlns:a16="http://schemas.microsoft.com/office/drawing/2014/main" val="2248791534"/>
                    </a:ext>
                  </a:extLst>
                </a:gridCol>
                <a:gridCol w="629752">
                  <a:extLst>
                    <a:ext uri="{9D8B030D-6E8A-4147-A177-3AD203B41FA5}">
                      <a16:colId xmlns:a16="http://schemas.microsoft.com/office/drawing/2014/main" val="1138608427"/>
                    </a:ext>
                  </a:extLst>
                </a:gridCol>
                <a:gridCol w="629752">
                  <a:extLst>
                    <a:ext uri="{9D8B030D-6E8A-4147-A177-3AD203B41FA5}">
                      <a16:colId xmlns:a16="http://schemas.microsoft.com/office/drawing/2014/main" val="1816044644"/>
                    </a:ext>
                  </a:extLst>
                </a:gridCol>
                <a:gridCol w="629752">
                  <a:extLst>
                    <a:ext uri="{9D8B030D-6E8A-4147-A177-3AD203B41FA5}">
                      <a16:colId xmlns:a16="http://schemas.microsoft.com/office/drawing/2014/main" val="3354743729"/>
                    </a:ext>
                  </a:extLst>
                </a:gridCol>
                <a:gridCol w="629752">
                  <a:extLst>
                    <a:ext uri="{9D8B030D-6E8A-4147-A177-3AD203B41FA5}">
                      <a16:colId xmlns:a16="http://schemas.microsoft.com/office/drawing/2014/main" val="873355657"/>
                    </a:ext>
                  </a:extLst>
                </a:gridCol>
                <a:gridCol w="629752">
                  <a:extLst>
                    <a:ext uri="{9D8B030D-6E8A-4147-A177-3AD203B41FA5}">
                      <a16:colId xmlns:a16="http://schemas.microsoft.com/office/drawing/2014/main" val="2692205246"/>
                    </a:ext>
                  </a:extLst>
                </a:gridCol>
                <a:gridCol w="629752">
                  <a:extLst>
                    <a:ext uri="{9D8B030D-6E8A-4147-A177-3AD203B41FA5}">
                      <a16:colId xmlns:a16="http://schemas.microsoft.com/office/drawing/2014/main" val="1991654670"/>
                    </a:ext>
                  </a:extLst>
                </a:gridCol>
                <a:gridCol w="629752">
                  <a:extLst>
                    <a:ext uri="{9D8B030D-6E8A-4147-A177-3AD203B41FA5}">
                      <a16:colId xmlns:a16="http://schemas.microsoft.com/office/drawing/2014/main" val="2924090426"/>
                    </a:ext>
                  </a:extLst>
                </a:gridCol>
                <a:gridCol w="629752">
                  <a:extLst>
                    <a:ext uri="{9D8B030D-6E8A-4147-A177-3AD203B41FA5}">
                      <a16:colId xmlns:a16="http://schemas.microsoft.com/office/drawing/2014/main" val="2048445188"/>
                    </a:ext>
                  </a:extLst>
                </a:gridCol>
                <a:gridCol w="629752">
                  <a:extLst>
                    <a:ext uri="{9D8B030D-6E8A-4147-A177-3AD203B41FA5}">
                      <a16:colId xmlns:a16="http://schemas.microsoft.com/office/drawing/2014/main" val="3613328436"/>
                    </a:ext>
                  </a:extLst>
                </a:gridCol>
              </a:tblGrid>
              <a:tr h="287965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2015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2017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2018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2019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今年以来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全区间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样本外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4481530"/>
                  </a:ext>
                </a:extLst>
              </a:tr>
              <a:tr h="256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年化收益率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82.61%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1.95%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20.79%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0E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16.20%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E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56.41%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C9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35.52%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4C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4.62%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17.17%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-2.99%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7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24.03%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A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6.91%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6927904"/>
                  </a:ext>
                </a:extLst>
              </a:tr>
              <a:tr h="256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基准收益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-8.12%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2E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0.74%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7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24.49%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9D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-21.62%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36.21%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2C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18.26%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5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-10.36%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B8D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-19.76%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91C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-8.82%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FE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-0.42%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-14.58%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A7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860673"/>
                  </a:ext>
                </a:extLst>
              </a:tr>
              <a:tr h="256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年化波动率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16.45%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6.96%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5.23%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10.70%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13.89%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12.97%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10.28%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10.85%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3.47%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11.20%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9.69%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8852567"/>
                  </a:ext>
                </a:extLst>
              </a:tr>
              <a:tr h="256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夏普比率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5.02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0.28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3.97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1.51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4.06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2.74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0.45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1.58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-0.86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2.15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0.71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3319420"/>
                  </a:ext>
                </a:extLst>
              </a:tr>
              <a:tr h="256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最大回撤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-4.55%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-5.75%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-0.88%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-8.33%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-3.51%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-10.77%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-7.67%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-4.73%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-2.54%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-10.77%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-7.67%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9407518"/>
                  </a:ext>
                </a:extLst>
              </a:tr>
              <a:tr h="256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卡玛比率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18.17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0.34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23.52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1.94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16.06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3.32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0.61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3.63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-1.18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2.23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0.90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3097772"/>
                  </a:ext>
                </a:extLst>
              </a:tr>
              <a:tr h="256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胜率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0.73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0.75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0.73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0.76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0.75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0.67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0.57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1" i="0" u="none" strike="noStrike" dirty="0">
                          <a:solidFill>
                            <a:srgbClr val="F79646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0.69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1" i="0" u="none" strike="noStrike" dirty="0">
                          <a:solidFill>
                            <a:srgbClr val="F79646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0.63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9085494"/>
                  </a:ext>
                </a:extLst>
              </a:tr>
              <a:tr h="256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盈亏比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3.02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1.46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8.22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1.02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2.88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1.54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1.02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2.17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1" i="0" u="none" strike="noStrike">
                          <a:solidFill>
                            <a:srgbClr val="F79646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2.1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1" i="0" u="none" strike="noStrike" dirty="0">
                          <a:solidFill>
                            <a:srgbClr val="F79646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1.27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0412014"/>
                  </a:ext>
                </a:extLst>
              </a:tr>
              <a:tr h="256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盈利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1.92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0.23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5.92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0.47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1.96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0.91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0.21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1.11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-0.2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1.14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0.43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3323480"/>
                  </a:ext>
                </a:extLst>
              </a:tr>
              <a:tr h="25684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年交易次数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18.41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19.52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94535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45607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3A693A34-3042-B07B-B46A-626CA6B0D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1364" y="3557354"/>
            <a:ext cx="3548743" cy="253864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3.3</a:t>
            </a:r>
            <a:r>
              <a:rPr lang="zh-CN" altLang="en-US" dirty="0"/>
              <a:t> 多指数回测对比</a:t>
            </a:r>
            <a:r>
              <a:rPr lang="zh-CN" altLang="en-US" sz="1600" dirty="0">
                <a:ea typeface="OPPOSans R" panose="00020600040101010101" pitchFamily="18" charset="-122"/>
                <a:sym typeface="+mn-lt"/>
              </a:rPr>
              <a:t> 中证</a:t>
            </a:r>
            <a:r>
              <a:rPr lang="en-US" altLang="zh-CN" sz="1600" dirty="0">
                <a:ea typeface="OPPOSans R" panose="00020600040101010101" pitchFamily="18" charset="-122"/>
                <a:sym typeface="+mn-lt"/>
              </a:rPr>
              <a:t>500</a:t>
            </a:r>
            <a:r>
              <a:rPr lang="zh-CN" altLang="en-US" sz="1600" dirty="0">
                <a:ea typeface="OPPOSans R" panose="00020600040101010101" pitchFamily="18" charset="-122"/>
                <a:sym typeface="+mn-lt"/>
              </a:rPr>
              <a:t>择时策略分年度统计</a:t>
            </a:r>
            <a:endParaRPr lang="zh-CN" altLang="en-US" sz="16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>
          <a:xfrm>
            <a:off x="4562860" y="6178827"/>
            <a:ext cx="2844800" cy="365125"/>
          </a:xfrm>
        </p:spPr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36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内容占位符 11">
            <a:extLst>
              <a:ext uri="{FF2B5EF4-FFF2-40B4-BE49-F238E27FC236}">
                <a16:creationId xmlns:a16="http://schemas.microsoft.com/office/drawing/2014/main" id="{D2AB4464-7B78-DD88-78AF-B1FD6D4C6D27}"/>
              </a:ext>
            </a:extLst>
          </p:cNvPr>
          <p:cNvSpPr txBox="1">
            <a:spLocks/>
          </p:cNvSpPr>
          <p:nvPr/>
        </p:nvSpPr>
        <p:spPr>
          <a:xfrm>
            <a:off x="2428963" y="2761092"/>
            <a:ext cx="3667037" cy="360000"/>
          </a:xfrm>
          <a:prstGeom prst="rect">
            <a:avLst/>
          </a:prstGeom>
          <a:solidFill>
            <a:srgbClr val="EEEEE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kumimoji="0" lang="zh-CN" altLang="en-US" sz="1400" b="1" i="0" u="none" strike="noStrike" kern="1200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ea typeface="+mn-ea"/>
                <a:cs typeface="Times New Roman" pitchFamily="18" charset="0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/>
              <a:t>中证</a:t>
            </a:r>
            <a:r>
              <a:rPr lang="en-US" altLang="zh-CN" dirty="0"/>
              <a:t>500</a:t>
            </a:r>
            <a:r>
              <a:rPr lang="zh-CN" altLang="en-US" dirty="0"/>
              <a:t>择时策略分年度结果统计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FAC49CF-2033-8A05-A7DB-E26CE1DCC6EB}"/>
              </a:ext>
            </a:extLst>
          </p:cNvPr>
          <p:cNvSpPr txBox="1"/>
          <p:nvPr/>
        </p:nvSpPr>
        <p:spPr>
          <a:xfrm>
            <a:off x="531906" y="643340"/>
            <a:ext cx="8681541" cy="179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F5781B"/>
              </a:buClr>
            </a:pPr>
            <a:endParaRPr lang="zh-CN" altLang="en-US" sz="2000" dirty="0">
              <a:solidFill>
                <a:srgbClr val="000000"/>
              </a:solidFill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回测区间自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2015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年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月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日至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2023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年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月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日。</a:t>
            </a:r>
            <a:endParaRPr lang="en-US" altLang="zh-CN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策略年化收益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23.61%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，年度胜率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88.9%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，开仓胜率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0.65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，盈亏比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1.59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。样本外</a:t>
            </a:r>
            <a:r>
              <a:rPr lang="zh-CN" altLang="en-US" sz="1400" b="1" dirty="0">
                <a:solidFill>
                  <a:srgbClr val="F796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开仓胜率</a:t>
            </a:r>
            <a:r>
              <a:rPr lang="en-US" altLang="zh-CN" sz="1400" b="1" dirty="0">
                <a:solidFill>
                  <a:srgbClr val="F796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0.69</a:t>
            </a:r>
            <a:r>
              <a:rPr lang="zh-CN" altLang="en-US" sz="1400" b="1" dirty="0">
                <a:solidFill>
                  <a:srgbClr val="F796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，盈亏比</a:t>
            </a:r>
            <a:r>
              <a:rPr lang="en-US" altLang="zh-CN" sz="1400" b="1" dirty="0">
                <a:solidFill>
                  <a:srgbClr val="F796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0.86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策略在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2019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年表现弱于指数，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2022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年存在负向绝对收益，其余时间表现优异。归因：</a:t>
            </a:r>
            <a:r>
              <a:rPr lang="en-US" altLang="zh-CN" sz="1400" b="1" dirty="0">
                <a:solidFill>
                  <a:srgbClr val="F796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1400" b="1" dirty="0">
                <a:solidFill>
                  <a:srgbClr val="F796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月中期波动率判断错误，交易拥挤度削弱</a:t>
            </a:r>
            <a:r>
              <a:rPr lang="en-US" altLang="zh-CN" sz="1400" b="1" dirty="0">
                <a:solidFill>
                  <a:srgbClr val="F796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12</a:t>
            </a:r>
            <a:r>
              <a:rPr lang="zh-CN" altLang="en-US" sz="1400" b="1" dirty="0">
                <a:solidFill>
                  <a:srgbClr val="F796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月的收益。</a:t>
            </a:r>
            <a:endParaRPr lang="en-US" altLang="zh-CN" sz="1400" b="1" dirty="0">
              <a:solidFill>
                <a:srgbClr val="F7964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内容占位符 11">
            <a:extLst>
              <a:ext uri="{FF2B5EF4-FFF2-40B4-BE49-F238E27FC236}">
                <a16:creationId xmlns:a16="http://schemas.microsoft.com/office/drawing/2014/main" id="{AB1C134B-7240-3CDF-9785-E6B02FDF77CE}"/>
              </a:ext>
            </a:extLst>
          </p:cNvPr>
          <p:cNvSpPr txBox="1">
            <a:spLocks/>
          </p:cNvSpPr>
          <p:nvPr/>
        </p:nvSpPr>
        <p:spPr>
          <a:xfrm>
            <a:off x="8708819" y="2751369"/>
            <a:ext cx="2572996" cy="360000"/>
          </a:xfrm>
          <a:prstGeom prst="rect">
            <a:avLst/>
          </a:prstGeom>
          <a:solidFill>
            <a:srgbClr val="EEEEE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kumimoji="0" lang="zh-CN" altLang="en-US" sz="1400" b="1" i="0" u="none" strike="noStrike" kern="1200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ea typeface="+mn-ea"/>
                <a:cs typeface="Times New Roman" pitchFamily="18" charset="0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/>
              <a:t>中证</a:t>
            </a:r>
            <a:r>
              <a:rPr lang="en-US" altLang="zh-CN" dirty="0"/>
              <a:t>500</a:t>
            </a:r>
            <a:r>
              <a:rPr lang="zh-CN" altLang="en-US" dirty="0"/>
              <a:t>择时策略净值走势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71EB1011-21E7-4EF7-D82C-971B43121598}"/>
              </a:ext>
            </a:extLst>
          </p:cNvPr>
          <p:cNvSpPr/>
          <p:nvPr/>
        </p:nvSpPr>
        <p:spPr>
          <a:xfrm>
            <a:off x="8278213" y="3350111"/>
            <a:ext cx="3485420" cy="2849880"/>
          </a:xfrm>
          <a:prstGeom prst="roundRect">
            <a:avLst>
              <a:gd name="adj" fmla="val 2450"/>
            </a:avLst>
          </a:prstGeom>
          <a:noFill/>
          <a:ln>
            <a:solidFill>
              <a:srgbClr val="4F81B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1"/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FC766A08-71DA-F382-5D88-596BA2F4752E}"/>
              </a:ext>
            </a:extLst>
          </p:cNvPr>
          <p:cNvCxnSpPr>
            <a:cxnSpLocks/>
          </p:cNvCxnSpPr>
          <p:nvPr/>
        </p:nvCxnSpPr>
        <p:spPr>
          <a:xfrm>
            <a:off x="10524691" y="3669957"/>
            <a:ext cx="0" cy="2038778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7CA3BC18-4D66-596E-B96B-AC0C58D7D852}"/>
              </a:ext>
            </a:extLst>
          </p:cNvPr>
          <p:cNvSpPr txBox="1"/>
          <p:nvPr/>
        </p:nvSpPr>
        <p:spPr>
          <a:xfrm>
            <a:off x="379213" y="6310889"/>
            <a:ext cx="47086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资料来源：</a:t>
            </a:r>
            <a:r>
              <a:rPr lang="en-US" altLang="zh-CN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</a:t>
            </a:r>
            <a:r>
              <a:rPr lang="zh-CN" altLang="en-US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800" dirty="0" err="1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Tushare</a:t>
            </a:r>
            <a:endParaRPr lang="zh-CN" altLang="en-US" sz="8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8154C6E7-4E9B-E313-3D3C-1C5D44A529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768" y="1117387"/>
            <a:ext cx="1738514" cy="1439469"/>
          </a:xfrm>
          <a:prstGeom prst="rect">
            <a:avLst/>
          </a:prstGeom>
        </p:spPr>
      </p:pic>
      <p:sp>
        <p:nvSpPr>
          <p:cNvPr id="20" name="圆角矩形 19">
            <a:extLst>
              <a:ext uri="{FF2B5EF4-FFF2-40B4-BE49-F238E27FC236}">
                <a16:creationId xmlns:a16="http://schemas.microsoft.com/office/drawing/2014/main" id="{D3804735-8608-A3F6-9BD9-093B7C346B15}"/>
              </a:ext>
            </a:extLst>
          </p:cNvPr>
          <p:cNvSpPr/>
          <p:nvPr/>
        </p:nvSpPr>
        <p:spPr>
          <a:xfrm>
            <a:off x="9510279" y="1101567"/>
            <a:ext cx="2028824" cy="1461495"/>
          </a:xfrm>
          <a:prstGeom prst="roundRect">
            <a:avLst>
              <a:gd name="adj" fmla="val 2450"/>
            </a:avLst>
          </a:prstGeom>
          <a:noFill/>
          <a:ln>
            <a:solidFill>
              <a:srgbClr val="4F81B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1"/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50791024-E92C-4A79-1156-BB1D1929EA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3796820"/>
              </p:ext>
            </p:extLst>
          </p:nvPr>
        </p:nvGraphicFramePr>
        <p:xfrm>
          <a:off x="249382" y="3353544"/>
          <a:ext cx="7730835" cy="2871525"/>
        </p:xfrm>
        <a:graphic>
          <a:graphicData uri="http://schemas.openxmlformats.org/drawingml/2006/table">
            <a:tbl>
              <a:tblPr/>
              <a:tblGrid>
                <a:gridCol w="720436">
                  <a:extLst>
                    <a:ext uri="{9D8B030D-6E8A-4147-A177-3AD203B41FA5}">
                      <a16:colId xmlns:a16="http://schemas.microsoft.com/office/drawing/2014/main" val="1168435228"/>
                    </a:ext>
                  </a:extLst>
                </a:gridCol>
                <a:gridCol w="637309">
                  <a:extLst>
                    <a:ext uri="{9D8B030D-6E8A-4147-A177-3AD203B41FA5}">
                      <a16:colId xmlns:a16="http://schemas.microsoft.com/office/drawing/2014/main" val="3029455374"/>
                    </a:ext>
                  </a:extLst>
                </a:gridCol>
                <a:gridCol w="637309">
                  <a:extLst>
                    <a:ext uri="{9D8B030D-6E8A-4147-A177-3AD203B41FA5}">
                      <a16:colId xmlns:a16="http://schemas.microsoft.com/office/drawing/2014/main" val="291590809"/>
                    </a:ext>
                  </a:extLst>
                </a:gridCol>
                <a:gridCol w="637309">
                  <a:extLst>
                    <a:ext uri="{9D8B030D-6E8A-4147-A177-3AD203B41FA5}">
                      <a16:colId xmlns:a16="http://schemas.microsoft.com/office/drawing/2014/main" val="2648503280"/>
                    </a:ext>
                  </a:extLst>
                </a:gridCol>
                <a:gridCol w="637309">
                  <a:extLst>
                    <a:ext uri="{9D8B030D-6E8A-4147-A177-3AD203B41FA5}">
                      <a16:colId xmlns:a16="http://schemas.microsoft.com/office/drawing/2014/main" val="352896790"/>
                    </a:ext>
                  </a:extLst>
                </a:gridCol>
                <a:gridCol w="637309">
                  <a:extLst>
                    <a:ext uri="{9D8B030D-6E8A-4147-A177-3AD203B41FA5}">
                      <a16:colId xmlns:a16="http://schemas.microsoft.com/office/drawing/2014/main" val="881562492"/>
                    </a:ext>
                  </a:extLst>
                </a:gridCol>
                <a:gridCol w="637309">
                  <a:extLst>
                    <a:ext uri="{9D8B030D-6E8A-4147-A177-3AD203B41FA5}">
                      <a16:colId xmlns:a16="http://schemas.microsoft.com/office/drawing/2014/main" val="2891546577"/>
                    </a:ext>
                  </a:extLst>
                </a:gridCol>
                <a:gridCol w="637309">
                  <a:extLst>
                    <a:ext uri="{9D8B030D-6E8A-4147-A177-3AD203B41FA5}">
                      <a16:colId xmlns:a16="http://schemas.microsoft.com/office/drawing/2014/main" val="2142113980"/>
                    </a:ext>
                  </a:extLst>
                </a:gridCol>
                <a:gridCol w="637309">
                  <a:extLst>
                    <a:ext uri="{9D8B030D-6E8A-4147-A177-3AD203B41FA5}">
                      <a16:colId xmlns:a16="http://schemas.microsoft.com/office/drawing/2014/main" val="2668982240"/>
                    </a:ext>
                  </a:extLst>
                </a:gridCol>
                <a:gridCol w="637309">
                  <a:extLst>
                    <a:ext uri="{9D8B030D-6E8A-4147-A177-3AD203B41FA5}">
                      <a16:colId xmlns:a16="http://schemas.microsoft.com/office/drawing/2014/main" val="2031958246"/>
                    </a:ext>
                  </a:extLst>
                </a:gridCol>
                <a:gridCol w="637309">
                  <a:extLst>
                    <a:ext uri="{9D8B030D-6E8A-4147-A177-3AD203B41FA5}">
                      <a16:colId xmlns:a16="http://schemas.microsoft.com/office/drawing/2014/main" val="419569110"/>
                    </a:ext>
                  </a:extLst>
                </a:gridCol>
                <a:gridCol w="637309">
                  <a:extLst>
                    <a:ext uri="{9D8B030D-6E8A-4147-A177-3AD203B41FA5}">
                      <a16:colId xmlns:a16="http://schemas.microsoft.com/office/drawing/2014/main" val="58803092"/>
                    </a:ext>
                  </a:extLst>
                </a:gridCol>
              </a:tblGrid>
              <a:tr h="258768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2015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2017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2018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2019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今年以来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全区间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样本外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02367"/>
                  </a:ext>
                </a:extLst>
              </a:tr>
              <a:tr h="258768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年化收益率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101.09%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23.94%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11.73%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14.11%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17.96%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23.28%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21.15%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-2.29%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5E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16.25%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9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23.61%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10.48%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1338629"/>
                  </a:ext>
                </a:extLst>
              </a:tr>
              <a:tr h="258768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基准收益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40.14%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0D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-10.51%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C2E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-1.13%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8E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-34.85%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28.12%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5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19.15%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13.88%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-20.78%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AA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2.14%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0F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1.00%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D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-3.89%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D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914336"/>
                  </a:ext>
                </a:extLst>
              </a:tr>
              <a:tr h="258768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年化波动率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21.88%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17.49%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7.06%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9.86%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17.90%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18.94%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12.04%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16.75%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6.58%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15.64%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13.54%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3285477"/>
                  </a:ext>
                </a:extLst>
              </a:tr>
              <a:tr h="258768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夏普比率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4.62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1.37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1.66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1.43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1.23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1.76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-0.14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2.47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1.51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0.77 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352389"/>
                  </a:ext>
                </a:extLst>
              </a:tr>
              <a:tr h="258768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最大回撤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-10.98%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-10.70%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-5.02%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-4.41%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-23.32%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-11.48%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-7.78%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-17.34%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-2.90%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-23.32%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-17.34%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8426557"/>
                  </a:ext>
                </a:extLst>
              </a:tr>
              <a:tr h="258768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卡玛比率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9.2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2.24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2.34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3.2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0.77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2.03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2.72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-0.13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5.6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1.01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0.60 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0292740"/>
                  </a:ext>
                </a:extLst>
              </a:tr>
              <a:tr h="258768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胜率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0.74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0.73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0.53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0.67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0.89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0.53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1" i="0" u="none" strike="noStrike">
                          <a:solidFill>
                            <a:srgbClr val="F79646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0.65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1" i="0" u="none" strike="noStrike" dirty="0">
                          <a:solidFill>
                            <a:srgbClr val="F79646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0.69 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3309889"/>
                  </a:ext>
                </a:extLst>
              </a:tr>
              <a:tr h="258768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盈亏比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1.2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6.44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1.97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1.84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1.62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0.54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0.87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1.29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1" i="0" u="none" strike="noStrike" dirty="0">
                          <a:solidFill>
                            <a:srgbClr val="F79646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1.59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1" i="0" u="none" strike="noStrike" dirty="0">
                          <a:solidFill>
                            <a:srgbClr val="F79646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0.86 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401559"/>
                  </a:ext>
                </a:extLst>
              </a:tr>
              <a:tr h="258768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盈利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1.58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0.61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2.72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0.59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0.42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0.75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0.37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0.83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0.69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0.29 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660855"/>
                  </a:ext>
                </a:extLst>
              </a:tr>
              <a:tr h="258768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年交易次数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15.65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15.28 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39833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40335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0C15A420-9B49-0D6F-8981-7972E950E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6206" y="3583027"/>
            <a:ext cx="3526303" cy="252259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3.3</a:t>
            </a:r>
            <a:r>
              <a:rPr lang="zh-CN" altLang="en-US" dirty="0"/>
              <a:t> 多指数回测对比</a:t>
            </a:r>
            <a:r>
              <a:rPr lang="zh-CN" altLang="en-US" sz="1600" dirty="0">
                <a:ea typeface="OPPOSans R" panose="00020600040101010101" pitchFamily="18" charset="-122"/>
                <a:sym typeface="+mn-lt"/>
              </a:rPr>
              <a:t> 创业板指择时策略分年度统计</a:t>
            </a:r>
            <a:endParaRPr lang="zh-CN" altLang="en-US" sz="16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>
          <a:xfrm>
            <a:off x="4562860" y="6178827"/>
            <a:ext cx="2844800" cy="365125"/>
          </a:xfrm>
        </p:spPr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37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内容占位符 11">
            <a:extLst>
              <a:ext uri="{FF2B5EF4-FFF2-40B4-BE49-F238E27FC236}">
                <a16:creationId xmlns:a16="http://schemas.microsoft.com/office/drawing/2014/main" id="{D2AB4464-7B78-DD88-78AF-B1FD6D4C6D27}"/>
              </a:ext>
            </a:extLst>
          </p:cNvPr>
          <p:cNvSpPr txBox="1">
            <a:spLocks/>
          </p:cNvSpPr>
          <p:nvPr/>
        </p:nvSpPr>
        <p:spPr>
          <a:xfrm>
            <a:off x="2428963" y="2837292"/>
            <a:ext cx="3667037" cy="360000"/>
          </a:xfrm>
          <a:prstGeom prst="rect">
            <a:avLst/>
          </a:prstGeom>
          <a:solidFill>
            <a:srgbClr val="EEEEE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kumimoji="0" lang="zh-CN" altLang="en-US" sz="1400" b="1" i="0" u="none" strike="noStrike" kern="1200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ea typeface="+mn-ea"/>
                <a:cs typeface="Times New Roman" pitchFamily="18" charset="0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/>
              <a:t>创业板指择时策略分年度结果统计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FAC49CF-2033-8A05-A7DB-E26CE1DCC6EB}"/>
              </a:ext>
            </a:extLst>
          </p:cNvPr>
          <p:cNvSpPr txBox="1"/>
          <p:nvPr/>
        </p:nvSpPr>
        <p:spPr>
          <a:xfrm>
            <a:off x="531906" y="643340"/>
            <a:ext cx="10477963" cy="2119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F5781B"/>
              </a:buClr>
            </a:pPr>
            <a:endParaRPr lang="zh-CN" altLang="en-US" sz="2000" dirty="0">
              <a:solidFill>
                <a:srgbClr val="000000"/>
              </a:solidFill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回测区间自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2015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年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月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日至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2023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年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月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日。</a:t>
            </a:r>
            <a:endParaRPr lang="en-US" altLang="zh-CN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策略年化收益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40.06%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，年度胜率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88.9%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，开仓胜率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0.71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，盈亏比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2.95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。样本外</a:t>
            </a:r>
            <a:r>
              <a:rPr lang="zh-CN" altLang="en-US" sz="1400" b="1" dirty="0">
                <a:solidFill>
                  <a:srgbClr val="F796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开仓胜率</a:t>
            </a:r>
            <a:r>
              <a:rPr lang="en-US" altLang="zh-CN" sz="1400" b="1" dirty="0">
                <a:solidFill>
                  <a:srgbClr val="F796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0.60</a:t>
            </a:r>
            <a:r>
              <a:rPr lang="zh-CN" altLang="en-US" sz="1400" b="1" dirty="0">
                <a:solidFill>
                  <a:srgbClr val="F796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，盈亏比</a:t>
            </a:r>
            <a:r>
              <a:rPr lang="en-US" altLang="zh-CN" sz="1400" b="1" dirty="0">
                <a:solidFill>
                  <a:srgbClr val="F796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2.15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策略在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2020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表现弱于指数，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2023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年存在负向绝对收益，其余时间表现优异。归因：</a:t>
            </a:r>
            <a:r>
              <a:rPr lang="zh-CN" altLang="en-US" sz="1400" dirty="0">
                <a:solidFill>
                  <a:srgbClr val="F796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策略对</a:t>
            </a:r>
            <a:r>
              <a:rPr lang="zh-CN" altLang="en-US" sz="1400" b="1" dirty="0">
                <a:solidFill>
                  <a:srgbClr val="F796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横盘震荡后的单日大幅上涨捕捉能力较弱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策略整体表现远好于上证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50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，向上博取收益动能强劲，说明量价择时策略在涨跌幅限制低、有效性较弱的市场环境中表现更优。</a:t>
            </a:r>
          </a:p>
        </p:txBody>
      </p:sp>
      <p:sp>
        <p:nvSpPr>
          <p:cNvPr id="6" name="内容占位符 11">
            <a:extLst>
              <a:ext uri="{FF2B5EF4-FFF2-40B4-BE49-F238E27FC236}">
                <a16:creationId xmlns:a16="http://schemas.microsoft.com/office/drawing/2014/main" id="{AB1C134B-7240-3CDF-9785-E6B02FDF77CE}"/>
              </a:ext>
            </a:extLst>
          </p:cNvPr>
          <p:cNvSpPr txBox="1">
            <a:spLocks/>
          </p:cNvSpPr>
          <p:nvPr/>
        </p:nvSpPr>
        <p:spPr>
          <a:xfrm>
            <a:off x="8708819" y="2827569"/>
            <a:ext cx="2572996" cy="360000"/>
          </a:xfrm>
          <a:prstGeom prst="rect">
            <a:avLst/>
          </a:prstGeom>
          <a:solidFill>
            <a:srgbClr val="EEEEE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kumimoji="0" lang="zh-CN" altLang="en-US" sz="1400" b="1" i="0" u="none" strike="noStrike" kern="1200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ea typeface="+mn-ea"/>
                <a:cs typeface="Times New Roman" pitchFamily="18" charset="0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/>
              <a:t>创业板指择时策略净值走势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71EB1011-21E7-4EF7-D82C-971B43121598}"/>
              </a:ext>
            </a:extLst>
          </p:cNvPr>
          <p:cNvSpPr/>
          <p:nvPr/>
        </p:nvSpPr>
        <p:spPr>
          <a:xfrm>
            <a:off x="8278213" y="3350111"/>
            <a:ext cx="3485420" cy="2849880"/>
          </a:xfrm>
          <a:prstGeom prst="roundRect">
            <a:avLst>
              <a:gd name="adj" fmla="val 2450"/>
            </a:avLst>
          </a:prstGeom>
          <a:noFill/>
          <a:ln>
            <a:solidFill>
              <a:srgbClr val="4F81B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1"/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FC766A08-71DA-F382-5D88-596BA2F4752E}"/>
              </a:ext>
            </a:extLst>
          </p:cNvPr>
          <p:cNvCxnSpPr>
            <a:cxnSpLocks/>
          </p:cNvCxnSpPr>
          <p:nvPr/>
        </p:nvCxnSpPr>
        <p:spPr>
          <a:xfrm>
            <a:off x="10496981" y="3669957"/>
            <a:ext cx="0" cy="2038778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4CAF100C-A5F3-31CF-E9F7-7A634E87C87A}"/>
              </a:ext>
            </a:extLst>
          </p:cNvPr>
          <p:cNvSpPr txBox="1"/>
          <p:nvPr/>
        </p:nvSpPr>
        <p:spPr>
          <a:xfrm>
            <a:off x="374187" y="6328508"/>
            <a:ext cx="47086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资料来源：</a:t>
            </a:r>
            <a:r>
              <a:rPr lang="en-US" altLang="zh-CN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</a:t>
            </a:r>
            <a:r>
              <a:rPr lang="zh-CN" altLang="en-US" sz="8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800" dirty="0" err="1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Tushare</a:t>
            </a:r>
            <a:endParaRPr lang="zh-CN" altLang="en-US" sz="8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47E1F466-7089-F82D-EF29-BF51B35847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2859195"/>
              </p:ext>
            </p:extLst>
          </p:nvPr>
        </p:nvGraphicFramePr>
        <p:xfrm>
          <a:off x="249382" y="3352704"/>
          <a:ext cx="7730835" cy="2872285"/>
        </p:xfrm>
        <a:graphic>
          <a:graphicData uri="http://schemas.openxmlformats.org/drawingml/2006/table">
            <a:tbl>
              <a:tblPr/>
              <a:tblGrid>
                <a:gridCol w="748145">
                  <a:extLst>
                    <a:ext uri="{9D8B030D-6E8A-4147-A177-3AD203B41FA5}">
                      <a16:colId xmlns:a16="http://schemas.microsoft.com/office/drawing/2014/main" val="1093787404"/>
                    </a:ext>
                  </a:extLst>
                </a:gridCol>
                <a:gridCol w="634790">
                  <a:extLst>
                    <a:ext uri="{9D8B030D-6E8A-4147-A177-3AD203B41FA5}">
                      <a16:colId xmlns:a16="http://schemas.microsoft.com/office/drawing/2014/main" val="2467593876"/>
                    </a:ext>
                  </a:extLst>
                </a:gridCol>
                <a:gridCol w="634790">
                  <a:extLst>
                    <a:ext uri="{9D8B030D-6E8A-4147-A177-3AD203B41FA5}">
                      <a16:colId xmlns:a16="http://schemas.microsoft.com/office/drawing/2014/main" val="767553052"/>
                    </a:ext>
                  </a:extLst>
                </a:gridCol>
                <a:gridCol w="634790">
                  <a:extLst>
                    <a:ext uri="{9D8B030D-6E8A-4147-A177-3AD203B41FA5}">
                      <a16:colId xmlns:a16="http://schemas.microsoft.com/office/drawing/2014/main" val="3465893200"/>
                    </a:ext>
                  </a:extLst>
                </a:gridCol>
                <a:gridCol w="634790">
                  <a:extLst>
                    <a:ext uri="{9D8B030D-6E8A-4147-A177-3AD203B41FA5}">
                      <a16:colId xmlns:a16="http://schemas.microsoft.com/office/drawing/2014/main" val="3339665535"/>
                    </a:ext>
                  </a:extLst>
                </a:gridCol>
                <a:gridCol w="634790">
                  <a:extLst>
                    <a:ext uri="{9D8B030D-6E8A-4147-A177-3AD203B41FA5}">
                      <a16:colId xmlns:a16="http://schemas.microsoft.com/office/drawing/2014/main" val="338600080"/>
                    </a:ext>
                  </a:extLst>
                </a:gridCol>
                <a:gridCol w="634790">
                  <a:extLst>
                    <a:ext uri="{9D8B030D-6E8A-4147-A177-3AD203B41FA5}">
                      <a16:colId xmlns:a16="http://schemas.microsoft.com/office/drawing/2014/main" val="4290144666"/>
                    </a:ext>
                  </a:extLst>
                </a:gridCol>
                <a:gridCol w="634790">
                  <a:extLst>
                    <a:ext uri="{9D8B030D-6E8A-4147-A177-3AD203B41FA5}">
                      <a16:colId xmlns:a16="http://schemas.microsoft.com/office/drawing/2014/main" val="2661858190"/>
                    </a:ext>
                  </a:extLst>
                </a:gridCol>
                <a:gridCol w="634790">
                  <a:extLst>
                    <a:ext uri="{9D8B030D-6E8A-4147-A177-3AD203B41FA5}">
                      <a16:colId xmlns:a16="http://schemas.microsoft.com/office/drawing/2014/main" val="124643028"/>
                    </a:ext>
                  </a:extLst>
                </a:gridCol>
                <a:gridCol w="634790">
                  <a:extLst>
                    <a:ext uri="{9D8B030D-6E8A-4147-A177-3AD203B41FA5}">
                      <a16:colId xmlns:a16="http://schemas.microsoft.com/office/drawing/2014/main" val="2416045212"/>
                    </a:ext>
                  </a:extLst>
                </a:gridCol>
                <a:gridCol w="634790">
                  <a:extLst>
                    <a:ext uri="{9D8B030D-6E8A-4147-A177-3AD203B41FA5}">
                      <a16:colId xmlns:a16="http://schemas.microsoft.com/office/drawing/2014/main" val="3007150219"/>
                    </a:ext>
                  </a:extLst>
                </a:gridCol>
                <a:gridCol w="634790">
                  <a:extLst>
                    <a:ext uri="{9D8B030D-6E8A-4147-A177-3AD203B41FA5}">
                      <a16:colId xmlns:a16="http://schemas.microsoft.com/office/drawing/2014/main" val="312493663"/>
                    </a:ext>
                  </a:extLst>
                </a:gridCol>
              </a:tblGrid>
              <a:tr h="258844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2015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2017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2018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2019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2022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今年以来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全区间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样本外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5369903"/>
                  </a:ext>
                </a:extLst>
              </a:tr>
              <a:tr h="258844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年化收益率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274.42%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28.05%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7F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7.05%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1F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32.24%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75.26%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CD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53.01%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28.64%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18.22%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-3.69%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C8E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49.06%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17.78%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161977"/>
                  </a:ext>
                </a:extLst>
              </a:tr>
              <a:tr h="258844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基准收益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78.73%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A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-21.62%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9DC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-10.93%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B7D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-29.94%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47.48%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63.78%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2E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8.15%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-28.47%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DC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-20.06%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A1D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4.37%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B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-13.44%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B1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4005981"/>
                  </a:ext>
                </a:extLst>
              </a:tr>
              <a:tr h="258844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年化波动率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29.54%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22.23%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10.56%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20.22%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19.88%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20.41%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22.12%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19.30%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10.18%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20.84%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19.31%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1998337"/>
                  </a:ext>
                </a:extLst>
              </a:tr>
              <a:tr h="258844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夏普比率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9.29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1.26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0.67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1.59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3.79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2.6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1.29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0.94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-0.36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2.35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0.92 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590716"/>
                  </a:ext>
                </a:extLst>
              </a:tr>
              <a:tr h="258844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最大回撤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-8.13%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-13.08%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-9.93%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-12.35%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-8.68%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-13.41%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-22.86%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-12.05%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-6.30%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-22.86%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-22.86%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8574209"/>
                  </a:ext>
                </a:extLst>
              </a:tr>
              <a:tr h="258844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卡玛比率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33.74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2.15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0.71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2.61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8.67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3.95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1.25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1.51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-0.59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2.15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0.78 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1078185"/>
                  </a:ext>
                </a:extLst>
              </a:tr>
              <a:tr h="258844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胜率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0.82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0.83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0.75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0.63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0.71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0.75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0.55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1" i="0" u="none" strike="noStrike">
                          <a:solidFill>
                            <a:srgbClr val="F79646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0.71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1" i="0" u="none" strike="noStrike" dirty="0">
                          <a:solidFill>
                            <a:srgbClr val="F79646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0.60 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7141039"/>
                  </a:ext>
                </a:extLst>
              </a:tr>
              <a:tr h="258844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盈亏比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4.22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9.25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1.3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4.6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3.47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5.95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2.11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0.81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1" i="0" u="none" strike="noStrike">
                          <a:solidFill>
                            <a:srgbClr val="F79646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2.95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1" i="0" u="none" strike="noStrike" dirty="0">
                          <a:solidFill>
                            <a:srgbClr val="F79646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2.15 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0869852"/>
                  </a:ext>
                </a:extLst>
              </a:tr>
              <a:tr h="258844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盈利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3.27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7.54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0.72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2.19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0.74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4.22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-0.1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1.81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0.89 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0711016"/>
                  </a:ext>
                </a:extLst>
              </a:tr>
              <a:tr h="258844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年交易次数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13.53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10.61 </a:t>
                      </a:r>
                    </a:p>
                  </a:txBody>
                  <a:tcPr marL="9525" marR="9525" marT="9525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7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48902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24548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C2A5B-FD07-4229-8F8C-1BFEB44AF40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第四部分  总结展望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>
          <a:xfrm>
            <a:off x="1505979" y="3481982"/>
            <a:ext cx="1005403" cy="338554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策略总结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5"/>
          </p:nvPr>
        </p:nvSpPr>
        <p:spPr>
          <a:xfrm>
            <a:off x="1505979" y="4258923"/>
            <a:ext cx="1005403" cy="338554"/>
          </a:xfrm>
        </p:spPr>
        <p:txBody>
          <a:bodyPr/>
          <a:lstStyle/>
          <a:p>
            <a:r>
              <a:rPr lang="zh-CN" altLang="en-US" dirty="0"/>
              <a:t>改进方向</a:t>
            </a:r>
          </a:p>
        </p:txBody>
      </p:sp>
    </p:spTree>
    <p:extLst>
      <p:ext uri="{BB962C8B-B14F-4D97-AF65-F5344CB8AC3E}">
        <p14:creationId xmlns:p14="http://schemas.microsoft.com/office/powerpoint/2010/main" val="25003225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4.1</a:t>
            </a:r>
            <a:r>
              <a:rPr lang="zh-CN" altLang="en-US" dirty="0"/>
              <a:t> 策略总结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39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968671" y="1153383"/>
            <a:ext cx="10093775" cy="15240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基于股价演绎视角的多时点、多周期复合</a:t>
            </a:r>
            <a:r>
              <a:rPr lang="zh-CN" altLang="en-US" sz="1600" dirty="0">
                <a:solidFill>
                  <a:srgbClr val="F79646"/>
                </a:solidFill>
              </a:rPr>
              <a:t>量价择时</a:t>
            </a:r>
            <a:r>
              <a:rPr lang="zh-CN" altLang="en-US" sz="1600" dirty="0">
                <a:solidFill>
                  <a:srgbClr val="000000"/>
                </a:solidFill>
              </a:rPr>
              <a:t>策略。</a:t>
            </a:r>
          </a:p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用</a:t>
            </a:r>
            <a:r>
              <a:rPr lang="zh-CN" altLang="en-US" sz="1600" dirty="0">
                <a:solidFill>
                  <a:srgbClr val="F79646"/>
                </a:solidFill>
              </a:rPr>
              <a:t>动量与反转</a:t>
            </a:r>
            <a:r>
              <a:rPr lang="zh-CN" altLang="en-US" sz="1600" dirty="0">
                <a:solidFill>
                  <a:srgbClr val="000000"/>
                </a:solidFill>
              </a:rPr>
              <a:t>抓住短期趋势</a:t>
            </a:r>
            <a:r>
              <a:rPr lang="en-US" altLang="zh-CN" sz="1600" dirty="0">
                <a:solidFill>
                  <a:srgbClr val="000000"/>
                </a:solidFill>
              </a:rPr>
              <a:t>/</a:t>
            </a:r>
            <a:r>
              <a:rPr lang="zh-CN" altLang="en-US" sz="1600" dirty="0">
                <a:solidFill>
                  <a:srgbClr val="000000"/>
                </a:solidFill>
              </a:rPr>
              <a:t>转折带来的投资机遇；用</a:t>
            </a:r>
            <a:r>
              <a:rPr lang="zh-CN" altLang="en-US" sz="1600" dirty="0">
                <a:solidFill>
                  <a:srgbClr val="F79646"/>
                </a:solidFill>
              </a:rPr>
              <a:t>分歧度和流动性</a:t>
            </a:r>
            <a:r>
              <a:rPr lang="zh-CN" altLang="en-US" sz="1600" dirty="0">
                <a:solidFill>
                  <a:srgbClr val="000000"/>
                </a:solidFill>
              </a:rPr>
              <a:t>一定程度上刻画当前牛熊状态，做收益的增厚；用</a:t>
            </a:r>
            <a:r>
              <a:rPr lang="zh-CN" altLang="en-US" sz="1600" dirty="0">
                <a:solidFill>
                  <a:srgbClr val="F79646"/>
                </a:solidFill>
              </a:rPr>
              <a:t>交易拥挤度</a:t>
            </a:r>
            <a:r>
              <a:rPr lang="zh-CN" altLang="en-US" sz="1600" dirty="0">
                <a:solidFill>
                  <a:srgbClr val="000000"/>
                </a:solidFill>
              </a:rPr>
              <a:t>降低潜在的顶部风险。</a:t>
            </a:r>
          </a:p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endParaRPr lang="zh-CN" altLang="en-US" sz="1600" dirty="0">
              <a:solidFill>
                <a:srgbClr val="000000"/>
              </a:solidFill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16847CA2-6471-D1ED-D248-D03A303EE7F9}"/>
              </a:ext>
            </a:extLst>
          </p:cNvPr>
          <p:cNvGrpSpPr/>
          <p:nvPr/>
        </p:nvGrpSpPr>
        <p:grpSpPr>
          <a:xfrm>
            <a:off x="1878874" y="2331623"/>
            <a:ext cx="8206710" cy="4040898"/>
            <a:chOff x="1878874" y="2116473"/>
            <a:chExt cx="8206710" cy="4040898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D8A5C98E-1E03-A202-B298-D638D9F667DD}"/>
                </a:ext>
              </a:extLst>
            </p:cNvPr>
            <p:cNvSpPr txBox="1"/>
            <p:nvPr/>
          </p:nvSpPr>
          <p:spPr>
            <a:xfrm>
              <a:off x="4003960" y="5838986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1400" b="1" dirty="0">
                  <a:solidFill>
                    <a:srgbClr val="FDBE94"/>
                  </a:solidFill>
                </a:rPr>
                <a:t>搏收益</a:t>
              </a:r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50F47427-3403-50C4-E0C0-8486AA38C5F8}"/>
                </a:ext>
              </a:extLst>
            </p:cNvPr>
            <p:cNvGrpSpPr/>
            <p:nvPr/>
          </p:nvGrpSpPr>
          <p:grpSpPr>
            <a:xfrm>
              <a:off x="1878874" y="2116473"/>
              <a:ext cx="8206710" cy="4040898"/>
              <a:chOff x="1878874" y="2116473"/>
              <a:chExt cx="8206710" cy="4040898"/>
            </a:xfrm>
          </p:grpSpPr>
          <p:grpSp>
            <p:nvGrpSpPr>
              <p:cNvPr id="4" name="组合 3">
                <a:extLst>
                  <a:ext uri="{FF2B5EF4-FFF2-40B4-BE49-F238E27FC236}">
                    <a16:creationId xmlns:a16="http://schemas.microsoft.com/office/drawing/2014/main" id="{397B5D0E-EEC0-B169-9813-2CC77938560F}"/>
                  </a:ext>
                </a:extLst>
              </p:cNvPr>
              <p:cNvGrpSpPr/>
              <p:nvPr/>
            </p:nvGrpSpPr>
            <p:grpSpPr>
              <a:xfrm>
                <a:off x="1878874" y="2116473"/>
                <a:ext cx="8206710" cy="3497160"/>
                <a:chOff x="2024530" y="2586614"/>
                <a:chExt cx="8206710" cy="3497160"/>
              </a:xfrm>
            </p:grpSpPr>
            <p:cxnSp>
              <p:nvCxnSpPr>
                <p:cNvPr id="47" name="直线连接符 46">
                  <a:extLst>
                    <a:ext uri="{FF2B5EF4-FFF2-40B4-BE49-F238E27FC236}">
                      <a16:creationId xmlns:a16="http://schemas.microsoft.com/office/drawing/2014/main" id="{3D3006E9-9ED9-7A35-D65A-1A58F4DACE01}"/>
                    </a:ext>
                  </a:extLst>
                </p:cNvPr>
                <p:cNvCxnSpPr/>
                <p:nvPr/>
              </p:nvCxnSpPr>
              <p:spPr>
                <a:xfrm>
                  <a:off x="6096000" y="2915012"/>
                  <a:ext cx="0" cy="384687"/>
                </a:xfrm>
                <a:prstGeom prst="line">
                  <a:avLst/>
                </a:prstGeom>
                <a:ln w="2222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肘形连接符 49">
                  <a:extLst>
                    <a:ext uri="{FF2B5EF4-FFF2-40B4-BE49-F238E27FC236}">
                      <a16:creationId xmlns:a16="http://schemas.microsoft.com/office/drawing/2014/main" id="{9FBA767F-6960-D609-7C12-28AD582B4B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96000" y="3137591"/>
                  <a:ext cx="2917908" cy="141620"/>
                </a:xfrm>
                <a:prstGeom prst="bentConnector2">
                  <a:avLst/>
                </a:prstGeom>
                <a:ln w="2222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肘形连接符 52">
                  <a:extLst>
                    <a:ext uri="{FF2B5EF4-FFF2-40B4-BE49-F238E27FC236}">
                      <a16:creationId xmlns:a16="http://schemas.microsoft.com/office/drawing/2014/main" id="{3313B0AC-DA96-EE08-8B82-2D5ABA343D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610551" y="1802781"/>
                  <a:ext cx="311511" cy="2659388"/>
                </a:xfrm>
                <a:prstGeom prst="bentConnector3">
                  <a:avLst/>
                </a:prstGeom>
                <a:ln w="2222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肘形连接符 67">
                  <a:extLst>
                    <a:ext uri="{FF2B5EF4-FFF2-40B4-BE49-F238E27FC236}">
                      <a16:creationId xmlns:a16="http://schemas.microsoft.com/office/drawing/2014/main" id="{9D52D62D-DB30-A736-9FEE-B4540B7B5C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2726213" y="3632829"/>
                  <a:ext cx="291827" cy="1128972"/>
                </a:xfrm>
                <a:prstGeom prst="bentConnector3">
                  <a:avLst>
                    <a:gd name="adj1" fmla="val 50000"/>
                  </a:avLst>
                </a:prstGeom>
                <a:ln w="2222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肘形连接符 75">
                  <a:extLst>
                    <a:ext uri="{FF2B5EF4-FFF2-40B4-BE49-F238E27FC236}">
                      <a16:creationId xmlns:a16="http://schemas.microsoft.com/office/drawing/2014/main" id="{0093E8A0-656C-12A8-89EA-2088281107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3456072" y="4031941"/>
                  <a:ext cx="291827" cy="330747"/>
                </a:xfrm>
                <a:prstGeom prst="bentConnector3">
                  <a:avLst/>
                </a:prstGeom>
                <a:ln w="2222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肘形连接符 77">
                  <a:extLst>
                    <a:ext uri="{FF2B5EF4-FFF2-40B4-BE49-F238E27FC236}">
                      <a16:creationId xmlns:a16="http://schemas.microsoft.com/office/drawing/2014/main" id="{F0B28D93-F3CD-6259-55FE-C072418A06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3818216" y="3669798"/>
                  <a:ext cx="291828" cy="1055036"/>
                </a:xfrm>
                <a:prstGeom prst="bentConnector3">
                  <a:avLst/>
                </a:prstGeom>
                <a:ln w="2222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直线连接符 79">
                  <a:extLst>
                    <a:ext uri="{FF2B5EF4-FFF2-40B4-BE49-F238E27FC236}">
                      <a16:creationId xmlns:a16="http://schemas.microsoft.com/office/drawing/2014/main" id="{A5726AE3-2F9F-6212-204F-9A37290B8FB0}"/>
                    </a:ext>
                  </a:extLst>
                </p:cNvPr>
                <p:cNvCxnSpPr/>
                <p:nvPr/>
              </p:nvCxnSpPr>
              <p:spPr>
                <a:xfrm>
                  <a:off x="6096000" y="4046949"/>
                  <a:ext cx="0" cy="342974"/>
                </a:xfrm>
                <a:prstGeom prst="line">
                  <a:avLst/>
                </a:prstGeom>
                <a:ln w="2222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肘形连接符 81">
                  <a:extLst>
                    <a:ext uri="{FF2B5EF4-FFF2-40B4-BE49-F238E27FC236}">
                      <a16:creationId xmlns:a16="http://schemas.microsoft.com/office/drawing/2014/main" id="{A90C14A5-7F24-1FF5-D6FA-74831D3565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8275705" y="3651720"/>
                  <a:ext cx="338525" cy="1137882"/>
                </a:xfrm>
                <a:prstGeom prst="bentConnector3">
                  <a:avLst/>
                </a:prstGeom>
                <a:ln w="2222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肘形连接符 94">
                  <a:extLst>
                    <a:ext uri="{FF2B5EF4-FFF2-40B4-BE49-F238E27FC236}">
                      <a16:creationId xmlns:a16="http://schemas.microsoft.com/office/drawing/2014/main" id="{68839D7C-DBAC-1441-B281-C66893A081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9309250" y="3756057"/>
                  <a:ext cx="338526" cy="929210"/>
                </a:xfrm>
                <a:prstGeom prst="bentConnector3">
                  <a:avLst/>
                </a:prstGeom>
                <a:ln w="2222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线连接符 28">
                  <a:extLst>
                    <a:ext uri="{FF2B5EF4-FFF2-40B4-BE49-F238E27FC236}">
                      <a16:creationId xmlns:a16="http://schemas.microsoft.com/office/drawing/2014/main" id="{47A84243-9E4F-5003-9B52-3FD89BA1CA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030948" y="4188237"/>
                  <a:ext cx="0" cy="157447"/>
                </a:xfrm>
                <a:prstGeom prst="line">
                  <a:avLst/>
                </a:prstGeom>
                <a:ln w="2222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直线连接符 53">
                  <a:extLst>
                    <a:ext uri="{FF2B5EF4-FFF2-40B4-BE49-F238E27FC236}">
                      <a16:creationId xmlns:a16="http://schemas.microsoft.com/office/drawing/2014/main" id="{7CB6BC43-51E3-C7CB-D9A6-0C59F7BB91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15062" y="4222866"/>
                  <a:ext cx="0" cy="169849"/>
                </a:xfrm>
                <a:prstGeom prst="line">
                  <a:avLst/>
                </a:prstGeom>
                <a:ln w="2222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直线连接符 64">
                  <a:extLst>
                    <a:ext uri="{FF2B5EF4-FFF2-40B4-BE49-F238E27FC236}">
                      <a16:creationId xmlns:a16="http://schemas.microsoft.com/office/drawing/2014/main" id="{54FF87E5-1A35-6E2E-FF2F-42E37BA7CC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754251" y="4211762"/>
                  <a:ext cx="0" cy="169849"/>
                </a:xfrm>
                <a:prstGeom prst="line">
                  <a:avLst/>
                </a:prstGeom>
                <a:ln w="2222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直线连接符 65">
                  <a:extLst>
                    <a:ext uri="{FF2B5EF4-FFF2-40B4-BE49-F238E27FC236}">
                      <a16:creationId xmlns:a16="http://schemas.microsoft.com/office/drawing/2014/main" id="{31A00139-D93A-9518-4306-0DCA6371AE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302891" y="4211762"/>
                  <a:ext cx="0" cy="169849"/>
                </a:xfrm>
                <a:prstGeom prst="line">
                  <a:avLst/>
                </a:prstGeom>
                <a:ln w="2222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" name="Freeform 51"/>
                <p:cNvSpPr/>
                <p:nvPr/>
              </p:nvSpPr>
              <p:spPr>
                <a:xfrm>
                  <a:off x="5179699" y="2586614"/>
                  <a:ext cx="1832602" cy="396113"/>
                </a:xfrm>
                <a:custGeom>
                  <a:avLst/>
                  <a:gdLst>
                    <a:gd name="connsiteX0" fmla="*/ 0 w 1127550"/>
                    <a:gd name="connsiteY0" fmla="*/ 75170 h 751700"/>
                    <a:gd name="connsiteX1" fmla="*/ 22017 w 1127550"/>
                    <a:gd name="connsiteY1" fmla="*/ 22017 h 751700"/>
                    <a:gd name="connsiteX2" fmla="*/ 75170 w 1127550"/>
                    <a:gd name="connsiteY2" fmla="*/ 0 h 751700"/>
                    <a:gd name="connsiteX3" fmla="*/ 1052380 w 1127550"/>
                    <a:gd name="connsiteY3" fmla="*/ 0 h 751700"/>
                    <a:gd name="connsiteX4" fmla="*/ 1105533 w 1127550"/>
                    <a:gd name="connsiteY4" fmla="*/ 22017 h 751700"/>
                    <a:gd name="connsiteX5" fmla="*/ 1127550 w 1127550"/>
                    <a:gd name="connsiteY5" fmla="*/ 75170 h 751700"/>
                    <a:gd name="connsiteX6" fmla="*/ 1127550 w 1127550"/>
                    <a:gd name="connsiteY6" fmla="*/ 676530 h 751700"/>
                    <a:gd name="connsiteX7" fmla="*/ 1105533 w 1127550"/>
                    <a:gd name="connsiteY7" fmla="*/ 729683 h 751700"/>
                    <a:gd name="connsiteX8" fmla="*/ 1052380 w 1127550"/>
                    <a:gd name="connsiteY8" fmla="*/ 751700 h 751700"/>
                    <a:gd name="connsiteX9" fmla="*/ 75170 w 1127550"/>
                    <a:gd name="connsiteY9" fmla="*/ 751700 h 751700"/>
                    <a:gd name="connsiteX10" fmla="*/ 22017 w 1127550"/>
                    <a:gd name="connsiteY10" fmla="*/ 729683 h 751700"/>
                    <a:gd name="connsiteX11" fmla="*/ 0 w 1127550"/>
                    <a:gd name="connsiteY11" fmla="*/ 676530 h 751700"/>
                    <a:gd name="connsiteX12" fmla="*/ 0 w 1127550"/>
                    <a:gd name="connsiteY12" fmla="*/ 75170 h 7517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127550" h="751700">
                      <a:moveTo>
                        <a:pt x="0" y="75170"/>
                      </a:moveTo>
                      <a:cubicBezTo>
                        <a:pt x="0" y="55234"/>
                        <a:pt x="7920" y="36114"/>
                        <a:pt x="22017" y="22017"/>
                      </a:cubicBezTo>
                      <a:cubicBezTo>
                        <a:pt x="36114" y="7920"/>
                        <a:pt x="55234" y="0"/>
                        <a:pt x="75170" y="0"/>
                      </a:cubicBezTo>
                      <a:lnTo>
                        <a:pt x="1052380" y="0"/>
                      </a:lnTo>
                      <a:cubicBezTo>
                        <a:pt x="1072316" y="0"/>
                        <a:pt x="1091436" y="7920"/>
                        <a:pt x="1105533" y="22017"/>
                      </a:cubicBezTo>
                      <a:cubicBezTo>
                        <a:pt x="1119630" y="36114"/>
                        <a:pt x="1127550" y="55234"/>
                        <a:pt x="1127550" y="75170"/>
                      </a:cubicBezTo>
                      <a:lnTo>
                        <a:pt x="1127550" y="676530"/>
                      </a:lnTo>
                      <a:cubicBezTo>
                        <a:pt x="1127550" y="696466"/>
                        <a:pt x="1119630" y="715586"/>
                        <a:pt x="1105533" y="729683"/>
                      </a:cubicBezTo>
                      <a:cubicBezTo>
                        <a:pt x="1091436" y="743780"/>
                        <a:pt x="1072316" y="751700"/>
                        <a:pt x="1052380" y="751700"/>
                      </a:cubicBezTo>
                      <a:lnTo>
                        <a:pt x="75170" y="751700"/>
                      </a:lnTo>
                      <a:cubicBezTo>
                        <a:pt x="55234" y="751700"/>
                        <a:pt x="36114" y="743780"/>
                        <a:pt x="22017" y="729683"/>
                      </a:cubicBezTo>
                      <a:cubicBezTo>
                        <a:pt x="7920" y="715586"/>
                        <a:pt x="0" y="696466"/>
                        <a:pt x="0" y="676530"/>
                      </a:cubicBezTo>
                      <a:lnTo>
                        <a:pt x="0" y="75170"/>
                      </a:lnTo>
                      <a:close/>
                    </a:path>
                  </a:pathLst>
                </a:custGeom>
                <a:solidFill>
                  <a:srgbClr val="4F81BD"/>
                </a:solidFill>
                <a:ln w="25400" cap="flat" cmpd="sng" algn="ctr">
                  <a:solidFill>
                    <a:sysClr val="window" lastClr="FFFFFF">
                      <a:hueOff val="0"/>
                      <a:satOff val="0"/>
                      <a:lumOff val="0"/>
                      <a:alphaOff val="0"/>
                    </a:sysClr>
                  </a:solidFill>
                  <a:prstDash val="solid"/>
                </a:ln>
                <a:effectLst/>
              </p:spPr>
              <p:txBody>
                <a:bodyPr spcFirstLastPara="0" vert="horz" wrap="square" lIns="132507" tIns="132507" rIns="132507" bIns="132507" numCol="1" spcCol="1270" anchor="ctr" anchorCtr="0">
                  <a:noAutofit/>
                </a:bodyPr>
                <a:lstStyle/>
                <a:p>
                  <a:pPr algn="ctr" defTabSz="1289018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defRPr/>
                  </a:pPr>
                  <a:r>
                    <a:rPr lang="zh-CN" altLang="en-US" sz="1600" b="1" kern="0" dirty="0">
                      <a:solidFill>
                        <a:schemeClr val="bg1"/>
                      </a:solidFill>
                      <a:latin typeface="FontAwesome" pitchFamily="2" charset="0"/>
                    </a:rPr>
                    <a:t>短中长择时策略</a:t>
                  </a:r>
                  <a:endParaRPr lang="en-US" sz="1600" b="1" kern="0" dirty="0">
                    <a:solidFill>
                      <a:schemeClr val="bg1"/>
                    </a:solidFill>
                    <a:latin typeface="FontAwesome" pitchFamily="2" charset="0"/>
                  </a:endParaRPr>
                </a:p>
              </p:txBody>
            </p:sp>
            <p:sp>
              <p:nvSpPr>
                <p:cNvPr id="24" name="Freeform 53"/>
                <p:cNvSpPr/>
                <p:nvPr/>
              </p:nvSpPr>
              <p:spPr>
                <a:xfrm>
                  <a:off x="2875137" y="3288229"/>
                  <a:ext cx="1127551" cy="751700"/>
                </a:xfrm>
                <a:custGeom>
                  <a:avLst/>
                  <a:gdLst>
                    <a:gd name="connsiteX0" fmla="*/ 0 w 1127550"/>
                    <a:gd name="connsiteY0" fmla="*/ 75170 h 751700"/>
                    <a:gd name="connsiteX1" fmla="*/ 22017 w 1127550"/>
                    <a:gd name="connsiteY1" fmla="*/ 22017 h 751700"/>
                    <a:gd name="connsiteX2" fmla="*/ 75170 w 1127550"/>
                    <a:gd name="connsiteY2" fmla="*/ 0 h 751700"/>
                    <a:gd name="connsiteX3" fmla="*/ 1052380 w 1127550"/>
                    <a:gd name="connsiteY3" fmla="*/ 0 h 751700"/>
                    <a:gd name="connsiteX4" fmla="*/ 1105533 w 1127550"/>
                    <a:gd name="connsiteY4" fmla="*/ 22017 h 751700"/>
                    <a:gd name="connsiteX5" fmla="*/ 1127550 w 1127550"/>
                    <a:gd name="connsiteY5" fmla="*/ 75170 h 751700"/>
                    <a:gd name="connsiteX6" fmla="*/ 1127550 w 1127550"/>
                    <a:gd name="connsiteY6" fmla="*/ 676530 h 751700"/>
                    <a:gd name="connsiteX7" fmla="*/ 1105533 w 1127550"/>
                    <a:gd name="connsiteY7" fmla="*/ 729683 h 751700"/>
                    <a:gd name="connsiteX8" fmla="*/ 1052380 w 1127550"/>
                    <a:gd name="connsiteY8" fmla="*/ 751700 h 751700"/>
                    <a:gd name="connsiteX9" fmla="*/ 75170 w 1127550"/>
                    <a:gd name="connsiteY9" fmla="*/ 751700 h 751700"/>
                    <a:gd name="connsiteX10" fmla="*/ 22017 w 1127550"/>
                    <a:gd name="connsiteY10" fmla="*/ 729683 h 751700"/>
                    <a:gd name="connsiteX11" fmla="*/ 0 w 1127550"/>
                    <a:gd name="connsiteY11" fmla="*/ 676530 h 751700"/>
                    <a:gd name="connsiteX12" fmla="*/ 0 w 1127550"/>
                    <a:gd name="connsiteY12" fmla="*/ 75170 h 7517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127550" h="751700">
                      <a:moveTo>
                        <a:pt x="0" y="75170"/>
                      </a:moveTo>
                      <a:cubicBezTo>
                        <a:pt x="0" y="55234"/>
                        <a:pt x="7920" y="36114"/>
                        <a:pt x="22017" y="22017"/>
                      </a:cubicBezTo>
                      <a:cubicBezTo>
                        <a:pt x="36114" y="7920"/>
                        <a:pt x="55234" y="0"/>
                        <a:pt x="75170" y="0"/>
                      </a:cubicBezTo>
                      <a:lnTo>
                        <a:pt x="1052380" y="0"/>
                      </a:lnTo>
                      <a:cubicBezTo>
                        <a:pt x="1072316" y="0"/>
                        <a:pt x="1091436" y="7920"/>
                        <a:pt x="1105533" y="22017"/>
                      </a:cubicBezTo>
                      <a:cubicBezTo>
                        <a:pt x="1119630" y="36114"/>
                        <a:pt x="1127550" y="55234"/>
                        <a:pt x="1127550" y="75170"/>
                      </a:cubicBezTo>
                      <a:lnTo>
                        <a:pt x="1127550" y="676530"/>
                      </a:lnTo>
                      <a:cubicBezTo>
                        <a:pt x="1127550" y="696466"/>
                        <a:pt x="1119630" y="715586"/>
                        <a:pt x="1105533" y="729683"/>
                      </a:cubicBezTo>
                      <a:cubicBezTo>
                        <a:pt x="1091436" y="743780"/>
                        <a:pt x="1072316" y="751700"/>
                        <a:pt x="1052380" y="751700"/>
                      </a:cubicBezTo>
                      <a:lnTo>
                        <a:pt x="75170" y="751700"/>
                      </a:lnTo>
                      <a:cubicBezTo>
                        <a:pt x="55234" y="751700"/>
                        <a:pt x="36114" y="743780"/>
                        <a:pt x="22017" y="729683"/>
                      </a:cubicBezTo>
                      <a:cubicBezTo>
                        <a:pt x="7920" y="715586"/>
                        <a:pt x="0" y="696466"/>
                        <a:pt x="0" y="676530"/>
                      </a:cubicBezTo>
                      <a:lnTo>
                        <a:pt x="0" y="75170"/>
                      </a:lnTo>
                      <a:close/>
                    </a:path>
                  </a:pathLst>
                </a:custGeom>
                <a:solidFill>
                  <a:srgbClr val="95B3D7"/>
                </a:solidFill>
                <a:ln w="25400" cap="flat" cmpd="sng" algn="ctr">
                  <a:solidFill>
                    <a:sysClr val="window" lastClr="FFFFFF">
                      <a:hueOff val="0"/>
                      <a:satOff val="0"/>
                      <a:lumOff val="0"/>
                      <a:alphaOff val="0"/>
                    </a:sysClr>
                  </a:solidFill>
                  <a:prstDash val="solid"/>
                </a:ln>
                <a:effectLst/>
              </p:spPr>
              <p:txBody>
                <a:bodyPr spcFirstLastPara="0" vert="horz" wrap="square" lIns="132507" tIns="132507" rIns="132507" bIns="132507" numCol="1" spcCol="1270" anchor="ctr" anchorCtr="0">
                  <a:noAutofit/>
                </a:bodyPr>
                <a:lstStyle/>
                <a:p>
                  <a:pPr algn="ctr" defTabSz="1289018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defRPr/>
                  </a:pPr>
                  <a:r>
                    <a:rPr lang="zh-CN" altLang="en-US" sz="1400" b="1" kern="0" dirty="0">
                      <a:solidFill>
                        <a:schemeClr val="bg1"/>
                      </a:solidFill>
                      <a:latin typeface="FontAwesome" pitchFamily="2" charset="0"/>
                    </a:rPr>
                    <a:t>短期</a:t>
                  </a:r>
                  <a:r>
                    <a:rPr lang="en-US" altLang="zh-CN" sz="1400" b="1" kern="0" dirty="0">
                      <a:solidFill>
                        <a:schemeClr val="bg1"/>
                      </a:solidFill>
                      <a:latin typeface="FontAwesome" pitchFamily="2" charset="0"/>
                    </a:rPr>
                    <a:t>-</a:t>
                  </a:r>
                  <a:r>
                    <a:rPr lang="zh-CN" altLang="en-US" sz="1400" b="1" kern="0" dirty="0">
                      <a:solidFill>
                        <a:schemeClr val="bg1"/>
                      </a:solidFill>
                      <a:latin typeface="FontAwesome" pitchFamily="2" charset="0"/>
                    </a:rPr>
                    <a:t>动量反转</a:t>
                  </a:r>
                  <a:endParaRPr lang="en-US" altLang="zh-CN" sz="1400" b="1" kern="0" dirty="0">
                    <a:solidFill>
                      <a:schemeClr val="bg1"/>
                    </a:solidFill>
                    <a:latin typeface="FontAwesome" pitchFamily="2" charset="0"/>
                  </a:endParaRPr>
                </a:p>
              </p:txBody>
            </p:sp>
            <p:sp>
              <p:nvSpPr>
                <p:cNvPr id="25" name="Freeform 55"/>
                <p:cNvSpPr/>
                <p:nvPr/>
              </p:nvSpPr>
              <p:spPr>
                <a:xfrm>
                  <a:off x="2024530" y="4336208"/>
                  <a:ext cx="574854" cy="751700"/>
                </a:xfrm>
                <a:custGeom>
                  <a:avLst/>
                  <a:gdLst>
                    <a:gd name="connsiteX0" fmla="*/ 0 w 1127550"/>
                    <a:gd name="connsiteY0" fmla="*/ 75170 h 751700"/>
                    <a:gd name="connsiteX1" fmla="*/ 22017 w 1127550"/>
                    <a:gd name="connsiteY1" fmla="*/ 22017 h 751700"/>
                    <a:gd name="connsiteX2" fmla="*/ 75170 w 1127550"/>
                    <a:gd name="connsiteY2" fmla="*/ 0 h 751700"/>
                    <a:gd name="connsiteX3" fmla="*/ 1052380 w 1127550"/>
                    <a:gd name="connsiteY3" fmla="*/ 0 h 751700"/>
                    <a:gd name="connsiteX4" fmla="*/ 1105533 w 1127550"/>
                    <a:gd name="connsiteY4" fmla="*/ 22017 h 751700"/>
                    <a:gd name="connsiteX5" fmla="*/ 1127550 w 1127550"/>
                    <a:gd name="connsiteY5" fmla="*/ 75170 h 751700"/>
                    <a:gd name="connsiteX6" fmla="*/ 1127550 w 1127550"/>
                    <a:gd name="connsiteY6" fmla="*/ 676530 h 751700"/>
                    <a:gd name="connsiteX7" fmla="*/ 1105533 w 1127550"/>
                    <a:gd name="connsiteY7" fmla="*/ 729683 h 751700"/>
                    <a:gd name="connsiteX8" fmla="*/ 1052380 w 1127550"/>
                    <a:gd name="connsiteY8" fmla="*/ 751700 h 751700"/>
                    <a:gd name="connsiteX9" fmla="*/ 75170 w 1127550"/>
                    <a:gd name="connsiteY9" fmla="*/ 751700 h 751700"/>
                    <a:gd name="connsiteX10" fmla="*/ 22017 w 1127550"/>
                    <a:gd name="connsiteY10" fmla="*/ 729683 h 751700"/>
                    <a:gd name="connsiteX11" fmla="*/ 0 w 1127550"/>
                    <a:gd name="connsiteY11" fmla="*/ 676530 h 751700"/>
                    <a:gd name="connsiteX12" fmla="*/ 0 w 1127550"/>
                    <a:gd name="connsiteY12" fmla="*/ 75170 h 7517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127550" h="751700">
                      <a:moveTo>
                        <a:pt x="0" y="75170"/>
                      </a:moveTo>
                      <a:cubicBezTo>
                        <a:pt x="0" y="55234"/>
                        <a:pt x="7920" y="36114"/>
                        <a:pt x="22017" y="22017"/>
                      </a:cubicBezTo>
                      <a:cubicBezTo>
                        <a:pt x="36114" y="7920"/>
                        <a:pt x="55234" y="0"/>
                        <a:pt x="75170" y="0"/>
                      </a:cubicBezTo>
                      <a:lnTo>
                        <a:pt x="1052380" y="0"/>
                      </a:lnTo>
                      <a:cubicBezTo>
                        <a:pt x="1072316" y="0"/>
                        <a:pt x="1091436" y="7920"/>
                        <a:pt x="1105533" y="22017"/>
                      </a:cubicBezTo>
                      <a:cubicBezTo>
                        <a:pt x="1119630" y="36114"/>
                        <a:pt x="1127550" y="55234"/>
                        <a:pt x="1127550" y="75170"/>
                      </a:cubicBezTo>
                      <a:lnTo>
                        <a:pt x="1127550" y="676530"/>
                      </a:lnTo>
                      <a:cubicBezTo>
                        <a:pt x="1127550" y="696466"/>
                        <a:pt x="1119630" y="715586"/>
                        <a:pt x="1105533" y="729683"/>
                      </a:cubicBezTo>
                      <a:cubicBezTo>
                        <a:pt x="1091436" y="743780"/>
                        <a:pt x="1072316" y="751700"/>
                        <a:pt x="1052380" y="751700"/>
                      </a:cubicBezTo>
                      <a:lnTo>
                        <a:pt x="75170" y="751700"/>
                      </a:lnTo>
                      <a:cubicBezTo>
                        <a:pt x="55234" y="751700"/>
                        <a:pt x="36114" y="743780"/>
                        <a:pt x="22017" y="729683"/>
                      </a:cubicBezTo>
                      <a:cubicBezTo>
                        <a:pt x="7920" y="715586"/>
                        <a:pt x="0" y="696466"/>
                        <a:pt x="0" y="676530"/>
                      </a:cubicBezTo>
                      <a:lnTo>
                        <a:pt x="0" y="75170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25400" cap="flat" cmpd="sng" algn="ctr">
                  <a:solidFill>
                    <a:sysClr val="window" lastClr="FFFFFF">
                      <a:hueOff val="0"/>
                      <a:satOff val="0"/>
                      <a:lumOff val="0"/>
                      <a:alphaOff val="0"/>
                    </a:sysClr>
                  </a:solidFill>
                  <a:prstDash val="solid"/>
                </a:ln>
                <a:effectLst/>
              </p:spPr>
              <p:txBody>
                <a:bodyPr spcFirstLastPara="0" vert="horz" wrap="square" lIns="132507" tIns="132507" rIns="132507" bIns="132507" numCol="1" spcCol="1270" anchor="ctr" anchorCtr="0">
                  <a:noAutofit/>
                </a:bodyPr>
                <a:lstStyle/>
                <a:p>
                  <a:pPr algn="ctr" defTabSz="1289018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defRPr/>
                  </a:pPr>
                  <a:r>
                    <a:rPr lang="zh-CN" altLang="en-US" sz="1200" kern="0" dirty="0">
                      <a:solidFill>
                        <a:schemeClr val="bg1"/>
                      </a:solidFill>
                      <a:latin typeface="FontAwesome" pitchFamily="2" charset="0"/>
                    </a:rPr>
                    <a:t>日内动量</a:t>
                  </a:r>
                  <a:endParaRPr lang="en-US" altLang="zh-CN" sz="1200" kern="0" dirty="0">
                    <a:solidFill>
                      <a:schemeClr val="bg1"/>
                    </a:solidFill>
                    <a:latin typeface="FontAwesome" pitchFamily="2" charset="0"/>
                  </a:endParaRPr>
                </a:p>
              </p:txBody>
            </p:sp>
            <p:sp>
              <p:nvSpPr>
                <p:cNvPr id="26" name="Freeform 57"/>
                <p:cNvSpPr/>
                <p:nvPr/>
              </p:nvSpPr>
              <p:spPr>
                <a:xfrm>
                  <a:off x="5410201" y="4332052"/>
                  <a:ext cx="1444857" cy="751700"/>
                </a:xfrm>
                <a:custGeom>
                  <a:avLst/>
                  <a:gdLst>
                    <a:gd name="connsiteX0" fmla="*/ 0 w 1127550"/>
                    <a:gd name="connsiteY0" fmla="*/ 75170 h 751700"/>
                    <a:gd name="connsiteX1" fmla="*/ 22017 w 1127550"/>
                    <a:gd name="connsiteY1" fmla="*/ 22017 h 751700"/>
                    <a:gd name="connsiteX2" fmla="*/ 75170 w 1127550"/>
                    <a:gd name="connsiteY2" fmla="*/ 0 h 751700"/>
                    <a:gd name="connsiteX3" fmla="*/ 1052380 w 1127550"/>
                    <a:gd name="connsiteY3" fmla="*/ 0 h 751700"/>
                    <a:gd name="connsiteX4" fmla="*/ 1105533 w 1127550"/>
                    <a:gd name="connsiteY4" fmla="*/ 22017 h 751700"/>
                    <a:gd name="connsiteX5" fmla="*/ 1127550 w 1127550"/>
                    <a:gd name="connsiteY5" fmla="*/ 75170 h 751700"/>
                    <a:gd name="connsiteX6" fmla="*/ 1127550 w 1127550"/>
                    <a:gd name="connsiteY6" fmla="*/ 676530 h 751700"/>
                    <a:gd name="connsiteX7" fmla="*/ 1105533 w 1127550"/>
                    <a:gd name="connsiteY7" fmla="*/ 729683 h 751700"/>
                    <a:gd name="connsiteX8" fmla="*/ 1052380 w 1127550"/>
                    <a:gd name="connsiteY8" fmla="*/ 751700 h 751700"/>
                    <a:gd name="connsiteX9" fmla="*/ 75170 w 1127550"/>
                    <a:gd name="connsiteY9" fmla="*/ 751700 h 751700"/>
                    <a:gd name="connsiteX10" fmla="*/ 22017 w 1127550"/>
                    <a:gd name="connsiteY10" fmla="*/ 729683 h 751700"/>
                    <a:gd name="connsiteX11" fmla="*/ 0 w 1127550"/>
                    <a:gd name="connsiteY11" fmla="*/ 676530 h 751700"/>
                    <a:gd name="connsiteX12" fmla="*/ 0 w 1127550"/>
                    <a:gd name="connsiteY12" fmla="*/ 75170 h 7517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127550" h="751700">
                      <a:moveTo>
                        <a:pt x="0" y="75170"/>
                      </a:moveTo>
                      <a:cubicBezTo>
                        <a:pt x="0" y="55234"/>
                        <a:pt x="7920" y="36114"/>
                        <a:pt x="22017" y="22017"/>
                      </a:cubicBezTo>
                      <a:cubicBezTo>
                        <a:pt x="36114" y="7920"/>
                        <a:pt x="55234" y="0"/>
                        <a:pt x="75170" y="0"/>
                      </a:cubicBezTo>
                      <a:lnTo>
                        <a:pt x="1052380" y="0"/>
                      </a:lnTo>
                      <a:cubicBezTo>
                        <a:pt x="1072316" y="0"/>
                        <a:pt x="1091436" y="7920"/>
                        <a:pt x="1105533" y="22017"/>
                      </a:cubicBezTo>
                      <a:cubicBezTo>
                        <a:pt x="1119630" y="36114"/>
                        <a:pt x="1127550" y="55234"/>
                        <a:pt x="1127550" y="75170"/>
                      </a:cubicBezTo>
                      <a:lnTo>
                        <a:pt x="1127550" y="676530"/>
                      </a:lnTo>
                      <a:cubicBezTo>
                        <a:pt x="1127550" y="696466"/>
                        <a:pt x="1119630" y="715586"/>
                        <a:pt x="1105533" y="729683"/>
                      </a:cubicBezTo>
                      <a:cubicBezTo>
                        <a:pt x="1091436" y="743780"/>
                        <a:pt x="1072316" y="751700"/>
                        <a:pt x="1052380" y="751700"/>
                      </a:cubicBezTo>
                      <a:lnTo>
                        <a:pt x="75170" y="751700"/>
                      </a:lnTo>
                      <a:cubicBezTo>
                        <a:pt x="55234" y="751700"/>
                        <a:pt x="36114" y="743780"/>
                        <a:pt x="22017" y="729683"/>
                      </a:cubicBezTo>
                      <a:cubicBezTo>
                        <a:pt x="7920" y="715586"/>
                        <a:pt x="0" y="696466"/>
                        <a:pt x="0" y="676530"/>
                      </a:cubicBezTo>
                      <a:lnTo>
                        <a:pt x="0" y="75170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25400" cap="flat" cmpd="sng" algn="ctr">
                  <a:solidFill>
                    <a:sysClr val="window" lastClr="FFFFFF">
                      <a:hueOff val="0"/>
                      <a:satOff val="0"/>
                      <a:lumOff val="0"/>
                      <a:alphaOff val="0"/>
                    </a:sysClr>
                  </a:solidFill>
                  <a:prstDash val="solid"/>
                </a:ln>
                <a:effectLst/>
              </p:spPr>
              <p:txBody>
                <a:bodyPr spcFirstLastPara="0" vert="horz" wrap="square" lIns="132507" tIns="132507" rIns="132507" bIns="132507" numCol="1" spcCol="1270" anchor="ctr" anchorCtr="0">
                  <a:noAutofit/>
                </a:bodyPr>
                <a:lstStyle/>
                <a:p>
                  <a:pPr algn="ctr" defTabSz="1289018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defRPr/>
                  </a:pPr>
                  <a:r>
                    <a:rPr lang="zh-CN" altLang="en-US" sz="1200" kern="0" dirty="0">
                      <a:solidFill>
                        <a:schemeClr val="bg1"/>
                      </a:solidFill>
                      <a:latin typeface="FontAwesome" pitchFamily="2" charset="0"/>
                    </a:rPr>
                    <a:t>波动率和成交额四象限</a:t>
                  </a:r>
                  <a:endParaRPr lang="en-US" altLang="zh-CN" sz="1200" kern="0" dirty="0">
                    <a:solidFill>
                      <a:schemeClr val="bg1"/>
                    </a:solidFill>
                    <a:latin typeface="FontAwesome" pitchFamily="2" charset="0"/>
                  </a:endParaRPr>
                </a:p>
              </p:txBody>
            </p:sp>
            <p:sp>
              <p:nvSpPr>
                <p:cNvPr id="27" name="Freeform 59"/>
                <p:cNvSpPr/>
                <p:nvPr/>
              </p:nvSpPr>
              <p:spPr>
                <a:xfrm>
                  <a:off x="5410201" y="3299699"/>
                  <a:ext cx="1444858" cy="751700"/>
                </a:xfrm>
                <a:custGeom>
                  <a:avLst/>
                  <a:gdLst>
                    <a:gd name="connsiteX0" fmla="*/ 0 w 1127550"/>
                    <a:gd name="connsiteY0" fmla="*/ 75170 h 751700"/>
                    <a:gd name="connsiteX1" fmla="*/ 22017 w 1127550"/>
                    <a:gd name="connsiteY1" fmla="*/ 22017 h 751700"/>
                    <a:gd name="connsiteX2" fmla="*/ 75170 w 1127550"/>
                    <a:gd name="connsiteY2" fmla="*/ 0 h 751700"/>
                    <a:gd name="connsiteX3" fmla="*/ 1052380 w 1127550"/>
                    <a:gd name="connsiteY3" fmla="*/ 0 h 751700"/>
                    <a:gd name="connsiteX4" fmla="*/ 1105533 w 1127550"/>
                    <a:gd name="connsiteY4" fmla="*/ 22017 h 751700"/>
                    <a:gd name="connsiteX5" fmla="*/ 1127550 w 1127550"/>
                    <a:gd name="connsiteY5" fmla="*/ 75170 h 751700"/>
                    <a:gd name="connsiteX6" fmla="*/ 1127550 w 1127550"/>
                    <a:gd name="connsiteY6" fmla="*/ 676530 h 751700"/>
                    <a:gd name="connsiteX7" fmla="*/ 1105533 w 1127550"/>
                    <a:gd name="connsiteY7" fmla="*/ 729683 h 751700"/>
                    <a:gd name="connsiteX8" fmla="*/ 1052380 w 1127550"/>
                    <a:gd name="connsiteY8" fmla="*/ 751700 h 751700"/>
                    <a:gd name="connsiteX9" fmla="*/ 75170 w 1127550"/>
                    <a:gd name="connsiteY9" fmla="*/ 751700 h 751700"/>
                    <a:gd name="connsiteX10" fmla="*/ 22017 w 1127550"/>
                    <a:gd name="connsiteY10" fmla="*/ 729683 h 751700"/>
                    <a:gd name="connsiteX11" fmla="*/ 0 w 1127550"/>
                    <a:gd name="connsiteY11" fmla="*/ 676530 h 751700"/>
                    <a:gd name="connsiteX12" fmla="*/ 0 w 1127550"/>
                    <a:gd name="connsiteY12" fmla="*/ 75170 h 7517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127550" h="751700">
                      <a:moveTo>
                        <a:pt x="0" y="75170"/>
                      </a:moveTo>
                      <a:cubicBezTo>
                        <a:pt x="0" y="55234"/>
                        <a:pt x="7920" y="36114"/>
                        <a:pt x="22017" y="22017"/>
                      </a:cubicBezTo>
                      <a:cubicBezTo>
                        <a:pt x="36114" y="7920"/>
                        <a:pt x="55234" y="0"/>
                        <a:pt x="75170" y="0"/>
                      </a:cubicBezTo>
                      <a:lnTo>
                        <a:pt x="1052380" y="0"/>
                      </a:lnTo>
                      <a:cubicBezTo>
                        <a:pt x="1072316" y="0"/>
                        <a:pt x="1091436" y="7920"/>
                        <a:pt x="1105533" y="22017"/>
                      </a:cubicBezTo>
                      <a:cubicBezTo>
                        <a:pt x="1119630" y="36114"/>
                        <a:pt x="1127550" y="55234"/>
                        <a:pt x="1127550" y="75170"/>
                      </a:cubicBezTo>
                      <a:lnTo>
                        <a:pt x="1127550" y="676530"/>
                      </a:lnTo>
                      <a:cubicBezTo>
                        <a:pt x="1127550" y="696466"/>
                        <a:pt x="1119630" y="715586"/>
                        <a:pt x="1105533" y="729683"/>
                      </a:cubicBezTo>
                      <a:cubicBezTo>
                        <a:pt x="1091436" y="743780"/>
                        <a:pt x="1072316" y="751700"/>
                        <a:pt x="1052380" y="751700"/>
                      </a:cubicBezTo>
                      <a:lnTo>
                        <a:pt x="75170" y="751700"/>
                      </a:lnTo>
                      <a:cubicBezTo>
                        <a:pt x="55234" y="751700"/>
                        <a:pt x="36114" y="743780"/>
                        <a:pt x="22017" y="729683"/>
                      </a:cubicBezTo>
                      <a:cubicBezTo>
                        <a:pt x="7920" y="715586"/>
                        <a:pt x="0" y="696466"/>
                        <a:pt x="0" y="676530"/>
                      </a:cubicBezTo>
                      <a:lnTo>
                        <a:pt x="0" y="75170"/>
                      </a:lnTo>
                      <a:close/>
                    </a:path>
                  </a:pathLst>
                </a:custGeom>
                <a:solidFill>
                  <a:srgbClr val="95B3D7"/>
                </a:solidFill>
                <a:ln w="25400" cap="flat" cmpd="sng" algn="ctr">
                  <a:solidFill>
                    <a:sysClr val="window" lastClr="FFFFFF">
                      <a:hueOff val="0"/>
                      <a:satOff val="0"/>
                      <a:lumOff val="0"/>
                      <a:alphaOff val="0"/>
                    </a:sysClr>
                  </a:solidFill>
                  <a:prstDash val="solid"/>
                </a:ln>
                <a:effectLst/>
              </p:spPr>
              <p:txBody>
                <a:bodyPr spcFirstLastPara="0" vert="horz" wrap="square" lIns="132507" tIns="132507" rIns="132507" bIns="132507" numCol="1" spcCol="1270" anchor="ctr" anchorCtr="0">
                  <a:noAutofit/>
                </a:bodyPr>
                <a:lstStyle/>
                <a:p>
                  <a:pPr algn="ctr" defTabSz="1289018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defRPr/>
                  </a:pPr>
                  <a:r>
                    <a:rPr lang="zh-CN" altLang="en-US" sz="1400" b="1" kern="0" dirty="0">
                      <a:solidFill>
                        <a:schemeClr val="bg1"/>
                      </a:solidFill>
                      <a:latin typeface="FontAwesome" pitchFamily="2" charset="0"/>
                    </a:rPr>
                    <a:t>中期</a:t>
                  </a:r>
                  <a:r>
                    <a:rPr lang="en-US" altLang="zh-CN" sz="1400" b="1" kern="0" dirty="0">
                      <a:solidFill>
                        <a:schemeClr val="bg1"/>
                      </a:solidFill>
                      <a:latin typeface="FontAwesome" pitchFamily="2" charset="0"/>
                    </a:rPr>
                    <a:t>-</a:t>
                  </a:r>
                  <a:r>
                    <a:rPr lang="zh-CN" altLang="en-US" sz="1400" b="1" kern="0" dirty="0">
                      <a:solidFill>
                        <a:schemeClr val="bg1"/>
                      </a:solidFill>
                      <a:latin typeface="FontAwesome" pitchFamily="2" charset="0"/>
                    </a:rPr>
                    <a:t>分歧度和流动性</a:t>
                  </a:r>
                  <a:endParaRPr lang="en-US" altLang="zh-CN" sz="1400" b="1" kern="0" dirty="0">
                    <a:solidFill>
                      <a:schemeClr val="bg1"/>
                    </a:solidFill>
                    <a:latin typeface="FontAwesome" pitchFamily="2" charset="0"/>
                  </a:endParaRPr>
                </a:p>
              </p:txBody>
            </p:sp>
            <p:sp>
              <p:nvSpPr>
                <p:cNvPr id="28" name="Freeform 61"/>
                <p:cNvSpPr/>
                <p:nvPr/>
              </p:nvSpPr>
              <p:spPr>
                <a:xfrm>
                  <a:off x="2035608" y="5332074"/>
                  <a:ext cx="2895075" cy="751700"/>
                </a:xfrm>
                <a:custGeom>
                  <a:avLst/>
                  <a:gdLst>
                    <a:gd name="connsiteX0" fmla="*/ 0 w 1127550"/>
                    <a:gd name="connsiteY0" fmla="*/ 75170 h 751700"/>
                    <a:gd name="connsiteX1" fmla="*/ 22017 w 1127550"/>
                    <a:gd name="connsiteY1" fmla="*/ 22017 h 751700"/>
                    <a:gd name="connsiteX2" fmla="*/ 75170 w 1127550"/>
                    <a:gd name="connsiteY2" fmla="*/ 0 h 751700"/>
                    <a:gd name="connsiteX3" fmla="*/ 1052380 w 1127550"/>
                    <a:gd name="connsiteY3" fmla="*/ 0 h 751700"/>
                    <a:gd name="connsiteX4" fmla="*/ 1105533 w 1127550"/>
                    <a:gd name="connsiteY4" fmla="*/ 22017 h 751700"/>
                    <a:gd name="connsiteX5" fmla="*/ 1127550 w 1127550"/>
                    <a:gd name="connsiteY5" fmla="*/ 75170 h 751700"/>
                    <a:gd name="connsiteX6" fmla="*/ 1127550 w 1127550"/>
                    <a:gd name="connsiteY6" fmla="*/ 676530 h 751700"/>
                    <a:gd name="connsiteX7" fmla="*/ 1105533 w 1127550"/>
                    <a:gd name="connsiteY7" fmla="*/ 729683 h 751700"/>
                    <a:gd name="connsiteX8" fmla="*/ 1052380 w 1127550"/>
                    <a:gd name="connsiteY8" fmla="*/ 751700 h 751700"/>
                    <a:gd name="connsiteX9" fmla="*/ 75170 w 1127550"/>
                    <a:gd name="connsiteY9" fmla="*/ 751700 h 751700"/>
                    <a:gd name="connsiteX10" fmla="*/ 22017 w 1127550"/>
                    <a:gd name="connsiteY10" fmla="*/ 729683 h 751700"/>
                    <a:gd name="connsiteX11" fmla="*/ 0 w 1127550"/>
                    <a:gd name="connsiteY11" fmla="*/ 676530 h 751700"/>
                    <a:gd name="connsiteX12" fmla="*/ 0 w 1127550"/>
                    <a:gd name="connsiteY12" fmla="*/ 75170 h 7517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127550" h="751700">
                      <a:moveTo>
                        <a:pt x="0" y="75170"/>
                      </a:moveTo>
                      <a:cubicBezTo>
                        <a:pt x="0" y="55234"/>
                        <a:pt x="7920" y="36114"/>
                        <a:pt x="22017" y="22017"/>
                      </a:cubicBezTo>
                      <a:cubicBezTo>
                        <a:pt x="36114" y="7920"/>
                        <a:pt x="55234" y="0"/>
                        <a:pt x="75170" y="0"/>
                      </a:cubicBezTo>
                      <a:lnTo>
                        <a:pt x="1052380" y="0"/>
                      </a:lnTo>
                      <a:cubicBezTo>
                        <a:pt x="1072316" y="0"/>
                        <a:pt x="1091436" y="7920"/>
                        <a:pt x="1105533" y="22017"/>
                      </a:cubicBezTo>
                      <a:cubicBezTo>
                        <a:pt x="1119630" y="36114"/>
                        <a:pt x="1127550" y="55234"/>
                        <a:pt x="1127550" y="75170"/>
                      </a:cubicBezTo>
                      <a:lnTo>
                        <a:pt x="1127550" y="676530"/>
                      </a:lnTo>
                      <a:cubicBezTo>
                        <a:pt x="1127550" y="696466"/>
                        <a:pt x="1119630" y="715586"/>
                        <a:pt x="1105533" y="729683"/>
                      </a:cubicBezTo>
                      <a:cubicBezTo>
                        <a:pt x="1091436" y="743780"/>
                        <a:pt x="1072316" y="751700"/>
                        <a:pt x="1052380" y="751700"/>
                      </a:cubicBezTo>
                      <a:lnTo>
                        <a:pt x="75170" y="751700"/>
                      </a:lnTo>
                      <a:cubicBezTo>
                        <a:pt x="55234" y="751700"/>
                        <a:pt x="36114" y="743780"/>
                        <a:pt x="22017" y="729683"/>
                      </a:cubicBezTo>
                      <a:cubicBezTo>
                        <a:pt x="7920" y="715586"/>
                        <a:pt x="0" y="696466"/>
                        <a:pt x="0" y="676530"/>
                      </a:cubicBezTo>
                      <a:lnTo>
                        <a:pt x="0" y="75170"/>
                      </a:lnTo>
                      <a:close/>
                    </a:path>
                  </a:pathLst>
                </a:custGeom>
                <a:solidFill>
                  <a:srgbClr val="FDBE94"/>
                </a:solidFill>
                <a:ln w="25400" cap="flat" cmpd="sng" algn="ctr">
                  <a:solidFill>
                    <a:sysClr val="window" lastClr="FFFFFF">
                      <a:hueOff val="0"/>
                      <a:satOff val="0"/>
                      <a:lumOff val="0"/>
                      <a:alphaOff val="0"/>
                    </a:sysClr>
                  </a:solidFill>
                  <a:prstDash val="solid"/>
                </a:ln>
                <a:effectLst/>
              </p:spPr>
              <p:txBody>
                <a:bodyPr spcFirstLastPara="0" vert="horz" wrap="square" lIns="132507" tIns="132507" rIns="132507" bIns="132507" numCol="1" spcCol="1270" anchor="ctr" anchorCtr="0">
                  <a:noAutofit/>
                </a:bodyPr>
                <a:lstStyle/>
                <a:p>
                  <a:pPr algn="ctr" defTabSz="1289018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defRPr/>
                  </a:pPr>
                  <a:r>
                    <a:rPr lang="en-US" altLang="zh-CN" sz="1200" kern="0" dirty="0">
                      <a:latin typeface="SimSun" panose="02010600030101010101" pitchFamily="2" charset="-122"/>
                      <a:ea typeface="SimSun" panose="02010600030101010101" pitchFamily="2" charset="-122"/>
                    </a:rPr>
                    <a:t>【2</a:t>
                  </a:r>
                  <a:r>
                    <a:rPr lang="zh-CN" altLang="en-US" sz="1200" kern="0" dirty="0">
                      <a:latin typeface="SimSun" panose="02010600030101010101" pitchFamily="2" charset="-122"/>
                      <a:ea typeface="SimSun" panose="02010600030101010101" pitchFamily="2" charset="-122"/>
                    </a:rPr>
                    <a:t>个以上</a:t>
                  </a:r>
                  <a:r>
                    <a:rPr lang="en-US" altLang="zh-CN" sz="1200" kern="0" dirty="0">
                      <a:latin typeface="SimSun" panose="02010600030101010101" pitchFamily="2" charset="-122"/>
                      <a:ea typeface="SimSun" panose="02010600030101010101" pitchFamily="2" charset="-122"/>
                    </a:rPr>
                    <a:t>】</a:t>
                  </a:r>
                  <a:r>
                    <a:rPr lang="zh-CN" altLang="en-US" sz="1200" kern="0" dirty="0">
                      <a:latin typeface="SimSun" panose="02010600030101010101" pitchFamily="2" charset="-122"/>
                      <a:ea typeface="SimSun" panose="02010600030101010101" pitchFamily="2" charset="-122"/>
                    </a:rPr>
                    <a:t>信号触发则看多，寻求日内和日间的共振。</a:t>
                  </a:r>
                  <a:endParaRPr lang="en-US" altLang="zh-CN" sz="1200" kern="0" dirty="0">
                    <a:latin typeface="SimSun" panose="02010600030101010101" pitchFamily="2" charset="-122"/>
                    <a:ea typeface="SimSun" panose="02010600030101010101" pitchFamily="2" charset="-122"/>
                  </a:endParaRPr>
                </a:p>
              </p:txBody>
            </p:sp>
            <p:sp>
              <p:nvSpPr>
                <p:cNvPr id="16" name="Freeform 55">
                  <a:extLst>
                    <a:ext uri="{FF2B5EF4-FFF2-40B4-BE49-F238E27FC236}">
                      <a16:creationId xmlns:a16="http://schemas.microsoft.com/office/drawing/2014/main" id="{560B1DBF-175E-2569-15F2-EF63CC668A41}"/>
                    </a:ext>
                  </a:extLst>
                </p:cNvPr>
                <p:cNvSpPr/>
                <p:nvPr/>
              </p:nvSpPr>
              <p:spPr>
                <a:xfrm>
                  <a:off x="2744502" y="4336208"/>
                  <a:ext cx="574854" cy="751700"/>
                </a:xfrm>
                <a:custGeom>
                  <a:avLst/>
                  <a:gdLst>
                    <a:gd name="connsiteX0" fmla="*/ 0 w 1127550"/>
                    <a:gd name="connsiteY0" fmla="*/ 75170 h 751700"/>
                    <a:gd name="connsiteX1" fmla="*/ 22017 w 1127550"/>
                    <a:gd name="connsiteY1" fmla="*/ 22017 h 751700"/>
                    <a:gd name="connsiteX2" fmla="*/ 75170 w 1127550"/>
                    <a:gd name="connsiteY2" fmla="*/ 0 h 751700"/>
                    <a:gd name="connsiteX3" fmla="*/ 1052380 w 1127550"/>
                    <a:gd name="connsiteY3" fmla="*/ 0 h 751700"/>
                    <a:gd name="connsiteX4" fmla="*/ 1105533 w 1127550"/>
                    <a:gd name="connsiteY4" fmla="*/ 22017 h 751700"/>
                    <a:gd name="connsiteX5" fmla="*/ 1127550 w 1127550"/>
                    <a:gd name="connsiteY5" fmla="*/ 75170 h 751700"/>
                    <a:gd name="connsiteX6" fmla="*/ 1127550 w 1127550"/>
                    <a:gd name="connsiteY6" fmla="*/ 676530 h 751700"/>
                    <a:gd name="connsiteX7" fmla="*/ 1105533 w 1127550"/>
                    <a:gd name="connsiteY7" fmla="*/ 729683 h 751700"/>
                    <a:gd name="connsiteX8" fmla="*/ 1052380 w 1127550"/>
                    <a:gd name="connsiteY8" fmla="*/ 751700 h 751700"/>
                    <a:gd name="connsiteX9" fmla="*/ 75170 w 1127550"/>
                    <a:gd name="connsiteY9" fmla="*/ 751700 h 751700"/>
                    <a:gd name="connsiteX10" fmla="*/ 22017 w 1127550"/>
                    <a:gd name="connsiteY10" fmla="*/ 729683 h 751700"/>
                    <a:gd name="connsiteX11" fmla="*/ 0 w 1127550"/>
                    <a:gd name="connsiteY11" fmla="*/ 676530 h 751700"/>
                    <a:gd name="connsiteX12" fmla="*/ 0 w 1127550"/>
                    <a:gd name="connsiteY12" fmla="*/ 75170 h 7517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127550" h="751700">
                      <a:moveTo>
                        <a:pt x="0" y="75170"/>
                      </a:moveTo>
                      <a:cubicBezTo>
                        <a:pt x="0" y="55234"/>
                        <a:pt x="7920" y="36114"/>
                        <a:pt x="22017" y="22017"/>
                      </a:cubicBezTo>
                      <a:cubicBezTo>
                        <a:pt x="36114" y="7920"/>
                        <a:pt x="55234" y="0"/>
                        <a:pt x="75170" y="0"/>
                      </a:cubicBezTo>
                      <a:lnTo>
                        <a:pt x="1052380" y="0"/>
                      </a:lnTo>
                      <a:cubicBezTo>
                        <a:pt x="1072316" y="0"/>
                        <a:pt x="1091436" y="7920"/>
                        <a:pt x="1105533" y="22017"/>
                      </a:cubicBezTo>
                      <a:cubicBezTo>
                        <a:pt x="1119630" y="36114"/>
                        <a:pt x="1127550" y="55234"/>
                        <a:pt x="1127550" y="75170"/>
                      </a:cubicBezTo>
                      <a:lnTo>
                        <a:pt x="1127550" y="676530"/>
                      </a:lnTo>
                      <a:cubicBezTo>
                        <a:pt x="1127550" y="696466"/>
                        <a:pt x="1119630" y="715586"/>
                        <a:pt x="1105533" y="729683"/>
                      </a:cubicBezTo>
                      <a:cubicBezTo>
                        <a:pt x="1091436" y="743780"/>
                        <a:pt x="1072316" y="751700"/>
                        <a:pt x="1052380" y="751700"/>
                      </a:cubicBezTo>
                      <a:lnTo>
                        <a:pt x="75170" y="751700"/>
                      </a:lnTo>
                      <a:cubicBezTo>
                        <a:pt x="55234" y="751700"/>
                        <a:pt x="36114" y="743780"/>
                        <a:pt x="22017" y="729683"/>
                      </a:cubicBezTo>
                      <a:cubicBezTo>
                        <a:pt x="7920" y="715586"/>
                        <a:pt x="0" y="696466"/>
                        <a:pt x="0" y="676530"/>
                      </a:cubicBezTo>
                      <a:lnTo>
                        <a:pt x="0" y="75170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25400" cap="flat" cmpd="sng" algn="ctr">
                  <a:solidFill>
                    <a:sysClr val="window" lastClr="FFFFFF">
                      <a:hueOff val="0"/>
                      <a:satOff val="0"/>
                      <a:lumOff val="0"/>
                      <a:alphaOff val="0"/>
                    </a:sysClr>
                  </a:solidFill>
                  <a:prstDash val="solid"/>
                </a:ln>
                <a:effectLst/>
              </p:spPr>
              <p:txBody>
                <a:bodyPr spcFirstLastPara="0" vert="horz" wrap="square" lIns="132507" tIns="132507" rIns="132507" bIns="132507" numCol="1" spcCol="1270" anchor="ctr" anchorCtr="0">
                  <a:noAutofit/>
                </a:bodyPr>
                <a:lstStyle/>
                <a:p>
                  <a:pPr algn="ctr" defTabSz="1289018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defRPr/>
                  </a:pPr>
                  <a:r>
                    <a:rPr lang="zh-CN" altLang="en-US" sz="1200" kern="0" dirty="0">
                      <a:solidFill>
                        <a:schemeClr val="bg1"/>
                      </a:solidFill>
                      <a:latin typeface="FontAwesome" pitchFamily="2" charset="0"/>
                    </a:rPr>
                    <a:t>日内振幅动量反转</a:t>
                  </a:r>
                  <a:endParaRPr lang="en-US" altLang="zh-CN" sz="1200" kern="0" dirty="0">
                    <a:solidFill>
                      <a:schemeClr val="bg1"/>
                    </a:solidFill>
                    <a:latin typeface="FontAwesome" pitchFamily="2" charset="0"/>
                  </a:endParaRPr>
                </a:p>
              </p:txBody>
            </p:sp>
            <p:sp>
              <p:nvSpPr>
                <p:cNvPr id="15" name="Freeform 59">
                  <a:extLst>
                    <a:ext uri="{FF2B5EF4-FFF2-40B4-BE49-F238E27FC236}">
                      <a16:creationId xmlns:a16="http://schemas.microsoft.com/office/drawing/2014/main" id="{3846E1AB-5119-A0AE-F2E4-6C2C6F1A18D0}"/>
                    </a:ext>
                  </a:extLst>
                </p:cNvPr>
                <p:cNvSpPr/>
                <p:nvPr/>
              </p:nvSpPr>
              <p:spPr>
                <a:xfrm>
                  <a:off x="8459411" y="3279211"/>
                  <a:ext cx="1127551" cy="751700"/>
                </a:xfrm>
                <a:custGeom>
                  <a:avLst/>
                  <a:gdLst>
                    <a:gd name="connsiteX0" fmla="*/ 0 w 1127550"/>
                    <a:gd name="connsiteY0" fmla="*/ 75170 h 751700"/>
                    <a:gd name="connsiteX1" fmla="*/ 22017 w 1127550"/>
                    <a:gd name="connsiteY1" fmla="*/ 22017 h 751700"/>
                    <a:gd name="connsiteX2" fmla="*/ 75170 w 1127550"/>
                    <a:gd name="connsiteY2" fmla="*/ 0 h 751700"/>
                    <a:gd name="connsiteX3" fmla="*/ 1052380 w 1127550"/>
                    <a:gd name="connsiteY3" fmla="*/ 0 h 751700"/>
                    <a:gd name="connsiteX4" fmla="*/ 1105533 w 1127550"/>
                    <a:gd name="connsiteY4" fmla="*/ 22017 h 751700"/>
                    <a:gd name="connsiteX5" fmla="*/ 1127550 w 1127550"/>
                    <a:gd name="connsiteY5" fmla="*/ 75170 h 751700"/>
                    <a:gd name="connsiteX6" fmla="*/ 1127550 w 1127550"/>
                    <a:gd name="connsiteY6" fmla="*/ 676530 h 751700"/>
                    <a:gd name="connsiteX7" fmla="*/ 1105533 w 1127550"/>
                    <a:gd name="connsiteY7" fmla="*/ 729683 h 751700"/>
                    <a:gd name="connsiteX8" fmla="*/ 1052380 w 1127550"/>
                    <a:gd name="connsiteY8" fmla="*/ 751700 h 751700"/>
                    <a:gd name="connsiteX9" fmla="*/ 75170 w 1127550"/>
                    <a:gd name="connsiteY9" fmla="*/ 751700 h 751700"/>
                    <a:gd name="connsiteX10" fmla="*/ 22017 w 1127550"/>
                    <a:gd name="connsiteY10" fmla="*/ 729683 h 751700"/>
                    <a:gd name="connsiteX11" fmla="*/ 0 w 1127550"/>
                    <a:gd name="connsiteY11" fmla="*/ 676530 h 751700"/>
                    <a:gd name="connsiteX12" fmla="*/ 0 w 1127550"/>
                    <a:gd name="connsiteY12" fmla="*/ 75170 h 7517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127550" h="751700">
                      <a:moveTo>
                        <a:pt x="0" y="75170"/>
                      </a:moveTo>
                      <a:cubicBezTo>
                        <a:pt x="0" y="55234"/>
                        <a:pt x="7920" y="36114"/>
                        <a:pt x="22017" y="22017"/>
                      </a:cubicBezTo>
                      <a:cubicBezTo>
                        <a:pt x="36114" y="7920"/>
                        <a:pt x="55234" y="0"/>
                        <a:pt x="75170" y="0"/>
                      </a:cubicBezTo>
                      <a:lnTo>
                        <a:pt x="1052380" y="0"/>
                      </a:lnTo>
                      <a:cubicBezTo>
                        <a:pt x="1072316" y="0"/>
                        <a:pt x="1091436" y="7920"/>
                        <a:pt x="1105533" y="22017"/>
                      </a:cubicBezTo>
                      <a:cubicBezTo>
                        <a:pt x="1119630" y="36114"/>
                        <a:pt x="1127550" y="55234"/>
                        <a:pt x="1127550" y="75170"/>
                      </a:cubicBezTo>
                      <a:lnTo>
                        <a:pt x="1127550" y="676530"/>
                      </a:lnTo>
                      <a:cubicBezTo>
                        <a:pt x="1127550" y="696466"/>
                        <a:pt x="1119630" y="715586"/>
                        <a:pt x="1105533" y="729683"/>
                      </a:cubicBezTo>
                      <a:cubicBezTo>
                        <a:pt x="1091436" y="743780"/>
                        <a:pt x="1072316" y="751700"/>
                        <a:pt x="1052380" y="751700"/>
                      </a:cubicBezTo>
                      <a:lnTo>
                        <a:pt x="75170" y="751700"/>
                      </a:lnTo>
                      <a:cubicBezTo>
                        <a:pt x="55234" y="751700"/>
                        <a:pt x="36114" y="743780"/>
                        <a:pt x="22017" y="729683"/>
                      </a:cubicBezTo>
                      <a:cubicBezTo>
                        <a:pt x="7920" y="715586"/>
                        <a:pt x="0" y="696466"/>
                        <a:pt x="0" y="676530"/>
                      </a:cubicBezTo>
                      <a:lnTo>
                        <a:pt x="0" y="75170"/>
                      </a:lnTo>
                      <a:close/>
                    </a:path>
                  </a:pathLst>
                </a:custGeom>
                <a:solidFill>
                  <a:srgbClr val="95B3D7"/>
                </a:solidFill>
                <a:ln w="25400" cap="flat" cmpd="sng" algn="ctr">
                  <a:solidFill>
                    <a:sysClr val="window" lastClr="FFFFFF">
                      <a:hueOff val="0"/>
                      <a:satOff val="0"/>
                      <a:lumOff val="0"/>
                      <a:alphaOff val="0"/>
                    </a:sysClr>
                  </a:solidFill>
                  <a:prstDash val="solid"/>
                </a:ln>
                <a:effectLst/>
              </p:spPr>
              <p:txBody>
                <a:bodyPr spcFirstLastPara="0" vert="horz" wrap="square" lIns="132507" tIns="132507" rIns="132507" bIns="132507" numCol="1" spcCol="1270" anchor="ctr" anchorCtr="0">
                  <a:noAutofit/>
                </a:bodyPr>
                <a:lstStyle/>
                <a:p>
                  <a:pPr algn="ctr" defTabSz="1289018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defRPr/>
                  </a:pPr>
                  <a:r>
                    <a:rPr lang="zh-CN" altLang="en-US" sz="1400" b="1" kern="0" dirty="0">
                      <a:solidFill>
                        <a:schemeClr val="bg1"/>
                      </a:solidFill>
                      <a:latin typeface="FontAwesome" pitchFamily="2" charset="0"/>
                    </a:rPr>
                    <a:t>长期</a:t>
                  </a:r>
                  <a:r>
                    <a:rPr lang="en-US" altLang="zh-CN" sz="1400" b="1" kern="0" dirty="0">
                      <a:solidFill>
                        <a:schemeClr val="bg1"/>
                      </a:solidFill>
                      <a:latin typeface="FontAwesome" pitchFamily="2" charset="0"/>
                    </a:rPr>
                    <a:t>-</a:t>
                  </a:r>
                  <a:r>
                    <a:rPr lang="zh-CN" altLang="en-US" sz="1400" b="1" kern="0" dirty="0">
                      <a:solidFill>
                        <a:schemeClr val="bg1"/>
                      </a:solidFill>
                      <a:latin typeface="FontAwesome" pitchFamily="2" charset="0"/>
                    </a:rPr>
                    <a:t>交易拥挤度</a:t>
                  </a:r>
                  <a:endParaRPr lang="en-US" altLang="zh-CN" sz="1400" b="1" kern="0" dirty="0">
                    <a:solidFill>
                      <a:schemeClr val="bg1"/>
                    </a:solidFill>
                    <a:latin typeface="FontAwesome" pitchFamily="2" charset="0"/>
                  </a:endParaRPr>
                </a:p>
              </p:txBody>
            </p:sp>
            <p:sp>
              <p:nvSpPr>
                <p:cNvPr id="18" name="Freeform 55">
                  <a:extLst>
                    <a:ext uri="{FF2B5EF4-FFF2-40B4-BE49-F238E27FC236}">
                      <a16:creationId xmlns:a16="http://schemas.microsoft.com/office/drawing/2014/main" id="{555C8C8B-0FE7-02B1-C84E-BA2EA9DD0E8D}"/>
                    </a:ext>
                  </a:extLst>
                </p:cNvPr>
                <p:cNvSpPr/>
                <p:nvPr/>
              </p:nvSpPr>
              <p:spPr>
                <a:xfrm>
                  <a:off x="3480148" y="4336208"/>
                  <a:ext cx="574854" cy="751700"/>
                </a:xfrm>
                <a:custGeom>
                  <a:avLst/>
                  <a:gdLst>
                    <a:gd name="connsiteX0" fmla="*/ 0 w 1127550"/>
                    <a:gd name="connsiteY0" fmla="*/ 75170 h 751700"/>
                    <a:gd name="connsiteX1" fmla="*/ 22017 w 1127550"/>
                    <a:gd name="connsiteY1" fmla="*/ 22017 h 751700"/>
                    <a:gd name="connsiteX2" fmla="*/ 75170 w 1127550"/>
                    <a:gd name="connsiteY2" fmla="*/ 0 h 751700"/>
                    <a:gd name="connsiteX3" fmla="*/ 1052380 w 1127550"/>
                    <a:gd name="connsiteY3" fmla="*/ 0 h 751700"/>
                    <a:gd name="connsiteX4" fmla="*/ 1105533 w 1127550"/>
                    <a:gd name="connsiteY4" fmla="*/ 22017 h 751700"/>
                    <a:gd name="connsiteX5" fmla="*/ 1127550 w 1127550"/>
                    <a:gd name="connsiteY5" fmla="*/ 75170 h 751700"/>
                    <a:gd name="connsiteX6" fmla="*/ 1127550 w 1127550"/>
                    <a:gd name="connsiteY6" fmla="*/ 676530 h 751700"/>
                    <a:gd name="connsiteX7" fmla="*/ 1105533 w 1127550"/>
                    <a:gd name="connsiteY7" fmla="*/ 729683 h 751700"/>
                    <a:gd name="connsiteX8" fmla="*/ 1052380 w 1127550"/>
                    <a:gd name="connsiteY8" fmla="*/ 751700 h 751700"/>
                    <a:gd name="connsiteX9" fmla="*/ 75170 w 1127550"/>
                    <a:gd name="connsiteY9" fmla="*/ 751700 h 751700"/>
                    <a:gd name="connsiteX10" fmla="*/ 22017 w 1127550"/>
                    <a:gd name="connsiteY10" fmla="*/ 729683 h 751700"/>
                    <a:gd name="connsiteX11" fmla="*/ 0 w 1127550"/>
                    <a:gd name="connsiteY11" fmla="*/ 676530 h 751700"/>
                    <a:gd name="connsiteX12" fmla="*/ 0 w 1127550"/>
                    <a:gd name="connsiteY12" fmla="*/ 75170 h 7517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127550" h="751700">
                      <a:moveTo>
                        <a:pt x="0" y="75170"/>
                      </a:moveTo>
                      <a:cubicBezTo>
                        <a:pt x="0" y="55234"/>
                        <a:pt x="7920" y="36114"/>
                        <a:pt x="22017" y="22017"/>
                      </a:cubicBezTo>
                      <a:cubicBezTo>
                        <a:pt x="36114" y="7920"/>
                        <a:pt x="55234" y="0"/>
                        <a:pt x="75170" y="0"/>
                      </a:cubicBezTo>
                      <a:lnTo>
                        <a:pt x="1052380" y="0"/>
                      </a:lnTo>
                      <a:cubicBezTo>
                        <a:pt x="1072316" y="0"/>
                        <a:pt x="1091436" y="7920"/>
                        <a:pt x="1105533" y="22017"/>
                      </a:cubicBezTo>
                      <a:cubicBezTo>
                        <a:pt x="1119630" y="36114"/>
                        <a:pt x="1127550" y="55234"/>
                        <a:pt x="1127550" y="75170"/>
                      </a:cubicBezTo>
                      <a:lnTo>
                        <a:pt x="1127550" y="676530"/>
                      </a:lnTo>
                      <a:cubicBezTo>
                        <a:pt x="1127550" y="696466"/>
                        <a:pt x="1119630" y="715586"/>
                        <a:pt x="1105533" y="729683"/>
                      </a:cubicBezTo>
                      <a:cubicBezTo>
                        <a:pt x="1091436" y="743780"/>
                        <a:pt x="1072316" y="751700"/>
                        <a:pt x="1052380" y="751700"/>
                      </a:cubicBezTo>
                      <a:lnTo>
                        <a:pt x="75170" y="751700"/>
                      </a:lnTo>
                      <a:cubicBezTo>
                        <a:pt x="55234" y="751700"/>
                        <a:pt x="36114" y="743780"/>
                        <a:pt x="22017" y="729683"/>
                      </a:cubicBezTo>
                      <a:cubicBezTo>
                        <a:pt x="7920" y="715586"/>
                        <a:pt x="0" y="696466"/>
                        <a:pt x="0" y="676530"/>
                      </a:cubicBezTo>
                      <a:lnTo>
                        <a:pt x="0" y="75170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25400" cap="flat" cmpd="sng" algn="ctr">
                  <a:solidFill>
                    <a:sysClr val="window" lastClr="FFFFFF">
                      <a:hueOff val="0"/>
                      <a:satOff val="0"/>
                      <a:lumOff val="0"/>
                      <a:alphaOff val="0"/>
                    </a:sysClr>
                  </a:solidFill>
                  <a:prstDash val="solid"/>
                </a:ln>
                <a:effectLst/>
              </p:spPr>
              <p:txBody>
                <a:bodyPr spcFirstLastPara="0" vert="horz" wrap="square" lIns="132507" tIns="132507" rIns="132507" bIns="132507" numCol="1" spcCol="1270" anchor="ctr" anchorCtr="0">
                  <a:noAutofit/>
                </a:bodyPr>
                <a:lstStyle/>
                <a:p>
                  <a:pPr algn="ctr" defTabSz="1289018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defRPr/>
                  </a:pPr>
                  <a:r>
                    <a:rPr lang="zh-CN" altLang="en-US" sz="1200" kern="0" dirty="0">
                      <a:solidFill>
                        <a:schemeClr val="bg1"/>
                      </a:solidFill>
                      <a:latin typeface="FontAwesome" pitchFamily="2" charset="0"/>
                    </a:rPr>
                    <a:t>日间价格动量</a:t>
                  </a:r>
                  <a:endParaRPr lang="en-US" altLang="zh-CN" sz="1200" kern="0" dirty="0">
                    <a:solidFill>
                      <a:schemeClr val="bg1"/>
                    </a:solidFill>
                    <a:latin typeface="FontAwesome" pitchFamily="2" charset="0"/>
                  </a:endParaRPr>
                </a:p>
              </p:txBody>
            </p:sp>
            <p:sp>
              <p:nvSpPr>
                <p:cNvPr id="19" name="Freeform 55">
                  <a:extLst>
                    <a:ext uri="{FF2B5EF4-FFF2-40B4-BE49-F238E27FC236}">
                      <a16:creationId xmlns:a16="http://schemas.microsoft.com/office/drawing/2014/main" id="{D94C7FAE-BF11-3B71-03AB-F8452C5F4AFC}"/>
                    </a:ext>
                  </a:extLst>
                </p:cNvPr>
                <p:cNvSpPr/>
                <p:nvPr/>
              </p:nvSpPr>
              <p:spPr>
                <a:xfrm>
                  <a:off x="4185354" y="4336208"/>
                  <a:ext cx="745329" cy="751700"/>
                </a:xfrm>
                <a:custGeom>
                  <a:avLst/>
                  <a:gdLst>
                    <a:gd name="connsiteX0" fmla="*/ 0 w 1127550"/>
                    <a:gd name="connsiteY0" fmla="*/ 75170 h 751700"/>
                    <a:gd name="connsiteX1" fmla="*/ 22017 w 1127550"/>
                    <a:gd name="connsiteY1" fmla="*/ 22017 h 751700"/>
                    <a:gd name="connsiteX2" fmla="*/ 75170 w 1127550"/>
                    <a:gd name="connsiteY2" fmla="*/ 0 h 751700"/>
                    <a:gd name="connsiteX3" fmla="*/ 1052380 w 1127550"/>
                    <a:gd name="connsiteY3" fmla="*/ 0 h 751700"/>
                    <a:gd name="connsiteX4" fmla="*/ 1105533 w 1127550"/>
                    <a:gd name="connsiteY4" fmla="*/ 22017 h 751700"/>
                    <a:gd name="connsiteX5" fmla="*/ 1127550 w 1127550"/>
                    <a:gd name="connsiteY5" fmla="*/ 75170 h 751700"/>
                    <a:gd name="connsiteX6" fmla="*/ 1127550 w 1127550"/>
                    <a:gd name="connsiteY6" fmla="*/ 676530 h 751700"/>
                    <a:gd name="connsiteX7" fmla="*/ 1105533 w 1127550"/>
                    <a:gd name="connsiteY7" fmla="*/ 729683 h 751700"/>
                    <a:gd name="connsiteX8" fmla="*/ 1052380 w 1127550"/>
                    <a:gd name="connsiteY8" fmla="*/ 751700 h 751700"/>
                    <a:gd name="connsiteX9" fmla="*/ 75170 w 1127550"/>
                    <a:gd name="connsiteY9" fmla="*/ 751700 h 751700"/>
                    <a:gd name="connsiteX10" fmla="*/ 22017 w 1127550"/>
                    <a:gd name="connsiteY10" fmla="*/ 729683 h 751700"/>
                    <a:gd name="connsiteX11" fmla="*/ 0 w 1127550"/>
                    <a:gd name="connsiteY11" fmla="*/ 676530 h 751700"/>
                    <a:gd name="connsiteX12" fmla="*/ 0 w 1127550"/>
                    <a:gd name="connsiteY12" fmla="*/ 75170 h 7517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127550" h="751700">
                      <a:moveTo>
                        <a:pt x="0" y="75170"/>
                      </a:moveTo>
                      <a:cubicBezTo>
                        <a:pt x="0" y="55234"/>
                        <a:pt x="7920" y="36114"/>
                        <a:pt x="22017" y="22017"/>
                      </a:cubicBezTo>
                      <a:cubicBezTo>
                        <a:pt x="36114" y="7920"/>
                        <a:pt x="55234" y="0"/>
                        <a:pt x="75170" y="0"/>
                      </a:cubicBezTo>
                      <a:lnTo>
                        <a:pt x="1052380" y="0"/>
                      </a:lnTo>
                      <a:cubicBezTo>
                        <a:pt x="1072316" y="0"/>
                        <a:pt x="1091436" y="7920"/>
                        <a:pt x="1105533" y="22017"/>
                      </a:cubicBezTo>
                      <a:cubicBezTo>
                        <a:pt x="1119630" y="36114"/>
                        <a:pt x="1127550" y="55234"/>
                        <a:pt x="1127550" y="75170"/>
                      </a:cubicBezTo>
                      <a:lnTo>
                        <a:pt x="1127550" y="676530"/>
                      </a:lnTo>
                      <a:cubicBezTo>
                        <a:pt x="1127550" y="696466"/>
                        <a:pt x="1119630" y="715586"/>
                        <a:pt x="1105533" y="729683"/>
                      </a:cubicBezTo>
                      <a:cubicBezTo>
                        <a:pt x="1091436" y="743780"/>
                        <a:pt x="1072316" y="751700"/>
                        <a:pt x="1052380" y="751700"/>
                      </a:cubicBezTo>
                      <a:lnTo>
                        <a:pt x="75170" y="751700"/>
                      </a:lnTo>
                      <a:cubicBezTo>
                        <a:pt x="55234" y="751700"/>
                        <a:pt x="36114" y="743780"/>
                        <a:pt x="22017" y="729683"/>
                      </a:cubicBezTo>
                      <a:cubicBezTo>
                        <a:pt x="7920" y="715586"/>
                        <a:pt x="0" y="696466"/>
                        <a:pt x="0" y="676530"/>
                      </a:cubicBezTo>
                      <a:lnTo>
                        <a:pt x="0" y="75170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25400" cap="flat" cmpd="sng" algn="ctr">
                  <a:solidFill>
                    <a:sysClr val="window" lastClr="FFFFFF">
                      <a:hueOff val="0"/>
                      <a:satOff val="0"/>
                      <a:lumOff val="0"/>
                      <a:alphaOff val="0"/>
                    </a:sysClr>
                  </a:solidFill>
                  <a:prstDash val="solid"/>
                </a:ln>
                <a:effectLst/>
              </p:spPr>
              <p:txBody>
                <a:bodyPr spcFirstLastPara="0" vert="horz" wrap="square" lIns="132507" tIns="132507" rIns="132507" bIns="132507" numCol="1" spcCol="1270" anchor="ctr" anchorCtr="0">
                  <a:noAutofit/>
                </a:bodyPr>
                <a:lstStyle/>
                <a:p>
                  <a:pPr algn="ctr" defTabSz="1289018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defRPr/>
                  </a:pPr>
                  <a:r>
                    <a:rPr lang="zh-CN" altLang="en-US" sz="1200" kern="0" dirty="0">
                      <a:solidFill>
                        <a:schemeClr val="bg1"/>
                      </a:solidFill>
                      <a:latin typeface="FontAwesome" pitchFamily="2" charset="0"/>
                    </a:rPr>
                    <a:t>日间成交量反转</a:t>
                  </a:r>
                  <a:endParaRPr lang="en-US" altLang="zh-CN" sz="1200" kern="0" dirty="0">
                    <a:solidFill>
                      <a:schemeClr val="bg1"/>
                    </a:solidFill>
                    <a:latin typeface="FontAwesome" pitchFamily="2" charset="0"/>
                  </a:endParaRPr>
                </a:p>
              </p:txBody>
            </p:sp>
            <p:sp>
              <p:nvSpPr>
                <p:cNvPr id="21" name="Freeform 55">
                  <a:extLst>
                    <a:ext uri="{FF2B5EF4-FFF2-40B4-BE49-F238E27FC236}">
                      <a16:creationId xmlns:a16="http://schemas.microsoft.com/office/drawing/2014/main" id="{DC63BE18-086E-DC49-F7B1-9585B37C180F}"/>
                    </a:ext>
                  </a:extLst>
                </p:cNvPr>
                <p:cNvSpPr/>
                <p:nvPr/>
              </p:nvSpPr>
              <p:spPr>
                <a:xfrm>
                  <a:off x="7703289" y="4354831"/>
                  <a:ext cx="358457" cy="751700"/>
                </a:xfrm>
                <a:custGeom>
                  <a:avLst/>
                  <a:gdLst>
                    <a:gd name="connsiteX0" fmla="*/ 0 w 1127550"/>
                    <a:gd name="connsiteY0" fmla="*/ 75170 h 751700"/>
                    <a:gd name="connsiteX1" fmla="*/ 22017 w 1127550"/>
                    <a:gd name="connsiteY1" fmla="*/ 22017 h 751700"/>
                    <a:gd name="connsiteX2" fmla="*/ 75170 w 1127550"/>
                    <a:gd name="connsiteY2" fmla="*/ 0 h 751700"/>
                    <a:gd name="connsiteX3" fmla="*/ 1052380 w 1127550"/>
                    <a:gd name="connsiteY3" fmla="*/ 0 h 751700"/>
                    <a:gd name="connsiteX4" fmla="*/ 1105533 w 1127550"/>
                    <a:gd name="connsiteY4" fmla="*/ 22017 h 751700"/>
                    <a:gd name="connsiteX5" fmla="*/ 1127550 w 1127550"/>
                    <a:gd name="connsiteY5" fmla="*/ 75170 h 751700"/>
                    <a:gd name="connsiteX6" fmla="*/ 1127550 w 1127550"/>
                    <a:gd name="connsiteY6" fmla="*/ 676530 h 751700"/>
                    <a:gd name="connsiteX7" fmla="*/ 1105533 w 1127550"/>
                    <a:gd name="connsiteY7" fmla="*/ 729683 h 751700"/>
                    <a:gd name="connsiteX8" fmla="*/ 1052380 w 1127550"/>
                    <a:gd name="connsiteY8" fmla="*/ 751700 h 751700"/>
                    <a:gd name="connsiteX9" fmla="*/ 75170 w 1127550"/>
                    <a:gd name="connsiteY9" fmla="*/ 751700 h 751700"/>
                    <a:gd name="connsiteX10" fmla="*/ 22017 w 1127550"/>
                    <a:gd name="connsiteY10" fmla="*/ 729683 h 751700"/>
                    <a:gd name="connsiteX11" fmla="*/ 0 w 1127550"/>
                    <a:gd name="connsiteY11" fmla="*/ 676530 h 751700"/>
                    <a:gd name="connsiteX12" fmla="*/ 0 w 1127550"/>
                    <a:gd name="connsiteY12" fmla="*/ 75170 h 7517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127550" h="751700">
                      <a:moveTo>
                        <a:pt x="0" y="75170"/>
                      </a:moveTo>
                      <a:cubicBezTo>
                        <a:pt x="0" y="55234"/>
                        <a:pt x="7920" y="36114"/>
                        <a:pt x="22017" y="22017"/>
                      </a:cubicBezTo>
                      <a:cubicBezTo>
                        <a:pt x="36114" y="7920"/>
                        <a:pt x="55234" y="0"/>
                        <a:pt x="75170" y="0"/>
                      </a:cubicBezTo>
                      <a:lnTo>
                        <a:pt x="1052380" y="0"/>
                      </a:lnTo>
                      <a:cubicBezTo>
                        <a:pt x="1072316" y="0"/>
                        <a:pt x="1091436" y="7920"/>
                        <a:pt x="1105533" y="22017"/>
                      </a:cubicBezTo>
                      <a:cubicBezTo>
                        <a:pt x="1119630" y="36114"/>
                        <a:pt x="1127550" y="55234"/>
                        <a:pt x="1127550" y="75170"/>
                      </a:cubicBezTo>
                      <a:lnTo>
                        <a:pt x="1127550" y="676530"/>
                      </a:lnTo>
                      <a:cubicBezTo>
                        <a:pt x="1127550" y="696466"/>
                        <a:pt x="1119630" y="715586"/>
                        <a:pt x="1105533" y="729683"/>
                      </a:cubicBezTo>
                      <a:cubicBezTo>
                        <a:pt x="1091436" y="743780"/>
                        <a:pt x="1072316" y="751700"/>
                        <a:pt x="1052380" y="751700"/>
                      </a:cubicBezTo>
                      <a:lnTo>
                        <a:pt x="75170" y="751700"/>
                      </a:lnTo>
                      <a:cubicBezTo>
                        <a:pt x="55234" y="751700"/>
                        <a:pt x="36114" y="743780"/>
                        <a:pt x="22017" y="729683"/>
                      </a:cubicBezTo>
                      <a:cubicBezTo>
                        <a:pt x="7920" y="715586"/>
                        <a:pt x="0" y="696466"/>
                        <a:pt x="0" y="676530"/>
                      </a:cubicBezTo>
                      <a:lnTo>
                        <a:pt x="0" y="75170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25400" cap="flat" cmpd="sng" algn="ctr">
                  <a:solidFill>
                    <a:sysClr val="window" lastClr="FFFFFF">
                      <a:hueOff val="0"/>
                      <a:satOff val="0"/>
                      <a:lumOff val="0"/>
                      <a:alphaOff val="0"/>
                    </a:sysClr>
                  </a:solidFill>
                  <a:prstDash val="solid"/>
                </a:ln>
                <a:effectLst/>
              </p:spPr>
              <p:txBody>
                <a:bodyPr spcFirstLastPara="0" vert="horz" wrap="square" lIns="132507" tIns="132507" rIns="132507" bIns="132507" numCol="1" spcCol="1270" anchor="ctr" anchorCtr="0">
                  <a:noAutofit/>
                </a:bodyPr>
                <a:lstStyle/>
                <a:p>
                  <a:pPr algn="ctr" defTabSz="1289018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defRPr/>
                  </a:pPr>
                  <a:r>
                    <a:rPr lang="zh-CN" altLang="en-US" sz="1200" kern="0" dirty="0">
                      <a:solidFill>
                        <a:schemeClr val="bg1"/>
                      </a:solidFill>
                      <a:latin typeface="FontAwesome" pitchFamily="2" charset="0"/>
                    </a:rPr>
                    <a:t>波动率</a:t>
                  </a:r>
                  <a:endParaRPr lang="en-US" altLang="zh-CN" sz="1200" kern="0" dirty="0">
                    <a:solidFill>
                      <a:schemeClr val="bg1"/>
                    </a:solidFill>
                    <a:latin typeface="FontAwesome" pitchFamily="2" charset="0"/>
                  </a:endParaRPr>
                </a:p>
              </p:txBody>
            </p:sp>
            <p:sp>
              <p:nvSpPr>
                <p:cNvPr id="22" name="Freeform 55">
                  <a:extLst>
                    <a:ext uri="{FF2B5EF4-FFF2-40B4-BE49-F238E27FC236}">
                      <a16:creationId xmlns:a16="http://schemas.microsoft.com/office/drawing/2014/main" id="{788E4ADD-740F-5D2A-C094-1E00417128B1}"/>
                    </a:ext>
                  </a:extLst>
                </p:cNvPr>
                <p:cNvSpPr/>
                <p:nvPr/>
              </p:nvSpPr>
              <p:spPr>
                <a:xfrm>
                  <a:off x="8135834" y="4354831"/>
                  <a:ext cx="358457" cy="751700"/>
                </a:xfrm>
                <a:custGeom>
                  <a:avLst/>
                  <a:gdLst>
                    <a:gd name="connsiteX0" fmla="*/ 0 w 1127550"/>
                    <a:gd name="connsiteY0" fmla="*/ 75170 h 751700"/>
                    <a:gd name="connsiteX1" fmla="*/ 22017 w 1127550"/>
                    <a:gd name="connsiteY1" fmla="*/ 22017 h 751700"/>
                    <a:gd name="connsiteX2" fmla="*/ 75170 w 1127550"/>
                    <a:gd name="connsiteY2" fmla="*/ 0 h 751700"/>
                    <a:gd name="connsiteX3" fmla="*/ 1052380 w 1127550"/>
                    <a:gd name="connsiteY3" fmla="*/ 0 h 751700"/>
                    <a:gd name="connsiteX4" fmla="*/ 1105533 w 1127550"/>
                    <a:gd name="connsiteY4" fmla="*/ 22017 h 751700"/>
                    <a:gd name="connsiteX5" fmla="*/ 1127550 w 1127550"/>
                    <a:gd name="connsiteY5" fmla="*/ 75170 h 751700"/>
                    <a:gd name="connsiteX6" fmla="*/ 1127550 w 1127550"/>
                    <a:gd name="connsiteY6" fmla="*/ 676530 h 751700"/>
                    <a:gd name="connsiteX7" fmla="*/ 1105533 w 1127550"/>
                    <a:gd name="connsiteY7" fmla="*/ 729683 h 751700"/>
                    <a:gd name="connsiteX8" fmla="*/ 1052380 w 1127550"/>
                    <a:gd name="connsiteY8" fmla="*/ 751700 h 751700"/>
                    <a:gd name="connsiteX9" fmla="*/ 75170 w 1127550"/>
                    <a:gd name="connsiteY9" fmla="*/ 751700 h 751700"/>
                    <a:gd name="connsiteX10" fmla="*/ 22017 w 1127550"/>
                    <a:gd name="connsiteY10" fmla="*/ 729683 h 751700"/>
                    <a:gd name="connsiteX11" fmla="*/ 0 w 1127550"/>
                    <a:gd name="connsiteY11" fmla="*/ 676530 h 751700"/>
                    <a:gd name="connsiteX12" fmla="*/ 0 w 1127550"/>
                    <a:gd name="connsiteY12" fmla="*/ 75170 h 7517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127550" h="751700">
                      <a:moveTo>
                        <a:pt x="0" y="75170"/>
                      </a:moveTo>
                      <a:cubicBezTo>
                        <a:pt x="0" y="55234"/>
                        <a:pt x="7920" y="36114"/>
                        <a:pt x="22017" y="22017"/>
                      </a:cubicBezTo>
                      <a:cubicBezTo>
                        <a:pt x="36114" y="7920"/>
                        <a:pt x="55234" y="0"/>
                        <a:pt x="75170" y="0"/>
                      </a:cubicBezTo>
                      <a:lnTo>
                        <a:pt x="1052380" y="0"/>
                      </a:lnTo>
                      <a:cubicBezTo>
                        <a:pt x="1072316" y="0"/>
                        <a:pt x="1091436" y="7920"/>
                        <a:pt x="1105533" y="22017"/>
                      </a:cubicBezTo>
                      <a:cubicBezTo>
                        <a:pt x="1119630" y="36114"/>
                        <a:pt x="1127550" y="55234"/>
                        <a:pt x="1127550" y="75170"/>
                      </a:cubicBezTo>
                      <a:lnTo>
                        <a:pt x="1127550" y="676530"/>
                      </a:lnTo>
                      <a:cubicBezTo>
                        <a:pt x="1127550" y="696466"/>
                        <a:pt x="1119630" y="715586"/>
                        <a:pt x="1105533" y="729683"/>
                      </a:cubicBezTo>
                      <a:cubicBezTo>
                        <a:pt x="1091436" y="743780"/>
                        <a:pt x="1072316" y="751700"/>
                        <a:pt x="1052380" y="751700"/>
                      </a:cubicBezTo>
                      <a:lnTo>
                        <a:pt x="75170" y="751700"/>
                      </a:lnTo>
                      <a:cubicBezTo>
                        <a:pt x="55234" y="751700"/>
                        <a:pt x="36114" y="743780"/>
                        <a:pt x="22017" y="729683"/>
                      </a:cubicBezTo>
                      <a:cubicBezTo>
                        <a:pt x="7920" y="715586"/>
                        <a:pt x="0" y="696466"/>
                        <a:pt x="0" y="676530"/>
                      </a:cubicBezTo>
                      <a:lnTo>
                        <a:pt x="0" y="75170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25400" cap="flat" cmpd="sng" algn="ctr">
                  <a:solidFill>
                    <a:sysClr val="window" lastClr="FFFFFF">
                      <a:hueOff val="0"/>
                      <a:satOff val="0"/>
                      <a:lumOff val="0"/>
                      <a:alphaOff val="0"/>
                    </a:sysClr>
                  </a:solidFill>
                  <a:prstDash val="solid"/>
                </a:ln>
                <a:effectLst/>
              </p:spPr>
              <p:txBody>
                <a:bodyPr spcFirstLastPara="0" vert="horz" wrap="square" lIns="132507" tIns="132507" rIns="132507" bIns="132507" numCol="1" spcCol="1270" anchor="ctr" anchorCtr="0">
                  <a:noAutofit/>
                </a:bodyPr>
                <a:lstStyle/>
                <a:p>
                  <a:pPr algn="ctr" defTabSz="1289018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defRPr/>
                  </a:pPr>
                  <a:r>
                    <a:rPr lang="zh-CN" altLang="en-US" sz="1200" kern="0" dirty="0">
                      <a:solidFill>
                        <a:schemeClr val="bg1"/>
                      </a:solidFill>
                      <a:latin typeface="FontAwesome" pitchFamily="2" charset="0"/>
                    </a:rPr>
                    <a:t>流动性</a:t>
                  </a:r>
                  <a:endParaRPr lang="en-US" altLang="zh-CN" sz="1200" kern="0" dirty="0">
                    <a:solidFill>
                      <a:schemeClr val="bg1"/>
                    </a:solidFill>
                    <a:latin typeface="FontAwesome" pitchFamily="2" charset="0"/>
                  </a:endParaRPr>
                </a:p>
              </p:txBody>
            </p:sp>
            <p:sp>
              <p:nvSpPr>
                <p:cNvPr id="32" name="Freeform 55">
                  <a:extLst>
                    <a:ext uri="{FF2B5EF4-FFF2-40B4-BE49-F238E27FC236}">
                      <a16:creationId xmlns:a16="http://schemas.microsoft.com/office/drawing/2014/main" id="{6BF02A88-F0EE-ADDF-6FD3-14ECC7189CE1}"/>
                    </a:ext>
                  </a:extLst>
                </p:cNvPr>
                <p:cNvSpPr/>
                <p:nvPr/>
              </p:nvSpPr>
              <p:spPr>
                <a:xfrm>
                  <a:off x="8581363" y="4340064"/>
                  <a:ext cx="358457" cy="751700"/>
                </a:xfrm>
                <a:custGeom>
                  <a:avLst/>
                  <a:gdLst>
                    <a:gd name="connsiteX0" fmla="*/ 0 w 1127550"/>
                    <a:gd name="connsiteY0" fmla="*/ 75170 h 751700"/>
                    <a:gd name="connsiteX1" fmla="*/ 22017 w 1127550"/>
                    <a:gd name="connsiteY1" fmla="*/ 22017 h 751700"/>
                    <a:gd name="connsiteX2" fmla="*/ 75170 w 1127550"/>
                    <a:gd name="connsiteY2" fmla="*/ 0 h 751700"/>
                    <a:gd name="connsiteX3" fmla="*/ 1052380 w 1127550"/>
                    <a:gd name="connsiteY3" fmla="*/ 0 h 751700"/>
                    <a:gd name="connsiteX4" fmla="*/ 1105533 w 1127550"/>
                    <a:gd name="connsiteY4" fmla="*/ 22017 h 751700"/>
                    <a:gd name="connsiteX5" fmla="*/ 1127550 w 1127550"/>
                    <a:gd name="connsiteY5" fmla="*/ 75170 h 751700"/>
                    <a:gd name="connsiteX6" fmla="*/ 1127550 w 1127550"/>
                    <a:gd name="connsiteY6" fmla="*/ 676530 h 751700"/>
                    <a:gd name="connsiteX7" fmla="*/ 1105533 w 1127550"/>
                    <a:gd name="connsiteY7" fmla="*/ 729683 h 751700"/>
                    <a:gd name="connsiteX8" fmla="*/ 1052380 w 1127550"/>
                    <a:gd name="connsiteY8" fmla="*/ 751700 h 751700"/>
                    <a:gd name="connsiteX9" fmla="*/ 75170 w 1127550"/>
                    <a:gd name="connsiteY9" fmla="*/ 751700 h 751700"/>
                    <a:gd name="connsiteX10" fmla="*/ 22017 w 1127550"/>
                    <a:gd name="connsiteY10" fmla="*/ 729683 h 751700"/>
                    <a:gd name="connsiteX11" fmla="*/ 0 w 1127550"/>
                    <a:gd name="connsiteY11" fmla="*/ 676530 h 751700"/>
                    <a:gd name="connsiteX12" fmla="*/ 0 w 1127550"/>
                    <a:gd name="connsiteY12" fmla="*/ 75170 h 7517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127550" h="751700">
                      <a:moveTo>
                        <a:pt x="0" y="75170"/>
                      </a:moveTo>
                      <a:cubicBezTo>
                        <a:pt x="0" y="55234"/>
                        <a:pt x="7920" y="36114"/>
                        <a:pt x="22017" y="22017"/>
                      </a:cubicBezTo>
                      <a:cubicBezTo>
                        <a:pt x="36114" y="7920"/>
                        <a:pt x="55234" y="0"/>
                        <a:pt x="75170" y="0"/>
                      </a:cubicBezTo>
                      <a:lnTo>
                        <a:pt x="1052380" y="0"/>
                      </a:lnTo>
                      <a:cubicBezTo>
                        <a:pt x="1072316" y="0"/>
                        <a:pt x="1091436" y="7920"/>
                        <a:pt x="1105533" y="22017"/>
                      </a:cubicBezTo>
                      <a:cubicBezTo>
                        <a:pt x="1119630" y="36114"/>
                        <a:pt x="1127550" y="55234"/>
                        <a:pt x="1127550" y="75170"/>
                      </a:cubicBezTo>
                      <a:lnTo>
                        <a:pt x="1127550" y="676530"/>
                      </a:lnTo>
                      <a:cubicBezTo>
                        <a:pt x="1127550" y="696466"/>
                        <a:pt x="1119630" y="715586"/>
                        <a:pt x="1105533" y="729683"/>
                      </a:cubicBezTo>
                      <a:cubicBezTo>
                        <a:pt x="1091436" y="743780"/>
                        <a:pt x="1072316" y="751700"/>
                        <a:pt x="1052380" y="751700"/>
                      </a:cubicBezTo>
                      <a:lnTo>
                        <a:pt x="75170" y="751700"/>
                      </a:lnTo>
                      <a:cubicBezTo>
                        <a:pt x="55234" y="751700"/>
                        <a:pt x="36114" y="743780"/>
                        <a:pt x="22017" y="729683"/>
                      </a:cubicBezTo>
                      <a:cubicBezTo>
                        <a:pt x="7920" y="715586"/>
                        <a:pt x="0" y="696466"/>
                        <a:pt x="0" y="676530"/>
                      </a:cubicBezTo>
                      <a:lnTo>
                        <a:pt x="0" y="75170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25400" cap="flat" cmpd="sng" algn="ctr">
                  <a:solidFill>
                    <a:sysClr val="window" lastClr="FFFFFF">
                      <a:hueOff val="0"/>
                      <a:satOff val="0"/>
                      <a:lumOff val="0"/>
                      <a:alphaOff val="0"/>
                    </a:sysClr>
                  </a:solidFill>
                  <a:prstDash val="solid"/>
                </a:ln>
                <a:effectLst/>
              </p:spPr>
              <p:txBody>
                <a:bodyPr spcFirstLastPara="0" vert="horz" wrap="square" lIns="132507" tIns="132507" rIns="132507" bIns="132507" numCol="1" spcCol="1270" anchor="ctr" anchorCtr="0">
                  <a:noAutofit/>
                </a:bodyPr>
                <a:lstStyle/>
                <a:p>
                  <a:pPr algn="ctr" defTabSz="1289018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defRPr/>
                  </a:pPr>
                  <a:r>
                    <a:rPr lang="zh-CN" altLang="en-US" sz="1200" kern="0" dirty="0">
                      <a:solidFill>
                        <a:schemeClr val="bg1"/>
                      </a:solidFill>
                      <a:latin typeface="FontAwesome" pitchFamily="2" charset="0"/>
                    </a:rPr>
                    <a:t>乖离率</a:t>
                  </a:r>
                  <a:endParaRPr lang="en-US" altLang="zh-CN" sz="1200" kern="0" dirty="0">
                    <a:solidFill>
                      <a:schemeClr val="bg1"/>
                    </a:solidFill>
                    <a:latin typeface="FontAwesome" pitchFamily="2" charset="0"/>
                  </a:endParaRPr>
                </a:p>
              </p:txBody>
            </p:sp>
            <p:sp>
              <p:nvSpPr>
                <p:cNvPr id="34" name="Freeform 55">
                  <a:extLst>
                    <a:ext uri="{FF2B5EF4-FFF2-40B4-BE49-F238E27FC236}">
                      <a16:creationId xmlns:a16="http://schemas.microsoft.com/office/drawing/2014/main" id="{5ADEC7CD-AB65-8EA5-6200-FC4DAC4904C2}"/>
                    </a:ext>
                  </a:extLst>
                </p:cNvPr>
                <p:cNvSpPr/>
                <p:nvPr/>
              </p:nvSpPr>
              <p:spPr>
                <a:xfrm>
                  <a:off x="9013908" y="4340064"/>
                  <a:ext cx="570727" cy="751700"/>
                </a:xfrm>
                <a:custGeom>
                  <a:avLst/>
                  <a:gdLst>
                    <a:gd name="connsiteX0" fmla="*/ 0 w 1127550"/>
                    <a:gd name="connsiteY0" fmla="*/ 75170 h 751700"/>
                    <a:gd name="connsiteX1" fmla="*/ 22017 w 1127550"/>
                    <a:gd name="connsiteY1" fmla="*/ 22017 h 751700"/>
                    <a:gd name="connsiteX2" fmla="*/ 75170 w 1127550"/>
                    <a:gd name="connsiteY2" fmla="*/ 0 h 751700"/>
                    <a:gd name="connsiteX3" fmla="*/ 1052380 w 1127550"/>
                    <a:gd name="connsiteY3" fmla="*/ 0 h 751700"/>
                    <a:gd name="connsiteX4" fmla="*/ 1105533 w 1127550"/>
                    <a:gd name="connsiteY4" fmla="*/ 22017 h 751700"/>
                    <a:gd name="connsiteX5" fmla="*/ 1127550 w 1127550"/>
                    <a:gd name="connsiteY5" fmla="*/ 75170 h 751700"/>
                    <a:gd name="connsiteX6" fmla="*/ 1127550 w 1127550"/>
                    <a:gd name="connsiteY6" fmla="*/ 676530 h 751700"/>
                    <a:gd name="connsiteX7" fmla="*/ 1105533 w 1127550"/>
                    <a:gd name="connsiteY7" fmla="*/ 729683 h 751700"/>
                    <a:gd name="connsiteX8" fmla="*/ 1052380 w 1127550"/>
                    <a:gd name="connsiteY8" fmla="*/ 751700 h 751700"/>
                    <a:gd name="connsiteX9" fmla="*/ 75170 w 1127550"/>
                    <a:gd name="connsiteY9" fmla="*/ 751700 h 751700"/>
                    <a:gd name="connsiteX10" fmla="*/ 22017 w 1127550"/>
                    <a:gd name="connsiteY10" fmla="*/ 729683 h 751700"/>
                    <a:gd name="connsiteX11" fmla="*/ 0 w 1127550"/>
                    <a:gd name="connsiteY11" fmla="*/ 676530 h 751700"/>
                    <a:gd name="connsiteX12" fmla="*/ 0 w 1127550"/>
                    <a:gd name="connsiteY12" fmla="*/ 75170 h 7517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127550" h="751700">
                      <a:moveTo>
                        <a:pt x="0" y="75170"/>
                      </a:moveTo>
                      <a:cubicBezTo>
                        <a:pt x="0" y="55234"/>
                        <a:pt x="7920" y="36114"/>
                        <a:pt x="22017" y="22017"/>
                      </a:cubicBezTo>
                      <a:cubicBezTo>
                        <a:pt x="36114" y="7920"/>
                        <a:pt x="55234" y="0"/>
                        <a:pt x="75170" y="0"/>
                      </a:cubicBezTo>
                      <a:lnTo>
                        <a:pt x="1052380" y="0"/>
                      </a:lnTo>
                      <a:cubicBezTo>
                        <a:pt x="1072316" y="0"/>
                        <a:pt x="1091436" y="7920"/>
                        <a:pt x="1105533" y="22017"/>
                      </a:cubicBezTo>
                      <a:cubicBezTo>
                        <a:pt x="1119630" y="36114"/>
                        <a:pt x="1127550" y="55234"/>
                        <a:pt x="1127550" y="75170"/>
                      </a:cubicBezTo>
                      <a:lnTo>
                        <a:pt x="1127550" y="676530"/>
                      </a:lnTo>
                      <a:cubicBezTo>
                        <a:pt x="1127550" y="696466"/>
                        <a:pt x="1119630" y="715586"/>
                        <a:pt x="1105533" y="729683"/>
                      </a:cubicBezTo>
                      <a:cubicBezTo>
                        <a:pt x="1091436" y="743780"/>
                        <a:pt x="1072316" y="751700"/>
                        <a:pt x="1052380" y="751700"/>
                      </a:cubicBezTo>
                      <a:lnTo>
                        <a:pt x="75170" y="751700"/>
                      </a:lnTo>
                      <a:cubicBezTo>
                        <a:pt x="55234" y="751700"/>
                        <a:pt x="36114" y="743780"/>
                        <a:pt x="22017" y="729683"/>
                      </a:cubicBezTo>
                      <a:cubicBezTo>
                        <a:pt x="7920" y="715586"/>
                        <a:pt x="0" y="696466"/>
                        <a:pt x="0" y="676530"/>
                      </a:cubicBezTo>
                      <a:lnTo>
                        <a:pt x="0" y="75170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25400" cap="flat" cmpd="sng" algn="ctr">
                  <a:solidFill>
                    <a:sysClr val="window" lastClr="FFFFFF">
                      <a:hueOff val="0"/>
                      <a:satOff val="0"/>
                      <a:lumOff val="0"/>
                      <a:alphaOff val="0"/>
                    </a:sysClr>
                  </a:solidFill>
                  <a:prstDash val="solid"/>
                </a:ln>
                <a:effectLst/>
              </p:spPr>
              <p:txBody>
                <a:bodyPr spcFirstLastPara="0" vert="horz" wrap="square" lIns="132507" tIns="132507" rIns="132507" bIns="132507" numCol="1" spcCol="1270" anchor="ctr" anchorCtr="0">
                  <a:noAutofit/>
                </a:bodyPr>
                <a:lstStyle/>
                <a:p>
                  <a:pPr algn="ctr" defTabSz="1289018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defRPr/>
                  </a:pPr>
                  <a:r>
                    <a:rPr lang="zh-CN" altLang="en-US" sz="1200" kern="0" dirty="0">
                      <a:solidFill>
                        <a:schemeClr val="bg1"/>
                      </a:solidFill>
                      <a:latin typeface="FontAwesome" pitchFamily="2" charset="0"/>
                    </a:rPr>
                    <a:t>量价相关系数</a:t>
                  </a:r>
                  <a:endParaRPr lang="en-US" altLang="zh-CN" sz="1200" kern="0" dirty="0">
                    <a:solidFill>
                      <a:schemeClr val="bg1"/>
                    </a:solidFill>
                    <a:latin typeface="FontAwesome" pitchFamily="2" charset="0"/>
                  </a:endParaRPr>
                </a:p>
              </p:txBody>
            </p:sp>
            <p:sp>
              <p:nvSpPr>
                <p:cNvPr id="35" name="Freeform 55">
                  <a:extLst>
                    <a:ext uri="{FF2B5EF4-FFF2-40B4-BE49-F238E27FC236}">
                      <a16:creationId xmlns:a16="http://schemas.microsoft.com/office/drawing/2014/main" id="{7217A25F-5263-1C24-1F18-321885AEB39D}"/>
                    </a:ext>
                  </a:extLst>
                </p:cNvPr>
                <p:cNvSpPr/>
                <p:nvPr/>
              </p:nvSpPr>
              <p:spPr>
                <a:xfrm>
                  <a:off x="9660513" y="4354831"/>
                  <a:ext cx="570727" cy="751700"/>
                </a:xfrm>
                <a:custGeom>
                  <a:avLst/>
                  <a:gdLst>
                    <a:gd name="connsiteX0" fmla="*/ 0 w 1127550"/>
                    <a:gd name="connsiteY0" fmla="*/ 75170 h 751700"/>
                    <a:gd name="connsiteX1" fmla="*/ 22017 w 1127550"/>
                    <a:gd name="connsiteY1" fmla="*/ 22017 h 751700"/>
                    <a:gd name="connsiteX2" fmla="*/ 75170 w 1127550"/>
                    <a:gd name="connsiteY2" fmla="*/ 0 h 751700"/>
                    <a:gd name="connsiteX3" fmla="*/ 1052380 w 1127550"/>
                    <a:gd name="connsiteY3" fmla="*/ 0 h 751700"/>
                    <a:gd name="connsiteX4" fmla="*/ 1105533 w 1127550"/>
                    <a:gd name="connsiteY4" fmla="*/ 22017 h 751700"/>
                    <a:gd name="connsiteX5" fmla="*/ 1127550 w 1127550"/>
                    <a:gd name="connsiteY5" fmla="*/ 75170 h 751700"/>
                    <a:gd name="connsiteX6" fmla="*/ 1127550 w 1127550"/>
                    <a:gd name="connsiteY6" fmla="*/ 676530 h 751700"/>
                    <a:gd name="connsiteX7" fmla="*/ 1105533 w 1127550"/>
                    <a:gd name="connsiteY7" fmla="*/ 729683 h 751700"/>
                    <a:gd name="connsiteX8" fmla="*/ 1052380 w 1127550"/>
                    <a:gd name="connsiteY8" fmla="*/ 751700 h 751700"/>
                    <a:gd name="connsiteX9" fmla="*/ 75170 w 1127550"/>
                    <a:gd name="connsiteY9" fmla="*/ 751700 h 751700"/>
                    <a:gd name="connsiteX10" fmla="*/ 22017 w 1127550"/>
                    <a:gd name="connsiteY10" fmla="*/ 729683 h 751700"/>
                    <a:gd name="connsiteX11" fmla="*/ 0 w 1127550"/>
                    <a:gd name="connsiteY11" fmla="*/ 676530 h 751700"/>
                    <a:gd name="connsiteX12" fmla="*/ 0 w 1127550"/>
                    <a:gd name="connsiteY12" fmla="*/ 75170 h 7517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127550" h="751700">
                      <a:moveTo>
                        <a:pt x="0" y="75170"/>
                      </a:moveTo>
                      <a:cubicBezTo>
                        <a:pt x="0" y="55234"/>
                        <a:pt x="7920" y="36114"/>
                        <a:pt x="22017" y="22017"/>
                      </a:cubicBezTo>
                      <a:cubicBezTo>
                        <a:pt x="36114" y="7920"/>
                        <a:pt x="55234" y="0"/>
                        <a:pt x="75170" y="0"/>
                      </a:cubicBezTo>
                      <a:lnTo>
                        <a:pt x="1052380" y="0"/>
                      </a:lnTo>
                      <a:cubicBezTo>
                        <a:pt x="1072316" y="0"/>
                        <a:pt x="1091436" y="7920"/>
                        <a:pt x="1105533" y="22017"/>
                      </a:cubicBezTo>
                      <a:cubicBezTo>
                        <a:pt x="1119630" y="36114"/>
                        <a:pt x="1127550" y="55234"/>
                        <a:pt x="1127550" y="75170"/>
                      </a:cubicBezTo>
                      <a:lnTo>
                        <a:pt x="1127550" y="676530"/>
                      </a:lnTo>
                      <a:cubicBezTo>
                        <a:pt x="1127550" y="696466"/>
                        <a:pt x="1119630" y="715586"/>
                        <a:pt x="1105533" y="729683"/>
                      </a:cubicBezTo>
                      <a:cubicBezTo>
                        <a:pt x="1091436" y="743780"/>
                        <a:pt x="1072316" y="751700"/>
                        <a:pt x="1052380" y="751700"/>
                      </a:cubicBezTo>
                      <a:lnTo>
                        <a:pt x="75170" y="751700"/>
                      </a:lnTo>
                      <a:cubicBezTo>
                        <a:pt x="55234" y="751700"/>
                        <a:pt x="36114" y="743780"/>
                        <a:pt x="22017" y="729683"/>
                      </a:cubicBezTo>
                      <a:cubicBezTo>
                        <a:pt x="7920" y="715586"/>
                        <a:pt x="0" y="696466"/>
                        <a:pt x="0" y="676530"/>
                      </a:cubicBezTo>
                      <a:lnTo>
                        <a:pt x="0" y="75170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25400" cap="flat" cmpd="sng" algn="ctr">
                  <a:solidFill>
                    <a:sysClr val="window" lastClr="FFFFFF">
                      <a:hueOff val="0"/>
                      <a:satOff val="0"/>
                      <a:lumOff val="0"/>
                      <a:alphaOff val="0"/>
                    </a:sysClr>
                  </a:solidFill>
                  <a:prstDash val="solid"/>
                </a:ln>
                <a:effectLst/>
              </p:spPr>
              <p:txBody>
                <a:bodyPr spcFirstLastPara="0" vert="horz" wrap="square" lIns="132507" tIns="132507" rIns="132507" bIns="132507" numCol="1" spcCol="1270" anchor="ctr" anchorCtr="0">
                  <a:noAutofit/>
                </a:bodyPr>
                <a:lstStyle/>
                <a:p>
                  <a:pPr algn="ctr" defTabSz="1289018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defRPr/>
                  </a:pPr>
                  <a:r>
                    <a:rPr lang="zh-CN" altLang="en-US" sz="1200" kern="0" dirty="0">
                      <a:solidFill>
                        <a:schemeClr val="bg1"/>
                      </a:solidFill>
                      <a:latin typeface="FontAwesome" pitchFamily="2" charset="0"/>
                    </a:rPr>
                    <a:t>收益异常分布</a:t>
                  </a:r>
                  <a:endParaRPr lang="en-US" altLang="zh-CN" sz="1200" kern="0" dirty="0">
                    <a:solidFill>
                      <a:schemeClr val="bg1"/>
                    </a:solidFill>
                    <a:latin typeface="FontAwesome" pitchFamily="2" charset="0"/>
                  </a:endParaRPr>
                </a:p>
              </p:txBody>
            </p:sp>
            <p:sp>
              <p:nvSpPr>
                <p:cNvPr id="67" name="Freeform 61">
                  <a:extLst>
                    <a:ext uri="{FF2B5EF4-FFF2-40B4-BE49-F238E27FC236}">
                      <a16:creationId xmlns:a16="http://schemas.microsoft.com/office/drawing/2014/main" id="{C06B7F41-D703-5D59-C01A-75BAED9AABEA}"/>
                    </a:ext>
                  </a:extLst>
                </p:cNvPr>
                <p:cNvSpPr/>
                <p:nvPr/>
              </p:nvSpPr>
              <p:spPr>
                <a:xfrm>
                  <a:off x="5410201" y="5332074"/>
                  <a:ext cx="1444857" cy="751700"/>
                </a:xfrm>
                <a:custGeom>
                  <a:avLst/>
                  <a:gdLst>
                    <a:gd name="connsiteX0" fmla="*/ 0 w 1127550"/>
                    <a:gd name="connsiteY0" fmla="*/ 75170 h 751700"/>
                    <a:gd name="connsiteX1" fmla="*/ 22017 w 1127550"/>
                    <a:gd name="connsiteY1" fmla="*/ 22017 h 751700"/>
                    <a:gd name="connsiteX2" fmla="*/ 75170 w 1127550"/>
                    <a:gd name="connsiteY2" fmla="*/ 0 h 751700"/>
                    <a:gd name="connsiteX3" fmla="*/ 1052380 w 1127550"/>
                    <a:gd name="connsiteY3" fmla="*/ 0 h 751700"/>
                    <a:gd name="connsiteX4" fmla="*/ 1105533 w 1127550"/>
                    <a:gd name="connsiteY4" fmla="*/ 22017 h 751700"/>
                    <a:gd name="connsiteX5" fmla="*/ 1127550 w 1127550"/>
                    <a:gd name="connsiteY5" fmla="*/ 75170 h 751700"/>
                    <a:gd name="connsiteX6" fmla="*/ 1127550 w 1127550"/>
                    <a:gd name="connsiteY6" fmla="*/ 676530 h 751700"/>
                    <a:gd name="connsiteX7" fmla="*/ 1105533 w 1127550"/>
                    <a:gd name="connsiteY7" fmla="*/ 729683 h 751700"/>
                    <a:gd name="connsiteX8" fmla="*/ 1052380 w 1127550"/>
                    <a:gd name="connsiteY8" fmla="*/ 751700 h 751700"/>
                    <a:gd name="connsiteX9" fmla="*/ 75170 w 1127550"/>
                    <a:gd name="connsiteY9" fmla="*/ 751700 h 751700"/>
                    <a:gd name="connsiteX10" fmla="*/ 22017 w 1127550"/>
                    <a:gd name="connsiteY10" fmla="*/ 729683 h 751700"/>
                    <a:gd name="connsiteX11" fmla="*/ 0 w 1127550"/>
                    <a:gd name="connsiteY11" fmla="*/ 676530 h 751700"/>
                    <a:gd name="connsiteX12" fmla="*/ 0 w 1127550"/>
                    <a:gd name="connsiteY12" fmla="*/ 75170 h 7517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127550" h="751700">
                      <a:moveTo>
                        <a:pt x="0" y="75170"/>
                      </a:moveTo>
                      <a:cubicBezTo>
                        <a:pt x="0" y="55234"/>
                        <a:pt x="7920" y="36114"/>
                        <a:pt x="22017" y="22017"/>
                      </a:cubicBezTo>
                      <a:cubicBezTo>
                        <a:pt x="36114" y="7920"/>
                        <a:pt x="55234" y="0"/>
                        <a:pt x="75170" y="0"/>
                      </a:cubicBezTo>
                      <a:lnTo>
                        <a:pt x="1052380" y="0"/>
                      </a:lnTo>
                      <a:cubicBezTo>
                        <a:pt x="1072316" y="0"/>
                        <a:pt x="1091436" y="7920"/>
                        <a:pt x="1105533" y="22017"/>
                      </a:cubicBezTo>
                      <a:cubicBezTo>
                        <a:pt x="1119630" y="36114"/>
                        <a:pt x="1127550" y="55234"/>
                        <a:pt x="1127550" y="75170"/>
                      </a:cubicBezTo>
                      <a:lnTo>
                        <a:pt x="1127550" y="676530"/>
                      </a:lnTo>
                      <a:cubicBezTo>
                        <a:pt x="1127550" y="696466"/>
                        <a:pt x="1119630" y="715586"/>
                        <a:pt x="1105533" y="729683"/>
                      </a:cubicBezTo>
                      <a:cubicBezTo>
                        <a:pt x="1091436" y="743780"/>
                        <a:pt x="1072316" y="751700"/>
                        <a:pt x="1052380" y="751700"/>
                      </a:cubicBezTo>
                      <a:lnTo>
                        <a:pt x="75170" y="751700"/>
                      </a:lnTo>
                      <a:cubicBezTo>
                        <a:pt x="55234" y="751700"/>
                        <a:pt x="36114" y="743780"/>
                        <a:pt x="22017" y="729683"/>
                      </a:cubicBezTo>
                      <a:cubicBezTo>
                        <a:pt x="7920" y="715586"/>
                        <a:pt x="0" y="696466"/>
                        <a:pt x="0" y="676530"/>
                      </a:cubicBezTo>
                      <a:lnTo>
                        <a:pt x="0" y="75170"/>
                      </a:lnTo>
                      <a:close/>
                    </a:path>
                  </a:pathLst>
                </a:custGeom>
                <a:solidFill>
                  <a:srgbClr val="FDBE94"/>
                </a:solidFill>
                <a:ln w="25400" cap="flat" cmpd="sng" algn="ctr">
                  <a:solidFill>
                    <a:sysClr val="window" lastClr="FFFFFF">
                      <a:hueOff val="0"/>
                      <a:satOff val="0"/>
                      <a:lumOff val="0"/>
                      <a:alphaOff val="0"/>
                    </a:sysClr>
                  </a:solidFill>
                  <a:prstDash val="solid"/>
                </a:ln>
                <a:effectLst/>
              </p:spPr>
              <p:txBody>
                <a:bodyPr spcFirstLastPara="0" vert="horz" wrap="square" lIns="132507" tIns="132507" rIns="132507" bIns="132507" numCol="1" spcCol="1270" anchor="ctr" anchorCtr="0">
                  <a:noAutofit/>
                </a:bodyPr>
                <a:lstStyle/>
                <a:p>
                  <a:pPr algn="ctr" defTabSz="1289018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defRPr/>
                  </a:pPr>
                  <a:r>
                    <a:rPr lang="zh-CN" altLang="en-US" sz="1200" kern="0" dirty="0">
                      <a:latin typeface="SimSun" panose="02010600030101010101" pitchFamily="2" charset="-122"/>
                      <a:ea typeface="SimSun" panose="02010600030101010101" pitchFamily="2" charset="-122"/>
                    </a:rPr>
                    <a:t>在</a:t>
                  </a:r>
                  <a:r>
                    <a:rPr lang="en-US" altLang="zh-CN" sz="1200" kern="0" dirty="0">
                      <a:latin typeface="SimSun" panose="02010600030101010101" pitchFamily="2" charset="-122"/>
                      <a:ea typeface="SimSun" panose="02010600030101010101" pitchFamily="2" charset="-122"/>
                    </a:rPr>
                    <a:t>【</a:t>
                  </a:r>
                  <a:r>
                    <a:rPr lang="zh-CN" altLang="en-US" sz="1200" kern="0" dirty="0">
                      <a:latin typeface="SimSun" panose="02010600030101010101" pitchFamily="2" charset="-122"/>
                      <a:ea typeface="SimSun" panose="02010600030101010101" pitchFamily="2" charset="-122"/>
                    </a:rPr>
                    <a:t>波动率下行和成交额上行</a:t>
                  </a:r>
                  <a:r>
                    <a:rPr lang="en-US" altLang="zh-CN" sz="1200" kern="0" dirty="0">
                      <a:latin typeface="SimSun" panose="02010600030101010101" pitchFamily="2" charset="-122"/>
                      <a:ea typeface="SimSun" panose="02010600030101010101" pitchFamily="2" charset="-122"/>
                    </a:rPr>
                    <a:t>】</a:t>
                  </a:r>
                  <a:r>
                    <a:rPr lang="zh-CN" altLang="en-US" sz="1200" kern="0" dirty="0">
                      <a:latin typeface="SimSun" panose="02010600030101010101" pitchFamily="2" charset="-122"/>
                      <a:ea typeface="SimSun" panose="02010600030101010101" pitchFamily="2" charset="-122"/>
                    </a:rPr>
                    <a:t>象限看多。</a:t>
                  </a:r>
                  <a:endParaRPr lang="en-US" altLang="zh-CN" sz="1200" kern="0" dirty="0">
                    <a:latin typeface="SimSun" panose="02010600030101010101" pitchFamily="2" charset="-122"/>
                    <a:ea typeface="SimSun" panose="02010600030101010101" pitchFamily="2" charset="-122"/>
                  </a:endParaRPr>
                </a:p>
              </p:txBody>
            </p:sp>
            <p:sp>
              <p:nvSpPr>
                <p:cNvPr id="69" name="Freeform 61">
                  <a:extLst>
                    <a:ext uri="{FF2B5EF4-FFF2-40B4-BE49-F238E27FC236}">
                      <a16:creationId xmlns:a16="http://schemas.microsoft.com/office/drawing/2014/main" id="{8FDE76F8-FD2D-1DB8-903E-34A2D0B6DEB5}"/>
                    </a:ext>
                  </a:extLst>
                </p:cNvPr>
                <p:cNvSpPr/>
                <p:nvPr/>
              </p:nvSpPr>
              <p:spPr>
                <a:xfrm>
                  <a:off x="7703289" y="5323944"/>
                  <a:ext cx="2527951" cy="751700"/>
                </a:xfrm>
                <a:custGeom>
                  <a:avLst/>
                  <a:gdLst>
                    <a:gd name="connsiteX0" fmla="*/ 0 w 1127550"/>
                    <a:gd name="connsiteY0" fmla="*/ 75170 h 751700"/>
                    <a:gd name="connsiteX1" fmla="*/ 22017 w 1127550"/>
                    <a:gd name="connsiteY1" fmla="*/ 22017 h 751700"/>
                    <a:gd name="connsiteX2" fmla="*/ 75170 w 1127550"/>
                    <a:gd name="connsiteY2" fmla="*/ 0 h 751700"/>
                    <a:gd name="connsiteX3" fmla="*/ 1052380 w 1127550"/>
                    <a:gd name="connsiteY3" fmla="*/ 0 h 751700"/>
                    <a:gd name="connsiteX4" fmla="*/ 1105533 w 1127550"/>
                    <a:gd name="connsiteY4" fmla="*/ 22017 h 751700"/>
                    <a:gd name="connsiteX5" fmla="*/ 1127550 w 1127550"/>
                    <a:gd name="connsiteY5" fmla="*/ 75170 h 751700"/>
                    <a:gd name="connsiteX6" fmla="*/ 1127550 w 1127550"/>
                    <a:gd name="connsiteY6" fmla="*/ 676530 h 751700"/>
                    <a:gd name="connsiteX7" fmla="*/ 1105533 w 1127550"/>
                    <a:gd name="connsiteY7" fmla="*/ 729683 h 751700"/>
                    <a:gd name="connsiteX8" fmla="*/ 1052380 w 1127550"/>
                    <a:gd name="connsiteY8" fmla="*/ 751700 h 751700"/>
                    <a:gd name="connsiteX9" fmla="*/ 75170 w 1127550"/>
                    <a:gd name="connsiteY9" fmla="*/ 751700 h 751700"/>
                    <a:gd name="connsiteX10" fmla="*/ 22017 w 1127550"/>
                    <a:gd name="connsiteY10" fmla="*/ 729683 h 751700"/>
                    <a:gd name="connsiteX11" fmla="*/ 0 w 1127550"/>
                    <a:gd name="connsiteY11" fmla="*/ 676530 h 751700"/>
                    <a:gd name="connsiteX12" fmla="*/ 0 w 1127550"/>
                    <a:gd name="connsiteY12" fmla="*/ 75170 h 7517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127550" h="751700">
                      <a:moveTo>
                        <a:pt x="0" y="75170"/>
                      </a:moveTo>
                      <a:cubicBezTo>
                        <a:pt x="0" y="55234"/>
                        <a:pt x="7920" y="36114"/>
                        <a:pt x="22017" y="22017"/>
                      </a:cubicBezTo>
                      <a:cubicBezTo>
                        <a:pt x="36114" y="7920"/>
                        <a:pt x="55234" y="0"/>
                        <a:pt x="75170" y="0"/>
                      </a:cubicBezTo>
                      <a:lnTo>
                        <a:pt x="1052380" y="0"/>
                      </a:lnTo>
                      <a:cubicBezTo>
                        <a:pt x="1072316" y="0"/>
                        <a:pt x="1091436" y="7920"/>
                        <a:pt x="1105533" y="22017"/>
                      </a:cubicBezTo>
                      <a:cubicBezTo>
                        <a:pt x="1119630" y="36114"/>
                        <a:pt x="1127550" y="55234"/>
                        <a:pt x="1127550" y="75170"/>
                      </a:cubicBezTo>
                      <a:lnTo>
                        <a:pt x="1127550" y="676530"/>
                      </a:lnTo>
                      <a:cubicBezTo>
                        <a:pt x="1127550" y="696466"/>
                        <a:pt x="1119630" y="715586"/>
                        <a:pt x="1105533" y="729683"/>
                      </a:cubicBezTo>
                      <a:cubicBezTo>
                        <a:pt x="1091436" y="743780"/>
                        <a:pt x="1072316" y="751700"/>
                        <a:pt x="1052380" y="751700"/>
                      </a:cubicBezTo>
                      <a:lnTo>
                        <a:pt x="75170" y="751700"/>
                      </a:lnTo>
                      <a:cubicBezTo>
                        <a:pt x="55234" y="751700"/>
                        <a:pt x="36114" y="743780"/>
                        <a:pt x="22017" y="729683"/>
                      </a:cubicBezTo>
                      <a:cubicBezTo>
                        <a:pt x="7920" y="715586"/>
                        <a:pt x="0" y="696466"/>
                        <a:pt x="0" y="676530"/>
                      </a:cubicBezTo>
                      <a:lnTo>
                        <a:pt x="0" y="75170"/>
                      </a:lnTo>
                      <a:close/>
                    </a:path>
                  </a:pathLst>
                </a:custGeom>
                <a:solidFill>
                  <a:srgbClr val="FDBE94"/>
                </a:solidFill>
                <a:ln w="25400" cap="flat" cmpd="sng" algn="ctr">
                  <a:solidFill>
                    <a:sysClr val="window" lastClr="FFFFFF">
                      <a:hueOff val="0"/>
                      <a:satOff val="0"/>
                      <a:lumOff val="0"/>
                      <a:alphaOff val="0"/>
                    </a:sysClr>
                  </a:solidFill>
                  <a:prstDash val="solid"/>
                </a:ln>
                <a:effectLst/>
              </p:spPr>
              <p:txBody>
                <a:bodyPr spcFirstLastPara="0" vert="horz" wrap="square" lIns="132507" tIns="132507" rIns="132507" bIns="132507" numCol="1" spcCol="1270" anchor="ctr" anchorCtr="0">
                  <a:noAutofit/>
                </a:bodyPr>
                <a:lstStyle/>
                <a:p>
                  <a:pPr algn="ctr" defTabSz="1289018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defRPr/>
                  </a:pPr>
                  <a:r>
                    <a:rPr lang="en-US" altLang="zh-CN" sz="1200" kern="0" dirty="0">
                      <a:latin typeface="SimSun" panose="02010600030101010101" pitchFamily="2" charset="-122"/>
                      <a:ea typeface="SimSun" panose="02010600030101010101" pitchFamily="2" charset="-122"/>
                    </a:rPr>
                    <a:t>【2</a:t>
                  </a:r>
                  <a:r>
                    <a:rPr lang="zh-CN" altLang="en-US" sz="1200" kern="0" dirty="0">
                      <a:latin typeface="SimSun" panose="02010600030101010101" pitchFamily="2" charset="-122"/>
                      <a:ea typeface="SimSun" panose="02010600030101010101" pitchFamily="2" charset="-122"/>
                    </a:rPr>
                    <a:t>个以上</a:t>
                  </a:r>
                  <a:r>
                    <a:rPr lang="en-US" altLang="zh-CN" sz="1200" kern="0" dirty="0">
                      <a:latin typeface="SimSun" panose="02010600030101010101" pitchFamily="2" charset="-122"/>
                      <a:ea typeface="SimSun" panose="02010600030101010101" pitchFamily="2" charset="-122"/>
                    </a:rPr>
                    <a:t>】</a:t>
                  </a:r>
                  <a:r>
                    <a:rPr lang="zh-CN" altLang="en-US" sz="1200" kern="0" dirty="0">
                      <a:latin typeface="SimSun" panose="02010600030101010101" pitchFamily="2" charset="-122"/>
                      <a:ea typeface="SimSun" panose="02010600030101010101" pitchFamily="2" charset="-122"/>
                    </a:rPr>
                    <a:t>指标超过历史</a:t>
                  </a:r>
                  <a:r>
                    <a:rPr lang="en-US" altLang="zh-CN" sz="1200" kern="0" dirty="0">
                      <a:latin typeface="SimSun" panose="02010600030101010101" pitchFamily="2" charset="-122"/>
                      <a:ea typeface="SimSun" panose="02010600030101010101" pitchFamily="2" charset="-122"/>
                    </a:rPr>
                    <a:t>95%/</a:t>
                  </a:r>
                  <a:r>
                    <a:rPr lang="zh-CN" altLang="en-US" sz="1200" kern="0" dirty="0">
                      <a:latin typeface="SimSun" panose="02010600030101010101" pitchFamily="2" charset="-122"/>
                      <a:ea typeface="SimSun" panose="02010600030101010101" pitchFamily="2" charset="-122"/>
                    </a:rPr>
                    <a:t>低于</a:t>
                  </a:r>
                  <a:r>
                    <a:rPr lang="en-US" altLang="zh-CN" sz="1200" kern="0" dirty="0">
                      <a:latin typeface="SimSun" panose="02010600030101010101" pitchFamily="2" charset="-122"/>
                      <a:ea typeface="SimSun" panose="02010600030101010101" pitchFamily="2" charset="-122"/>
                    </a:rPr>
                    <a:t>5%</a:t>
                  </a:r>
                  <a:r>
                    <a:rPr lang="zh-CN" altLang="en-US" sz="1200" kern="0" dirty="0">
                      <a:latin typeface="SimSun" panose="02010600030101010101" pitchFamily="2" charset="-122"/>
                      <a:ea typeface="SimSun" panose="02010600030101010101" pitchFamily="2" charset="-122"/>
                    </a:rPr>
                    <a:t>分位数无条件平仓。</a:t>
                  </a:r>
                  <a:endParaRPr lang="en-US" altLang="zh-CN" sz="1200" kern="0" dirty="0">
                    <a:latin typeface="SimSun" panose="02010600030101010101" pitchFamily="2" charset="-122"/>
                    <a:ea typeface="SimSun" panose="02010600030101010101" pitchFamily="2" charset="-122"/>
                  </a:endParaRPr>
                </a:p>
              </p:txBody>
            </p:sp>
          </p:grp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8B3F32B7-AE30-1530-E135-0E48078DE96D}"/>
                  </a:ext>
                </a:extLst>
              </p:cNvPr>
              <p:cNvSpPr/>
              <p:nvPr/>
            </p:nvSpPr>
            <p:spPr>
              <a:xfrm>
                <a:off x="1889952" y="5851067"/>
                <a:ext cx="4819450" cy="306304"/>
              </a:xfrm>
              <a:prstGeom prst="rect">
                <a:avLst/>
              </a:prstGeom>
              <a:noFill/>
              <a:ln>
                <a:solidFill>
                  <a:srgbClr val="FDBE94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0D47269C-87CA-8F61-ACA1-56AA1004F202}"/>
                  </a:ext>
                </a:extLst>
              </p:cNvPr>
              <p:cNvSpPr/>
              <p:nvPr/>
            </p:nvSpPr>
            <p:spPr>
              <a:xfrm>
                <a:off x="7557633" y="5849594"/>
                <a:ext cx="2527951" cy="307777"/>
              </a:xfrm>
              <a:prstGeom prst="rect">
                <a:avLst/>
              </a:prstGeom>
              <a:noFill/>
              <a:ln>
                <a:solidFill>
                  <a:srgbClr val="FDBE94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1E747820-5725-1A8D-ECD9-DBC319170CFA}"/>
                </a:ext>
              </a:extLst>
            </p:cNvPr>
            <p:cNvSpPr txBox="1"/>
            <p:nvPr/>
          </p:nvSpPr>
          <p:spPr>
            <a:xfrm>
              <a:off x="8490810" y="5849421"/>
              <a:ext cx="79961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400" b="1" dirty="0">
                  <a:solidFill>
                    <a:srgbClr val="FDBE94"/>
                  </a:solidFill>
                </a:rPr>
                <a:t>控风险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283789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4.1</a:t>
            </a:r>
            <a:r>
              <a:rPr lang="zh-CN" altLang="en-US" dirty="0"/>
              <a:t> 策略总结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40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968671" y="1153383"/>
            <a:ext cx="10093775" cy="4478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基于股价演绎视角的多时点、多周期复合</a:t>
            </a:r>
            <a:r>
              <a:rPr lang="zh-CN" altLang="en-US" sz="1600" dirty="0">
                <a:solidFill>
                  <a:srgbClr val="F79646"/>
                </a:solidFill>
              </a:rPr>
              <a:t>量价择时</a:t>
            </a:r>
            <a:r>
              <a:rPr lang="zh-CN" altLang="en-US" sz="1600" dirty="0">
                <a:solidFill>
                  <a:srgbClr val="000000"/>
                </a:solidFill>
              </a:rPr>
              <a:t>策略。</a:t>
            </a:r>
            <a:endParaRPr lang="en-US" altLang="zh-CN" sz="1600" dirty="0">
              <a:solidFill>
                <a:srgbClr val="000000"/>
              </a:solidFill>
            </a:endParaRPr>
          </a:p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用</a:t>
            </a:r>
            <a:r>
              <a:rPr lang="zh-CN" altLang="en-US" sz="1600" dirty="0">
                <a:solidFill>
                  <a:srgbClr val="F79646"/>
                </a:solidFill>
              </a:rPr>
              <a:t>动量与反转</a:t>
            </a:r>
            <a:r>
              <a:rPr lang="zh-CN" altLang="en-US" sz="1600" dirty="0">
                <a:solidFill>
                  <a:srgbClr val="000000"/>
                </a:solidFill>
              </a:rPr>
              <a:t>抓住短期趋势</a:t>
            </a:r>
            <a:r>
              <a:rPr lang="en-US" altLang="zh-CN" sz="1600" dirty="0">
                <a:solidFill>
                  <a:srgbClr val="000000"/>
                </a:solidFill>
              </a:rPr>
              <a:t>/</a:t>
            </a:r>
            <a:r>
              <a:rPr lang="zh-CN" altLang="en-US" sz="1600" dirty="0">
                <a:solidFill>
                  <a:srgbClr val="000000"/>
                </a:solidFill>
              </a:rPr>
              <a:t>转折带来的投资机遇；用</a:t>
            </a:r>
            <a:r>
              <a:rPr lang="zh-CN" altLang="en-US" sz="1600" dirty="0">
                <a:solidFill>
                  <a:srgbClr val="F79646"/>
                </a:solidFill>
              </a:rPr>
              <a:t>分歧度和流动性</a:t>
            </a:r>
            <a:r>
              <a:rPr lang="zh-CN" altLang="en-US" sz="1600" dirty="0">
                <a:solidFill>
                  <a:srgbClr val="000000"/>
                </a:solidFill>
              </a:rPr>
              <a:t>一定程度上刻画当前牛熊状态，做收益的增厚；用</a:t>
            </a:r>
            <a:r>
              <a:rPr lang="zh-CN" altLang="en-US" sz="1600" dirty="0">
                <a:solidFill>
                  <a:srgbClr val="F79646"/>
                </a:solidFill>
              </a:rPr>
              <a:t>交易拥挤度</a:t>
            </a:r>
            <a:r>
              <a:rPr lang="zh-CN" altLang="en-US" sz="1600" dirty="0">
                <a:solidFill>
                  <a:srgbClr val="000000"/>
                </a:solidFill>
              </a:rPr>
              <a:t>降低潜在的顶部风险。</a:t>
            </a:r>
            <a:endParaRPr lang="en-US" altLang="zh-CN" sz="1600" dirty="0">
              <a:solidFill>
                <a:srgbClr val="000000"/>
              </a:solidFill>
            </a:endParaRPr>
          </a:p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endParaRPr lang="en-US" altLang="zh-CN" sz="1600" dirty="0">
              <a:solidFill>
                <a:srgbClr val="000000"/>
              </a:solidFill>
            </a:endParaRPr>
          </a:p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对上证</a:t>
            </a:r>
            <a:r>
              <a:rPr lang="en-US" altLang="zh-CN" sz="1600" dirty="0">
                <a:solidFill>
                  <a:srgbClr val="000000"/>
                </a:solidFill>
              </a:rPr>
              <a:t>50</a:t>
            </a:r>
            <a:r>
              <a:rPr lang="zh-CN" altLang="en-US" sz="1600" dirty="0">
                <a:solidFill>
                  <a:srgbClr val="000000"/>
                </a:solidFill>
              </a:rPr>
              <a:t>指数进行择时（多头），实现全区间（</a:t>
            </a:r>
            <a:r>
              <a:rPr lang="en-US" altLang="zh-CN" sz="1600" dirty="0">
                <a:solidFill>
                  <a:srgbClr val="000000"/>
                </a:solidFill>
              </a:rPr>
              <a:t>2015/01/01-2023/06/09</a:t>
            </a:r>
            <a:r>
              <a:rPr lang="zh-CN" altLang="en-US" sz="1600" dirty="0">
                <a:solidFill>
                  <a:srgbClr val="000000"/>
                </a:solidFill>
              </a:rPr>
              <a:t>）年化收益</a:t>
            </a:r>
            <a:r>
              <a:rPr lang="en-US" altLang="zh-CN" sz="1600" dirty="0">
                <a:solidFill>
                  <a:srgbClr val="000000"/>
                </a:solidFill>
              </a:rPr>
              <a:t>24.03%</a:t>
            </a:r>
            <a:r>
              <a:rPr lang="zh-CN" altLang="en-US" sz="1600" dirty="0">
                <a:solidFill>
                  <a:srgbClr val="000000"/>
                </a:solidFill>
              </a:rPr>
              <a:t>，年度胜率</a:t>
            </a:r>
            <a:r>
              <a:rPr lang="en-US" altLang="zh-CN" sz="1600" dirty="0">
                <a:solidFill>
                  <a:srgbClr val="000000"/>
                </a:solidFill>
              </a:rPr>
              <a:t>88.9%</a:t>
            </a:r>
            <a:r>
              <a:rPr lang="zh-CN" altLang="en-US" sz="1600" dirty="0">
                <a:solidFill>
                  <a:srgbClr val="000000"/>
                </a:solidFill>
              </a:rPr>
              <a:t>，</a:t>
            </a:r>
            <a:r>
              <a:rPr lang="zh-CN" altLang="en-US" sz="1600" dirty="0">
                <a:solidFill>
                  <a:srgbClr val="F79646"/>
                </a:solidFill>
              </a:rPr>
              <a:t>开仓胜率</a:t>
            </a:r>
            <a:r>
              <a:rPr lang="en-US" altLang="zh-CN" sz="1600" dirty="0">
                <a:solidFill>
                  <a:srgbClr val="F79646"/>
                </a:solidFill>
              </a:rPr>
              <a:t>0.69</a:t>
            </a:r>
            <a:r>
              <a:rPr lang="zh-CN" altLang="en-US" sz="1600" dirty="0">
                <a:solidFill>
                  <a:srgbClr val="F79646"/>
                </a:solidFill>
              </a:rPr>
              <a:t>，盈亏比</a:t>
            </a:r>
            <a:r>
              <a:rPr lang="en-US" altLang="zh-CN" sz="1600" dirty="0">
                <a:solidFill>
                  <a:srgbClr val="F79646"/>
                </a:solidFill>
              </a:rPr>
              <a:t>2.1</a:t>
            </a:r>
            <a:r>
              <a:rPr lang="zh-CN" altLang="en-US" sz="1600" dirty="0">
                <a:solidFill>
                  <a:srgbClr val="000000"/>
                </a:solidFill>
              </a:rPr>
              <a:t>；样本外（</a:t>
            </a:r>
            <a:r>
              <a:rPr lang="en-US" altLang="zh-CN" sz="1600" dirty="0">
                <a:solidFill>
                  <a:srgbClr val="000000"/>
                </a:solidFill>
              </a:rPr>
              <a:t>2021/01/01-2023/06/09</a:t>
            </a:r>
            <a:r>
              <a:rPr lang="zh-CN" altLang="en-US" sz="1600" dirty="0">
                <a:solidFill>
                  <a:srgbClr val="000000"/>
                </a:solidFill>
              </a:rPr>
              <a:t>）年化收益</a:t>
            </a:r>
            <a:r>
              <a:rPr lang="en-US" altLang="zh-CN" sz="1600" dirty="0">
                <a:solidFill>
                  <a:srgbClr val="000000"/>
                </a:solidFill>
              </a:rPr>
              <a:t>6.91%</a:t>
            </a:r>
            <a:r>
              <a:rPr lang="zh-CN" altLang="en-US" sz="1600" dirty="0">
                <a:solidFill>
                  <a:srgbClr val="000000"/>
                </a:solidFill>
              </a:rPr>
              <a:t>，年度胜率</a:t>
            </a:r>
            <a:r>
              <a:rPr lang="en-US" altLang="zh-CN" sz="1600" dirty="0">
                <a:solidFill>
                  <a:srgbClr val="000000"/>
                </a:solidFill>
              </a:rPr>
              <a:t>100%</a:t>
            </a:r>
            <a:r>
              <a:rPr lang="zh-CN" altLang="en-US" sz="1600" dirty="0">
                <a:solidFill>
                  <a:srgbClr val="000000"/>
                </a:solidFill>
              </a:rPr>
              <a:t>，</a:t>
            </a:r>
            <a:r>
              <a:rPr lang="zh-CN" altLang="en-US" sz="1600" dirty="0">
                <a:solidFill>
                  <a:srgbClr val="F79646"/>
                </a:solidFill>
              </a:rPr>
              <a:t>开仓胜率</a:t>
            </a:r>
            <a:r>
              <a:rPr lang="en-US" altLang="zh-CN" sz="1600" dirty="0">
                <a:solidFill>
                  <a:srgbClr val="F79646"/>
                </a:solidFill>
              </a:rPr>
              <a:t>0.63</a:t>
            </a:r>
            <a:r>
              <a:rPr lang="zh-CN" altLang="en-US" sz="1600" dirty="0">
                <a:solidFill>
                  <a:srgbClr val="F79646"/>
                </a:solidFill>
              </a:rPr>
              <a:t>，盈亏比</a:t>
            </a:r>
            <a:r>
              <a:rPr lang="en-US" altLang="zh-CN" sz="1600" dirty="0">
                <a:solidFill>
                  <a:srgbClr val="F79646"/>
                </a:solidFill>
              </a:rPr>
              <a:t>1.27</a:t>
            </a:r>
            <a:r>
              <a:rPr lang="zh-CN" altLang="en-US" sz="1600" dirty="0">
                <a:solidFill>
                  <a:srgbClr val="000000"/>
                </a:solidFill>
              </a:rPr>
              <a:t>。</a:t>
            </a:r>
            <a:endParaRPr lang="en-US" altLang="zh-CN" sz="1600" dirty="0">
              <a:solidFill>
                <a:srgbClr val="000000"/>
              </a:solidFill>
            </a:endParaRPr>
          </a:p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通过不同市场环境的回测结果对比，策略在</a:t>
            </a:r>
            <a:r>
              <a:rPr lang="zh-CN" altLang="en-US" sz="1600" dirty="0">
                <a:solidFill>
                  <a:srgbClr val="F79646"/>
                </a:solidFill>
              </a:rPr>
              <a:t>短期具备顺畅的动量或有苗头的反转、中期具备合力上行趋势</a:t>
            </a:r>
            <a:r>
              <a:rPr lang="zh-CN" altLang="en-US" sz="1600" dirty="0">
                <a:solidFill>
                  <a:srgbClr val="000000"/>
                </a:solidFill>
              </a:rPr>
              <a:t>的环境下收益获取能力更高，在因市场过热导致的顶部下跌中能实现风险的提前规避。</a:t>
            </a:r>
            <a:endParaRPr lang="en-US" altLang="zh-CN" sz="1600" dirty="0">
              <a:solidFill>
                <a:srgbClr val="000000"/>
              </a:solidFill>
            </a:endParaRPr>
          </a:p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通过不同指数标的回测结果对比，策略的普适性较高。因收益核心来源于短期动量反转效应，在以创业板指为代表的</a:t>
            </a:r>
            <a:r>
              <a:rPr lang="zh-CN" altLang="en-US" sz="1600" dirty="0">
                <a:solidFill>
                  <a:srgbClr val="F79646"/>
                </a:solidFill>
              </a:rPr>
              <a:t>涨跌幅上限高、市场有效性较弱</a:t>
            </a:r>
            <a:r>
              <a:rPr lang="zh-CN" altLang="en-US" sz="1600" dirty="0">
                <a:solidFill>
                  <a:srgbClr val="000000"/>
                </a:solidFill>
              </a:rPr>
              <a:t>的指数上收益表现更好，风险也相对更大。</a:t>
            </a:r>
          </a:p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endParaRPr lang="zh-CN" altLang="en-US" sz="1600" dirty="0">
              <a:solidFill>
                <a:srgbClr val="00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EC04680-B116-5655-AC86-00BBBF91193F}"/>
              </a:ext>
            </a:extLst>
          </p:cNvPr>
          <p:cNvSpPr txBox="1"/>
          <p:nvPr/>
        </p:nvSpPr>
        <p:spPr>
          <a:xfrm>
            <a:off x="60415" y="6607093"/>
            <a:ext cx="598112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" sz="800" b="0" i="0" dirty="0">
                <a:solidFill>
                  <a:srgbClr val="222222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资料来源</a:t>
            </a:r>
            <a:r>
              <a:rPr lang="zh-CN" altLang="en-US" sz="800" b="0" i="0" dirty="0">
                <a:solidFill>
                  <a:srgbClr val="222222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：沈婕</a:t>
            </a:r>
            <a:r>
              <a:rPr lang="en-US" altLang="zh-CN" sz="800" b="0" i="0" dirty="0">
                <a:solidFill>
                  <a:srgbClr val="222222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. </a:t>
            </a:r>
            <a:r>
              <a:rPr lang="zh-CN" altLang="en-US" sz="800" b="0" i="0" dirty="0">
                <a:solidFill>
                  <a:srgbClr val="222222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中国创业板市场有效性及动量效应研究</a:t>
            </a:r>
            <a:r>
              <a:rPr lang="en-US" altLang="zh-CN" sz="800" b="0" i="0" dirty="0">
                <a:solidFill>
                  <a:srgbClr val="222222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" altLang="zh-CN" sz="800" b="0" i="0" dirty="0">
                <a:solidFill>
                  <a:srgbClr val="222222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D].</a:t>
            </a:r>
            <a:r>
              <a:rPr lang="zh-CN" altLang="en-US" sz="800" b="0" i="0" dirty="0">
                <a:solidFill>
                  <a:srgbClr val="222222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兰州财经大学</a:t>
            </a:r>
            <a:r>
              <a:rPr lang="en-US" altLang="zh-CN" sz="800" b="0" i="0" dirty="0">
                <a:solidFill>
                  <a:srgbClr val="222222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,2022.</a:t>
            </a:r>
            <a:r>
              <a:rPr lang="en" altLang="zh-CN" sz="800" b="0" i="0" dirty="0">
                <a:solidFill>
                  <a:srgbClr val="222222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DOI:10.27732/d.cnki.gnzsx.2022.000084.</a:t>
            </a:r>
            <a:endParaRPr kumimoji="1" lang="zh-CN" alt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3158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4.2</a:t>
            </a:r>
            <a:r>
              <a:rPr lang="zh-CN" altLang="en-US" dirty="0"/>
              <a:t> 改进方向</a:t>
            </a:r>
            <a:endParaRPr lang="zh-CN" altLang="en-US" sz="20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41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968672" y="1261869"/>
            <a:ext cx="1909497" cy="413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数据与指标选择</a:t>
            </a:r>
          </a:p>
        </p:txBody>
      </p:sp>
      <p:sp>
        <p:nvSpPr>
          <p:cNvPr id="5" name="矩形 4"/>
          <p:cNvSpPr/>
          <p:nvPr/>
        </p:nvSpPr>
        <p:spPr>
          <a:xfrm>
            <a:off x="1288619" y="1675700"/>
            <a:ext cx="9056651" cy="13344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引入</a:t>
            </a:r>
            <a:r>
              <a:rPr lang="zh-CN" altLang="en-US" sz="1400" b="1" dirty="0">
                <a:solidFill>
                  <a:srgbClr val="F796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宏观因子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，能够对长期大方向做更精准的把控。</a:t>
            </a:r>
            <a:endParaRPr lang="en-US" altLang="zh-CN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关注市场的</a:t>
            </a:r>
            <a:r>
              <a:rPr lang="zh-CN" altLang="en-US" sz="1400" b="1" dirty="0">
                <a:solidFill>
                  <a:srgbClr val="F796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日历效应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、资金的潮汐结构，为量价数据提供更“确定”、“规律”的增量信息。</a:t>
            </a:r>
            <a:endParaRPr lang="en-US" altLang="zh-CN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上证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50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为大盘风格指数，市场有效性高，一定程度降低了成分股间的差异和行情引力。在成分股覆盖更广泛的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wind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全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等指数上，可以更多关注</a:t>
            </a:r>
            <a:r>
              <a:rPr lang="zh-CN" altLang="en-US" sz="1400" b="1" dirty="0">
                <a:solidFill>
                  <a:srgbClr val="F796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龙头、领涨效应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5F5E77D-8776-C2E9-818F-BC3DFCF74ADD}"/>
              </a:ext>
            </a:extLst>
          </p:cNvPr>
          <p:cNvSpPr/>
          <p:nvPr/>
        </p:nvSpPr>
        <p:spPr>
          <a:xfrm>
            <a:off x="968672" y="3128082"/>
            <a:ext cx="1293944" cy="413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模型设计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C7FD7C-6C13-3F6B-15CE-72132899386E}"/>
              </a:ext>
            </a:extLst>
          </p:cNvPr>
          <p:cNvSpPr/>
          <p:nvPr/>
        </p:nvSpPr>
        <p:spPr>
          <a:xfrm>
            <a:off x="1288620" y="3541913"/>
            <a:ext cx="9646080" cy="23039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指标失效的应对方法：将固定的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15-20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年样本内训练改为</a:t>
            </a:r>
            <a:r>
              <a:rPr lang="zh-CN" altLang="en-US" sz="1400" b="1" dirty="0">
                <a:solidFill>
                  <a:srgbClr val="F796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滚动训练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，将固定的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个刻画动量反转的指标改成样本内筛选表现最优的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个动量反转类指标，以适应快速变化的市场环境和风格，挖掘到近期更有效的指标和参数。</a:t>
            </a:r>
            <a:endParaRPr lang="en-US" altLang="zh-CN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短期策略优化：目前模型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无法捕捉到小幅横盘震荡后的单日大幅上涨，引入对当前区间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线形态的刻画。</a:t>
            </a:r>
            <a:endParaRPr lang="en-US" altLang="zh-CN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F7964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端到端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的择时模型：传统的量化投资通常基于多因子模型，任何驱动股市、刻画个股表现的因子值处于高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低阈值历史分位数水平时，都从一定程度上代表着当前交易拥挤度偏高；任何驱动股市、刻画个股表现的因子值的上下行状态，也有可能影响指数的整体走势。</a:t>
            </a: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343101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41437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C2A5B-FD07-4229-8F8C-1BFEB44AF40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43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附录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>
          <a:xfrm>
            <a:off x="1505979" y="3481982"/>
            <a:ext cx="1005403" cy="338554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参考文献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5"/>
          </p:nvPr>
        </p:nvSpPr>
        <p:spPr>
          <a:xfrm>
            <a:off x="1505979" y="4258923"/>
            <a:ext cx="2031325" cy="338554"/>
          </a:xfrm>
        </p:spPr>
        <p:txBody>
          <a:bodyPr/>
          <a:lstStyle/>
          <a:p>
            <a:r>
              <a:rPr lang="zh-CN" altLang="en-US" dirty="0"/>
              <a:t>策略行情适应性分析</a:t>
            </a:r>
          </a:p>
        </p:txBody>
      </p:sp>
      <p:sp>
        <p:nvSpPr>
          <p:cNvPr id="3" name="文本占位符 5">
            <a:extLst>
              <a:ext uri="{FF2B5EF4-FFF2-40B4-BE49-F238E27FC236}">
                <a16:creationId xmlns:a16="http://schemas.microsoft.com/office/drawing/2014/main" id="{2F57062B-1AF1-1F60-34D8-662104A3DB33}"/>
              </a:ext>
            </a:extLst>
          </p:cNvPr>
          <p:cNvSpPr txBox="1">
            <a:spLocks/>
          </p:cNvSpPr>
          <p:nvPr/>
        </p:nvSpPr>
        <p:spPr>
          <a:xfrm>
            <a:off x="1505978" y="5035864"/>
            <a:ext cx="1415772" cy="33855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marL="0" indent="0" algn="l" defTabSz="914377" rtl="0" eaLnBrk="1" latinLnBrk="0" hangingPunct="1">
              <a:spcBef>
                <a:spcPct val="20000"/>
              </a:spcBef>
              <a:buFont typeface="Arial" pitchFamily="34" charset="0"/>
              <a:buNone/>
              <a:defRPr lang="zh-CN" altLang="en-US" sz="1600" kern="12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742932" indent="-285744" algn="l" defTabSz="91437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最新信号跟踪</a:t>
            </a:r>
          </a:p>
        </p:txBody>
      </p:sp>
      <p:sp>
        <p:nvSpPr>
          <p:cNvPr id="7" name="文本占位符 5">
            <a:extLst>
              <a:ext uri="{FF2B5EF4-FFF2-40B4-BE49-F238E27FC236}">
                <a16:creationId xmlns:a16="http://schemas.microsoft.com/office/drawing/2014/main" id="{9C0074B9-7165-9C4A-03D2-A46C1BFB37D5}"/>
              </a:ext>
            </a:extLst>
          </p:cNvPr>
          <p:cNvSpPr txBox="1">
            <a:spLocks/>
          </p:cNvSpPr>
          <p:nvPr/>
        </p:nvSpPr>
        <p:spPr>
          <a:xfrm>
            <a:off x="1495719" y="5812805"/>
            <a:ext cx="2031325" cy="33855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marL="0" indent="0" algn="l" defTabSz="914377" rtl="0" eaLnBrk="1" latinLnBrk="0" hangingPunct="1">
              <a:spcBef>
                <a:spcPct val="20000"/>
              </a:spcBef>
              <a:buFont typeface="Arial" pitchFamily="34" charset="0"/>
              <a:buNone/>
              <a:defRPr lang="zh-CN" altLang="en-US" sz="1600" kern="1200" dirty="0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742932" indent="-285744" algn="l" defTabSz="91437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参数敏感性检验结果</a:t>
            </a:r>
          </a:p>
        </p:txBody>
      </p:sp>
    </p:spTree>
    <p:extLst>
      <p:ext uri="{BB962C8B-B14F-4D97-AF65-F5344CB8AC3E}">
        <p14:creationId xmlns:p14="http://schemas.microsoft.com/office/powerpoint/2010/main" val="29750470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dirty="0"/>
              <a:t>参考文献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44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59218" y="1340849"/>
            <a:ext cx="9178582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rgbClr val="F5781B"/>
              </a:buClr>
            </a:pPr>
            <a:r>
              <a:rPr lang="en-US" altLang="zh-CN" sz="1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en" altLang="zh-CN" sz="1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Garman M B, </a:t>
            </a:r>
            <a:r>
              <a:rPr lang="en" altLang="zh-CN" sz="14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" altLang="zh-CN" sz="1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 J. On the estimation of security price volatilities from historical data[J]. Journal of business, 1980: 67-78.</a:t>
            </a:r>
          </a:p>
          <a:p>
            <a:pPr algn="just">
              <a:lnSpc>
                <a:spcPct val="150000"/>
              </a:lnSpc>
              <a:buClr>
                <a:srgbClr val="F5781B"/>
              </a:buClr>
            </a:pPr>
            <a:endParaRPr lang="en" altLang="zh-CN" sz="14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" altLang="zh-CN" sz="1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" altLang="zh-CN" sz="14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Thomsett</a:t>
            </a:r>
            <a:r>
              <a:rPr lang="en" altLang="zh-CN" sz="1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 C. CMF--</a:t>
            </a:r>
            <a:r>
              <a:rPr lang="en" altLang="zh-CN" sz="14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Chaikin</a:t>
            </a:r>
            <a:r>
              <a:rPr lang="en" altLang="zh-CN" sz="1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Money Flow: Changes Anticipating Price Reversal[M]. FT Press, 2010.</a:t>
            </a:r>
          </a:p>
          <a:p>
            <a:endParaRPr lang="en" altLang="zh-CN" sz="14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 Newey W K, West K D. A simple, positive semi-definite, heteroskedasticity and autocorrelation consistent covariance matrix[J]. </a:t>
            </a:r>
            <a:r>
              <a:rPr lang="az-Cyrl-AZ" altLang="zh-CN" sz="1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Прикладная эконометрика </a:t>
            </a:r>
            <a:r>
              <a:rPr lang="en-US" altLang="zh-CN" sz="1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No1 (33) 2014, 2017, 125.</a:t>
            </a:r>
          </a:p>
          <a:p>
            <a:endParaRPr lang="en-US" altLang="zh-CN" sz="14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lang="en" altLang="zh-CN" sz="1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Bailey D H, </a:t>
            </a:r>
            <a:r>
              <a:rPr lang="en" altLang="zh-CN" sz="14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Borwein</a:t>
            </a:r>
            <a:r>
              <a:rPr lang="en" altLang="zh-CN" sz="1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J, Lopez de Prado M, et al. The probability of </a:t>
            </a:r>
            <a:r>
              <a:rPr lang="en" altLang="zh-CN" sz="140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backtest</a:t>
            </a:r>
            <a:r>
              <a:rPr lang="en" altLang="zh-CN" sz="1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overfitting[J]. Journal of Computational Finance, forthcoming, 2016.</a:t>
            </a:r>
          </a:p>
          <a:p>
            <a:endParaRPr lang="en" altLang="zh-CN" sz="14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[5] </a:t>
            </a:r>
            <a:r>
              <a:rPr lang="zh-CN" altLang="en-US" sz="1400" dirty="0">
                <a:solidFill>
                  <a:srgbClr val="222222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沈婕</a:t>
            </a:r>
            <a:r>
              <a:rPr lang="en-US" altLang="zh-CN" sz="1400" dirty="0">
                <a:solidFill>
                  <a:srgbClr val="222222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. </a:t>
            </a:r>
            <a:r>
              <a:rPr lang="zh-CN" altLang="en-US" sz="1400" dirty="0">
                <a:solidFill>
                  <a:srgbClr val="222222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中国创业板市场有效性及动量效应研究</a:t>
            </a:r>
            <a:r>
              <a:rPr lang="en-US" altLang="zh-CN" sz="1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[D].</a:t>
            </a:r>
            <a:r>
              <a:rPr lang="zh-CN" altLang="en-US" sz="1400" dirty="0">
                <a:solidFill>
                  <a:srgbClr val="222222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兰州财经大学</a:t>
            </a:r>
            <a:r>
              <a:rPr lang="en-US" altLang="zh-CN" sz="14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,2022.DOI:10.27732/d.cnki.gnzsx.2022.000084.</a:t>
            </a:r>
          </a:p>
        </p:txBody>
      </p:sp>
    </p:spTree>
    <p:extLst>
      <p:ext uri="{BB962C8B-B14F-4D97-AF65-F5344CB8AC3E}">
        <p14:creationId xmlns:p14="http://schemas.microsoft.com/office/powerpoint/2010/main" val="37217624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dirty="0"/>
              <a:t>策略行情适应性分析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45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4AAAE7B-5566-30C6-0AFC-28AF9288B72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605" t="19382" r="56807" b="48927"/>
          <a:stretch/>
        </p:blipFill>
        <p:spPr>
          <a:xfrm>
            <a:off x="7066720" y="2664302"/>
            <a:ext cx="3359756" cy="3103310"/>
          </a:xfrm>
          <a:prstGeom prst="rect">
            <a:avLst/>
          </a:prstGeom>
        </p:spPr>
      </p:pic>
      <p:sp>
        <p:nvSpPr>
          <p:cNvPr id="6" name="圆角矩形 5">
            <a:extLst>
              <a:ext uri="{FF2B5EF4-FFF2-40B4-BE49-F238E27FC236}">
                <a16:creationId xmlns:a16="http://schemas.microsoft.com/office/drawing/2014/main" id="{88F98C8C-7589-94B7-9774-98F563EF8072}"/>
              </a:ext>
            </a:extLst>
          </p:cNvPr>
          <p:cNvSpPr/>
          <p:nvPr/>
        </p:nvSpPr>
        <p:spPr>
          <a:xfrm>
            <a:off x="6862701" y="2485624"/>
            <a:ext cx="3736611" cy="3451538"/>
          </a:xfrm>
          <a:prstGeom prst="roundRect">
            <a:avLst>
              <a:gd name="adj" fmla="val 2450"/>
            </a:avLst>
          </a:prstGeom>
          <a:noFill/>
          <a:ln>
            <a:solidFill>
              <a:srgbClr val="4F81B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1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0B0ABFE-3C9C-F9C6-2B10-27C230AD39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957" t="34378" r="69700" b="18519"/>
          <a:stretch/>
        </p:blipFill>
        <p:spPr>
          <a:xfrm>
            <a:off x="1487278" y="2664303"/>
            <a:ext cx="3331650" cy="3103310"/>
          </a:xfrm>
          <a:prstGeom prst="rect">
            <a:avLst/>
          </a:prstGeom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0640B18B-B961-140A-3035-61340D2F52D5}"/>
              </a:ext>
            </a:extLst>
          </p:cNvPr>
          <p:cNvSpPr/>
          <p:nvPr/>
        </p:nvSpPr>
        <p:spPr>
          <a:xfrm>
            <a:off x="1284797" y="2483305"/>
            <a:ext cx="3736611" cy="3451538"/>
          </a:xfrm>
          <a:prstGeom prst="roundRect">
            <a:avLst>
              <a:gd name="adj" fmla="val 2450"/>
            </a:avLst>
          </a:prstGeom>
          <a:noFill/>
          <a:ln>
            <a:solidFill>
              <a:srgbClr val="4F81B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1"/>
          </a:p>
        </p:txBody>
      </p:sp>
      <p:sp>
        <p:nvSpPr>
          <p:cNvPr id="9" name="内容占位符 11">
            <a:extLst>
              <a:ext uri="{FF2B5EF4-FFF2-40B4-BE49-F238E27FC236}">
                <a16:creationId xmlns:a16="http://schemas.microsoft.com/office/drawing/2014/main" id="{04C2D57B-D3D1-58F8-2C11-B1D5C880126A}"/>
              </a:ext>
            </a:extLst>
          </p:cNvPr>
          <p:cNvSpPr txBox="1">
            <a:spLocks/>
          </p:cNvSpPr>
          <p:nvPr/>
        </p:nvSpPr>
        <p:spPr>
          <a:xfrm>
            <a:off x="1871741" y="1852806"/>
            <a:ext cx="2562721" cy="360000"/>
          </a:xfrm>
          <a:prstGeom prst="rect">
            <a:avLst/>
          </a:prstGeom>
          <a:solidFill>
            <a:srgbClr val="EEEEE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kumimoji="0" lang="zh-CN" altLang="en-US" sz="1400" b="1" i="0" u="none" strike="noStrike" kern="1200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ea typeface="+mn-ea"/>
                <a:cs typeface="Times New Roman" pitchFamily="18" charset="0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latin typeface="+mn-lt"/>
              </a:rPr>
              <a:t>2022</a:t>
            </a:r>
            <a:r>
              <a:rPr lang="zh-CN" altLang="en-US" dirty="0">
                <a:latin typeface="+mn-lt"/>
              </a:rPr>
              <a:t>年</a:t>
            </a:r>
            <a:r>
              <a:rPr lang="en-US" altLang="zh-CN" dirty="0">
                <a:latin typeface="+mn-lt"/>
              </a:rPr>
              <a:t>11-12</a:t>
            </a:r>
            <a:r>
              <a:rPr lang="zh-CN" altLang="en-US" dirty="0">
                <a:latin typeface="+mn-lt"/>
              </a:rPr>
              <a:t>月上证</a:t>
            </a:r>
            <a:r>
              <a:rPr lang="en-US" altLang="zh-CN" dirty="0">
                <a:latin typeface="+mn-lt"/>
              </a:rPr>
              <a:t>50</a:t>
            </a:r>
            <a:r>
              <a:rPr lang="zh-CN" altLang="en-US" dirty="0">
                <a:latin typeface="+mn-lt"/>
              </a:rPr>
              <a:t>走势</a:t>
            </a:r>
            <a:endParaRPr lang="zh-CN" altLang="en-US" dirty="0"/>
          </a:p>
        </p:txBody>
      </p:sp>
      <p:sp>
        <p:nvSpPr>
          <p:cNvPr id="10" name="内容占位符 11">
            <a:extLst>
              <a:ext uri="{FF2B5EF4-FFF2-40B4-BE49-F238E27FC236}">
                <a16:creationId xmlns:a16="http://schemas.microsoft.com/office/drawing/2014/main" id="{79AC77A9-6A91-7CE8-1BB3-A5A34EFCDA8D}"/>
              </a:ext>
            </a:extLst>
          </p:cNvPr>
          <p:cNvSpPr txBox="1">
            <a:spLocks/>
          </p:cNvSpPr>
          <p:nvPr/>
        </p:nvSpPr>
        <p:spPr>
          <a:xfrm>
            <a:off x="7465237" y="1852806"/>
            <a:ext cx="2562721" cy="360000"/>
          </a:xfrm>
          <a:prstGeom prst="rect">
            <a:avLst/>
          </a:prstGeom>
          <a:solidFill>
            <a:srgbClr val="EEEEE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kumimoji="0" lang="zh-CN" altLang="en-US" sz="1400" b="1" i="0" u="none" strike="noStrike" kern="1200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ea typeface="+mn-ea"/>
                <a:cs typeface="Times New Roman" pitchFamily="18" charset="0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latin typeface="+mn-lt"/>
              </a:rPr>
              <a:t>2023</a:t>
            </a:r>
            <a:r>
              <a:rPr lang="zh-CN" altLang="en-US" dirty="0">
                <a:latin typeface="+mn-lt"/>
              </a:rPr>
              <a:t>年</a:t>
            </a:r>
            <a:r>
              <a:rPr lang="en-US" altLang="zh-CN" dirty="0">
                <a:latin typeface="+mn-lt"/>
              </a:rPr>
              <a:t>1</a:t>
            </a:r>
            <a:r>
              <a:rPr lang="zh-CN" altLang="en-US" dirty="0">
                <a:latin typeface="+mn-lt"/>
              </a:rPr>
              <a:t>月上证</a:t>
            </a:r>
            <a:r>
              <a:rPr lang="en-US" altLang="zh-CN" dirty="0">
                <a:latin typeface="+mn-lt"/>
              </a:rPr>
              <a:t>50</a:t>
            </a:r>
            <a:r>
              <a:rPr lang="zh-CN" altLang="en-US" dirty="0">
                <a:latin typeface="+mn-lt"/>
              </a:rPr>
              <a:t>走势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1713D87-2046-F2E1-E9AC-7624656FD351}"/>
              </a:ext>
            </a:extLst>
          </p:cNvPr>
          <p:cNvSpPr txBox="1"/>
          <p:nvPr/>
        </p:nvSpPr>
        <p:spPr>
          <a:xfrm>
            <a:off x="1487278" y="1246631"/>
            <a:ext cx="8713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79646"/>
              </a:buClr>
              <a:buFont typeface="Wingdings" pitchFamily="2" charset="2"/>
              <a:buChar char="u"/>
            </a:pPr>
            <a:r>
              <a:rPr kumimoji="1" lang="zh-CN" altLang="en-US" dirty="0"/>
              <a:t>以周内反转为核心的短期策略能捕捉到涨跌交错的上行，无法捕捉横盘震荡的上行。</a:t>
            </a:r>
          </a:p>
        </p:txBody>
      </p:sp>
    </p:spTree>
    <p:extLst>
      <p:ext uri="{BB962C8B-B14F-4D97-AF65-F5344CB8AC3E}">
        <p14:creationId xmlns:p14="http://schemas.microsoft.com/office/powerpoint/2010/main" val="38395844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dirty="0"/>
              <a:t>最新信号跟踪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46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1713D87-2046-F2E1-E9AC-7624656FD351}"/>
              </a:ext>
            </a:extLst>
          </p:cNvPr>
          <p:cNvSpPr txBox="1"/>
          <p:nvPr/>
        </p:nvSpPr>
        <p:spPr>
          <a:xfrm>
            <a:off x="778940" y="1431297"/>
            <a:ext cx="8713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79646"/>
              </a:buClr>
              <a:buFont typeface="Wingdings" pitchFamily="2" charset="2"/>
              <a:buChar char="u"/>
            </a:pPr>
            <a:r>
              <a:rPr kumimoji="1" lang="zh-CN" altLang="en-US" dirty="0"/>
              <a:t>上证</a:t>
            </a:r>
            <a:r>
              <a:rPr kumimoji="1" lang="en-US" altLang="zh-CN" dirty="0"/>
              <a:t>50</a:t>
            </a:r>
            <a:endParaRPr kumimoji="1"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7F8A54A-2FDB-E2CB-6367-1B5EED5F5755}"/>
              </a:ext>
            </a:extLst>
          </p:cNvPr>
          <p:cNvSpPr txBox="1"/>
          <p:nvPr/>
        </p:nvSpPr>
        <p:spPr>
          <a:xfrm>
            <a:off x="1113462" y="1800629"/>
            <a:ext cx="10451766" cy="1657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最新信号日期：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2023/07/05</a:t>
            </a:r>
          </a:p>
          <a:p>
            <a:pPr marL="285750" indent="-285750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整体信号：看空</a:t>
            </a:r>
            <a:endParaRPr lang="en-US" altLang="zh-CN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短期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【0】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：日内动量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IntraMOM【1】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、日内振幅动量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反转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STDS【0】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、日间价格动量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Boll【0】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、日间成交量反转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Chaikin【0】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en-US" altLang="zh-CN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中期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【0】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：成交额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【0】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、普通波动率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【0】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、上行波动率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【0】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、波动率的波动率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【0】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、成分股分歧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【1】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GK</a:t>
            </a: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波动率</a:t>
            </a:r>
            <a:r>
              <a:rPr lang="en-US" altLang="zh-CN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【0】</a:t>
            </a:r>
          </a:p>
          <a:p>
            <a:pPr marL="285744" indent="-285744" algn="just">
              <a:lnSpc>
                <a:spcPct val="150000"/>
              </a:lnSpc>
              <a:buClr>
                <a:srgbClr val="F5781B"/>
              </a:buClr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交易拥挤度：未触发</a:t>
            </a:r>
            <a:endParaRPr lang="en-US" altLang="zh-CN" sz="14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028714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参数敏感性检验 </a:t>
            </a:r>
            <a:r>
              <a:rPr lang="zh-CN" altLang="en-US" sz="1600" dirty="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+mn-lt"/>
              </a:rPr>
              <a:t>将择时中的参数从样本内推向样本外的重要基础</a:t>
            </a:r>
            <a:endParaRPr lang="zh-CN" altLang="en-US" sz="16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>
          <a:xfrm>
            <a:off x="4562860" y="6267315"/>
            <a:ext cx="2844800" cy="365125"/>
          </a:xfrm>
        </p:spPr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47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内容占位符 11">
            <a:extLst>
              <a:ext uri="{FF2B5EF4-FFF2-40B4-BE49-F238E27FC236}">
                <a16:creationId xmlns:a16="http://schemas.microsoft.com/office/drawing/2014/main" id="{68EB4DA1-1778-00B9-2D7C-3D50BF1572B6}"/>
              </a:ext>
            </a:extLst>
          </p:cNvPr>
          <p:cNvSpPr txBox="1">
            <a:spLocks/>
          </p:cNvSpPr>
          <p:nvPr/>
        </p:nvSpPr>
        <p:spPr>
          <a:xfrm>
            <a:off x="4387990" y="1210816"/>
            <a:ext cx="3667037" cy="360000"/>
          </a:xfrm>
          <a:prstGeom prst="rect">
            <a:avLst/>
          </a:prstGeom>
          <a:solidFill>
            <a:srgbClr val="EEEEE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kumimoji="0" lang="zh-CN" altLang="en-US" sz="1400" b="1" i="0" u="none" strike="noStrike" kern="1200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ea typeface="+mn-ea"/>
                <a:cs typeface="Times New Roman" pitchFamily="18" charset="0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 err="1">
                <a:latin typeface="+mn-lt"/>
              </a:rPr>
              <a:t>IntraMOM</a:t>
            </a:r>
            <a:r>
              <a:rPr lang="zh-CN" altLang="en-US" dirty="0"/>
              <a:t>参数敏感性检验结果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43765A56-1B93-C170-B582-6AA27B88BC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9842483"/>
              </p:ext>
            </p:extLst>
          </p:nvPr>
        </p:nvGraphicFramePr>
        <p:xfrm>
          <a:off x="1681840" y="2857985"/>
          <a:ext cx="8828320" cy="2554605"/>
        </p:xfrm>
        <a:graphic>
          <a:graphicData uri="http://schemas.openxmlformats.org/drawingml/2006/table">
            <a:tbl>
              <a:tblPr/>
              <a:tblGrid>
                <a:gridCol w="882832">
                  <a:extLst>
                    <a:ext uri="{9D8B030D-6E8A-4147-A177-3AD203B41FA5}">
                      <a16:colId xmlns:a16="http://schemas.microsoft.com/office/drawing/2014/main" val="4226541275"/>
                    </a:ext>
                  </a:extLst>
                </a:gridCol>
                <a:gridCol w="882832">
                  <a:extLst>
                    <a:ext uri="{9D8B030D-6E8A-4147-A177-3AD203B41FA5}">
                      <a16:colId xmlns:a16="http://schemas.microsoft.com/office/drawing/2014/main" val="51331939"/>
                    </a:ext>
                  </a:extLst>
                </a:gridCol>
                <a:gridCol w="882832">
                  <a:extLst>
                    <a:ext uri="{9D8B030D-6E8A-4147-A177-3AD203B41FA5}">
                      <a16:colId xmlns:a16="http://schemas.microsoft.com/office/drawing/2014/main" val="548093376"/>
                    </a:ext>
                  </a:extLst>
                </a:gridCol>
                <a:gridCol w="882832">
                  <a:extLst>
                    <a:ext uri="{9D8B030D-6E8A-4147-A177-3AD203B41FA5}">
                      <a16:colId xmlns:a16="http://schemas.microsoft.com/office/drawing/2014/main" val="4099558981"/>
                    </a:ext>
                  </a:extLst>
                </a:gridCol>
                <a:gridCol w="882832">
                  <a:extLst>
                    <a:ext uri="{9D8B030D-6E8A-4147-A177-3AD203B41FA5}">
                      <a16:colId xmlns:a16="http://schemas.microsoft.com/office/drawing/2014/main" val="373990902"/>
                    </a:ext>
                  </a:extLst>
                </a:gridCol>
                <a:gridCol w="882832">
                  <a:extLst>
                    <a:ext uri="{9D8B030D-6E8A-4147-A177-3AD203B41FA5}">
                      <a16:colId xmlns:a16="http://schemas.microsoft.com/office/drawing/2014/main" val="2891425441"/>
                    </a:ext>
                  </a:extLst>
                </a:gridCol>
                <a:gridCol w="882832">
                  <a:extLst>
                    <a:ext uri="{9D8B030D-6E8A-4147-A177-3AD203B41FA5}">
                      <a16:colId xmlns:a16="http://schemas.microsoft.com/office/drawing/2014/main" val="3553983397"/>
                    </a:ext>
                  </a:extLst>
                </a:gridCol>
                <a:gridCol w="882832">
                  <a:extLst>
                    <a:ext uri="{9D8B030D-6E8A-4147-A177-3AD203B41FA5}">
                      <a16:colId xmlns:a16="http://schemas.microsoft.com/office/drawing/2014/main" val="3884135395"/>
                    </a:ext>
                  </a:extLst>
                </a:gridCol>
                <a:gridCol w="882832">
                  <a:extLst>
                    <a:ext uri="{9D8B030D-6E8A-4147-A177-3AD203B41FA5}">
                      <a16:colId xmlns:a16="http://schemas.microsoft.com/office/drawing/2014/main" val="4146800249"/>
                    </a:ext>
                  </a:extLst>
                </a:gridCol>
                <a:gridCol w="882832">
                  <a:extLst>
                    <a:ext uri="{9D8B030D-6E8A-4147-A177-3AD203B41FA5}">
                      <a16:colId xmlns:a16="http://schemas.microsoft.com/office/drawing/2014/main" val="748704845"/>
                    </a:ext>
                  </a:extLst>
                </a:gridCol>
              </a:tblGrid>
              <a:tr h="2838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阈值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1324169"/>
                  </a:ext>
                </a:extLst>
              </a:tr>
              <a:tr h="2838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年化收益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胜率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5677035"/>
                  </a:ext>
                </a:extLst>
              </a:tr>
              <a:tr h="283845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因子名称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窗口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1.0001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1.0002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1.0003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1.0001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1.0002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1.0003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757365"/>
                  </a:ext>
                </a:extLst>
              </a:tr>
              <a:tr h="283845">
                <a:tc rowSpan="6">
                  <a:txBody>
                    <a:bodyPr/>
                    <a:lstStyle/>
                    <a:p>
                      <a:pPr algn="ctr" rtl="0" fontAlgn="ctr"/>
                      <a:r>
                        <a:rPr lang="en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黑体" panose="02010609060101010101" pitchFamily="49" charset="-122"/>
                        </a:rPr>
                        <a:t>IntraMOM</a:t>
                      </a:r>
                      <a:endParaRPr lang="en" sz="11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黑体" panose="02010609060101010101" pitchFamily="49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7.76%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7.80%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5.83%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4.54%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0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0.52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0.51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7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8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0.49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824210"/>
                  </a:ext>
                </a:extLst>
              </a:tr>
              <a:tr h="28384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-2.14%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91C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-2.63%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8CC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-2.81%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-1.73%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96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0.46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A2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0.44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0.45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90C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0.46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9C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585855"/>
                  </a:ext>
                </a:extLst>
              </a:tr>
              <a:tr h="28384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2.59%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9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2.45%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C8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1.27%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BA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0.29%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E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0.47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F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0.52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0.54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0.54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8541361"/>
                  </a:ext>
                </a:extLst>
              </a:tr>
              <a:tr h="28384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13.70%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13.05%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77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11.64%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59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10.30%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2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0.56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D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0.59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5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0.59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5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1345801"/>
                  </a:ext>
                </a:extLst>
              </a:tr>
              <a:tr h="28384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11.32%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C9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13.64%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B6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11.38%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B9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10.34%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1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0.62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CA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0.64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D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0.62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1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5378624"/>
                  </a:ext>
                </a:extLst>
              </a:tr>
              <a:tr h="28384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9.94%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AB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7.43%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6.21%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5.59%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0.57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0.47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AC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0.54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0.49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9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390146"/>
                  </a:ext>
                </a:extLst>
              </a:tr>
            </a:tbl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9BF82312-1D84-97A5-9192-B255AEB05ACC}"/>
              </a:ext>
            </a:extLst>
          </p:cNvPr>
          <p:cNvSpPr/>
          <p:nvPr/>
        </p:nvSpPr>
        <p:spPr>
          <a:xfrm>
            <a:off x="968673" y="1614570"/>
            <a:ext cx="10173944" cy="11546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短期指标的窗口设置在</a:t>
            </a:r>
            <a:r>
              <a:rPr lang="en-US" altLang="zh-CN" sz="1600" dirty="0">
                <a:solidFill>
                  <a:srgbClr val="000000"/>
                </a:solidFill>
              </a:rPr>
              <a:t>3</a:t>
            </a:r>
            <a:r>
              <a:rPr lang="zh-CN" altLang="en-US" sz="1600" dirty="0">
                <a:solidFill>
                  <a:srgbClr val="000000"/>
                </a:solidFill>
              </a:rPr>
              <a:t>至</a:t>
            </a:r>
            <a:r>
              <a:rPr lang="en-US" altLang="zh-CN" sz="1600" dirty="0">
                <a:solidFill>
                  <a:srgbClr val="000000"/>
                </a:solidFill>
              </a:rPr>
              <a:t>60</a:t>
            </a:r>
            <a:r>
              <a:rPr lang="zh-CN" altLang="en-US" sz="1600" dirty="0">
                <a:solidFill>
                  <a:srgbClr val="000000"/>
                </a:solidFill>
              </a:rPr>
              <a:t>交易日（</a:t>
            </a:r>
            <a:r>
              <a:rPr lang="en-US" altLang="zh-CN" sz="1600" dirty="0">
                <a:solidFill>
                  <a:srgbClr val="000000"/>
                </a:solidFill>
              </a:rPr>
              <a:t>3</a:t>
            </a:r>
            <a:r>
              <a:rPr lang="zh-CN" altLang="en-US" sz="1600" dirty="0">
                <a:solidFill>
                  <a:srgbClr val="000000"/>
                </a:solidFill>
              </a:rPr>
              <a:t>个月）之间。</a:t>
            </a:r>
            <a:endParaRPr lang="en-US" altLang="zh-CN" sz="1600" dirty="0">
              <a:solidFill>
                <a:srgbClr val="000000"/>
              </a:solidFill>
            </a:endParaRPr>
          </a:p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收益、胜率观察最佳窗口在</a:t>
            </a:r>
            <a:r>
              <a:rPr lang="en-US" altLang="zh-CN" sz="1600" dirty="0">
                <a:solidFill>
                  <a:srgbClr val="000000"/>
                </a:solidFill>
              </a:rPr>
              <a:t>20</a:t>
            </a:r>
            <a:r>
              <a:rPr lang="zh-CN" altLang="en-US" sz="1600" dirty="0">
                <a:solidFill>
                  <a:srgbClr val="000000"/>
                </a:solidFill>
              </a:rPr>
              <a:t>或</a:t>
            </a:r>
            <a:r>
              <a:rPr lang="en-US" altLang="zh-CN" sz="1600" dirty="0">
                <a:solidFill>
                  <a:srgbClr val="000000"/>
                </a:solidFill>
              </a:rPr>
              <a:t>40</a:t>
            </a:r>
            <a:r>
              <a:rPr lang="zh-CN" altLang="en-US" sz="1600" dirty="0">
                <a:solidFill>
                  <a:srgbClr val="000000"/>
                </a:solidFill>
              </a:rPr>
              <a:t>日，最佳阈值在</a:t>
            </a:r>
            <a:r>
              <a:rPr lang="en-US" altLang="zh-CN" sz="1600" dirty="0">
                <a:solidFill>
                  <a:srgbClr val="000000"/>
                </a:solidFill>
              </a:rPr>
              <a:t>1</a:t>
            </a:r>
            <a:r>
              <a:rPr lang="zh-CN" altLang="en-US" sz="1600" dirty="0">
                <a:solidFill>
                  <a:srgbClr val="000000"/>
                </a:solidFill>
              </a:rPr>
              <a:t>～</a:t>
            </a:r>
            <a:r>
              <a:rPr lang="en-US" altLang="zh-CN" sz="1600" dirty="0">
                <a:solidFill>
                  <a:srgbClr val="000000"/>
                </a:solidFill>
              </a:rPr>
              <a:t>1.0002</a:t>
            </a:r>
            <a:r>
              <a:rPr lang="zh-CN" altLang="en-US" sz="1600" dirty="0">
                <a:solidFill>
                  <a:srgbClr val="000000"/>
                </a:solidFill>
              </a:rPr>
              <a:t>。</a:t>
            </a:r>
            <a:endParaRPr lang="en-US" altLang="zh-CN" sz="1600" dirty="0">
              <a:solidFill>
                <a:srgbClr val="000000"/>
              </a:solidFill>
            </a:endParaRPr>
          </a:p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指标在过短的窗口下收益、胜率均不佳，参数效果区分度明显。</a:t>
            </a:r>
          </a:p>
        </p:txBody>
      </p:sp>
    </p:spTree>
    <p:extLst>
      <p:ext uri="{BB962C8B-B14F-4D97-AF65-F5344CB8AC3E}">
        <p14:creationId xmlns:p14="http://schemas.microsoft.com/office/powerpoint/2010/main" val="10919062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参数敏感性检验 </a:t>
            </a:r>
            <a:r>
              <a:rPr lang="zh-CN" altLang="en-US" sz="1600" dirty="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+mn-lt"/>
              </a:rPr>
              <a:t>将择时中的参数从样本内推向样本外的重要基础</a:t>
            </a:r>
            <a:endParaRPr lang="zh-CN" altLang="en-US" sz="16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>
          <a:xfrm>
            <a:off x="4562860" y="6267315"/>
            <a:ext cx="2844800" cy="365125"/>
          </a:xfrm>
        </p:spPr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48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内容占位符 11">
            <a:extLst>
              <a:ext uri="{FF2B5EF4-FFF2-40B4-BE49-F238E27FC236}">
                <a16:creationId xmlns:a16="http://schemas.microsoft.com/office/drawing/2014/main" id="{68EB4DA1-1778-00B9-2D7C-3D50BF1572B6}"/>
              </a:ext>
            </a:extLst>
          </p:cNvPr>
          <p:cNvSpPr txBox="1">
            <a:spLocks/>
          </p:cNvSpPr>
          <p:nvPr/>
        </p:nvSpPr>
        <p:spPr>
          <a:xfrm>
            <a:off x="4387990" y="1210816"/>
            <a:ext cx="3667037" cy="360000"/>
          </a:xfrm>
          <a:prstGeom prst="rect">
            <a:avLst/>
          </a:prstGeom>
          <a:solidFill>
            <a:srgbClr val="EEEEE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kumimoji="0" lang="zh-CN" altLang="en-US" sz="1400" b="1" i="0" u="none" strike="noStrike" kern="1200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ea typeface="+mn-ea"/>
                <a:cs typeface="Times New Roman" pitchFamily="18" charset="0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latin typeface="+mn-lt"/>
              </a:rPr>
              <a:t>STDS</a:t>
            </a:r>
            <a:r>
              <a:rPr lang="zh-CN" altLang="en-US" dirty="0"/>
              <a:t>参数敏感性检验结果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BF82312-1D84-97A5-9192-B255AEB05ACC}"/>
              </a:ext>
            </a:extLst>
          </p:cNvPr>
          <p:cNvSpPr/>
          <p:nvPr/>
        </p:nvSpPr>
        <p:spPr>
          <a:xfrm>
            <a:off x="968673" y="1640696"/>
            <a:ext cx="10173944" cy="783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短期指标的短均线窗口设置在</a:t>
            </a:r>
            <a:r>
              <a:rPr lang="en-US" altLang="zh-CN" sz="1600" dirty="0">
                <a:solidFill>
                  <a:srgbClr val="000000"/>
                </a:solidFill>
              </a:rPr>
              <a:t>3</a:t>
            </a:r>
            <a:r>
              <a:rPr lang="zh-CN" altLang="en-US" sz="1600" dirty="0">
                <a:solidFill>
                  <a:srgbClr val="000000"/>
                </a:solidFill>
              </a:rPr>
              <a:t>至</a:t>
            </a:r>
            <a:r>
              <a:rPr lang="en-US" altLang="zh-CN" sz="1600" dirty="0">
                <a:solidFill>
                  <a:srgbClr val="000000"/>
                </a:solidFill>
              </a:rPr>
              <a:t>60</a:t>
            </a:r>
            <a:r>
              <a:rPr lang="zh-CN" altLang="en-US" sz="1600" dirty="0">
                <a:solidFill>
                  <a:srgbClr val="000000"/>
                </a:solidFill>
              </a:rPr>
              <a:t>交易日（</a:t>
            </a:r>
            <a:r>
              <a:rPr lang="en-US" altLang="zh-CN" sz="1600" dirty="0">
                <a:solidFill>
                  <a:srgbClr val="000000"/>
                </a:solidFill>
              </a:rPr>
              <a:t>3</a:t>
            </a:r>
            <a:r>
              <a:rPr lang="zh-CN" altLang="en-US" sz="1600" dirty="0">
                <a:solidFill>
                  <a:srgbClr val="000000"/>
                </a:solidFill>
              </a:rPr>
              <a:t>个月）之间。</a:t>
            </a:r>
            <a:endParaRPr lang="en-US" altLang="zh-CN" sz="1600" dirty="0">
              <a:solidFill>
                <a:srgbClr val="000000"/>
              </a:solidFill>
            </a:endParaRPr>
          </a:p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总体而言，收益、胜率观察最佳短窗口</a:t>
            </a:r>
            <a:r>
              <a:rPr lang="en-US" altLang="zh-CN" sz="1600" dirty="0">
                <a:solidFill>
                  <a:srgbClr val="000000"/>
                </a:solidFill>
              </a:rPr>
              <a:t>5</a:t>
            </a:r>
            <a:r>
              <a:rPr lang="zh-CN" altLang="en-US" sz="1600" dirty="0">
                <a:solidFill>
                  <a:srgbClr val="000000"/>
                </a:solidFill>
              </a:rPr>
              <a:t>日，最佳长窗口在</a:t>
            </a:r>
            <a:r>
              <a:rPr lang="en-US" altLang="zh-CN" sz="1600" dirty="0">
                <a:solidFill>
                  <a:srgbClr val="000000"/>
                </a:solidFill>
              </a:rPr>
              <a:t>80</a:t>
            </a:r>
            <a:r>
              <a:rPr lang="zh-CN" altLang="en-US" sz="1600" dirty="0">
                <a:solidFill>
                  <a:srgbClr val="000000"/>
                </a:solidFill>
              </a:rPr>
              <a:t>日。</a:t>
            </a:r>
            <a:endParaRPr lang="en-US" altLang="zh-CN" sz="1600" dirty="0">
              <a:solidFill>
                <a:srgbClr val="000000"/>
              </a:solidFill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C870870E-1EA8-88F3-BE52-8A2AAFA5C7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1328961"/>
              </p:ext>
            </p:extLst>
          </p:nvPr>
        </p:nvGraphicFramePr>
        <p:xfrm>
          <a:off x="498860" y="2697812"/>
          <a:ext cx="10972800" cy="2599874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196547065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354339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90966052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021625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58989037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91957502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58910263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14569215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4380659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42209663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4652927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815871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8849601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9302599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1623072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5338704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98040409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733812537"/>
                    </a:ext>
                  </a:extLst>
                </a:gridCol>
              </a:tblGrid>
              <a:tr h="297048">
                <a:tc>
                  <a:txBody>
                    <a:bodyPr/>
                    <a:lstStyle/>
                    <a:p>
                      <a:pPr algn="l" fontAlgn="b"/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34" marR="7034" marT="7034" marB="0" anchor="b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34" marR="7034" marT="7034" marB="0" anchor="b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gridSpan="16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长均线窗口</a:t>
                      </a:r>
                    </a:p>
                  </a:txBody>
                  <a:tcPr marL="7034" marR="7034" marT="703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4676451"/>
                  </a:ext>
                </a:extLst>
              </a:tr>
              <a:tr h="297048">
                <a:tc>
                  <a:txBody>
                    <a:bodyPr/>
                    <a:lstStyle/>
                    <a:p>
                      <a:pPr algn="l" fontAlgn="b"/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034" marR="7034" marT="7034" marB="0" anchor="b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</a:txBody>
                  <a:tcPr marL="7034" marR="7034" marT="7034" marB="0" anchor="b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年化收益</a:t>
                      </a:r>
                    </a:p>
                  </a:txBody>
                  <a:tcPr marL="7034" marR="7034" marT="703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胜率</a:t>
                      </a:r>
                    </a:p>
                  </a:txBody>
                  <a:tcPr marL="7034" marR="7034" marT="703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2080145"/>
                  </a:ext>
                </a:extLst>
              </a:tr>
              <a:tr h="297048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因子名称</a:t>
                      </a:r>
                    </a:p>
                  </a:txBody>
                  <a:tcPr marL="7034" marR="7034" marT="7034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短均线窗口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</a:t>
                      </a:r>
                    </a:p>
                  </a:txBody>
                  <a:tcPr marL="7034" marR="7034" marT="703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40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60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80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120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200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</a:t>
                      </a:r>
                    </a:p>
                  </a:txBody>
                  <a:tcPr marL="7034" marR="7034" marT="703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40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60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80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120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200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0072442"/>
                  </a:ext>
                </a:extLst>
              </a:tr>
              <a:tr h="277244">
                <a:tc rowSpan="6">
                  <a:txBody>
                    <a:bodyPr/>
                    <a:lstStyle/>
                    <a:p>
                      <a:pPr algn="ctr" rtl="0" fontAlgn="ctr"/>
                      <a:r>
                        <a:rPr lang="e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Arial" panose="020B0604020202020204" pitchFamily="34" charset="0"/>
                        </a:rPr>
                        <a:t>STDS</a:t>
                      </a:r>
                    </a:p>
                  </a:txBody>
                  <a:tcPr marL="7034" marR="7034" marT="7034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-3.73%</a:t>
                      </a:r>
                    </a:p>
                  </a:txBody>
                  <a:tcPr marL="7034" marR="7034" marT="703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B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-3.80%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0.96%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0.53%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-1.63%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4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-0.57%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C8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-0.82%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C3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-1.22%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C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0.51 </a:t>
                      </a:r>
                    </a:p>
                  </a:txBody>
                  <a:tcPr marL="7034" marR="7034" marT="703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0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0.55 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7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0.53 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9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0.54 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0.51 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6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0.50 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0.51 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6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0.52 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F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288544"/>
                  </a:ext>
                </a:extLst>
              </a:tr>
              <a:tr h="27724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034" marR="7034" marT="703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3.83%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E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9.82%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77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4.76%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E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8.11%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59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10.63%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4.37%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5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7.41%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1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034" marR="7034" marT="703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0.52 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0.57 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5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0.56 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0.55 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3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0.57 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6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0.56 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0.57 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353374"/>
                  </a:ext>
                </a:extLst>
              </a:tr>
              <a:tr h="27724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1.83%</a:t>
                      </a:r>
                    </a:p>
                  </a:txBody>
                  <a:tcPr marL="7034" marR="7034" marT="703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2.73%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4.60%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1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3.35%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6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4.12%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9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1.96%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1.13%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9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0.55 </a:t>
                      </a:r>
                    </a:p>
                  </a:txBody>
                  <a:tcPr marL="7034" marR="7034" marT="703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5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0.52 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0.55 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9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0.56 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0.58 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6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0.60 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4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0.59 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1269170"/>
                  </a:ext>
                </a:extLst>
              </a:tr>
              <a:tr h="27724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-3.73%</a:t>
                      </a:r>
                    </a:p>
                  </a:txBody>
                  <a:tcPr marL="7034" marR="7034" marT="703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B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2.91%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0.23%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8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2.06%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4.43%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-1.05%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F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-2.79%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9D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0.53 </a:t>
                      </a:r>
                    </a:p>
                  </a:txBody>
                  <a:tcPr marL="7034" marR="7034" marT="703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0.57 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0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0.54 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0.44 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0.58 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0.54 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0.60 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8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366086"/>
                  </a:ext>
                </a:extLst>
              </a:tr>
              <a:tr h="27724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40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0.92%</a:t>
                      </a:r>
                    </a:p>
                  </a:txBody>
                  <a:tcPr marL="7034" marR="7034" marT="703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1.08%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5.48%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4.87%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C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7.61%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D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10.09%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-1.72%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B2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0.53 </a:t>
                      </a:r>
                    </a:p>
                  </a:txBody>
                  <a:tcPr marL="7034" marR="7034" marT="703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0.54 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0.54 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0.53 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0.63 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0.55 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7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0.52 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5734223"/>
                  </a:ext>
                </a:extLst>
              </a:tr>
              <a:tr h="27724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60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-2.21%</a:t>
                      </a:r>
                    </a:p>
                  </a:txBody>
                  <a:tcPr marL="7034" marR="7034" marT="703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A8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2.30%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9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3.58%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0.82%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3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2.53%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5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2.66%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2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-1.40%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B8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0.48 </a:t>
                      </a:r>
                    </a:p>
                  </a:txBody>
                  <a:tcPr marL="7034" marR="7034" marT="703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AD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0.53 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0.54 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0.53 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0.69 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0.52 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0.64 </a:t>
                      </a:r>
                    </a:p>
                  </a:txBody>
                  <a:tcPr marL="7034" marR="7034" marT="7034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D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2268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0060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参数敏感性检验 </a:t>
            </a:r>
            <a:r>
              <a:rPr lang="zh-CN" altLang="en-US" sz="1600" dirty="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+mn-lt"/>
              </a:rPr>
              <a:t>将择时中的参数从样本内推向样本外的重要基础</a:t>
            </a:r>
            <a:endParaRPr lang="zh-CN" altLang="en-US" sz="16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>
          <a:xfrm>
            <a:off x="4562860" y="6267315"/>
            <a:ext cx="2844800" cy="365125"/>
          </a:xfrm>
        </p:spPr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49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内容占位符 11">
            <a:extLst>
              <a:ext uri="{FF2B5EF4-FFF2-40B4-BE49-F238E27FC236}">
                <a16:creationId xmlns:a16="http://schemas.microsoft.com/office/drawing/2014/main" id="{68EB4DA1-1778-00B9-2D7C-3D50BF1572B6}"/>
              </a:ext>
            </a:extLst>
          </p:cNvPr>
          <p:cNvSpPr txBox="1">
            <a:spLocks/>
          </p:cNvSpPr>
          <p:nvPr/>
        </p:nvSpPr>
        <p:spPr>
          <a:xfrm>
            <a:off x="4387990" y="1210816"/>
            <a:ext cx="3667037" cy="360000"/>
          </a:xfrm>
          <a:prstGeom prst="rect">
            <a:avLst/>
          </a:prstGeom>
          <a:solidFill>
            <a:srgbClr val="EEEEE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kumimoji="0" lang="zh-CN" altLang="en-US" sz="1400" b="1" i="0" u="none" strike="noStrike" kern="1200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ea typeface="+mn-ea"/>
                <a:cs typeface="Times New Roman" pitchFamily="18" charset="0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latin typeface="+mn-lt"/>
              </a:rPr>
              <a:t>Boll</a:t>
            </a:r>
            <a:r>
              <a:rPr lang="zh-CN" altLang="en-US" dirty="0"/>
              <a:t>参数敏感性检验结果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BF82312-1D84-97A5-9192-B255AEB05ACC}"/>
              </a:ext>
            </a:extLst>
          </p:cNvPr>
          <p:cNvSpPr/>
          <p:nvPr/>
        </p:nvSpPr>
        <p:spPr>
          <a:xfrm>
            <a:off x="968673" y="1640696"/>
            <a:ext cx="10173944" cy="1152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短期指标的窗口设置在</a:t>
            </a:r>
            <a:r>
              <a:rPr lang="en-US" altLang="zh-CN" sz="1600" dirty="0">
                <a:solidFill>
                  <a:srgbClr val="000000"/>
                </a:solidFill>
              </a:rPr>
              <a:t>3</a:t>
            </a:r>
            <a:r>
              <a:rPr lang="zh-CN" altLang="en-US" sz="1600" dirty="0">
                <a:solidFill>
                  <a:srgbClr val="000000"/>
                </a:solidFill>
              </a:rPr>
              <a:t>至</a:t>
            </a:r>
            <a:r>
              <a:rPr lang="en-US" altLang="zh-CN" sz="1600" dirty="0">
                <a:solidFill>
                  <a:srgbClr val="000000"/>
                </a:solidFill>
              </a:rPr>
              <a:t>60</a:t>
            </a:r>
            <a:r>
              <a:rPr lang="zh-CN" altLang="en-US" sz="1600" dirty="0">
                <a:solidFill>
                  <a:srgbClr val="000000"/>
                </a:solidFill>
              </a:rPr>
              <a:t>交易日（</a:t>
            </a:r>
            <a:r>
              <a:rPr lang="en-US" altLang="zh-CN" sz="1600" dirty="0">
                <a:solidFill>
                  <a:srgbClr val="000000"/>
                </a:solidFill>
              </a:rPr>
              <a:t>3</a:t>
            </a:r>
            <a:r>
              <a:rPr lang="zh-CN" altLang="en-US" sz="1600" dirty="0">
                <a:solidFill>
                  <a:srgbClr val="000000"/>
                </a:solidFill>
              </a:rPr>
              <a:t>个月）之间。</a:t>
            </a:r>
            <a:endParaRPr lang="en-US" altLang="zh-CN" sz="1600" dirty="0">
              <a:solidFill>
                <a:srgbClr val="000000"/>
              </a:solidFill>
            </a:endParaRPr>
          </a:p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en-US" altLang="zh-CN" sz="1600" dirty="0">
                <a:solidFill>
                  <a:srgbClr val="000000"/>
                </a:solidFill>
              </a:rPr>
              <a:t>Boll</a:t>
            </a:r>
            <a:r>
              <a:rPr lang="zh-CN" altLang="en-US" sz="1600" dirty="0">
                <a:solidFill>
                  <a:srgbClr val="000000"/>
                </a:solidFill>
              </a:rPr>
              <a:t>指标在长窗口、高标准差倍数的胜率相对更高，但交易次数下降因此收益不高。</a:t>
            </a:r>
            <a:endParaRPr lang="en-US" altLang="zh-CN" sz="1600" dirty="0">
              <a:solidFill>
                <a:srgbClr val="000000"/>
              </a:solidFill>
            </a:endParaRPr>
          </a:p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总体而言，对</a:t>
            </a:r>
            <a:r>
              <a:rPr lang="en-US" altLang="zh-CN" sz="1600" dirty="0">
                <a:solidFill>
                  <a:srgbClr val="000000"/>
                </a:solidFill>
              </a:rPr>
              <a:t>1</a:t>
            </a:r>
            <a:r>
              <a:rPr lang="zh-CN" altLang="en-US" sz="1600" dirty="0">
                <a:solidFill>
                  <a:srgbClr val="000000"/>
                </a:solidFill>
              </a:rPr>
              <a:t>个月内参数而言，参数和收益呈明显单调，收益、胜率观察最佳窗口</a:t>
            </a:r>
            <a:r>
              <a:rPr lang="en-US" altLang="zh-CN" sz="1600" dirty="0">
                <a:solidFill>
                  <a:srgbClr val="000000"/>
                </a:solidFill>
              </a:rPr>
              <a:t>3</a:t>
            </a:r>
            <a:r>
              <a:rPr lang="zh-CN" altLang="en-US" sz="1600" dirty="0">
                <a:solidFill>
                  <a:srgbClr val="000000"/>
                </a:solidFill>
              </a:rPr>
              <a:t>日，标准差倍数</a:t>
            </a:r>
            <a:r>
              <a:rPr lang="en-US" altLang="zh-CN" sz="1600" dirty="0">
                <a:solidFill>
                  <a:srgbClr val="000000"/>
                </a:solidFill>
              </a:rPr>
              <a:t>1</a:t>
            </a:r>
            <a:r>
              <a:rPr lang="zh-CN" altLang="en-US" sz="1600" dirty="0">
                <a:solidFill>
                  <a:srgbClr val="000000"/>
                </a:solidFill>
              </a:rPr>
              <a:t>倍。</a:t>
            </a:r>
            <a:endParaRPr lang="en-US" altLang="zh-CN" sz="1600" dirty="0">
              <a:solidFill>
                <a:srgbClr val="000000"/>
              </a:solidFill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24AEAE28-4E3D-20E8-FB41-986EF38C3E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0377283"/>
              </p:ext>
            </p:extLst>
          </p:nvPr>
        </p:nvGraphicFramePr>
        <p:xfrm>
          <a:off x="2794000" y="2955130"/>
          <a:ext cx="6604000" cy="2617041"/>
        </p:xfrm>
        <a:graphic>
          <a:graphicData uri="http://schemas.openxmlformats.org/drawingml/2006/table">
            <a:tbl>
              <a:tblPr/>
              <a:tblGrid>
                <a:gridCol w="825500">
                  <a:extLst>
                    <a:ext uri="{9D8B030D-6E8A-4147-A177-3AD203B41FA5}">
                      <a16:colId xmlns:a16="http://schemas.microsoft.com/office/drawing/2014/main" val="540313065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467525183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3656378958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3930469343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5114013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1287443553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1242233971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564058709"/>
                    </a:ext>
                  </a:extLst>
                </a:gridCol>
              </a:tblGrid>
              <a:tr h="304307"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标准差倍数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7053412"/>
                  </a:ext>
                </a:extLst>
              </a:tr>
              <a:tr h="304307"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年化收益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胜率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8253018"/>
                  </a:ext>
                </a:extLst>
              </a:tr>
              <a:tr h="304307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因子名称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窗口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1.5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1.5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7041167"/>
                  </a:ext>
                </a:extLst>
              </a:tr>
              <a:tr h="284020">
                <a:tc rowSpan="6">
                  <a:txBody>
                    <a:bodyPr/>
                    <a:lstStyle/>
                    <a:p>
                      <a:pPr algn="ctr" fontAlgn="b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Boll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12.63%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0.53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555407"/>
                  </a:ext>
                </a:extLst>
              </a:tr>
              <a:tr h="284020">
                <a:tc vMerge="1"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-3.40%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8A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-0.77%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7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0.38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EA3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0.40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0B0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479859"/>
                  </a:ext>
                </a:extLst>
              </a:tr>
              <a:tr h="284020">
                <a:tc vMerge="1">
                  <a:txBody>
                    <a:bodyPr/>
                    <a:lstStyle/>
                    <a:p>
                      <a:pPr algn="ctr" fontAlgn="b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Boll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0.72%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1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-3.45%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-0.33%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BF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0.39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2A6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0.43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BC3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0.50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2809054"/>
                  </a:ext>
                </a:extLst>
              </a:tr>
              <a:tr h="284020">
                <a:tc vMerge="1"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3.86%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2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-2.35%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9C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1.23%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0.51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7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0.45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4D4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0.50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7780949"/>
                  </a:ext>
                </a:extLst>
              </a:tr>
              <a:tr h="284020">
                <a:tc vMerge="1"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40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1.61%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E0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6.12%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F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4.72%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5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0.35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0.50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0.50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0245907"/>
                  </a:ext>
                </a:extLst>
              </a:tr>
              <a:tr h="284020">
                <a:tc vMerge="1"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60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3.73%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4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4.76%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6.27%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D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0.43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C5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0.56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0.83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81833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4537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参数敏感性检验 </a:t>
            </a:r>
            <a:r>
              <a:rPr lang="zh-CN" altLang="en-US" sz="1600" dirty="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+mn-lt"/>
              </a:rPr>
              <a:t>将择时中的参数从样本内推向样本外的重要基础</a:t>
            </a:r>
            <a:endParaRPr lang="zh-CN" altLang="en-US" sz="16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>
          <a:xfrm>
            <a:off x="4562860" y="6267315"/>
            <a:ext cx="2844800" cy="365125"/>
          </a:xfrm>
        </p:spPr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50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内容占位符 11">
            <a:extLst>
              <a:ext uri="{FF2B5EF4-FFF2-40B4-BE49-F238E27FC236}">
                <a16:creationId xmlns:a16="http://schemas.microsoft.com/office/drawing/2014/main" id="{68EB4DA1-1778-00B9-2D7C-3D50BF1572B6}"/>
              </a:ext>
            </a:extLst>
          </p:cNvPr>
          <p:cNvSpPr txBox="1">
            <a:spLocks/>
          </p:cNvSpPr>
          <p:nvPr/>
        </p:nvSpPr>
        <p:spPr>
          <a:xfrm>
            <a:off x="4387990" y="1210816"/>
            <a:ext cx="3667037" cy="360000"/>
          </a:xfrm>
          <a:prstGeom prst="rect">
            <a:avLst/>
          </a:prstGeom>
          <a:solidFill>
            <a:srgbClr val="EEEEE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kumimoji="0" lang="zh-CN" altLang="en-US" sz="1400" b="1" i="0" u="none" strike="noStrike" kern="1200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ea typeface="+mn-ea"/>
                <a:cs typeface="Times New Roman" pitchFamily="18" charset="0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 err="1">
                <a:latin typeface="+mn-lt"/>
              </a:rPr>
              <a:t>Chaikin</a:t>
            </a:r>
            <a:r>
              <a:rPr lang="zh-CN" altLang="en-US" dirty="0"/>
              <a:t>参数敏感性检验结果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BF82312-1D84-97A5-9192-B255AEB05ACC}"/>
              </a:ext>
            </a:extLst>
          </p:cNvPr>
          <p:cNvSpPr/>
          <p:nvPr/>
        </p:nvSpPr>
        <p:spPr>
          <a:xfrm>
            <a:off x="968673" y="1640696"/>
            <a:ext cx="10173944" cy="1152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短期指标的窗口设置在</a:t>
            </a:r>
            <a:r>
              <a:rPr lang="en-US" altLang="zh-CN" sz="1600" dirty="0">
                <a:solidFill>
                  <a:srgbClr val="000000"/>
                </a:solidFill>
              </a:rPr>
              <a:t>3</a:t>
            </a:r>
            <a:r>
              <a:rPr lang="zh-CN" altLang="en-US" sz="1600" dirty="0">
                <a:solidFill>
                  <a:srgbClr val="000000"/>
                </a:solidFill>
              </a:rPr>
              <a:t>至</a:t>
            </a:r>
            <a:r>
              <a:rPr lang="en-US" altLang="zh-CN" sz="1600" dirty="0">
                <a:solidFill>
                  <a:srgbClr val="000000"/>
                </a:solidFill>
              </a:rPr>
              <a:t>60</a:t>
            </a:r>
            <a:r>
              <a:rPr lang="zh-CN" altLang="en-US" sz="1600" dirty="0">
                <a:solidFill>
                  <a:srgbClr val="000000"/>
                </a:solidFill>
              </a:rPr>
              <a:t>交易日（</a:t>
            </a:r>
            <a:r>
              <a:rPr lang="en-US" altLang="zh-CN" sz="1600" dirty="0">
                <a:solidFill>
                  <a:srgbClr val="000000"/>
                </a:solidFill>
              </a:rPr>
              <a:t>3</a:t>
            </a:r>
            <a:r>
              <a:rPr lang="zh-CN" altLang="en-US" sz="1600" dirty="0">
                <a:solidFill>
                  <a:srgbClr val="000000"/>
                </a:solidFill>
              </a:rPr>
              <a:t>个月）之间。</a:t>
            </a:r>
            <a:endParaRPr lang="en-US" altLang="zh-CN" sz="1600" dirty="0">
              <a:solidFill>
                <a:srgbClr val="000000"/>
              </a:solidFill>
            </a:endParaRPr>
          </a:p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en-US" altLang="zh-CN" sz="1600" dirty="0" err="1">
                <a:solidFill>
                  <a:srgbClr val="000000"/>
                </a:solidFill>
              </a:rPr>
              <a:t>Chaikin</a:t>
            </a:r>
            <a:r>
              <a:rPr lang="zh-CN" altLang="en-US" sz="1600" dirty="0">
                <a:solidFill>
                  <a:srgbClr val="000000"/>
                </a:solidFill>
              </a:rPr>
              <a:t>指标在短期的反转效应更好。</a:t>
            </a:r>
            <a:endParaRPr lang="en-US" altLang="zh-CN" sz="1600" dirty="0">
              <a:solidFill>
                <a:srgbClr val="000000"/>
              </a:solidFill>
            </a:endParaRPr>
          </a:p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总体而言，收益观察最佳短窗口</a:t>
            </a:r>
            <a:r>
              <a:rPr lang="en-US" altLang="zh-CN" sz="1600" dirty="0">
                <a:solidFill>
                  <a:srgbClr val="000000"/>
                </a:solidFill>
              </a:rPr>
              <a:t>3</a:t>
            </a:r>
            <a:r>
              <a:rPr lang="zh-CN" altLang="en-US" sz="1600" dirty="0">
                <a:solidFill>
                  <a:srgbClr val="000000"/>
                </a:solidFill>
              </a:rPr>
              <a:t>日，长窗口</a:t>
            </a:r>
            <a:r>
              <a:rPr lang="en-US" altLang="zh-CN" sz="1600" dirty="0">
                <a:solidFill>
                  <a:srgbClr val="000000"/>
                </a:solidFill>
              </a:rPr>
              <a:t>5</a:t>
            </a:r>
            <a:r>
              <a:rPr lang="zh-CN" altLang="en-US" sz="1600" dirty="0">
                <a:solidFill>
                  <a:srgbClr val="000000"/>
                </a:solidFill>
              </a:rPr>
              <a:t>日。胜率稳定性较好。</a:t>
            </a:r>
            <a:endParaRPr lang="en-US" altLang="zh-CN" sz="1600" dirty="0">
              <a:solidFill>
                <a:srgbClr val="000000"/>
              </a:solidFill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2265194-3EB4-A095-6C9D-5ABC1CBEB9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901134"/>
              </p:ext>
            </p:extLst>
          </p:nvPr>
        </p:nvGraphicFramePr>
        <p:xfrm>
          <a:off x="735111" y="2914230"/>
          <a:ext cx="10972794" cy="2941962"/>
        </p:xfrm>
        <a:graphic>
          <a:graphicData uri="http://schemas.openxmlformats.org/drawingml/2006/table">
            <a:tbl>
              <a:tblPr/>
              <a:tblGrid>
                <a:gridCol w="783771">
                  <a:extLst>
                    <a:ext uri="{9D8B030D-6E8A-4147-A177-3AD203B41FA5}">
                      <a16:colId xmlns:a16="http://schemas.microsoft.com/office/drawing/2014/main" val="4260823049"/>
                    </a:ext>
                  </a:extLst>
                </a:gridCol>
                <a:gridCol w="783771">
                  <a:extLst>
                    <a:ext uri="{9D8B030D-6E8A-4147-A177-3AD203B41FA5}">
                      <a16:colId xmlns:a16="http://schemas.microsoft.com/office/drawing/2014/main" val="2925840095"/>
                    </a:ext>
                  </a:extLst>
                </a:gridCol>
                <a:gridCol w="783771">
                  <a:extLst>
                    <a:ext uri="{9D8B030D-6E8A-4147-A177-3AD203B41FA5}">
                      <a16:colId xmlns:a16="http://schemas.microsoft.com/office/drawing/2014/main" val="3284050455"/>
                    </a:ext>
                  </a:extLst>
                </a:gridCol>
                <a:gridCol w="783771">
                  <a:extLst>
                    <a:ext uri="{9D8B030D-6E8A-4147-A177-3AD203B41FA5}">
                      <a16:colId xmlns:a16="http://schemas.microsoft.com/office/drawing/2014/main" val="2996021246"/>
                    </a:ext>
                  </a:extLst>
                </a:gridCol>
                <a:gridCol w="783771">
                  <a:extLst>
                    <a:ext uri="{9D8B030D-6E8A-4147-A177-3AD203B41FA5}">
                      <a16:colId xmlns:a16="http://schemas.microsoft.com/office/drawing/2014/main" val="4200902906"/>
                    </a:ext>
                  </a:extLst>
                </a:gridCol>
                <a:gridCol w="783771">
                  <a:extLst>
                    <a:ext uri="{9D8B030D-6E8A-4147-A177-3AD203B41FA5}">
                      <a16:colId xmlns:a16="http://schemas.microsoft.com/office/drawing/2014/main" val="4243880973"/>
                    </a:ext>
                  </a:extLst>
                </a:gridCol>
                <a:gridCol w="783771">
                  <a:extLst>
                    <a:ext uri="{9D8B030D-6E8A-4147-A177-3AD203B41FA5}">
                      <a16:colId xmlns:a16="http://schemas.microsoft.com/office/drawing/2014/main" val="1334252838"/>
                    </a:ext>
                  </a:extLst>
                </a:gridCol>
                <a:gridCol w="783771">
                  <a:extLst>
                    <a:ext uri="{9D8B030D-6E8A-4147-A177-3AD203B41FA5}">
                      <a16:colId xmlns:a16="http://schemas.microsoft.com/office/drawing/2014/main" val="1566403866"/>
                    </a:ext>
                  </a:extLst>
                </a:gridCol>
                <a:gridCol w="783771">
                  <a:extLst>
                    <a:ext uri="{9D8B030D-6E8A-4147-A177-3AD203B41FA5}">
                      <a16:colId xmlns:a16="http://schemas.microsoft.com/office/drawing/2014/main" val="3942638578"/>
                    </a:ext>
                  </a:extLst>
                </a:gridCol>
                <a:gridCol w="783771">
                  <a:extLst>
                    <a:ext uri="{9D8B030D-6E8A-4147-A177-3AD203B41FA5}">
                      <a16:colId xmlns:a16="http://schemas.microsoft.com/office/drawing/2014/main" val="1739311295"/>
                    </a:ext>
                  </a:extLst>
                </a:gridCol>
                <a:gridCol w="783771">
                  <a:extLst>
                    <a:ext uri="{9D8B030D-6E8A-4147-A177-3AD203B41FA5}">
                      <a16:colId xmlns:a16="http://schemas.microsoft.com/office/drawing/2014/main" val="2542348122"/>
                    </a:ext>
                  </a:extLst>
                </a:gridCol>
                <a:gridCol w="783771">
                  <a:extLst>
                    <a:ext uri="{9D8B030D-6E8A-4147-A177-3AD203B41FA5}">
                      <a16:colId xmlns:a16="http://schemas.microsoft.com/office/drawing/2014/main" val="4280215129"/>
                    </a:ext>
                  </a:extLst>
                </a:gridCol>
                <a:gridCol w="783771">
                  <a:extLst>
                    <a:ext uri="{9D8B030D-6E8A-4147-A177-3AD203B41FA5}">
                      <a16:colId xmlns:a16="http://schemas.microsoft.com/office/drawing/2014/main" val="1544567722"/>
                    </a:ext>
                  </a:extLst>
                </a:gridCol>
                <a:gridCol w="783771">
                  <a:extLst>
                    <a:ext uri="{9D8B030D-6E8A-4147-A177-3AD203B41FA5}">
                      <a16:colId xmlns:a16="http://schemas.microsoft.com/office/drawing/2014/main" val="2666167710"/>
                    </a:ext>
                  </a:extLst>
                </a:gridCol>
              </a:tblGrid>
              <a:tr h="342088"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44" marR="9044" marT="9044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44" marR="9044" marT="9044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长均线窗口</a:t>
                      </a:r>
                    </a:p>
                  </a:txBody>
                  <a:tcPr marL="9044" marR="9044" marT="904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zh-CN" alt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44" marR="9044" marT="90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989025"/>
                  </a:ext>
                </a:extLst>
              </a:tr>
              <a:tr h="342088"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44" marR="9044" marT="9044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44" marR="9044" marT="9044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年化收益</a:t>
                      </a:r>
                    </a:p>
                  </a:txBody>
                  <a:tcPr marL="9044" marR="9044" marT="904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胜率</a:t>
                      </a:r>
                    </a:p>
                  </a:txBody>
                  <a:tcPr marL="9044" marR="9044" marT="904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125038"/>
                  </a:ext>
                </a:extLst>
              </a:tr>
              <a:tr h="342088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因子名称</a:t>
                      </a:r>
                    </a:p>
                  </a:txBody>
                  <a:tcPr marL="9044" marR="9044" marT="9044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短均线窗口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9044" marR="9044" marT="904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40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60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9044" marR="9044" marT="904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40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60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660397"/>
                  </a:ext>
                </a:extLst>
              </a:tr>
              <a:tr h="319283">
                <a:tc rowSpan="6"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" sz="11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  <a:cs typeface="Arial" panose="020B0604020202020204" pitchFamily="34" charset="0"/>
                        </a:rPr>
                        <a:t>Chaikin</a:t>
                      </a:r>
                      <a:endParaRPr lang="en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9044" marR="9044" marT="9044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044" marR="9044" marT="9044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9044" marR="9044" marT="904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-7.73%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-0.89%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3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-2.56%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1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-4.20%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B0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0.50%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9044" marR="9044" marT="904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0.44 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B1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0.46 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B6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0.40 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A5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0.36 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97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0.50 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C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63444"/>
                  </a:ext>
                </a:extLst>
              </a:tr>
              <a:tr h="319283">
                <a:tc vMerge="1">
                  <a:txBody>
                    <a:bodyPr/>
                    <a:lstStyle/>
                    <a:p>
                      <a:pPr algn="l" fontAlgn="b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44" marR="9044" marT="9044" marB="0" anchor="b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044" marR="9044" marT="9044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14.58%</a:t>
                      </a:r>
                    </a:p>
                  </a:txBody>
                  <a:tcPr marL="9044" marR="9044" marT="904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0.45%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-3.77%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B4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-2.78%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F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2.12%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0.64 </a:t>
                      </a:r>
                    </a:p>
                  </a:txBody>
                  <a:tcPr marL="9044" marR="9044" marT="904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0.44 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B1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0.42 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AA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0.45 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5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0.50 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C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372799"/>
                  </a:ext>
                </a:extLst>
              </a:tr>
              <a:tr h="319283">
                <a:tc vMerge="1">
                  <a:txBody>
                    <a:bodyPr/>
                    <a:lstStyle/>
                    <a:p>
                      <a:pPr algn="l" fontAlgn="b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44" marR="9044" marT="9044" marB="0" anchor="b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9044" marR="9044" marT="9044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6.67%</a:t>
                      </a:r>
                    </a:p>
                  </a:txBody>
                  <a:tcPr marL="9044" marR="9044" marT="904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C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5.25%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E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-4.03%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B1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-0.55%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7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1.23%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0.62 </a:t>
                      </a:r>
                    </a:p>
                  </a:txBody>
                  <a:tcPr marL="9044" marR="9044" marT="904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7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0.68 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0.42 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A9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0.40 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A4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0.44 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B2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0104035"/>
                  </a:ext>
                </a:extLst>
              </a:tr>
              <a:tr h="319283">
                <a:tc vMerge="1">
                  <a:txBody>
                    <a:bodyPr/>
                    <a:lstStyle/>
                    <a:p>
                      <a:pPr algn="l" fontAlgn="b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44" marR="9044" marT="9044" marB="0" anchor="b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9044" marR="9044" marT="9044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8.50%</a:t>
                      </a:r>
                    </a:p>
                  </a:txBody>
                  <a:tcPr marL="9044" marR="9044" marT="904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6B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9.86%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5A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10.16%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1A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1.86%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0.61%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0.69 </a:t>
                      </a:r>
                    </a:p>
                  </a:txBody>
                  <a:tcPr marL="9044" marR="9044" marT="904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0.69 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0.66 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0.60 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0.33 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90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2209917"/>
                  </a:ext>
                </a:extLst>
              </a:tr>
              <a:tr h="319283">
                <a:tc vMerge="1">
                  <a:txBody>
                    <a:bodyPr/>
                    <a:lstStyle/>
                    <a:p>
                      <a:pPr algn="l" fontAlgn="b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44" marR="9044" marT="9044" marB="0" anchor="b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40</a:t>
                      </a:r>
                    </a:p>
                  </a:txBody>
                  <a:tcPr marL="9044" marR="9044" marT="9044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10.36%</a:t>
                      </a:r>
                    </a:p>
                  </a:txBody>
                  <a:tcPr marL="9044" marR="9044" marT="904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EA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8.75%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2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6.31%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1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3.79%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0.99%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0.70 </a:t>
                      </a:r>
                    </a:p>
                  </a:txBody>
                  <a:tcPr marL="9044" marR="9044" marT="904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3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0.69 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0.79 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E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0.67 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0.40 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A4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074720"/>
                  </a:ext>
                </a:extLst>
              </a:tr>
              <a:tr h="319283">
                <a:tc vMerge="1">
                  <a:txBody>
                    <a:bodyPr/>
                    <a:lstStyle/>
                    <a:p>
                      <a:pPr algn="l" fontAlgn="b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044" marR="9044" marT="9044" marB="0" anchor="b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en-US" altLang="zh-CN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60</a:t>
                      </a:r>
                    </a:p>
                  </a:txBody>
                  <a:tcPr marL="9044" marR="9044" marT="9044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5.20%</a:t>
                      </a:r>
                    </a:p>
                  </a:txBody>
                  <a:tcPr marL="9044" marR="9044" marT="904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F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3.53%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4.44%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5.09%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0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4.69%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5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0.65 </a:t>
                      </a:r>
                    </a:p>
                  </a:txBody>
                  <a:tcPr marL="9044" marR="9044" marT="9044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0.62 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0.75 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E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1.00 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1.00 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9044" marR="9044" marT="9044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53757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40289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参数敏感性检验 </a:t>
            </a:r>
            <a:r>
              <a:rPr lang="zh-CN" altLang="en-US" sz="1600" dirty="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+mn-lt"/>
              </a:rPr>
              <a:t>将择时中的参数从样本内推向样本外的重要基础</a:t>
            </a:r>
            <a:endParaRPr lang="zh-CN" altLang="en-US" sz="16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>
          <a:xfrm>
            <a:off x="4562860" y="6267315"/>
            <a:ext cx="2844800" cy="365125"/>
          </a:xfrm>
        </p:spPr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51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内容占位符 11">
            <a:extLst>
              <a:ext uri="{FF2B5EF4-FFF2-40B4-BE49-F238E27FC236}">
                <a16:creationId xmlns:a16="http://schemas.microsoft.com/office/drawing/2014/main" id="{68EB4DA1-1778-00B9-2D7C-3D50BF1572B6}"/>
              </a:ext>
            </a:extLst>
          </p:cNvPr>
          <p:cNvSpPr txBox="1">
            <a:spLocks/>
          </p:cNvSpPr>
          <p:nvPr/>
        </p:nvSpPr>
        <p:spPr>
          <a:xfrm>
            <a:off x="4387990" y="1210816"/>
            <a:ext cx="3667037" cy="360000"/>
          </a:xfrm>
          <a:prstGeom prst="rect">
            <a:avLst/>
          </a:prstGeom>
          <a:solidFill>
            <a:srgbClr val="EEEEE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kumimoji="0" lang="zh-CN" altLang="en-US" sz="1400" b="1" i="0" u="none" strike="noStrike" kern="1200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ea typeface="+mn-ea"/>
                <a:cs typeface="Times New Roman" pitchFamily="18" charset="0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/>
              <a:t>收益波动率参数敏感性检验结果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BF82312-1D84-97A5-9192-B255AEB05ACC}"/>
              </a:ext>
            </a:extLst>
          </p:cNvPr>
          <p:cNvSpPr/>
          <p:nvPr/>
        </p:nvSpPr>
        <p:spPr>
          <a:xfrm>
            <a:off x="968673" y="1640696"/>
            <a:ext cx="10173944" cy="1152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中期指标的窗口设置在</a:t>
            </a:r>
            <a:r>
              <a:rPr lang="en-US" altLang="zh-CN" sz="1600" dirty="0">
                <a:solidFill>
                  <a:srgbClr val="000000"/>
                </a:solidFill>
              </a:rPr>
              <a:t>10</a:t>
            </a:r>
            <a:r>
              <a:rPr lang="zh-CN" altLang="en-US" sz="1600" dirty="0">
                <a:solidFill>
                  <a:srgbClr val="000000"/>
                </a:solidFill>
              </a:rPr>
              <a:t>（</a:t>
            </a:r>
            <a:r>
              <a:rPr lang="en-US" altLang="zh-CN" sz="1600" dirty="0">
                <a:solidFill>
                  <a:srgbClr val="000000"/>
                </a:solidFill>
              </a:rPr>
              <a:t>2</a:t>
            </a:r>
            <a:r>
              <a:rPr lang="zh-CN" altLang="en-US" sz="1600" dirty="0">
                <a:solidFill>
                  <a:srgbClr val="000000"/>
                </a:solidFill>
              </a:rPr>
              <a:t>周）至</a:t>
            </a:r>
            <a:r>
              <a:rPr lang="en-US" altLang="zh-CN" sz="1600" dirty="0">
                <a:solidFill>
                  <a:srgbClr val="000000"/>
                </a:solidFill>
              </a:rPr>
              <a:t>250</a:t>
            </a:r>
            <a:r>
              <a:rPr lang="zh-CN" altLang="en-US" sz="1600" dirty="0">
                <a:solidFill>
                  <a:srgbClr val="000000"/>
                </a:solidFill>
              </a:rPr>
              <a:t>交易日（</a:t>
            </a:r>
            <a:r>
              <a:rPr lang="en-US" altLang="zh-CN" sz="1600" dirty="0">
                <a:solidFill>
                  <a:srgbClr val="000000"/>
                </a:solidFill>
              </a:rPr>
              <a:t>1</a:t>
            </a:r>
            <a:r>
              <a:rPr lang="zh-CN" altLang="en-US" sz="1600" dirty="0">
                <a:solidFill>
                  <a:srgbClr val="000000"/>
                </a:solidFill>
              </a:rPr>
              <a:t>年）之间。</a:t>
            </a:r>
            <a:endParaRPr lang="en-US" altLang="zh-CN" sz="1600" dirty="0">
              <a:solidFill>
                <a:srgbClr val="000000"/>
              </a:solidFill>
            </a:endParaRPr>
          </a:p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总体而言，收益观察最佳因子窗口</a:t>
            </a:r>
            <a:r>
              <a:rPr lang="en-US" altLang="zh-CN" sz="1600" dirty="0">
                <a:solidFill>
                  <a:srgbClr val="000000"/>
                </a:solidFill>
              </a:rPr>
              <a:t>10</a:t>
            </a:r>
            <a:r>
              <a:rPr lang="zh-CN" altLang="en-US" sz="1600" dirty="0">
                <a:solidFill>
                  <a:srgbClr val="000000"/>
                </a:solidFill>
              </a:rPr>
              <a:t>、</a:t>
            </a:r>
            <a:r>
              <a:rPr lang="en-US" altLang="zh-CN" sz="1600" dirty="0">
                <a:solidFill>
                  <a:srgbClr val="000000"/>
                </a:solidFill>
              </a:rPr>
              <a:t>20</a:t>
            </a:r>
            <a:r>
              <a:rPr lang="zh-CN" altLang="en-US" sz="1600" dirty="0">
                <a:solidFill>
                  <a:srgbClr val="000000"/>
                </a:solidFill>
              </a:rPr>
              <a:t>或</a:t>
            </a:r>
            <a:r>
              <a:rPr lang="en-US" altLang="zh-CN" sz="1600" dirty="0">
                <a:solidFill>
                  <a:srgbClr val="000000"/>
                </a:solidFill>
              </a:rPr>
              <a:t>60</a:t>
            </a:r>
            <a:r>
              <a:rPr lang="zh-CN" altLang="en-US" sz="1600" dirty="0">
                <a:solidFill>
                  <a:srgbClr val="000000"/>
                </a:solidFill>
              </a:rPr>
              <a:t>日，通道窗口</a:t>
            </a:r>
            <a:r>
              <a:rPr lang="en-US" altLang="zh-CN" sz="1600" dirty="0">
                <a:solidFill>
                  <a:srgbClr val="000000"/>
                </a:solidFill>
              </a:rPr>
              <a:t>60</a:t>
            </a:r>
            <a:r>
              <a:rPr lang="zh-CN" altLang="en-US" sz="1600" dirty="0">
                <a:solidFill>
                  <a:srgbClr val="000000"/>
                </a:solidFill>
              </a:rPr>
              <a:t>日，通道标准差倍数</a:t>
            </a:r>
            <a:r>
              <a:rPr lang="en-US" altLang="zh-CN" sz="1600" dirty="0">
                <a:solidFill>
                  <a:srgbClr val="000000"/>
                </a:solidFill>
              </a:rPr>
              <a:t>1.5</a:t>
            </a:r>
            <a:r>
              <a:rPr lang="zh-CN" altLang="en-US" sz="1600" dirty="0">
                <a:solidFill>
                  <a:srgbClr val="000000"/>
                </a:solidFill>
              </a:rPr>
              <a:t>。</a:t>
            </a:r>
            <a:endParaRPr lang="en-US" altLang="zh-CN" sz="1600" dirty="0">
              <a:solidFill>
                <a:srgbClr val="000000"/>
              </a:solidFill>
            </a:endParaRPr>
          </a:p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胜率稳定性高。</a:t>
            </a:r>
            <a:endParaRPr lang="en-US" altLang="zh-CN" sz="1600" dirty="0">
              <a:solidFill>
                <a:srgbClr val="000000"/>
              </a:solidFill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A41AE9A-2870-3165-90DD-EAE41A0F29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4610620"/>
              </p:ext>
            </p:extLst>
          </p:nvPr>
        </p:nvGraphicFramePr>
        <p:xfrm>
          <a:off x="968673" y="2863071"/>
          <a:ext cx="10173950" cy="3379254"/>
        </p:xfrm>
        <a:graphic>
          <a:graphicData uri="http://schemas.openxmlformats.org/drawingml/2006/table">
            <a:tbl>
              <a:tblPr/>
              <a:tblGrid>
                <a:gridCol w="813790">
                  <a:extLst>
                    <a:ext uri="{9D8B030D-6E8A-4147-A177-3AD203B41FA5}">
                      <a16:colId xmlns:a16="http://schemas.microsoft.com/office/drawing/2014/main" val="3728850871"/>
                    </a:ext>
                  </a:extLst>
                </a:gridCol>
                <a:gridCol w="813790">
                  <a:extLst>
                    <a:ext uri="{9D8B030D-6E8A-4147-A177-3AD203B41FA5}">
                      <a16:colId xmlns:a16="http://schemas.microsoft.com/office/drawing/2014/main" val="1169027372"/>
                    </a:ext>
                  </a:extLst>
                </a:gridCol>
                <a:gridCol w="813790">
                  <a:extLst>
                    <a:ext uri="{9D8B030D-6E8A-4147-A177-3AD203B41FA5}">
                      <a16:colId xmlns:a16="http://schemas.microsoft.com/office/drawing/2014/main" val="171580734"/>
                    </a:ext>
                  </a:extLst>
                </a:gridCol>
                <a:gridCol w="773258">
                  <a:extLst>
                    <a:ext uri="{9D8B030D-6E8A-4147-A177-3AD203B41FA5}">
                      <a16:colId xmlns:a16="http://schemas.microsoft.com/office/drawing/2014/main" val="3369275439"/>
                    </a:ext>
                  </a:extLst>
                </a:gridCol>
                <a:gridCol w="773258">
                  <a:extLst>
                    <a:ext uri="{9D8B030D-6E8A-4147-A177-3AD203B41FA5}">
                      <a16:colId xmlns:a16="http://schemas.microsoft.com/office/drawing/2014/main" val="1891121936"/>
                    </a:ext>
                  </a:extLst>
                </a:gridCol>
                <a:gridCol w="773258">
                  <a:extLst>
                    <a:ext uri="{9D8B030D-6E8A-4147-A177-3AD203B41FA5}">
                      <a16:colId xmlns:a16="http://schemas.microsoft.com/office/drawing/2014/main" val="1774098335"/>
                    </a:ext>
                  </a:extLst>
                </a:gridCol>
                <a:gridCol w="773258">
                  <a:extLst>
                    <a:ext uri="{9D8B030D-6E8A-4147-A177-3AD203B41FA5}">
                      <a16:colId xmlns:a16="http://schemas.microsoft.com/office/drawing/2014/main" val="3217498715"/>
                    </a:ext>
                  </a:extLst>
                </a:gridCol>
                <a:gridCol w="773258">
                  <a:extLst>
                    <a:ext uri="{9D8B030D-6E8A-4147-A177-3AD203B41FA5}">
                      <a16:colId xmlns:a16="http://schemas.microsoft.com/office/drawing/2014/main" val="96745871"/>
                    </a:ext>
                  </a:extLst>
                </a:gridCol>
                <a:gridCol w="773258">
                  <a:extLst>
                    <a:ext uri="{9D8B030D-6E8A-4147-A177-3AD203B41FA5}">
                      <a16:colId xmlns:a16="http://schemas.microsoft.com/office/drawing/2014/main" val="4076703643"/>
                    </a:ext>
                  </a:extLst>
                </a:gridCol>
                <a:gridCol w="773258">
                  <a:extLst>
                    <a:ext uri="{9D8B030D-6E8A-4147-A177-3AD203B41FA5}">
                      <a16:colId xmlns:a16="http://schemas.microsoft.com/office/drawing/2014/main" val="1638889471"/>
                    </a:ext>
                  </a:extLst>
                </a:gridCol>
                <a:gridCol w="773258">
                  <a:extLst>
                    <a:ext uri="{9D8B030D-6E8A-4147-A177-3AD203B41FA5}">
                      <a16:colId xmlns:a16="http://schemas.microsoft.com/office/drawing/2014/main" val="1755227733"/>
                    </a:ext>
                  </a:extLst>
                </a:gridCol>
                <a:gridCol w="773258">
                  <a:extLst>
                    <a:ext uri="{9D8B030D-6E8A-4147-A177-3AD203B41FA5}">
                      <a16:colId xmlns:a16="http://schemas.microsoft.com/office/drawing/2014/main" val="3023275817"/>
                    </a:ext>
                  </a:extLst>
                </a:gridCol>
                <a:gridCol w="773258">
                  <a:extLst>
                    <a:ext uri="{9D8B030D-6E8A-4147-A177-3AD203B41FA5}">
                      <a16:colId xmlns:a16="http://schemas.microsoft.com/office/drawing/2014/main" val="2895659822"/>
                    </a:ext>
                  </a:extLst>
                </a:gridCol>
              </a:tblGrid>
              <a:tr h="198003">
                <a:tc>
                  <a:txBody>
                    <a:bodyPr/>
                    <a:lstStyle/>
                    <a:p>
                      <a:pPr algn="ctr" fontAlgn="b"/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 gridSpan="10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因子本身窗口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638182"/>
                  </a:ext>
                </a:extLst>
              </a:tr>
              <a:tr h="211203">
                <a:tc>
                  <a:txBody>
                    <a:bodyPr/>
                    <a:lstStyle/>
                    <a:p>
                      <a:pPr algn="ctr" fontAlgn="b"/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　年化收益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胜率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1372697"/>
                  </a:ext>
                </a:extLst>
              </a:tr>
              <a:tr h="198003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因子名称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通道窗口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标准差倍数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60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120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250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60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120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250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5960524"/>
                  </a:ext>
                </a:extLst>
              </a:tr>
              <a:tr h="184803">
                <a:tc rowSpan="15">
                  <a:txBody>
                    <a:bodyPr/>
                    <a:lstStyle/>
                    <a:p>
                      <a:pPr algn="ctr" fontAlgn="t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收益波动率</a:t>
                      </a:r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 algn="ctr" fontAlgn="t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-0.19%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8CC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10.85%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5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10.66%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7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6.17%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7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5.04%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0.59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BE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0.62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4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0.61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9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0.62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CF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0.72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244452"/>
                  </a:ext>
                </a:extLst>
              </a:tr>
              <a:tr h="18480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1.5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-0.31%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10.00%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E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14.09%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A3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7.71%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7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6.14%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7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0.57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4B3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0.59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8C0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B5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0.64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4E0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0.62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D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5855295"/>
                  </a:ext>
                </a:extLst>
              </a:tr>
              <a:tr h="18480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3.24%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ACE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6.72%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16.17%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8D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7.11%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D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5.28%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0.63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8D7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0.69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0.72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D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0.69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0803309"/>
                  </a:ext>
                </a:extLst>
              </a:tr>
              <a:tr h="184803">
                <a:tc vMerge="1">
                  <a:txBody>
                    <a:bodyPr/>
                    <a:lstStyle/>
                    <a:p>
                      <a:pPr algn="ctr" fontAlgn="t"/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t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1.92%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6B4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8.14%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18.19%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77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3.68%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6D6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5.27%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0.67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0.69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FA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0.68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0.69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5491581"/>
                  </a:ext>
                </a:extLst>
              </a:tr>
              <a:tr h="18480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1.5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9.88%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F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3.72%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7D7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17.11%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838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1.74%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1B1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6.82%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0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0.73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9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0.68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0.75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0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FC6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0.73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6203750"/>
                  </a:ext>
                </a:extLst>
              </a:tr>
              <a:tr h="18480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1.05%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EA4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7.17%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C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13.64%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A8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2.64%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AC2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5.40%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0.72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D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0.74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6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0.71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0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0.56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9AB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0.71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0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689912"/>
                  </a:ext>
                </a:extLst>
              </a:tr>
              <a:tr h="184803">
                <a:tc vMerge="1">
                  <a:txBody>
                    <a:bodyPr/>
                    <a:lstStyle/>
                    <a:p>
                      <a:pPr algn="ctr" fontAlgn="t"/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t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60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14.43%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9F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17.95%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7A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9.07%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D8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5.06%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5.29%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0.71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4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0.85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B2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0.70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7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0.75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0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1486150"/>
                  </a:ext>
                </a:extLst>
              </a:tr>
              <a:tr h="18480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1.5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19.48%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15.97%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8F9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5.64%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4.38%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3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4.89%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D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0.92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91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0.91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949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815948"/>
                  </a:ext>
                </a:extLst>
              </a:tr>
              <a:tr h="18480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3.86%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D9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17.07%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9838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3.53%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D3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5.46%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8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4.27%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E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0.80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8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B5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3856310"/>
                  </a:ext>
                </a:extLst>
              </a:tr>
              <a:tr h="184803">
                <a:tc vMerge="1">
                  <a:txBody>
                    <a:bodyPr/>
                    <a:lstStyle/>
                    <a:p>
                      <a:pPr algn="ctr" fontAlgn="t"/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t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120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12.13%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B8B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7.85%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5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7.05%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E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2.17%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B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8.46%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DF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0.90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A999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0.75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0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0.80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8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19314"/>
                  </a:ext>
                </a:extLst>
              </a:tr>
              <a:tr h="18480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1.5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4.83%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EC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3.96%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EDB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4.69%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E9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99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9.68%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D2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0.67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FC6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FC6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4134840"/>
                  </a:ext>
                </a:extLst>
              </a:tr>
              <a:tr h="18480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28F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2.29%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0BB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6.13%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7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0.95%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CA2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8.69%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DC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6248275"/>
                  </a:ext>
                </a:extLst>
              </a:tr>
              <a:tr h="184803">
                <a:tc vMerge="1">
                  <a:txBody>
                    <a:bodyPr/>
                    <a:lstStyle/>
                    <a:p>
                      <a:pPr algn="ctr" fontAlgn="t"/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t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250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12.15%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B7B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9.16%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D7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7.14%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10.22%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C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5.18%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1.00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0.83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B8B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0.80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C8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78787"/>
                  </a:ext>
                </a:extLst>
              </a:tr>
              <a:tr h="18480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1.5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3.51%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2D3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3.99%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C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1.47%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AAC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9.02%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D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5.47%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8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1.00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E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11255"/>
                  </a:ext>
                </a:extLst>
              </a:tr>
              <a:tr h="18480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28F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0.00%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28F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4.84%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6.68%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9.25%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D6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05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0243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64524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参数敏感性检验 </a:t>
            </a:r>
            <a:r>
              <a:rPr lang="zh-CN" altLang="en-US" sz="1600" dirty="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+mn-lt"/>
              </a:rPr>
              <a:t>将择时中的参数从样本内推向样本外的重要基础</a:t>
            </a:r>
            <a:endParaRPr lang="zh-CN" altLang="en-US" sz="16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>
          <a:xfrm>
            <a:off x="4562860" y="6267315"/>
            <a:ext cx="2844800" cy="365125"/>
          </a:xfrm>
        </p:spPr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52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内容占位符 11">
            <a:extLst>
              <a:ext uri="{FF2B5EF4-FFF2-40B4-BE49-F238E27FC236}">
                <a16:creationId xmlns:a16="http://schemas.microsoft.com/office/drawing/2014/main" id="{68EB4DA1-1778-00B9-2D7C-3D50BF1572B6}"/>
              </a:ext>
            </a:extLst>
          </p:cNvPr>
          <p:cNvSpPr txBox="1">
            <a:spLocks/>
          </p:cNvSpPr>
          <p:nvPr/>
        </p:nvSpPr>
        <p:spPr>
          <a:xfrm>
            <a:off x="4387990" y="1210816"/>
            <a:ext cx="3667037" cy="360000"/>
          </a:xfrm>
          <a:prstGeom prst="rect">
            <a:avLst/>
          </a:prstGeom>
          <a:solidFill>
            <a:srgbClr val="EEEEE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kumimoji="0" lang="zh-CN" altLang="en-US" sz="1400" b="1" i="0" u="none" strike="noStrike" kern="1200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ea typeface="+mn-ea"/>
                <a:cs typeface="Times New Roman" pitchFamily="18" charset="0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/>
              <a:t>上行波动率参数敏感性检验结果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BF82312-1D84-97A5-9192-B255AEB05ACC}"/>
              </a:ext>
            </a:extLst>
          </p:cNvPr>
          <p:cNvSpPr/>
          <p:nvPr/>
        </p:nvSpPr>
        <p:spPr>
          <a:xfrm>
            <a:off x="968673" y="1640696"/>
            <a:ext cx="10173944" cy="1152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中期指标的窗口设置在</a:t>
            </a:r>
            <a:r>
              <a:rPr lang="en-US" altLang="zh-CN" sz="1600" dirty="0">
                <a:solidFill>
                  <a:srgbClr val="000000"/>
                </a:solidFill>
              </a:rPr>
              <a:t>10</a:t>
            </a:r>
            <a:r>
              <a:rPr lang="zh-CN" altLang="en-US" sz="1600" dirty="0">
                <a:solidFill>
                  <a:srgbClr val="000000"/>
                </a:solidFill>
              </a:rPr>
              <a:t>（</a:t>
            </a:r>
            <a:r>
              <a:rPr lang="en-US" altLang="zh-CN" sz="1600" dirty="0">
                <a:solidFill>
                  <a:srgbClr val="000000"/>
                </a:solidFill>
              </a:rPr>
              <a:t>2</a:t>
            </a:r>
            <a:r>
              <a:rPr lang="zh-CN" altLang="en-US" sz="1600" dirty="0">
                <a:solidFill>
                  <a:srgbClr val="000000"/>
                </a:solidFill>
              </a:rPr>
              <a:t>周）至</a:t>
            </a:r>
            <a:r>
              <a:rPr lang="en-US" altLang="zh-CN" sz="1600" dirty="0">
                <a:solidFill>
                  <a:srgbClr val="000000"/>
                </a:solidFill>
              </a:rPr>
              <a:t>250</a:t>
            </a:r>
            <a:r>
              <a:rPr lang="zh-CN" altLang="en-US" sz="1600" dirty="0">
                <a:solidFill>
                  <a:srgbClr val="000000"/>
                </a:solidFill>
              </a:rPr>
              <a:t>交易日（</a:t>
            </a:r>
            <a:r>
              <a:rPr lang="en-US" altLang="zh-CN" sz="1600" dirty="0">
                <a:solidFill>
                  <a:srgbClr val="000000"/>
                </a:solidFill>
              </a:rPr>
              <a:t>1</a:t>
            </a:r>
            <a:r>
              <a:rPr lang="zh-CN" altLang="en-US" sz="1600" dirty="0">
                <a:solidFill>
                  <a:srgbClr val="000000"/>
                </a:solidFill>
              </a:rPr>
              <a:t>年）之间。</a:t>
            </a:r>
            <a:endParaRPr lang="en-US" altLang="zh-CN" sz="1600" dirty="0">
              <a:solidFill>
                <a:srgbClr val="000000"/>
              </a:solidFill>
            </a:endParaRPr>
          </a:p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总体而言，收益观察最佳因子窗口</a:t>
            </a:r>
            <a:r>
              <a:rPr lang="en-US" altLang="zh-CN" sz="1600" dirty="0">
                <a:solidFill>
                  <a:srgbClr val="000000"/>
                </a:solidFill>
              </a:rPr>
              <a:t>60</a:t>
            </a:r>
            <a:r>
              <a:rPr lang="zh-CN" altLang="en-US" sz="1600" dirty="0">
                <a:solidFill>
                  <a:srgbClr val="000000"/>
                </a:solidFill>
              </a:rPr>
              <a:t>日，通道窗口</a:t>
            </a:r>
            <a:r>
              <a:rPr lang="en-US" altLang="zh-CN" sz="1600" dirty="0">
                <a:solidFill>
                  <a:srgbClr val="000000"/>
                </a:solidFill>
              </a:rPr>
              <a:t>10</a:t>
            </a:r>
            <a:r>
              <a:rPr lang="zh-CN" altLang="en-US" sz="1600" dirty="0">
                <a:solidFill>
                  <a:srgbClr val="000000"/>
                </a:solidFill>
              </a:rPr>
              <a:t>、</a:t>
            </a:r>
            <a:r>
              <a:rPr lang="en-US" altLang="zh-CN" sz="1600" dirty="0">
                <a:solidFill>
                  <a:srgbClr val="000000"/>
                </a:solidFill>
              </a:rPr>
              <a:t>20</a:t>
            </a:r>
            <a:r>
              <a:rPr lang="zh-CN" altLang="en-US" sz="1600" dirty="0">
                <a:solidFill>
                  <a:srgbClr val="000000"/>
                </a:solidFill>
              </a:rPr>
              <a:t>或</a:t>
            </a:r>
            <a:r>
              <a:rPr lang="en-US" altLang="zh-CN" sz="1600" dirty="0">
                <a:solidFill>
                  <a:srgbClr val="000000"/>
                </a:solidFill>
              </a:rPr>
              <a:t>60</a:t>
            </a:r>
            <a:r>
              <a:rPr lang="zh-CN" altLang="en-US" sz="1600" dirty="0">
                <a:solidFill>
                  <a:srgbClr val="000000"/>
                </a:solidFill>
              </a:rPr>
              <a:t>日，通道标准差倍数差异不大。</a:t>
            </a:r>
            <a:endParaRPr lang="en-US" altLang="zh-CN" sz="1600" dirty="0">
              <a:solidFill>
                <a:srgbClr val="000000"/>
              </a:solidFill>
            </a:endParaRPr>
          </a:p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胜率稳定性高。</a:t>
            </a:r>
            <a:endParaRPr lang="en-US" altLang="zh-CN" sz="1600" dirty="0">
              <a:solidFill>
                <a:srgbClr val="000000"/>
              </a:solidFill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D9484201-D947-D878-BC85-1FB7193CB3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0625840"/>
              </p:ext>
            </p:extLst>
          </p:nvPr>
        </p:nvGraphicFramePr>
        <p:xfrm>
          <a:off x="968673" y="2810821"/>
          <a:ext cx="10173943" cy="3379254"/>
        </p:xfrm>
        <a:graphic>
          <a:graphicData uri="http://schemas.openxmlformats.org/drawingml/2006/table">
            <a:tbl>
              <a:tblPr/>
              <a:tblGrid>
                <a:gridCol w="782611">
                  <a:extLst>
                    <a:ext uri="{9D8B030D-6E8A-4147-A177-3AD203B41FA5}">
                      <a16:colId xmlns:a16="http://schemas.microsoft.com/office/drawing/2014/main" val="1512528194"/>
                    </a:ext>
                  </a:extLst>
                </a:gridCol>
                <a:gridCol w="782611">
                  <a:extLst>
                    <a:ext uri="{9D8B030D-6E8A-4147-A177-3AD203B41FA5}">
                      <a16:colId xmlns:a16="http://schemas.microsoft.com/office/drawing/2014/main" val="3306187441"/>
                    </a:ext>
                  </a:extLst>
                </a:gridCol>
                <a:gridCol w="782611">
                  <a:extLst>
                    <a:ext uri="{9D8B030D-6E8A-4147-A177-3AD203B41FA5}">
                      <a16:colId xmlns:a16="http://schemas.microsoft.com/office/drawing/2014/main" val="782705659"/>
                    </a:ext>
                  </a:extLst>
                </a:gridCol>
                <a:gridCol w="782611">
                  <a:extLst>
                    <a:ext uri="{9D8B030D-6E8A-4147-A177-3AD203B41FA5}">
                      <a16:colId xmlns:a16="http://schemas.microsoft.com/office/drawing/2014/main" val="1088348257"/>
                    </a:ext>
                  </a:extLst>
                </a:gridCol>
                <a:gridCol w="782611">
                  <a:extLst>
                    <a:ext uri="{9D8B030D-6E8A-4147-A177-3AD203B41FA5}">
                      <a16:colId xmlns:a16="http://schemas.microsoft.com/office/drawing/2014/main" val="1150581477"/>
                    </a:ext>
                  </a:extLst>
                </a:gridCol>
                <a:gridCol w="782611">
                  <a:extLst>
                    <a:ext uri="{9D8B030D-6E8A-4147-A177-3AD203B41FA5}">
                      <a16:colId xmlns:a16="http://schemas.microsoft.com/office/drawing/2014/main" val="4044034599"/>
                    </a:ext>
                  </a:extLst>
                </a:gridCol>
                <a:gridCol w="782611">
                  <a:extLst>
                    <a:ext uri="{9D8B030D-6E8A-4147-A177-3AD203B41FA5}">
                      <a16:colId xmlns:a16="http://schemas.microsoft.com/office/drawing/2014/main" val="222766504"/>
                    </a:ext>
                  </a:extLst>
                </a:gridCol>
                <a:gridCol w="782611">
                  <a:extLst>
                    <a:ext uri="{9D8B030D-6E8A-4147-A177-3AD203B41FA5}">
                      <a16:colId xmlns:a16="http://schemas.microsoft.com/office/drawing/2014/main" val="1984456555"/>
                    </a:ext>
                  </a:extLst>
                </a:gridCol>
                <a:gridCol w="782611">
                  <a:extLst>
                    <a:ext uri="{9D8B030D-6E8A-4147-A177-3AD203B41FA5}">
                      <a16:colId xmlns:a16="http://schemas.microsoft.com/office/drawing/2014/main" val="3154013207"/>
                    </a:ext>
                  </a:extLst>
                </a:gridCol>
                <a:gridCol w="782611">
                  <a:extLst>
                    <a:ext uri="{9D8B030D-6E8A-4147-A177-3AD203B41FA5}">
                      <a16:colId xmlns:a16="http://schemas.microsoft.com/office/drawing/2014/main" val="2447546766"/>
                    </a:ext>
                  </a:extLst>
                </a:gridCol>
                <a:gridCol w="782611">
                  <a:extLst>
                    <a:ext uri="{9D8B030D-6E8A-4147-A177-3AD203B41FA5}">
                      <a16:colId xmlns:a16="http://schemas.microsoft.com/office/drawing/2014/main" val="3921247756"/>
                    </a:ext>
                  </a:extLst>
                </a:gridCol>
                <a:gridCol w="782611">
                  <a:extLst>
                    <a:ext uri="{9D8B030D-6E8A-4147-A177-3AD203B41FA5}">
                      <a16:colId xmlns:a16="http://schemas.microsoft.com/office/drawing/2014/main" val="2066946516"/>
                    </a:ext>
                  </a:extLst>
                </a:gridCol>
                <a:gridCol w="782611">
                  <a:extLst>
                    <a:ext uri="{9D8B030D-6E8A-4147-A177-3AD203B41FA5}">
                      <a16:colId xmlns:a16="http://schemas.microsoft.com/office/drawing/2014/main" val="670421972"/>
                    </a:ext>
                  </a:extLst>
                </a:gridCol>
              </a:tblGrid>
              <a:tr h="198003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 gridSpan="10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因子本身窗口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031819"/>
                  </a:ext>
                </a:extLst>
              </a:tr>
              <a:tr h="211203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年化收益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胜率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411711"/>
                  </a:ext>
                </a:extLst>
              </a:tr>
              <a:tr h="198003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因子名称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通道窗口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标准差倍数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518973"/>
                  </a:ext>
                </a:extLst>
              </a:tr>
              <a:tr h="184803">
                <a:tc rowSpan="15"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上行波动率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3.88%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7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4.86%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0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22.20%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BA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6.63%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0.62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F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0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9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0.51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BE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0.68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218034"/>
                  </a:ext>
                </a:extLst>
              </a:tr>
              <a:tr h="18480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6.53%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9.02%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18.96%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A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6.89%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4.83%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0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0.62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F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9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8513517"/>
                  </a:ext>
                </a:extLst>
              </a:tr>
              <a:tr h="18480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13.28%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3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4.90%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21.71%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E7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4.70%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F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9.42%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0.64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0.69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0.79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6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7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0.71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9171645"/>
                  </a:ext>
                </a:extLst>
              </a:tr>
              <a:tr h="18480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8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10.14%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3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21.61%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F7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1.52%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BF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8.72%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8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0.66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0.72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0.58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3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562384"/>
                  </a:ext>
                </a:extLst>
              </a:tr>
              <a:tr h="18480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3.46%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9.47%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21.20%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47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1.68%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C1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8.30%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0.63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0.76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0.71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0.74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2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1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6156345"/>
                  </a:ext>
                </a:extLst>
              </a:tr>
              <a:tr h="18480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3.77%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11.16%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9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20.48%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B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3.90%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7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9.83%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6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0.69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0.68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0.86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4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0.54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C6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0.90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E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500098"/>
                  </a:ext>
                </a:extLst>
              </a:tr>
              <a:tr h="18480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9.46%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16.61%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2A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15.59%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CA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-0.22%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AE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5.75%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9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0.71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0.90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E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0.45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AD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5441217"/>
                  </a:ext>
                </a:extLst>
              </a:tr>
              <a:tr h="18480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9.86%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6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12.19%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E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12.58%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B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B8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6.45%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0.64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0.78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E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0.89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4A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BB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487242"/>
                  </a:ext>
                </a:extLst>
              </a:tr>
              <a:tr h="18480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13.72%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C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12.08%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0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11.94%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1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BA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8.66%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2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0.67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0.88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0.86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4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BB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000563"/>
                  </a:ext>
                </a:extLst>
              </a:tr>
              <a:tr h="18480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13.44%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7.95%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9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6.13%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-3.90%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9.24%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0.65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8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0.33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927009"/>
                  </a:ext>
                </a:extLst>
              </a:tr>
              <a:tr h="18480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9.86%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6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3.35%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1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3.97%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7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-2.31%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99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10.49%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0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0.73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8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0.40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9D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3254089"/>
                  </a:ext>
                </a:extLst>
              </a:tr>
              <a:tr h="18480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4.69%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F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6.47%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4.57%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6.31%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10.32%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1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BB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663337"/>
                  </a:ext>
                </a:extLst>
              </a:tr>
              <a:tr h="18480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19.68%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38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5.56%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7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7.62%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7.97%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9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7.79%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0.81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C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963432"/>
                  </a:ext>
                </a:extLst>
              </a:tr>
              <a:tr h="18480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13.06%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6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7.24%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6.00%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B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7.44%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6.96%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0.67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461666"/>
                  </a:ext>
                </a:extLst>
              </a:tr>
              <a:tr h="18480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2.77%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B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6.42%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2.17%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C6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8.83%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9.14%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BB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9667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72823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参数敏感性检验 </a:t>
            </a:r>
            <a:r>
              <a:rPr lang="zh-CN" altLang="en-US" sz="1600" dirty="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+mn-lt"/>
              </a:rPr>
              <a:t>将择时中的参数从样本内推向样本外的重要基础</a:t>
            </a:r>
            <a:endParaRPr lang="zh-CN" altLang="en-US" sz="16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>
          <a:xfrm>
            <a:off x="4562860" y="6267315"/>
            <a:ext cx="2844800" cy="365125"/>
          </a:xfrm>
        </p:spPr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53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内容占位符 11">
            <a:extLst>
              <a:ext uri="{FF2B5EF4-FFF2-40B4-BE49-F238E27FC236}">
                <a16:creationId xmlns:a16="http://schemas.microsoft.com/office/drawing/2014/main" id="{68EB4DA1-1778-00B9-2D7C-3D50BF1572B6}"/>
              </a:ext>
            </a:extLst>
          </p:cNvPr>
          <p:cNvSpPr txBox="1">
            <a:spLocks/>
          </p:cNvSpPr>
          <p:nvPr/>
        </p:nvSpPr>
        <p:spPr>
          <a:xfrm>
            <a:off x="4387990" y="1210816"/>
            <a:ext cx="3667037" cy="360000"/>
          </a:xfrm>
          <a:prstGeom prst="rect">
            <a:avLst/>
          </a:prstGeom>
          <a:solidFill>
            <a:srgbClr val="EEEEE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kumimoji="0" lang="zh-CN" altLang="en-US" sz="1400" b="1" i="0" u="none" strike="noStrike" kern="1200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ea typeface="+mn-ea"/>
                <a:cs typeface="Times New Roman" pitchFamily="18" charset="0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/>
              <a:t>250</a:t>
            </a:r>
            <a:r>
              <a:rPr lang="zh-CN" altLang="en-US" dirty="0"/>
              <a:t>日波动率的波动率参数敏感性检验结果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BF82312-1D84-97A5-9192-B255AEB05ACC}"/>
              </a:ext>
            </a:extLst>
          </p:cNvPr>
          <p:cNvSpPr/>
          <p:nvPr/>
        </p:nvSpPr>
        <p:spPr>
          <a:xfrm>
            <a:off x="968673" y="1640696"/>
            <a:ext cx="10173944" cy="1152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中期指标的窗口设置在</a:t>
            </a:r>
            <a:r>
              <a:rPr lang="en-US" altLang="zh-CN" sz="1600" dirty="0">
                <a:solidFill>
                  <a:srgbClr val="000000"/>
                </a:solidFill>
              </a:rPr>
              <a:t>10</a:t>
            </a:r>
            <a:r>
              <a:rPr lang="zh-CN" altLang="en-US" sz="1600" dirty="0">
                <a:solidFill>
                  <a:srgbClr val="000000"/>
                </a:solidFill>
              </a:rPr>
              <a:t>（</a:t>
            </a:r>
            <a:r>
              <a:rPr lang="en-US" altLang="zh-CN" sz="1600" dirty="0">
                <a:solidFill>
                  <a:srgbClr val="000000"/>
                </a:solidFill>
              </a:rPr>
              <a:t>2</a:t>
            </a:r>
            <a:r>
              <a:rPr lang="zh-CN" altLang="en-US" sz="1600" dirty="0">
                <a:solidFill>
                  <a:srgbClr val="000000"/>
                </a:solidFill>
              </a:rPr>
              <a:t>周）至</a:t>
            </a:r>
            <a:r>
              <a:rPr lang="en-US" altLang="zh-CN" sz="1600" dirty="0">
                <a:solidFill>
                  <a:srgbClr val="000000"/>
                </a:solidFill>
              </a:rPr>
              <a:t>250</a:t>
            </a:r>
            <a:r>
              <a:rPr lang="zh-CN" altLang="en-US" sz="1600" dirty="0">
                <a:solidFill>
                  <a:srgbClr val="000000"/>
                </a:solidFill>
              </a:rPr>
              <a:t>交易日（</a:t>
            </a:r>
            <a:r>
              <a:rPr lang="en-US" altLang="zh-CN" sz="1600" dirty="0">
                <a:solidFill>
                  <a:srgbClr val="000000"/>
                </a:solidFill>
              </a:rPr>
              <a:t>1</a:t>
            </a:r>
            <a:r>
              <a:rPr lang="zh-CN" altLang="en-US" sz="1600" dirty="0">
                <a:solidFill>
                  <a:srgbClr val="000000"/>
                </a:solidFill>
              </a:rPr>
              <a:t>年）之间。</a:t>
            </a:r>
            <a:endParaRPr lang="en-US" altLang="zh-CN" sz="1600" dirty="0">
              <a:solidFill>
                <a:srgbClr val="000000"/>
              </a:solidFill>
            </a:endParaRPr>
          </a:p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总体而言，收益观察最佳因子窗口</a:t>
            </a:r>
            <a:r>
              <a:rPr lang="en-US" altLang="zh-CN" sz="1600" dirty="0">
                <a:solidFill>
                  <a:srgbClr val="000000"/>
                </a:solidFill>
              </a:rPr>
              <a:t>20</a:t>
            </a:r>
            <a:r>
              <a:rPr lang="zh-CN" altLang="en-US" sz="1600" dirty="0">
                <a:solidFill>
                  <a:srgbClr val="000000"/>
                </a:solidFill>
              </a:rPr>
              <a:t>日，通道窗口</a:t>
            </a:r>
            <a:r>
              <a:rPr lang="en-US" altLang="zh-CN" sz="1600" dirty="0">
                <a:solidFill>
                  <a:srgbClr val="000000"/>
                </a:solidFill>
              </a:rPr>
              <a:t>20</a:t>
            </a:r>
            <a:r>
              <a:rPr lang="zh-CN" altLang="en-US" sz="1600" dirty="0">
                <a:solidFill>
                  <a:srgbClr val="000000"/>
                </a:solidFill>
              </a:rPr>
              <a:t>或</a:t>
            </a:r>
            <a:r>
              <a:rPr lang="en-US" altLang="zh-CN" sz="1600" dirty="0">
                <a:solidFill>
                  <a:srgbClr val="000000"/>
                </a:solidFill>
              </a:rPr>
              <a:t>60</a:t>
            </a:r>
            <a:r>
              <a:rPr lang="zh-CN" altLang="en-US" sz="1600" dirty="0">
                <a:solidFill>
                  <a:srgbClr val="000000"/>
                </a:solidFill>
              </a:rPr>
              <a:t>日，通道标准差倍数越高胜率越高。</a:t>
            </a:r>
            <a:endParaRPr lang="en-US" altLang="zh-CN" sz="1600" dirty="0">
              <a:solidFill>
                <a:srgbClr val="000000"/>
              </a:solidFill>
            </a:endParaRPr>
          </a:p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胜率稳定性高。</a:t>
            </a:r>
            <a:endParaRPr lang="en-US" altLang="zh-CN" sz="1600" dirty="0">
              <a:solidFill>
                <a:srgbClr val="000000"/>
              </a:solidFill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9A755F75-891B-ABFF-3D1C-AC05BFD3CE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4134025"/>
              </p:ext>
            </p:extLst>
          </p:nvPr>
        </p:nvGraphicFramePr>
        <p:xfrm>
          <a:off x="968670" y="2793191"/>
          <a:ext cx="10173943" cy="3418128"/>
        </p:xfrm>
        <a:graphic>
          <a:graphicData uri="http://schemas.openxmlformats.org/drawingml/2006/table">
            <a:tbl>
              <a:tblPr/>
              <a:tblGrid>
                <a:gridCol w="782611">
                  <a:extLst>
                    <a:ext uri="{9D8B030D-6E8A-4147-A177-3AD203B41FA5}">
                      <a16:colId xmlns:a16="http://schemas.microsoft.com/office/drawing/2014/main" val="4023500011"/>
                    </a:ext>
                  </a:extLst>
                </a:gridCol>
                <a:gridCol w="782611">
                  <a:extLst>
                    <a:ext uri="{9D8B030D-6E8A-4147-A177-3AD203B41FA5}">
                      <a16:colId xmlns:a16="http://schemas.microsoft.com/office/drawing/2014/main" val="3526035477"/>
                    </a:ext>
                  </a:extLst>
                </a:gridCol>
                <a:gridCol w="782611">
                  <a:extLst>
                    <a:ext uri="{9D8B030D-6E8A-4147-A177-3AD203B41FA5}">
                      <a16:colId xmlns:a16="http://schemas.microsoft.com/office/drawing/2014/main" val="1727980438"/>
                    </a:ext>
                  </a:extLst>
                </a:gridCol>
                <a:gridCol w="782611">
                  <a:extLst>
                    <a:ext uri="{9D8B030D-6E8A-4147-A177-3AD203B41FA5}">
                      <a16:colId xmlns:a16="http://schemas.microsoft.com/office/drawing/2014/main" val="939720198"/>
                    </a:ext>
                  </a:extLst>
                </a:gridCol>
                <a:gridCol w="782611">
                  <a:extLst>
                    <a:ext uri="{9D8B030D-6E8A-4147-A177-3AD203B41FA5}">
                      <a16:colId xmlns:a16="http://schemas.microsoft.com/office/drawing/2014/main" val="4010480293"/>
                    </a:ext>
                  </a:extLst>
                </a:gridCol>
                <a:gridCol w="782611">
                  <a:extLst>
                    <a:ext uri="{9D8B030D-6E8A-4147-A177-3AD203B41FA5}">
                      <a16:colId xmlns:a16="http://schemas.microsoft.com/office/drawing/2014/main" val="3894438771"/>
                    </a:ext>
                  </a:extLst>
                </a:gridCol>
                <a:gridCol w="782611">
                  <a:extLst>
                    <a:ext uri="{9D8B030D-6E8A-4147-A177-3AD203B41FA5}">
                      <a16:colId xmlns:a16="http://schemas.microsoft.com/office/drawing/2014/main" val="65355829"/>
                    </a:ext>
                  </a:extLst>
                </a:gridCol>
                <a:gridCol w="782611">
                  <a:extLst>
                    <a:ext uri="{9D8B030D-6E8A-4147-A177-3AD203B41FA5}">
                      <a16:colId xmlns:a16="http://schemas.microsoft.com/office/drawing/2014/main" val="282866368"/>
                    </a:ext>
                  </a:extLst>
                </a:gridCol>
                <a:gridCol w="782611">
                  <a:extLst>
                    <a:ext uri="{9D8B030D-6E8A-4147-A177-3AD203B41FA5}">
                      <a16:colId xmlns:a16="http://schemas.microsoft.com/office/drawing/2014/main" val="1195345721"/>
                    </a:ext>
                  </a:extLst>
                </a:gridCol>
                <a:gridCol w="782611">
                  <a:extLst>
                    <a:ext uri="{9D8B030D-6E8A-4147-A177-3AD203B41FA5}">
                      <a16:colId xmlns:a16="http://schemas.microsoft.com/office/drawing/2014/main" val="2888930743"/>
                    </a:ext>
                  </a:extLst>
                </a:gridCol>
                <a:gridCol w="782611">
                  <a:extLst>
                    <a:ext uri="{9D8B030D-6E8A-4147-A177-3AD203B41FA5}">
                      <a16:colId xmlns:a16="http://schemas.microsoft.com/office/drawing/2014/main" val="4088399374"/>
                    </a:ext>
                  </a:extLst>
                </a:gridCol>
                <a:gridCol w="782611">
                  <a:extLst>
                    <a:ext uri="{9D8B030D-6E8A-4147-A177-3AD203B41FA5}">
                      <a16:colId xmlns:a16="http://schemas.microsoft.com/office/drawing/2014/main" val="399149297"/>
                    </a:ext>
                  </a:extLst>
                </a:gridCol>
                <a:gridCol w="782611">
                  <a:extLst>
                    <a:ext uri="{9D8B030D-6E8A-4147-A177-3AD203B41FA5}">
                      <a16:colId xmlns:a16="http://schemas.microsoft.com/office/drawing/2014/main" val="2063596023"/>
                    </a:ext>
                  </a:extLst>
                </a:gridCol>
              </a:tblGrid>
              <a:tr h="189896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 gridSpan="10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因子本身窗口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1516465"/>
                  </a:ext>
                </a:extLst>
              </a:tr>
              <a:tr h="189896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年化收益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胜率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0436473"/>
                  </a:ext>
                </a:extLst>
              </a:tr>
              <a:tr h="189896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因子名称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通道窗口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标准差倍数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392544"/>
                  </a:ext>
                </a:extLst>
              </a:tr>
              <a:tr h="189896">
                <a:tc rowSpan="15"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250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日波动率的波动率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-4.49%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8DC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-1.20%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8B6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9.08%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3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1.22%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4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8.67%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8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0.52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C4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0.54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CF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610900"/>
                  </a:ext>
                </a:extLst>
              </a:tr>
              <a:tr h="18989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-3.83%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95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0.35%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9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8.26%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D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0.94%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D0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8.05%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0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0.58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0.56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0.62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0.54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CF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8906663"/>
                  </a:ext>
                </a:extLst>
              </a:tr>
              <a:tr h="18989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-3.91%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94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1.37%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7.69%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1.46%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7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7.76%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0.46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7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B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5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C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1392172"/>
                  </a:ext>
                </a:extLst>
              </a:tr>
              <a:tr h="18989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3.21%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11.34%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7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8.98%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4C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3.20%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5.94%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0.61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0.59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7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0.58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14660"/>
                  </a:ext>
                </a:extLst>
              </a:tr>
              <a:tr h="18989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-4.80%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13.96%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7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9.01%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4C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2.50%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3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5.56%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BB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0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1258069"/>
                  </a:ext>
                </a:extLst>
              </a:tr>
              <a:tr h="18989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-4.48%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8DC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14.95%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A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9.87%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9B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5.19%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3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5.50%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0.76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7C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F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0.56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7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483603"/>
                  </a:ext>
                </a:extLst>
              </a:tr>
              <a:tr h="18989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11.69%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3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15.72%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1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5.68%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-1.49%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B2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6.27%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6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0.74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2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0.71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E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0.40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3782439"/>
                  </a:ext>
                </a:extLst>
              </a:tr>
              <a:tr h="18989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4.97%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16.31%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9.22%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1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1.43%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6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6.41%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0.86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2A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94121"/>
                  </a:ext>
                </a:extLst>
              </a:tr>
              <a:tr h="18989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C5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3.19%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8.65%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9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4.46%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7.30%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9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0.71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A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9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053884"/>
                  </a:ext>
                </a:extLst>
              </a:tr>
              <a:tr h="18989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9.37%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0C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14.83%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C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5.50%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C5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3.46%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0.71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A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0.82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1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C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948219"/>
                  </a:ext>
                </a:extLst>
              </a:tr>
              <a:tr h="18989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C5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C5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9.87%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9B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6.15%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4.38%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9B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9B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431920"/>
                  </a:ext>
                </a:extLst>
              </a:tr>
              <a:tr h="18989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C5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C5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2.02%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6.94%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E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7.85%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BB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316775"/>
                  </a:ext>
                </a:extLst>
              </a:tr>
              <a:tr h="18989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4.37%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10.72%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F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4.88%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7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C6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4.03%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9B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BB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253003"/>
                  </a:ext>
                </a:extLst>
              </a:tr>
              <a:tr h="18989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C5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C5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3.27%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4.16%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4.10%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BB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6435361"/>
                  </a:ext>
                </a:extLst>
              </a:tr>
              <a:tr h="18989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C5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C5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3.25%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11.10%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A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9.53%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E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3958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05686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参数敏感性检验 </a:t>
            </a:r>
            <a:r>
              <a:rPr lang="zh-CN" altLang="en-US" sz="1600" dirty="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+mn-lt"/>
              </a:rPr>
              <a:t>将择时中的参数从样本内推向样本外的重要基础</a:t>
            </a:r>
            <a:endParaRPr lang="zh-CN" altLang="en-US" sz="16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>
          <a:xfrm>
            <a:off x="4562860" y="6267315"/>
            <a:ext cx="2844800" cy="365125"/>
          </a:xfrm>
        </p:spPr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54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内容占位符 11">
            <a:extLst>
              <a:ext uri="{FF2B5EF4-FFF2-40B4-BE49-F238E27FC236}">
                <a16:creationId xmlns:a16="http://schemas.microsoft.com/office/drawing/2014/main" id="{68EB4DA1-1778-00B9-2D7C-3D50BF1572B6}"/>
              </a:ext>
            </a:extLst>
          </p:cNvPr>
          <p:cNvSpPr txBox="1">
            <a:spLocks/>
          </p:cNvSpPr>
          <p:nvPr/>
        </p:nvSpPr>
        <p:spPr>
          <a:xfrm>
            <a:off x="4387990" y="1210816"/>
            <a:ext cx="3667037" cy="360000"/>
          </a:xfrm>
          <a:prstGeom prst="rect">
            <a:avLst/>
          </a:prstGeom>
          <a:solidFill>
            <a:srgbClr val="EEEEE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kumimoji="0" lang="zh-CN" altLang="en-US" sz="1400" b="1" i="0" u="none" strike="noStrike" kern="1200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ea typeface="+mn-ea"/>
                <a:cs typeface="Times New Roman" pitchFamily="18" charset="0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/>
              <a:t>成分股截面分歧度参数敏感性检验结果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BF82312-1D84-97A5-9192-B255AEB05ACC}"/>
              </a:ext>
            </a:extLst>
          </p:cNvPr>
          <p:cNvSpPr/>
          <p:nvPr/>
        </p:nvSpPr>
        <p:spPr>
          <a:xfrm>
            <a:off x="968673" y="1640696"/>
            <a:ext cx="10173944" cy="1152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中期指标的窗口设置在</a:t>
            </a:r>
            <a:r>
              <a:rPr lang="en-US" altLang="zh-CN" sz="1600" dirty="0">
                <a:solidFill>
                  <a:srgbClr val="000000"/>
                </a:solidFill>
              </a:rPr>
              <a:t>10</a:t>
            </a:r>
            <a:r>
              <a:rPr lang="zh-CN" altLang="en-US" sz="1600" dirty="0">
                <a:solidFill>
                  <a:srgbClr val="000000"/>
                </a:solidFill>
              </a:rPr>
              <a:t>（</a:t>
            </a:r>
            <a:r>
              <a:rPr lang="en-US" altLang="zh-CN" sz="1600" dirty="0">
                <a:solidFill>
                  <a:srgbClr val="000000"/>
                </a:solidFill>
              </a:rPr>
              <a:t>2</a:t>
            </a:r>
            <a:r>
              <a:rPr lang="zh-CN" altLang="en-US" sz="1600" dirty="0">
                <a:solidFill>
                  <a:srgbClr val="000000"/>
                </a:solidFill>
              </a:rPr>
              <a:t>周）至</a:t>
            </a:r>
            <a:r>
              <a:rPr lang="en-US" altLang="zh-CN" sz="1600" dirty="0">
                <a:solidFill>
                  <a:srgbClr val="000000"/>
                </a:solidFill>
              </a:rPr>
              <a:t>250</a:t>
            </a:r>
            <a:r>
              <a:rPr lang="zh-CN" altLang="en-US" sz="1600" dirty="0">
                <a:solidFill>
                  <a:srgbClr val="000000"/>
                </a:solidFill>
              </a:rPr>
              <a:t>交易日（</a:t>
            </a:r>
            <a:r>
              <a:rPr lang="en-US" altLang="zh-CN" sz="1600" dirty="0">
                <a:solidFill>
                  <a:srgbClr val="000000"/>
                </a:solidFill>
              </a:rPr>
              <a:t>1</a:t>
            </a:r>
            <a:r>
              <a:rPr lang="zh-CN" altLang="en-US" sz="1600" dirty="0">
                <a:solidFill>
                  <a:srgbClr val="000000"/>
                </a:solidFill>
              </a:rPr>
              <a:t>年）之间。</a:t>
            </a:r>
            <a:endParaRPr lang="en-US" altLang="zh-CN" sz="1600" dirty="0">
              <a:solidFill>
                <a:srgbClr val="000000"/>
              </a:solidFill>
            </a:endParaRPr>
          </a:p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总体而言，收益观察最佳因子窗口</a:t>
            </a:r>
            <a:r>
              <a:rPr lang="en-US" altLang="zh-CN" sz="1600" dirty="0">
                <a:solidFill>
                  <a:srgbClr val="000000"/>
                </a:solidFill>
              </a:rPr>
              <a:t>60</a:t>
            </a:r>
            <a:r>
              <a:rPr lang="zh-CN" altLang="en-US" sz="1600" dirty="0">
                <a:solidFill>
                  <a:srgbClr val="000000"/>
                </a:solidFill>
              </a:rPr>
              <a:t>日，通道窗口</a:t>
            </a:r>
            <a:r>
              <a:rPr lang="en-US" altLang="zh-CN" sz="1600" dirty="0">
                <a:solidFill>
                  <a:srgbClr val="000000"/>
                </a:solidFill>
              </a:rPr>
              <a:t>20</a:t>
            </a:r>
            <a:r>
              <a:rPr lang="zh-CN" altLang="en-US" sz="1600" dirty="0">
                <a:solidFill>
                  <a:srgbClr val="000000"/>
                </a:solidFill>
              </a:rPr>
              <a:t>日，通道标准差倍数</a:t>
            </a:r>
            <a:r>
              <a:rPr lang="en-US" altLang="zh-CN" sz="1600" dirty="0">
                <a:solidFill>
                  <a:srgbClr val="000000"/>
                </a:solidFill>
              </a:rPr>
              <a:t>2</a:t>
            </a:r>
            <a:r>
              <a:rPr lang="zh-CN" altLang="en-US" sz="1600" dirty="0">
                <a:solidFill>
                  <a:srgbClr val="000000"/>
                </a:solidFill>
              </a:rPr>
              <a:t>倍。</a:t>
            </a:r>
            <a:endParaRPr lang="en-US" altLang="zh-CN" sz="1600" dirty="0">
              <a:solidFill>
                <a:srgbClr val="000000"/>
              </a:solidFill>
            </a:endParaRPr>
          </a:p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胜率稳定性高。</a:t>
            </a:r>
            <a:endParaRPr lang="en-US" altLang="zh-CN" sz="1600" dirty="0">
              <a:solidFill>
                <a:srgbClr val="000000"/>
              </a:solidFill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C533BD8-F688-1E21-2B48-47CC741C1B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1377109"/>
              </p:ext>
            </p:extLst>
          </p:nvPr>
        </p:nvGraphicFramePr>
        <p:xfrm>
          <a:off x="968673" y="2835775"/>
          <a:ext cx="10173943" cy="3418130"/>
        </p:xfrm>
        <a:graphic>
          <a:graphicData uri="http://schemas.openxmlformats.org/drawingml/2006/table">
            <a:tbl>
              <a:tblPr/>
              <a:tblGrid>
                <a:gridCol w="782611">
                  <a:extLst>
                    <a:ext uri="{9D8B030D-6E8A-4147-A177-3AD203B41FA5}">
                      <a16:colId xmlns:a16="http://schemas.microsoft.com/office/drawing/2014/main" val="3244392123"/>
                    </a:ext>
                  </a:extLst>
                </a:gridCol>
                <a:gridCol w="782611">
                  <a:extLst>
                    <a:ext uri="{9D8B030D-6E8A-4147-A177-3AD203B41FA5}">
                      <a16:colId xmlns:a16="http://schemas.microsoft.com/office/drawing/2014/main" val="2461420176"/>
                    </a:ext>
                  </a:extLst>
                </a:gridCol>
                <a:gridCol w="782611">
                  <a:extLst>
                    <a:ext uri="{9D8B030D-6E8A-4147-A177-3AD203B41FA5}">
                      <a16:colId xmlns:a16="http://schemas.microsoft.com/office/drawing/2014/main" val="2019137505"/>
                    </a:ext>
                  </a:extLst>
                </a:gridCol>
                <a:gridCol w="782611">
                  <a:extLst>
                    <a:ext uri="{9D8B030D-6E8A-4147-A177-3AD203B41FA5}">
                      <a16:colId xmlns:a16="http://schemas.microsoft.com/office/drawing/2014/main" val="1561521226"/>
                    </a:ext>
                  </a:extLst>
                </a:gridCol>
                <a:gridCol w="782611">
                  <a:extLst>
                    <a:ext uri="{9D8B030D-6E8A-4147-A177-3AD203B41FA5}">
                      <a16:colId xmlns:a16="http://schemas.microsoft.com/office/drawing/2014/main" val="1837073901"/>
                    </a:ext>
                  </a:extLst>
                </a:gridCol>
                <a:gridCol w="782611">
                  <a:extLst>
                    <a:ext uri="{9D8B030D-6E8A-4147-A177-3AD203B41FA5}">
                      <a16:colId xmlns:a16="http://schemas.microsoft.com/office/drawing/2014/main" val="439580921"/>
                    </a:ext>
                  </a:extLst>
                </a:gridCol>
                <a:gridCol w="782611">
                  <a:extLst>
                    <a:ext uri="{9D8B030D-6E8A-4147-A177-3AD203B41FA5}">
                      <a16:colId xmlns:a16="http://schemas.microsoft.com/office/drawing/2014/main" val="3393629891"/>
                    </a:ext>
                  </a:extLst>
                </a:gridCol>
                <a:gridCol w="782611">
                  <a:extLst>
                    <a:ext uri="{9D8B030D-6E8A-4147-A177-3AD203B41FA5}">
                      <a16:colId xmlns:a16="http://schemas.microsoft.com/office/drawing/2014/main" val="1245780387"/>
                    </a:ext>
                  </a:extLst>
                </a:gridCol>
                <a:gridCol w="782611">
                  <a:extLst>
                    <a:ext uri="{9D8B030D-6E8A-4147-A177-3AD203B41FA5}">
                      <a16:colId xmlns:a16="http://schemas.microsoft.com/office/drawing/2014/main" val="2476124592"/>
                    </a:ext>
                  </a:extLst>
                </a:gridCol>
                <a:gridCol w="782611">
                  <a:extLst>
                    <a:ext uri="{9D8B030D-6E8A-4147-A177-3AD203B41FA5}">
                      <a16:colId xmlns:a16="http://schemas.microsoft.com/office/drawing/2014/main" val="2303857353"/>
                    </a:ext>
                  </a:extLst>
                </a:gridCol>
                <a:gridCol w="782611">
                  <a:extLst>
                    <a:ext uri="{9D8B030D-6E8A-4147-A177-3AD203B41FA5}">
                      <a16:colId xmlns:a16="http://schemas.microsoft.com/office/drawing/2014/main" val="3817112456"/>
                    </a:ext>
                  </a:extLst>
                </a:gridCol>
                <a:gridCol w="782611">
                  <a:extLst>
                    <a:ext uri="{9D8B030D-6E8A-4147-A177-3AD203B41FA5}">
                      <a16:colId xmlns:a16="http://schemas.microsoft.com/office/drawing/2014/main" val="428324993"/>
                    </a:ext>
                  </a:extLst>
                </a:gridCol>
                <a:gridCol w="782611">
                  <a:extLst>
                    <a:ext uri="{9D8B030D-6E8A-4147-A177-3AD203B41FA5}">
                      <a16:colId xmlns:a16="http://schemas.microsoft.com/office/drawing/2014/main" val="3834643236"/>
                    </a:ext>
                  </a:extLst>
                </a:gridCol>
              </a:tblGrid>
              <a:tr h="200281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 gridSpan="10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因子本身窗口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3061534"/>
                  </a:ext>
                </a:extLst>
              </a:tr>
              <a:tr h="213633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年化收益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胜率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6639107"/>
                  </a:ext>
                </a:extLst>
              </a:tr>
              <a:tr h="200281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因子名称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通道窗口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标准差倍数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1052845"/>
                  </a:ext>
                </a:extLst>
              </a:tr>
              <a:tr h="186929">
                <a:tc rowSpan="15"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成分股截面分歧度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-4.47%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A1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5.84%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9.78%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B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2.31%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1.65%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0.54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C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0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0065835"/>
                  </a:ext>
                </a:extLst>
              </a:tr>
              <a:tr h="18692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-6.82%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9.22%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0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6.72%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2.26%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3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4.03%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0.54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C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159581"/>
                  </a:ext>
                </a:extLst>
              </a:tr>
              <a:tr h="18692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-2.39%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8B5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3.10%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5.95%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2.17%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2.47%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0.68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0.64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0.69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7871209"/>
                  </a:ext>
                </a:extLst>
              </a:tr>
              <a:tr h="18692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7.52%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1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5.92%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1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15.55%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29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2.66%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7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4.48%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0.76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8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0.69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5753023"/>
                  </a:ext>
                </a:extLst>
              </a:tr>
              <a:tr h="18692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4.20%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4.70%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17.24%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2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2.45%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4.53%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0.68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0.72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F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981763"/>
                  </a:ext>
                </a:extLst>
              </a:tr>
              <a:tr h="18692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1.42%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B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3.77%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19.73%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0.35%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D0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2.78%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0.39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C5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4C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0.58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0.38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C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4243637"/>
                  </a:ext>
                </a:extLst>
              </a:tr>
              <a:tr h="18692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5.13%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8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11.25%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C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15.36%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49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5.53%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5.89%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0.68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8B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B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0.86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E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201408"/>
                  </a:ext>
                </a:extLst>
              </a:tr>
              <a:tr h="18692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10.30%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6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16.38%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A8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16.84%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68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4.99%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4.76%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0.69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0.86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E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0.90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4A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B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359812"/>
                  </a:ext>
                </a:extLst>
              </a:tr>
              <a:tr h="18692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4.39%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7.02%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6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9.35%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F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3.01%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2.94%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F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9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693428"/>
                  </a:ext>
                </a:extLst>
              </a:tr>
              <a:tr h="18692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3.58%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11.76%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8B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7.39%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3.46%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5.72%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3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0.75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0.88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3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F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6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0909137"/>
                  </a:ext>
                </a:extLst>
              </a:tr>
              <a:tr h="18692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3.81%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2.87%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9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4.70%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2.82%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9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8.15%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B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F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F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724880"/>
                  </a:ext>
                </a:extLst>
              </a:tr>
              <a:tr h="18692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1.73%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6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3.03%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4.74%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8.59%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6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6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3434960"/>
                  </a:ext>
                </a:extLst>
              </a:tr>
              <a:tr h="18692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5.47%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5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4.32%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6.43%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4.64%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4.95%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F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F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6107156"/>
                  </a:ext>
                </a:extLst>
              </a:tr>
              <a:tr h="18692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-0.80%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C5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5.30%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7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4.92%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8.89%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6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807204"/>
                  </a:ext>
                </a:extLst>
              </a:tr>
              <a:tr h="18692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0.25%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CF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0.13%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CE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8.16%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B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4.53%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7.52%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1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6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063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1781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参数敏感性检验 </a:t>
            </a:r>
            <a:r>
              <a:rPr lang="zh-CN" altLang="en-US" sz="1600" dirty="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+mn-lt"/>
              </a:rPr>
              <a:t>将择时中的参数从样本内推向样本外的重要基础</a:t>
            </a:r>
            <a:endParaRPr lang="zh-CN" altLang="en-US" sz="16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>
          <a:xfrm>
            <a:off x="4562860" y="6267315"/>
            <a:ext cx="2844800" cy="365125"/>
          </a:xfrm>
        </p:spPr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55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内容占位符 11">
            <a:extLst>
              <a:ext uri="{FF2B5EF4-FFF2-40B4-BE49-F238E27FC236}">
                <a16:creationId xmlns:a16="http://schemas.microsoft.com/office/drawing/2014/main" id="{68EB4DA1-1778-00B9-2D7C-3D50BF1572B6}"/>
              </a:ext>
            </a:extLst>
          </p:cNvPr>
          <p:cNvSpPr txBox="1">
            <a:spLocks/>
          </p:cNvSpPr>
          <p:nvPr/>
        </p:nvSpPr>
        <p:spPr>
          <a:xfrm>
            <a:off x="4387990" y="1210816"/>
            <a:ext cx="3667037" cy="360000"/>
          </a:xfrm>
          <a:prstGeom prst="rect">
            <a:avLst/>
          </a:prstGeom>
          <a:solidFill>
            <a:srgbClr val="EEEEE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kumimoji="0" lang="zh-CN" altLang="en-US" sz="1400" b="1" i="0" u="none" strike="noStrike" kern="1200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ea typeface="+mn-ea"/>
                <a:cs typeface="Times New Roman" pitchFamily="18" charset="0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/>
              <a:t>成交量参数敏感性检验结果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BF82312-1D84-97A5-9192-B255AEB05ACC}"/>
              </a:ext>
            </a:extLst>
          </p:cNvPr>
          <p:cNvSpPr/>
          <p:nvPr/>
        </p:nvSpPr>
        <p:spPr>
          <a:xfrm>
            <a:off x="968673" y="1640696"/>
            <a:ext cx="10173944" cy="1152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中期指标的窗口设置在</a:t>
            </a:r>
            <a:r>
              <a:rPr lang="en-US" altLang="zh-CN" sz="1600" dirty="0">
                <a:solidFill>
                  <a:srgbClr val="000000"/>
                </a:solidFill>
              </a:rPr>
              <a:t>10</a:t>
            </a:r>
            <a:r>
              <a:rPr lang="zh-CN" altLang="en-US" sz="1600" dirty="0">
                <a:solidFill>
                  <a:srgbClr val="000000"/>
                </a:solidFill>
              </a:rPr>
              <a:t>（</a:t>
            </a:r>
            <a:r>
              <a:rPr lang="en-US" altLang="zh-CN" sz="1600" dirty="0">
                <a:solidFill>
                  <a:srgbClr val="000000"/>
                </a:solidFill>
              </a:rPr>
              <a:t>2</a:t>
            </a:r>
            <a:r>
              <a:rPr lang="zh-CN" altLang="en-US" sz="1600" dirty="0">
                <a:solidFill>
                  <a:srgbClr val="000000"/>
                </a:solidFill>
              </a:rPr>
              <a:t>周）至</a:t>
            </a:r>
            <a:r>
              <a:rPr lang="en-US" altLang="zh-CN" sz="1600" dirty="0">
                <a:solidFill>
                  <a:srgbClr val="000000"/>
                </a:solidFill>
              </a:rPr>
              <a:t>250</a:t>
            </a:r>
            <a:r>
              <a:rPr lang="zh-CN" altLang="en-US" sz="1600" dirty="0">
                <a:solidFill>
                  <a:srgbClr val="000000"/>
                </a:solidFill>
              </a:rPr>
              <a:t>交易日（</a:t>
            </a:r>
            <a:r>
              <a:rPr lang="en-US" altLang="zh-CN" sz="1600" dirty="0">
                <a:solidFill>
                  <a:srgbClr val="000000"/>
                </a:solidFill>
              </a:rPr>
              <a:t>1</a:t>
            </a:r>
            <a:r>
              <a:rPr lang="zh-CN" altLang="en-US" sz="1600" dirty="0">
                <a:solidFill>
                  <a:srgbClr val="000000"/>
                </a:solidFill>
              </a:rPr>
              <a:t>年）之间。</a:t>
            </a:r>
            <a:endParaRPr lang="en-US" altLang="zh-CN" sz="1600" dirty="0">
              <a:solidFill>
                <a:srgbClr val="000000"/>
              </a:solidFill>
            </a:endParaRPr>
          </a:p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总体而言，收益观察最佳因子窗口</a:t>
            </a:r>
            <a:r>
              <a:rPr lang="en-US" altLang="zh-CN" sz="1600" dirty="0">
                <a:solidFill>
                  <a:srgbClr val="000000"/>
                </a:solidFill>
              </a:rPr>
              <a:t>10</a:t>
            </a:r>
            <a:r>
              <a:rPr lang="zh-CN" altLang="en-US" sz="1600" dirty="0">
                <a:solidFill>
                  <a:srgbClr val="000000"/>
                </a:solidFill>
              </a:rPr>
              <a:t>或</a:t>
            </a:r>
            <a:r>
              <a:rPr lang="en-US" altLang="zh-CN" sz="1600" dirty="0">
                <a:solidFill>
                  <a:srgbClr val="000000"/>
                </a:solidFill>
              </a:rPr>
              <a:t>20</a:t>
            </a:r>
            <a:r>
              <a:rPr lang="zh-CN" altLang="en-US" sz="1600" dirty="0">
                <a:solidFill>
                  <a:srgbClr val="000000"/>
                </a:solidFill>
              </a:rPr>
              <a:t>日，通道窗口</a:t>
            </a:r>
            <a:r>
              <a:rPr lang="en-US" altLang="zh-CN" sz="1600" dirty="0">
                <a:solidFill>
                  <a:srgbClr val="000000"/>
                </a:solidFill>
              </a:rPr>
              <a:t>10</a:t>
            </a:r>
            <a:r>
              <a:rPr lang="zh-CN" altLang="en-US" sz="1600" dirty="0">
                <a:solidFill>
                  <a:srgbClr val="000000"/>
                </a:solidFill>
              </a:rPr>
              <a:t>、</a:t>
            </a:r>
            <a:r>
              <a:rPr lang="en-US" altLang="zh-CN" sz="1600" dirty="0">
                <a:solidFill>
                  <a:srgbClr val="000000"/>
                </a:solidFill>
              </a:rPr>
              <a:t>20</a:t>
            </a:r>
            <a:r>
              <a:rPr lang="zh-CN" altLang="en-US" sz="1600" dirty="0">
                <a:solidFill>
                  <a:srgbClr val="000000"/>
                </a:solidFill>
              </a:rPr>
              <a:t>或</a:t>
            </a:r>
            <a:r>
              <a:rPr lang="en-US" altLang="zh-CN" sz="1600" dirty="0">
                <a:solidFill>
                  <a:srgbClr val="000000"/>
                </a:solidFill>
              </a:rPr>
              <a:t>60</a:t>
            </a:r>
            <a:r>
              <a:rPr lang="zh-CN" altLang="en-US" sz="1600" dirty="0">
                <a:solidFill>
                  <a:srgbClr val="000000"/>
                </a:solidFill>
              </a:rPr>
              <a:t>日。</a:t>
            </a:r>
          </a:p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指标在短周期的胜率稳定性较好。</a:t>
            </a:r>
            <a:endParaRPr lang="en-US" altLang="zh-CN" sz="1600" dirty="0">
              <a:solidFill>
                <a:srgbClr val="000000"/>
              </a:solidFill>
            </a:endParaRP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E29A5D2C-6FD2-CB06-51C1-45E1407757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111660"/>
              </p:ext>
            </p:extLst>
          </p:nvPr>
        </p:nvGraphicFramePr>
        <p:xfrm>
          <a:off x="968673" y="2863071"/>
          <a:ext cx="10173943" cy="3334362"/>
        </p:xfrm>
        <a:graphic>
          <a:graphicData uri="http://schemas.openxmlformats.org/drawingml/2006/table">
            <a:tbl>
              <a:tblPr/>
              <a:tblGrid>
                <a:gridCol w="782611">
                  <a:extLst>
                    <a:ext uri="{9D8B030D-6E8A-4147-A177-3AD203B41FA5}">
                      <a16:colId xmlns:a16="http://schemas.microsoft.com/office/drawing/2014/main" val="1201704118"/>
                    </a:ext>
                  </a:extLst>
                </a:gridCol>
                <a:gridCol w="782611">
                  <a:extLst>
                    <a:ext uri="{9D8B030D-6E8A-4147-A177-3AD203B41FA5}">
                      <a16:colId xmlns:a16="http://schemas.microsoft.com/office/drawing/2014/main" val="3417908071"/>
                    </a:ext>
                  </a:extLst>
                </a:gridCol>
                <a:gridCol w="782611">
                  <a:extLst>
                    <a:ext uri="{9D8B030D-6E8A-4147-A177-3AD203B41FA5}">
                      <a16:colId xmlns:a16="http://schemas.microsoft.com/office/drawing/2014/main" val="479207394"/>
                    </a:ext>
                  </a:extLst>
                </a:gridCol>
                <a:gridCol w="782611">
                  <a:extLst>
                    <a:ext uri="{9D8B030D-6E8A-4147-A177-3AD203B41FA5}">
                      <a16:colId xmlns:a16="http://schemas.microsoft.com/office/drawing/2014/main" val="4021431885"/>
                    </a:ext>
                  </a:extLst>
                </a:gridCol>
                <a:gridCol w="782611">
                  <a:extLst>
                    <a:ext uri="{9D8B030D-6E8A-4147-A177-3AD203B41FA5}">
                      <a16:colId xmlns:a16="http://schemas.microsoft.com/office/drawing/2014/main" val="933198188"/>
                    </a:ext>
                  </a:extLst>
                </a:gridCol>
                <a:gridCol w="782611">
                  <a:extLst>
                    <a:ext uri="{9D8B030D-6E8A-4147-A177-3AD203B41FA5}">
                      <a16:colId xmlns:a16="http://schemas.microsoft.com/office/drawing/2014/main" val="1057544694"/>
                    </a:ext>
                  </a:extLst>
                </a:gridCol>
                <a:gridCol w="782611">
                  <a:extLst>
                    <a:ext uri="{9D8B030D-6E8A-4147-A177-3AD203B41FA5}">
                      <a16:colId xmlns:a16="http://schemas.microsoft.com/office/drawing/2014/main" val="3891160810"/>
                    </a:ext>
                  </a:extLst>
                </a:gridCol>
                <a:gridCol w="782611">
                  <a:extLst>
                    <a:ext uri="{9D8B030D-6E8A-4147-A177-3AD203B41FA5}">
                      <a16:colId xmlns:a16="http://schemas.microsoft.com/office/drawing/2014/main" val="3009456368"/>
                    </a:ext>
                  </a:extLst>
                </a:gridCol>
                <a:gridCol w="782611">
                  <a:extLst>
                    <a:ext uri="{9D8B030D-6E8A-4147-A177-3AD203B41FA5}">
                      <a16:colId xmlns:a16="http://schemas.microsoft.com/office/drawing/2014/main" val="2435775305"/>
                    </a:ext>
                  </a:extLst>
                </a:gridCol>
                <a:gridCol w="782611">
                  <a:extLst>
                    <a:ext uri="{9D8B030D-6E8A-4147-A177-3AD203B41FA5}">
                      <a16:colId xmlns:a16="http://schemas.microsoft.com/office/drawing/2014/main" val="3494310047"/>
                    </a:ext>
                  </a:extLst>
                </a:gridCol>
                <a:gridCol w="782611">
                  <a:extLst>
                    <a:ext uri="{9D8B030D-6E8A-4147-A177-3AD203B41FA5}">
                      <a16:colId xmlns:a16="http://schemas.microsoft.com/office/drawing/2014/main" val="1860632210"/>
                    </a:ext>
                  </a:extLst>
                </a:gridCol>
                <a:gridCol w="782611">
                  <a:extLst>
                    <a:ext uri="{9D8B030D-6E8A-4147-A177-3AD203B41FA5}">
                      <a16:colId xmlns:a16="http://schemas.microsoft.com/office/drawing/2014/main" val="2013606696"/>
                    </a:ext>
                  </a:extLst>
                </a:gridCol>
                <a:gridCol w="782611">
                  <a:extLst>
                    <a:ext uri="{9D8B030D-6E8A-4147-A177-3AD203B41FA5}">
                      <a16:colId xmlns:a16="http://schemas.microsoft.com/office/drawing/2014/main" val="1870224803"/>
                    </a:ext>
                  </a:extLst>
                </a:gridCol>
              </a:tblGrid>
              <a:tr h="195372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 gridSpan="10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因子本身窗口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102916"/>
                  </a:ext>
                </a:extLst>
              </a:tr>
              <a:tr h="208398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年化收益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胜率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3064943"/>
                  </a:ext>
                </a:extLst>
              </a:tr>
              <a:tr h="195372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因子名称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通道窗口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标准差倍数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444810"/>
                  </a:ext>
                </a:extLst>
              </a:tr>
              <a:tr h="182348">
                <a:tc rowSpan="15"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成交量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3.61%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D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8.36%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0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7.73%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0.85%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AE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2.38%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C2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0.54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0.56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0.49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6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0.42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BF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0.47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511468"/>
                  </a:ext>
                </a:extLst>
              </a:tr>
              <a:tr h="18234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7.43%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2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7.36%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3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8.83%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7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3.58%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D1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4.14%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9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0.54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0.51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8238177"/>
                  </a:ext>
                </a:extLst>
              </a:tr>
              <a:tr h="18234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9.13%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2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7.71%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12.52%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29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8.18%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10.45%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9B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0.61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0.79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8B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0.79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9B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5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0.62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8329944"/>
                  </a:ext>
                </a:extLst>
              </a:tr>
              <a:tr h="18234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10.01%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1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10.47%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9B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13.98%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77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6.87%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4.67%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F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0.57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0.62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5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0.51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D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0.46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C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0965734"/>
                  </a:ext>
                </a:extLst>
              </a:tr>
              <a:tr h="18234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7.43%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2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7.00%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11.55%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5A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7.46%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6.61%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0.77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0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5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0.61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0.56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0.56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082114"/>
                  </a:ext>
                </a:extLst>
              </a:tr>
              <a:tr h="18234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6.84%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10.05%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1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4.77%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2.81%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7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2.48%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C3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0.69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D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0.70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0.70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0.71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79190"/>
                  </a:ext>
                </a:extLst>
              </a:tr>
              <a:tr h="18234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14.70%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9.74%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6C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14.08%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57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3.51%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D0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-0.38%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9E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0.56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0.54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0.70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A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0.52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3868156"/>
                  </a:ext>
                </a:extLst>
              </a:tr>
              <a:tr h="18234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12.40%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59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12.83%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D8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6.77%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0.20%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A6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2.39%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C2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0.82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DA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5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0.47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1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0.54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7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0.58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291683"/>
                  </a:ext>
                </a:extLst>
              </a:tr>
              <a:tr h="18234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1.25%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3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8.99%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3.01%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CA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0.86%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E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4.44%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C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1.00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0.86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EA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0.75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2413650"/>
                  </a:ext>
                </a:extLst>
              </a:tr>
              <a:tr h="18234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13.28%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48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13.39%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2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7.18%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2.62%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C5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1.87%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BB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0.63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3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0.59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0.64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0.46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E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0.33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A4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493527"/>
                  </a:ext>
                </a:extLst>
              </a:tr>
              <a:tr h="18234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2.84%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C8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13.21%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58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4.24%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0.05%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A4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4.30%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B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0.67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5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0.82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DA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0.44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C8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0.33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A4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859662"/>
                  </a:ext>
                </a:extLst>
              </a:tr>
              <a:tr h="18234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A3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1.22%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B3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-1.98%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3.29%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E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8.00%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0.25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4928555"/>
                  </a:ext>
                </a:extLst>
              </a:tr>
              <a:tr h="18234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10.13%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FC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10.67%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5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6.41%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6.95%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8.16%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0.55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0.75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6C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0.64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0.83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7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0.75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013330"/>
                  </a:ext>
                </a:extLst>
              </a:tr>
              <a:tr h="18234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1.5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A3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5.82%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4.59%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9.78%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6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8.34%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1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0.80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4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280033"/>
                  </a:ext>
                </a:extLst>
              </a:tr>
              <a:tr h="18234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A3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0.00%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A3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3.34%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CE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5.85%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7.74%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290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57304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参数敏感性检验 </a:t>
            </a:r>
            <a:r>
              <a:rPr lang="zh-CN" altLang="en-US" sz="1600" dirty="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+mn-lt"/>
              </a:rPr>
              <a:t>将择时中的参数从样本内推向样本外的重要基础</a:t>
            </a:r>
            <a:endParaRPr lang="zh-CN" altLang="en-US" sz="16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>
          <a:xfrm>
            <a:off x="4562860" y="6267315"/>
            <a:ext cx="2844800" cy="365125"/>
          </a:xfrm>
        </p:spPr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56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内容占位符 11">
            <a:extLst>
              <a:ext uri="{FF2B5EF4-FFF2-40B4-BE49-F238E27FC236}">
                <a16:creationId xmlns:a16="http://schemas.microsoft.com/office/drawing/2014/main" id="{68EB4DA1-1778-00B9-2D7C-3D50BF1572B6}"/>
              </a:ext>
            </a:extLst>
          </p:cNvPr>
          <p:cNvSpPr txBox="1">
            <a:spLocks/>
          </p:cNvSpPr>
          <p:nvPr/>
        </p:nvSpPr>
        <p:spPr>
          <a:xfrm>
            <a:off x="4387990" y="1210816"/>
            <a:ext cx="3667037" cy="360000"/>
          </a:xfrm>
          <a:prstGeom prst="rect">
            <a:avLst/>
          </a:prstGeom>
          <a:solidFill>
            <a:srgbClr val="EEEEE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kumimoji="0" lang="zh-CN" altLang="en-US" sz="1400" b="1" i="0" u="none" strike="noStrike" kern="1200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ea typeface="+mn-ea"/>
                <a:cs typeface="Times New Roman" pitchFamily="18" charset="0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/>
              <a:t>波动率类拥挤度参数敏感性检验结果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BF82312-1D84-97A5-9192-B255AEB05ACC}"/>
              </a:ext>
            </a:extLst>
          </p:cNvPr>
          <p:cNvSpPr/>
          <p:nvPr/>
        </p:nvSpPr>
        <p:spPr>
          <a:xfrm>
            <a:off x="968673" y="1640696"/>
            <a:ext cx="10173944" cy="783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波动率类拥挤度的窗口设置在</a:t>
            </a:r>
            <a:r>
              <a:rPr lang="en-US" altLang="zh-CN" sz="1600" dirty="0">
                <a:solidFill>
                  <a:srgbClr val="000000"/>
                </a:solidFill>
              </a:rPr>
              <a:t>20</a:t>
            </a:r>
            <a:r>
              <a:rPr lang="zh-CN" altLang="en-US" sz="1600" dirty="0">
                <a:solidFill>
                  <a:srgbClr val="000000"/>
                </a:solidFill>
              </a:rPr>
              <a:t>（</a:t>
            </a:r>
            <a:r>
              <a:rPr lang="en-US" altLang="zh-CN" sz="1600" dirty="0">
                <a:solidFill>
                  <a:srgbClr val="000000"/>
                </a:solidFill>
              </a:rPr>
              <a:t>1</a:t>
            </a:r>
            <a:r>
              <a:rPr lang="zh-CN" altLang="en-US" sz="1600" dirty="0">
                <a:solidFill>
                  <a:srgbClr val="000000"/>
                </a:solidFill>
              </a:rPr>
              <a:t>个月）至</a:t>
            </a:r>
            <a:r>
              <a:rPr lang="en-US" altLang="zh-CN" sz="1600" dirty="0">
                <a:solidFill>
                  <a:srgbClr val="000000"/>
                </a:solidFill>
              </a:rPr>
              <a:t>60</a:t>
            </a:r>
            <a:r>
              <a:rPr lang="zh-CN" altLang="en-US" sz="1600" dirty="0">
                <a:solidFill>
                  <a:srgbClr val="000000"/>
                </a:solidFill>
              </a:rPr>
              <a:t>交易日（</a:t>
            </a:r>
            <a:r>
              <a:rPr lang="en-US" altLang="zh-CN" sz="1600" dirty="0">
                <a:solidFill>
                  <a:srgbClr val="000000"/>
                </a:solidFill>
              </a:rPr>
              <a:t>3</a:t>
            </a:r>
            <a:r>
              <a:rPr lang="zh-CN" altLang="en-US" sz="1600" dirty="0">
                <a:solidFill>
                  <a:srgbClr val="000000"/>
                </a:solidFill>
              </a:rPr>
              <a:t>个月）之间。</a:t>
            </a:r>
            <a:endParaRPr lang="en-US" altLang="zh-CN" sz="1600" dirty="0">
              <a:solidFill>
                <a:srgbClr val="000000"/>
              </a:solidFill>
            </a:endParaRPr>
          </a:p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收益观察最佳因子窗口</a:t>
            </a:r>
            <a:r>
              <a:rPr lang="en-US" altLang="zh-CN" sz="1600" dirty="0">
                <a:solidFill>
                  <a:srgbClr val="000000"/>
                </a:solidFill>
              </a:rPr>
              <a:t>60</a:t>
            </a:r>
            <a:r>
              <a:rPr lang="zh-CN" altLang="en-US" sz="1600" dirty="0">
                <a:solidFill>
                  <a:srgbClr val="000000"/>
                </a:solidFill>
              </a:rPr>
              <a:t>日，对分位数窗口和阈值敏感度低。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06BECF0-FD9E-0904-D1B9-41613CB104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9899924"/>
              </p:ext>
            </p:extLst>
          </p:nvPr>
        </p:nvGraphicFramePr>
        <p:xfrm>
          <a:off x="1555750" y="2863070"/>
          <a:ext cx="9080500" cy="2968102"/>
        </p:xfrm>
        <a:graphic>
          <a:graphicData uri="http://schemas.openxmlformats.org/drawingml/2006/table">
            <a:tbl>
              <a:tblPr/>
              <a:tblGrid>
                <a:gridCol w="825500">
                  <a:extLst>
                    <a:ext uri="{9D8B030D-6E8A-4147-A177-3AD203B41FA5}">
                      <a16:colId xmlns:a16="http://schemas.microsoft.com/office/drawing/2014/main" val="1167339864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444776188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1295227869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497817944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1899115484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769712178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304885360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183494080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1450558998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827141635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943431886"/>
                    </a:ext>
                  </a:extLst>
                </a:gridCol>
              </a:tblGrid>
              <a:tr h="244432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因子本身窗口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4004324"/>
                  </a:ext>
                </a:extLst>
              </a:tr>
              <a:tr h="261891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年化收益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胜率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7363921"/>
                  </a:ext>
                </a:extLst>
              </a:tr>
              <a:tr h="261891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因子名称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分位数窗口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分位数阈值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053602"/>
                  </a:ext>
                </a:extLst>
              </a:tr>
              <a:tr h="244432"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en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ret_std</a:t>
                      </a: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波动率类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0.44%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A2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-0.09%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99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5.88%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16.59%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0.61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AD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0.68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E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B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7204144"/>
                  </a:ext>
                </a:extLst>
              </a:tr>
              <a:tr h="24443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0.95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1.44%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B3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-0.98%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4.44%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15.47%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9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0.59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9C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0.68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C8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C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214171"/>
                  </a:ext>
                </a:extLst>
              </a:tr>
              <a:tr h="24443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0.99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1.44%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B3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-0.98%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4.44%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6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15.47%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9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0.59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9C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0.68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C8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C3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865858"/>
                  </a:ext>
                </a:extLst>
              </a:tr>
              <a:tr h="24443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-0.34%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94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2.09%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BE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7.10%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15.97%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27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0.58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0.72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6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0.72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6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0.82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0627598"/>
                  </a:ext>
                </a:extLst>
              </a:tr>
              <a:tr h="24443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0.95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1.54%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5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3.09%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CF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8.52%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6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14.11%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B8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0.58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8E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0.68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0.76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D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1066654"/>
                  </a:ext>
                </a:extLst>
              </a:tr>
              <a:tr h="24443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0.99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AC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3.99%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F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6.94%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13.73%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0.58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8A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0.68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8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0.68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826960"/>
                  </a:ext>
                </a:extLst>
              </a:tr>
              <a:tr h="24443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2.10%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4BE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5.47%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12.84%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C9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14.31%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8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0.58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8B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0.79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1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7814150"/>
                  </a:ext>
                </a:extLst>
              </a:tr>
              <a:tr h="24443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0.95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A7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7.22%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12.67%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EA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14.69%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38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0.59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9E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1A5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0.74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0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0.68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8440308"/>
                  </a:ext>
                </a:extLst>
              </a:tr>
              <a:tr h="24443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0.99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2.73%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9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6.39%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3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11.13%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3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15.31%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B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0.58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93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0.64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D1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0.68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0.68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1428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51788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参数敏感性检验 </a:t>
            </a:r>
            <a:r>
              <a:rPr lang="zh-CN" altLang="en-US" sz="1600" dirty="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+mn-lt"/>
              </a:rPr>
              <a:t>将择时中的参数从样本内推向样本外的重要基础</a:t>
            </a:r>
            <a:endParaRPr lang="zh-CN" altLang="en-US" sz="16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>
          <a:xfrm>
            <a:off x="4562860" y="6267315"/>
            <a:ext cx="2844800" cy="365125"/>
          </a:xfrm>
        </p:spPr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57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内容占位符 11">
            <a:extLst>
              <a:ext uri="{FF2B5EF4-FFF2-40B4-BE49-F238E27FC236}">
                <a16:creationId xmlns:a16="http://schemas.microsoft.com/office/drawing/2014/main" id="{68EB4DA1-1778-00B9-2D7C-3D50BF1572B6}"/>
              </a:ext>
            </a:extLst>
          </p:cNvPr>
          <p:cNvSpPr txBox="1">
            <a:spLocks/>
          </p:cNvSpPr>
          <p:nvPr/>
        </p:nvSpPr>
        <p:spPr>
          <a:xfrm>
            <a:off x="4387990" y="1210816"/>
            <a:ext cx="3667037" cy="360000"/>
          </a:xfrm>
          <a:prstGeom prst="rect">
            <a:avLst/>
          </a:prstGeom>
          <a:solidFill>
            <a:srgbClr val="EEEEE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kumimoji="0" lang="zh-CN" altLang="en-US" sz="1400" b="1" i="0" u="none" strike="noStrike" kern="1200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ea typeface="+mn-ea"/>
                <a:cs typeface="Times New Roman" pitchFamily="18" charset="0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/>
              <a:t>流动性类拥挤度参数敏感性检验结果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BF82312-1D84-97A5-9192-B255AEB05ACC}"/>
              </a:ext>
            </a:extLst>
          </p:cNvPr>
          <p:cNvSpPr/>
          <p:nvPr/>
        </p:nvSpPr>
        <p:spPr>
          <a:xfrm>
            <a:off x="968673" y="1640696"/>
            <a:ext cx="10173944" cy="11546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流动性类拥挤度的窗口设置在</a:t>
            </a:r>
            <a:r>
              <a:rPr lang="en-US" altLang="zh-CN" sz="1600" dirty="0">
                <a:solidFill>
                  <a:srgbClr val="000000"/>
                </a:solidFill>
              </a:rPr>
              <a:t>20</a:t>
            </a:r>
            <a:r>
              <a:rPr lang="zh-CN" altLang="en-US" sz="1600" dirty="0">
                <a:solidFill>
                  <a:srgbClr val="000000"/>
                </a:solidFill>
              </a:rPr>
              <a:t>（</a:t>
            </a:r>
            <a:r>
              <a:rPr lang="en-US" altLang="zh-CN" sz="1600" dirty="0">
                <a:solidFill>
                  <a:srgbClr val="000000"/>
                </a:solidFill>
              </a:rPr>
              <a:t>1</a:t>
            </a:r>
            <a:r>
              <a:rPr lang="zh-CN" altLang="en-US" sz="1600" dirty="0">
                <a:solidFill>
                  <a:srgbClr val="000000"/>
                </a:solidFill>
              </a:rPr>
              <a:t>个月）至</a:t>
            </a:r>
            <a:r>
              <a:rPr lang="en-US" altLang="zh-CN" sz="1600" dirty="0">
                <a:solidFill>
                  <a:srgbClr val="000000"/>
                </a:solidFill>
              </a:rPr>
              <a:t>60</a:t>
            </a:r>
            <a:r>
              <a:rPr lang="zh-CN" altLang="en-US" sz="1600" dirty="0">
                <a:solidFill>
                  <a:srgbClr val="000000"/>
                </a:solidFill>
              </a:rPr>
              <a:t>交易日（</a:t>
            </a:r>
            <a:r>
              <a:rPr lang="en-US" altLang="zh-CN" sz="1600" dirty="0">
                <a:solidFill>
                  <a:srgbClr val="000000"/>
                </a:solidFill>
              </a:rPr>
              <a:t>3</a:t>
            </a:r>
            <a:r>
              <a:rPr lang="zh-CN" altLang="en-US" sz="1600" dirty="0">
                <a:solidFill>
                  <a:srgbClr val="000000"/>
                </a:solidFill>
              </a:rPr>
              <a:t>个月）之间。</a:t>
            </a:r>
            <a:endParaRPr lang="en-US" altLang="zh-CN" sz="1600" dirty="0">
              <a:solidFill>
                <a:srgbClr val="000000"/>
              </a:solidFill>
            </a:endParaRPr>
          </a:p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收益观察最佳因子窗口</a:t>
            </a:r>
            <a:r>
              <a:rPr lang="en-US" altLang="zh-CN" sz="1600" dirty="0">
                <a:solidFill>
                  <a:srgbClr val="000000"/>
                </a:solidFill>
              </a:rPr>
              <a:t>60</a:t>
            </a:r>
            <a:r>
              <a:rPr lang="zh-CN" altLang="en-US" sz="1600" dirty="0">
                <a:solidFill>
                  <a:srgbClr val="000000"/>
                </a:solidFill>
              </a:rPr>
              <a:t>日，对分位数窗口和阈值敏感度低。</a:t>
            </a:r>
            <a:endParaRPr lang="en-US" altLang="zh-CN" sz="1600" dirty="0">
              <a:solidFill>
                <a:srgbClr val="000000"/>
              </a:solidFill>
            </a:endParaRPr>
          </a:p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胜率稳定性高。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6821A32-7535-3BAE-63C2-6367E64832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3668164"/>
              </p:ext>
            </p:extLst>
          </p:nvPr>
        </p:nvGraphicFramePr>
        <p:xfrm>
          <a:off x="1555750" y="2863120"/>
          <a:ext cx="9080500" cy="2966610"/>
        </p:xfrm>
        <a:graphic>
          <a:graphicData uri="http://schemas.openxmlformats.org/drawingml/2006/table">
            <a:tbl>
              <a:tblPr/>
              <a:tblGrid>
                <a:gridCol w="825500">
                  <a:extLst>
                    <a:ext uri="{9D8B030D-6E8A-4147-A177-3AD203B41FA5}">
                      <a16:colId xmlns:a16="http://schemas.microsoft.com/office/drawing/2014/main" val="3551080894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3783443731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481419427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1531785971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3669554433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1280590401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795520947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1766694803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445042201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3482340797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1786534210"/>
                    </a:ext>
                  </a:extLst>
                </a:gridCol>
              </a:tblGrid>
              <a:tr h="244309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因子本身窗口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7278867"/>
                  </a:ext>
                </a:extLst>
              </a:tr>
              <a:tr h="26176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年化收益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胜率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6818385"/>
                  </a:ext>
                </a:extLst>
              </a:tr>
              <a:tr h="26176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因子名称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分位数窗口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分位数阈值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629575"/>
                  </a:ext>
                </a:extLst>
              </a:tr>
              <a:tr h="244309"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e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volume_TSMean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流动性类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-1.47%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4.67%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6.39%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20.79%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B0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0.78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7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0.78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616245"/>
                  </a:ext>
                </a:extLst>
              </a:tr>
              <a:tr h="24430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0.95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1.22%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B8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5.99%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4.98%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18.97%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A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A4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0.69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9B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0.68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90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300478"/>
                  </a:ext>
                </a:extLst>
              </a:tr>
              <a:tr h="24430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0.99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1.22%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B8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5.99%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4.98%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18.97%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A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A4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0.69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29B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0.68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90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669157"/>
                  </a:ext>
                </a:extLst>
              </a:tr>
              <a:tr h="24430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-0.54%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9A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0.96%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B4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4.26%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19.03%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A7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0.73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0.81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B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0.69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99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6226650"/>
                  </a:ext>
                </a:extLst>
              </a:tr>
              <a:tr h="24430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0.95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0.97%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B4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2.87%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5.61%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7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17.99%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48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6C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0.78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0.76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5969284"/>
                  </a:ext>
                </a:extLst>
              </a:tr>
              <a:tr h="24430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0.99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2.88%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4.82%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5.14%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17.17%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B8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0.69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9E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6C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0.69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9E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0.69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9E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100038"/>
                  </a:ext>
                </a:extLst>
              </a:tr>
              <a:tr h="24430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4.36%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4.42%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11.31%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2C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17.12%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C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0.89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2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A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0.76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677865"/>
                  </a:ext>
                </a:extLst>
              </a:tr>
              <a:tr h="24430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0.95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1.48%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BD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4.14%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B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10.19%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D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17.22%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B8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0.76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3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6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7223890"/>
                  </a:ext>
                </a:extLst>
              </a:tr>
              <a:tr h="24430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0.99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3.08%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9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5.43%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9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10.35%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B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15.30%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D9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0.73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6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0.76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2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0.68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89803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272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参数敏感性检验 </a:t>
            </a:r>
            <a:r>
              <a:rPr lang="zh-CN" altLang="en-US" sz="1600" dirty="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+mn-lt"/>
              </a:rPr>
              <a:t>将择时中的参数从样本内推向样本外的重要基础</a:t>
            </a:r>
            <a:endParaRPr lang="zh-CN" altLang="en-US" sz="16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>
          <a:xfrm>
            <a:off x="4562860" y="6267315"/>
            <a:ext cx="2844800" cy="365125"/>
          </a:xfrm>
        </p:spPr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58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内容占位符 11">
            <a:extLst>
              <a:ext uri="{FF2B5EF4-FFF2-40B4-BE49-F238E27FC236}">
                <a16:creationId xmlns:a16="http://schemas.microsoft.com/office/drawing/2014/main" id="{68EB4DA1-1778-00B9-2D7C-3D50BF1572B6}"/>
              </a:ext>
            </a:extLst>
          </p:cNvPr>
          <p:cNvSpPr txBox="1">
            <a:spLocks/>
          </p:cNvSpPr>
          <p:nvPr/>
        </p:nvSpPr>
        <p:spPr>
          <a:xfrm>
            <a:off x="4387990" y="1210816"/>
            <a:ext cx="3667037" cy="360000"/>
          </a:xfrm>
          <a:prstGeom prst="rect">
            <a:avLst/>
          </a:prstGeom>
          <a:solidFill>
            <a:srgbClr val="EEEEE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kumimoji="0" lang="zh-CN" altLang="en-US" sz="1400" b="1" i="0" u="none" strike="noStrike" kern="1200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ea typeface="+mn-ea"/>
                <a:cs typeface="Times New Roman" pitchFamily="18" charset="0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/>
              <a:t>乖离率类拥挤度参数敏感性检验结果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BF82312-1D84-97A5-9192-B255AEB05ACC}"/>
              </a:ext>
            </a:extLst>
          </p:cNvPr>
          <p:cNvSpPr/>
          <p:nvPr/>
        </p:nvSpPr>
        <p:spPr>
          <a:xfrm>
            <a:off x="968673" y="1640696"/>
            <a:ext cx="10173944" cy="11546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乖离率类拥挤度的窗口设置在</a:t>
            </a:r>
            <a:r>
              <a:rPr lang="en-US" altLang="zh-CN" sz="1600" dirty="0">
                <a:solidFill>
                  <a:srgbClr val="000000"/>
                </a:solidFill>
              </a:rPr>
              <a:t>20</a:t>
            </a:r>
            <a:r>
              <a:rPr lang="zh-CN" altLang="en-US" sz="1600" dirty="0">
                <a:solidFill>
                  <a:srgbClr val="000000"/>
                </a:solidFill>
              </a:rPr>
              <a:t>（</a:t>
            </a:r>
            <a:r>
              <a:rPr lang="en-US" altLang="zh-CN" sz="1600" dirty="0">
                <a:solidFill>
                  <a:srgbClr val="000000"/>
                </a:solidFill>
              </a:rPr>
              <a:t>1</a:t>
            </a:r>
            <a:r>
              <a:rPr lang="zh-CN" altLang="en-US" sz="1600" dirty="0">
                <a:solidFill>
                  <a:srgbClr val="000000"/>
                </a:solidFill>
              </a:rPr>
              <a:t>个月）至</a:t>
            </a:r>
            <a:r>
              <a:rPr lang="en-US" altLang="zh-CN" sz="1600" dirty="0">
                <a:solidFill>
                  <a:srgbClr val="000000"/>
                </a:solidFill>
              </a:rPr>
              <a:t>250</a:t>
            </a:r>
            <a:r>
              <a:rPr lang="zh-CN" altLang="en-US" sz="1600" dirty="0">
                <a:solidFill>
                  <a:srgbClr val="000000"/>
                </a:solidFill>
              </a:rPr>
              <a:t>交易日（</a:t>
            </a:r>
            <a:r>
              <a:rPr lang="en-US" altLang="zh-CN" sz="1600" dirty="0">
                <a:solidFill>
                  <a:srgbClr val="000000"/>
                </a:solidFill>
              </a:rPr>
              <a:t>1</a:t>
            </a:r>
            <a:r>
              <a:rPr lang="zh-CN" altLang="en-US" sz="1600" dirty="0">
                <a:solidFill>
                  <a:srgbClr val="000000"/>
                </a:solidFill>
              </a:rPr>
              <a:t>年）之间。</a:t>
            </a:r>
            <a:endParaRPr lang="en-US" altLang="zh-CN" sz="1600" dirty="0">
              <a:solidFill>
                <a:srgbClr val="000000"/>
              </a:solidFill>
            </a:endParaRPr>
          </a:p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收益观察最佳因子窗口</a:t>
            </a:r>
            <a:r>
              <a:rPr lang="en-US" altLang="zh-CN" sz="1600" dirty="0">
                <a:solidFill>
                  <a:srgbClr val="000000"/>
                </a:solidFill>
              </a:rPr>
              <a:t>250</a:t>
            </a:r>
            <a:r>
              <a:rPr lang="zh-CN" altLang="en-US" sz="1600" dirty="0">
                <a:solidFill>
                  <a:srgbClr val="000000"/>
                </a:solidFill>
              </a:rPr>
              <a:t>日，存在明显单调性，长窗口表现好。</a:t>
            </a:r>
            <a:endParaRPr lang="en-US" altLang="zh-CN" sz="1600" dirty="0">
              <a:solidFill>
                <a:srgbClr val="000000"/>
              </a:solidFill>
            </a:endParaRPr>
          </a:p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胜率稳定性高。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05357FCB-0571-C035-0580-CF79A7531A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7476983"/>
              </p:ext>
            </p:extLst>
          </p:nvPr>
        </p:nvGraphicFramePr>
        <p:xfrm>
          <a:off x="968673" y="2865251"/>
          <a:ext cx="10426694" cy="3213100"/>
        </p:xfrm>
        <a:graphic>
          <a:graphicData uri="http://schemas.openxmlformats.org/drawingml/2006/table">
            <a:tbl>
              <a:tblPr/>
              <a:tblGrid>
                <a:gridCol w="673608">
                  <a:extLst>
                    <a:ext uri="{9D8B030D-6E8A-4147-A177-3AD203B41FA5}">
                      <a16:colId xmlns:a16="http://schemas.microsoft.com/office/drawing/2014/main" val="195281489"/>
                    </a:ext>
                  </a:extLst>
                </a:gridCol>
                <a:gridCol w="834895">
                  <a:extLst>
                    <a:ext uri="{9D8B030D-6E8A-4147-A177-3AD203B41FA5}">
                      <a16:colId xmlns:a16="http://schemas.microsoft.com/office/drawing/2014/main" val="1797956515"/>
                    </a:ext>
                  </a:extLst>
                </a:gridCol>
                <a:gridCol w="834895">
                  <a:extLst>
                    <a:ext uri="{9D8B030D-6E8A-4147-A177-3AD203B41FA5}">
                      <a16:colId xmlns:a16="http://schemas.microsoft.com/office/drawing/2014/main" val="2434322448"/>
                    </a:ext>
                  </a:extLst>
                </a:gridCol>
                <a:gridCol w="673608">
                  <a:extLst>
                    <a:ext uri="{9D8B030D-6E8A-4147-A177-3AD203B41FA5}">
                      <a16:colId xmlns:a16="http://schemas.microsoft.com/office/drawing/2014/main" val="5546480"/>
                    </a:ext>
                  </a:extLst>
                </a:gridCol>
                <a:gridCol w="673608">
                  <a:extLst>
                    <a:ext uri="{9D8B030D-6E8A-4147-A177-3AD203B41FA5}">
                      <a16:colId xmlns:a16="http://schemas.microsoft.com/office/drawing/2014/main" val="610623957"/>
                    </a:ext>
                  </a:extLst>
                </a:gridCol>
                <a:gridCol w="673608">
                  <a:extLst>
                    <a:ext uri="{9D8B030D-6E8A-4147-A177-3AD203B41FA5}">
                      <a16:colId xmlns:a16="http://schemas.microsoft.com/office/drawing/2014/main" val="1409207507"/>
                    </a:ext>
                  </a:extLst>
                </a:gridCol>
                <a:gridCol w="673608">
                  <a:extLst>
                    <a:ext uri="{9D8B030D-6E8A-4147-A177-3AD203B41FA5}">
                      <a16:colId xmlns:a16="http://schemas.microsoft.com/office/drawing/2014/main" val="3966626643"/>
                    </a:ext>
                  </a:extLst>
                </a:gridCol>
                <a:gridCol w="673608">
                  <a:extLst>
                    <a:ext uri="{9D8B030D-6E8A-4147-A177-3AD203B41FA5}">
                      <a16:colId xmlns:a16="http://schemas.microsoft.com/office/drawing/2014/main" val="975699007"/>
                    </a:ext>
                  </a:extLst>
                </a:gridCol>
                <a:gridCol w="673608">
                  <a:extLst>
                    <a:ext uri="{9D8B030D-6E8A-4147-A177-3AD203B41FA5}">
                      <a16:colId xmlns:a16="http://schemas.microsoft.com/office/drawing/2014/main" val="2005209959"/>
                    </a:ext>
                  </a:extLst>
                </a:gridCol>
                <a:gridCol w="673608">
                  <a:extLst>
                    <a:ext uri="{9D8B030D-6E8A-4147-A177-3AD203B41FA5}">
                      <a16:colId xmlns:a16="http://schemas.microsoft.com/office/drawing/2014/main" val="3050247435"/>
                    </a:ext>
                  </a:extLst>
                </a:gridCol>
                <a:gridCol w="673608">
                  <a:extLst>
                    <a:ext uri="{9D8B030D-6E8A-4147-A177-3AD203B41FA5}">
                      <a16:colId xmlns:a16="http://schemas.microsoft.com/office/drawing/2014/main" val="3649860287"/>
                    </a:ext>
                  </a:extLst>
                </a:gridCol>
                <a:gridCol w="673608">
                  <a:extLst>
                    <a:ext uri="{9D8B030D-6E8A-4147-A177-3AD203B41FA5}">
                      <a16:colId xmlns:a16="http://schemas.microsoft.com/office/drawing/2014/main" val="808110474"/>
                    </a:ext>
                  </a:extLst>
                </a:gridCol>
                <a:gridCol w="673608">
                  <a:extLst>
                    <a:ext uri="{9D8B030D-6E8A-4147-A177-3AD203B41FA5}">
                      <a16:colId xmlns:a16="http://schemas.microsoft.com/office/drawing/2014/main" val="937013171"/>
                    </a:ext>
                  </a:extLst>
                </a:gridCol>
                <a:gridCol w="673608">
                  <a:extLst>
                    <a:ext uri="{9D8B030D-6E8A-4147-A177-3AD203B41FA5}">
                      <a16:colId xmlns:a16="http://schemas.microsoft.com/office/drawing/2014/main" val="1256997984"/>
                    </a:ext>
                  </a:extLst>
                </a:gridCol>
                <a:gridCol w="673608">
                  <a:extLst>
                    <a:ext uri="{9D8B030D-6E8A-4147-A177-3AD203B41FA5}">
                      <a16:colId xmlns:a16="http://schemas.microsoft.com/office/drawing/2014/main" val="343972671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因子本身窗口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942951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年化收益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胜率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210128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因子名称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分位数窗口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分位数阈值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597254"/>
                  </a:ext>
                </a:extLst>
              </a:tr>
              <a:tr h="177800">
                <a:tc rowSpan="15">
                  <a:txBody>
                    <a:bodyPr/>
                    <a:lstStyle/>
                    <a:p>
                      <a:pPr algn="ctr" fontAlgn="ctr"/>
                      <a:r>
                        <a:rPr lang="e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close_TSBias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乖离率类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3.68%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7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4.15%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1.11%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9C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0.49%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4.39%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1.63%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AB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0.68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0.66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0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C1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C8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0.71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923093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0.95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3.51%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4.14%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2.51%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C5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3.11%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6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5.38%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3.52%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0.69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AD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0.71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0.68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8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0891957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0.99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3.51%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4.14%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2.51%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C5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3.11%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6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5.38%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3.52%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0.69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AD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0.71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0.68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8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499107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3.97%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5.42%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1.84%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B1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2.76%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4.52%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1.66%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AC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0.66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CF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A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0.66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CF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0.72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0.72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3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5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0781618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0.95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3.97%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3.50%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2.91%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D1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0.97%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98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3.59%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1.97%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5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0.65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C6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0.61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9C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0.71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6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0.74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D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859664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0.99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3.31%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C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3.70%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4.00%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2.64%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C9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4.06%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2.44%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C3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0.69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0.61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9F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0.66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D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0.72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5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0.69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824202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4.15%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5.49%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4.38%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4.71%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8.29%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4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4.53%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A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0.63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B4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6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E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0.66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D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7C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0.78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B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1193011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0.95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5.24%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5.34%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3.01%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3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3.48%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6.07%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D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2.71%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CA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0.62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A4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2585701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0.99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5.42%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3.99%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5.22%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2.99%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3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4.06%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3.74%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9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0.67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0.59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1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0.69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0.69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0.69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3744231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4.31%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4.72%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6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6.92%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E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4.80%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5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10.23%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09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7.05%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B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0.64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B7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0.76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F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0.78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B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0.82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99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0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6159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0.95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5.17%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4.46%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5.16%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4.90%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3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6.57%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4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6.65%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3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0.65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0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0B0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0.69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0.74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F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0.82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89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1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900010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0.99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4.76%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5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4.84%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5.08%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0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3.66%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4.08%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5.00%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0.71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5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0.71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5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B2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6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0.71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9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A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641811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250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4.62%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8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6.90%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E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5.71%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5.64%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5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7.61%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1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11.85%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2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0.68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7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0.74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1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0.76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A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2C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E9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E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6613079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0.95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5.26%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4.06%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6.05%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E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6.21%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B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8.79%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12.33%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0.64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B9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E9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A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0.79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4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0.84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8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0.88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54912"/>
                  </a:ext>
                </a:extLst>
              </a:tr>
              <a:tr h="1778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0.99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5.29%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5.29%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3.69%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7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5.52%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7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6.67%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6.20%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B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0.73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0.64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BD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0.81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0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C2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46504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38280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参数敏感性检验 </a:t>
            </a:r>
            <a:r>
              <a:rPr lang="zh-CN" altLang="en-US" sz="1600" dirty="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+mn-lt"/>
              </a:rPr>
              <a:t>将择时中的参数从样本内推向样本外的重要基础</a:t>
            </a:r>
            <a:endParaRPr lang="zh-CN" altLang="en-US" sz="16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>
          <a:xfrm>
            <a:off x="4562860" y="6267315"/>
            <a:ext cx="2844800" cy="365125"/>
          </a:xfrm>
        </p:spPr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59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内容占位符 11">
            <a:extLst>
              <a:ext uri="{FF2B5EF4-FFF2-40B4-BE49-F238E27FC236}">
                <a16:creationId xmlns:a16="http://schemas.microsoft.com/office/drawing/2014/main" id="{68EB4DA1-1778-00B9-2D7C-3D50BF1572B6}"/>
              </a:ext>
            </a:extLst>
          </p:cNvPr>
          <p:cNvSpPr txBox="1">
            <a:spLocks/>
          </p:cNvSpPr>
          <p:nvPr/>
        </p:nvSpPr>
        <p:spPr>
          <a:xfrm>
            <a:off x="4387990" y="1210816"/>
            <a:ext cx="3667037" cy="360000"/>
          </a:xfrm>
          <a:prstGeom prst="rect">
            <a:avLst/>
          </a:prstGeom>
          <a:solidFill>
            <a:srgbClr val="EEEEE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kumimoji="0" lang="zh-CN" altLang="en-US" sz="1400" b="1" i="0" u="none" strike="noStrike" kern="1200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ea typeface="+mn-ea"/>
                <a:cs typeface="Times New Roman" pitchFamily="18" charset="0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/>
              <a:t>量价相关性类拥挤度参数敏感性检验结果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BF82312-1D84-97A5-9192-B255AEB05ACC}"/>
              </a:ext>
            </a:extLst>
          </p:cNvPr>
          <p:cNvSpPr/>
          <p:nvPr/>
        </p:nvSpPr>
        <p:spPr>
          <a:xfrm>
            <a:off x="968673" y="1640696"/>
            <a:ext cx="10173944" cy="7853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量价相关性类拥挤度的窗口设置在</a:t>
            </a:r>
            <a:r>
              <a:rPr lang="en-US" altLang="zh-CN" sz="1600" dirty="0">
                <a:solidFill>
                  <a:srgbClr val="000000"/>
                </a:solidFill>
              </a:rPr>
              <a:t>20</a:t>
            </a:r>
            <a:r>
              <a:rPr lang="zh-CN" altLang="en-US" sz="1600" dirty="0">
                <a:solidFill>
                  <a:srgbClr val="000000"/>
                </a:solidFill>
              </a:rPr>
              <a:t>（</a:t>
            </a:r>
            <a:r>
              <a:rPr lang="en-US" altLang="zh-CN" sz="1600" dirty="0">
                <a:solidFill>
                  <a:srgbClr val="000000"/>
                </a:solidFill>
              </a:rPr>
              <a:t>1</a:t>
            </a:r>
            <a:r>
              <a:rPr lang="zh-CN" altLang="en-US" sz="1600" dirty="0">
                <a:solidFill>
                  <a:srgbClr val="000000"/>
                </a:solidFill>
              </a:rPr>
              <a:t>个月）至</a:t>
            </a:r>
            <a:r>
              <a:rPr lang="en-US" altLang="zh-CN" sz="1600" dirty="0">
                <a:solidFill>
                  <a:srgbClr val="000000"/>
                </a:solidFill>
              </a:rPr>
              <a:t>60</a:t>
            </a:r>
            <a:r>
              <a:rPr lang="zh-CN" altLang="en-US" sz="1600" dirty="0">
                <a:solidFill>
                  <a:srgbClr val="000000"/>
                </a:solidFill>
              </a:rPr>
              <a:t>交易日（</a:t>
            </a:r>
            <a:r>
              <a:rPr lang="en-US" altLang="zh-CN" sz="1600" dirty="0">
                <a:solidFill>
                  <a:srgbClr val="000000"/>
                </a:solidFill>
              </a:rPr>
              <a:t>3</a:t>
            </a:r>
            <a:r>
              <a:rPr lang="zh-CN" altLang="en-US" sz="1600" dirty="0">
                <a:solidFill>
                  <a:srgbClr val="000000"/>
                </a:solidFill>
              </a:rPr>
              <a:t>个月）之间。</a:t>
            </a:r>
            <a:endParaRPr lang="en-US" altLang="zh-CN" sz="1600" dirty="0">
              <a:solidFill>
                <a:srgbClr val="000000"/>
              </a:solidFill>
            </a:endParaRPr>
          </a:p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总体而言对所有参数敏感度低，阈值越小胜率越高。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BBF06C2-4CF2-C7D2-1131-E39591D994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1585511"/>
              </p:ext>
            </p:extLst>
          </p:nvPr>
        </p:nvGraphicFramePr>
        <p:xfrm>
          <a:off x="2293495" y="2863120"/>
          <a:ext cx="7510069" cy="2959407"/>
        </p:xfrm>
        <a:graphic>
          <a:graphicData uri="http://schemas.openxmlformats.org/drawingml/2006/table">
            <a:tbl>
              <a:tblPr/>
              <a:tblGrid>
                <a:gridCol w="801425">
                  <a:extLst>
                    <a:ext uri="{9D8B030D-6E8A-4147-A177-3AD203B41FA5}">
                      <a16:colId xmlns:a16="http://schemas.microsoft.com/office/drawing/2014/main" val="2457888771"/>
                    </a:ext>
                  </a:extLst>
                </a:gridCol>
                <a:gridCol w="936878">
                  <a:extLst>
                    <a:ext uri="{9D8B030D-6E8A-4147-A177-3AD203B41FA5}">
                      <a16:colId xmlns:a16="http://schemas.microsoft.com/office/drawing/2014/main" val="2738765116"/>
                    </a:ext>
                  </a:extLst>
                </a:gridCol>
                <a:gridCol w="963216">
                  <a:extLst>
                    <a:ext uri="{9D8B030D-6E8A-4147-A177-3AD203B41FA5}">
                      <a16:colId xmlns:a16="http://schemas.microsoft.com/office/drawing/2014/main" val="1032606859"/>
                    </a:ext>
                  </a:extLst>
                </a:gridCol>
                <a:gridCol w="801425">
                  <a:extLst>
                    <a:ext uri="{9D8B030D-6E8A-4147-A177-3AD203B41FA5}">
                      <a16:colId xmlns:a16="http://schemas.microsoft.com/office/drawing/2014/main" val="461891247"/>
                    </a:ext>
                  </a:extLst>
                </a:gridCol>
                <a:gridCol w="801425">
                  <a:extLst>
                    <a:ext uri="{9D8B030D-6E8A-4147-A177-3AD203B41FA5}">
                      <a16:colId xmlns:a16="http://schemas.microsoft.com/office/drawing/2014/main" val="1402379916"/>
                    </a:ext>
                  </a:extLst>
                </a:gridCol>
                <a:gridCol w="801425">
                  <a:extLst>
                    <a:ext uri="{9D8B030D-6E8A-4147-A177-3AD203B41FA5}">
                      <a16:colId xmlns:a16="http://schemas.microsoft.com/office/drawing/2014/main" val="4251845599"/>
                    </a:ext>
                  </a:extLst>
                </a:gridCol>
                <a:gridCol w="801425">
                  <a:extLst>
                    <a:ext uri="{9D8B030D-6E8A-4147-A177-3AD203B41FA5}">
                      <a16:colId xmlns:a16="http://schemas.microsoft.com/office/drawing/2014/main" val="3049972783"/>
                    </a:ext>
                  </a:extLst>
                </a:gridCol>
                <a:gridCol w="801425">
                  <a:extLst>
                    <a:ext uri="{9D8B030D-6E8A-4147-A177-3AD203B41FA5}">
                      <a16:colId xmlns:a16="http://schemas.microsoft.com/office/drawing/2014/main" val="1821629464"/>
                    </a:ext>
                  </a:extLst>
                </a:gridCol>
                <a:gridCol w="801425">
                  <a:extLst>
                    <a:ext uri="{9D8B030D-6E8A-4147-A177-3AD203B41FA5}">
                      <a16:colId xmlns:a16="http://schemas.microsoft.com/office/drawing/2014/main" val="1122972506"/>
                    </a:ext>
                  </a:extLst>
                </a:gridCol>
              </a:tblGrid>
              <a:tr h="245158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因子本身窗口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9253131"/>
                  </a:ext>
                </a:extLst>
              </a:tr>
              <a:tr h="245158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年化收益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胜率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969470"/>
                  </a:ext>
                </a:extLst>
              </a:tr>
              <a:tr h="262669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因子名称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分位数窗口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分位数阈值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402866"/>
                  </a:ext>
                </a:extLst>
              </a:tr>
              <a:tr h="245158"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e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CorrP_volume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量价相关性类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0.01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5.72%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5.72%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5.72%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5618537"/>
                  </a:ext>
                </a:extLst>
              </a:tr>
              <a:tr h="24515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0.05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8.69%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D9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8.18%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9B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7.72%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0.61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0.62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842617"/>
                  </a:ext>
                </a:extLst>
              </a:tr>
              <a:tr h="24515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8.69%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D9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8.18%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9B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7.72%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3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0.61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0.62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4770053"/>
                  </a:ext>
                </a:extLst>
              </a:tr>
              <a:tr h="24515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0.01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5.72%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5.72%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5.72%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677017"/>
                  </a:ext>
                </a:extLst>
              </a:tr>
              <a:tr h="24515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0.05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6.99%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7.14%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4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6.99%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0.73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B3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0.59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386770"/>
                  </a:ext>
                </a:extLst>
              </a:tr>
              <a:tr h="24515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6.26%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BA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8.92%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9.60%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F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0.59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C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8639503"/>
                  </a:ext>
                </a:extLst>
              </a:tr>
              <a:tr h="24515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0.01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5.72%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5.72%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5.72%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857803"/>
                  </a:ext>
                </a:extLst>
              </a:tr>
              <a:tr h="24515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0.05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6.87%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5.96%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9F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7.44%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3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0.82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1B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0.48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BC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9414014"/>
                  </a:ext>
                </a:extLst>
              </a:tr>
              <a:tr h="24515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6.22%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B6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7.51%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F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8.64%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0A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0.69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0.57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D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9828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00944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参数敏感性检验 </a:t>
            </a:r>
            <a:r>
              <a:rPr lang="zh-CN" altLang="en-US" sz="1600" dirty="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+mn-lt"/>
              </a:rPr>
              <a:t>将择时中的参数从样本内推向样本外的重要基础</a:t>
            </a:r>
            <a:endParaRPr lang="zh-CN" altLang="en-US" sz="16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>
          <a:xfrm>
            <a:off x="4562860" y="6267315"/>
            <a:ext cx="2844800" cy="365125"/>
          </a:xfrm>
        </p:spPr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60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内容占位符 11">
            <a:extLst>
              <a:ext uri="{FF2B5EF4-FFF2-40B4-BE49-F238E27FC236}">
                <a16:creationId xmlns:a16="http://schemas.microsoft.com/office/drawing/2014/main" id="{68EB4DA1-1778-00B9-2D7C-3D50BF1572B6}"/>
              </a:ext>
            </a:extLst>
          </p:cNvPr>
          <p:cNvSpPr txBox="1">
            <a:spLocks/>
          </p:cNvSpPr>
          <p:nvPr/>
        </p:nvSpPr>
        <p:spPr>
          <a:xfrm>
            <a:off x="4387990" y="1210816"/>
            <a:ext cx="3667037" cy="360000"/>
          </a:xfrm>
          <a:prstGeom prst="rect">
            <a:avLst/>
          </a:prstGeom>
          <a:solidFill>
            <a:srgbClr val="EEEEEF"/>
          </a:solidFill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kumimoji="0" lang="zh-CN" altLang="en-US" sz="1400" b="1" i="0" u="none" strike="noStrike" kern="1200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+mn-ea"/>
                <a:ea typeface="+mn-ea"/>
                <a:cs typeface="Times New Roman" pitchFamily="18" charset="0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/>
              <a:t>收益分布特征类拥挤度参数敏感性检验结果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BF82312-1D84-97A5-9192-B255AEB05ACC}"/>
              </a:ext>
            </a:extLst>
          </p:cNvPr>
          <p:cNvSpPr/>
          <p:nvPr/>
        </p:nvSpPr>
        <p:spPr>
          <a:xfrm>
            <a:off x="968673" y="1640696"/>
            <a:ext cx="10173944" cy="11546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收益分布特征类拥挤度的窗口设置在</a:t>
            </a:r>
            <a:r>
              <a:rPr lang="en-US" altLang="zh-CN" sz="1600" dirty="0">
                <a:solidFill>
                  <a:srgbClr val="000000"/>
                </a:solidFill>
              </a:rPr>
              <a:t>20</a:t>
            </a:r>
            <a:r>
              <a:rPr lang="zh-CN" altLang="en-US" sz="1600" dirty="0">
                <a:solidFill>
                  <a:srgbClr val="000000"/>
                </a:solidFill>
              </a:rPr>
              <a:t>（</a:t>
            </a:r>
            <a:r>
              <a:rPr lang="en-US" altLang="zh-CN" sz="1600" dirty="0">
                <a:solidFill>
                  <a:srgbClr val="000000"/>
                </a:solidFill>
              </a:rPr>
              <a:t>1</a:t>
            </a:r>
            <a:r>
              <a:rPr lang="zh-CN" altLang="en-US" sz="1600" dirty="0">
                <a:solidFill>
                  <a:srgbClr val="000000"/>
                </a:solidFill>
              </a:rPr>
              <a:t>个月）至</a:t>
            </a:r>
            <a:r>
              <a:rPr lang="en-US" altLang="zh-CN" sz="1600" dirty="0">
                <a:solidFill>
                  <a:srgbClr val="000000"/>
                </a:solidFill>
              </a:rPr>
              <a:t>60</a:t>
            </a:r>
            <a:r>
              <a:rPr lang="zh-CN" altLang="en-US" sz="1600" dirty="0">
                <a:solidFill>
                  <a:srgbClr val="000000"/>
                </a:solidFill>
              </a:rPr>
              <a:t>交易日（</a:t>
            </a:r>
            <a:r>
              <a:rPr lang="en-US" altLang="zh-CN" sz="1600" dirty="0">
                <a:solidFill>
                  <a:srgbClr val="000000"/>
                </a:solidFill>
              </a:rPr>
              <a:t>3</a:t>
            </a:r>
            <a:r>
              <a:rPr lang="zh-CN" altLang="en-US" sz="1600" dirty="0">
                <a:solidFill>
                  <a:srgbClr val="000000"/>
                </a:solidFill>
              </a:rPr>
              <a:t>个月）之间。</a:t>
            </a:r>
            <a:endParaRPr lang="en-US" altLang="zh-CN" sz="1600" dirty="0">
              <a:solidFill>
                <a:srgbClr val="000000"/>
              </a:solidFill>
            </a:endParaRPr>
          </a:p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收益观察最佳因子窗口</a:t>
            </a:r>
            <a:r>
              <a:rPr lang="en-US" altLang="zh-CN" sz="1600" dirty="0">
                <a:solidFill>
                  <a:srgbClr val="000000"/>
                </a:solidFill>
              </a:rPr>
              <a:t>60</a:t>
            </a:r>
            <a:r>
              <a:rPr lang="zh-CN" altLang="en-US" sz="1600" dirty="0">
                <a:solidFill>
                  <a:srgbClr val="000000"/>
                </a:solidFill>
              </a:rPr>
              <a:t>日，对分位数窗口和阈值敏感度低。</a:t>
            </a:r>
            <a:endParaRPr lang="en-US" altLang="zh-CN" sz="1600" dirty="0">
              <a:solidFill>
                <a:srgbClr val="000000"/>
              </a:solidFill>
            </a:endParaRPr>
          </a:p>
          <a:p>
            <a:pPr marL="285744" indent="-285744">
              <a:lnSpc>
                <a:spcPct val="150000"/>
              </a:lnSpc>
              <a:buClr>
                <a:srgbClr val="F5781B"/>
              </a:buClr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000000"/>
                </a:solidFill>
              </a:rPr>
              <a:t>胜率稳定性高。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0A68C14-1573-B648-5262-EFC27470A3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0946141"/>
              </p:ext>
            </p:extLst>
          </p:nvPr>
        </p:nvGraphicFramePr>
        <p:xfrm>
          <a:off x="1555750" y="2865251"/>
          <a:ext cx="9080500" cy="2966610"/>
        </p:xfrm>
        <a:graphic>
          <a:graphicData uri="http://schemas.openxmlformats.org/drawingml/2006/table">
            <a:tbl>
              <a:tblPr/>
              <a:tblGrid>
                <a:gridCol w="825500">
                  <a:extLst>
                    <a:ext uri="{9D8B030D-6E8A-4147-A177-3AD203B41FA5}">
                      <a16:colId xmlns:a16="http://schemas.microsoft.com/office/drawing/2014/main" val="3646639959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437090555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1433247544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4204996261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975628003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34659865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1656695943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3728403264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3832293802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109230764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795243022"/>
                    </a:ext>
                  </a:extLst>
                </a:gridCol>
              </a:tblGrid>
              <a:tr h="244309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因子本身窗口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489284"/>
                  </a:ext>
                </a:extLst>
              </a:tr>
              <a:tr h="26176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年化收益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胜率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037975"/>
                  </a:ext>
                </a:extLst>
              </a:tr>
              <a:tr h="26176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因子名称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分位数窗口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分位数阈值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>
                          <a:solidFill>
                            <a:srgbClr val="FFFFFF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9050753"/>
                  </a:ext>
                </a:extLst>
              </a:tr>
              <a:tr h="244309"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e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ret_TSSkew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收益分布特征类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0.01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5.72%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5.72%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5.72%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5.72%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7461072"/>
                  </a:ext>
                </a:extLst>
              </a:tr>
              <a:tr h="24430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0.05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6.10%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4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5.54%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1.98%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5.26%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0.68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0.66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BC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A0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8676712"/>
                  </a:ext>
                </a:extLst>
              </a:tr>
              <a:tr h="24430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6.10%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4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5.54%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1.98%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5.26%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0.68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5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0.66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BC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A0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0348396"/>
                  </a:ext>
                </a:extLst>
              </a:tr>
              <a:tr h="24430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0.01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5.72%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5.72%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5.72%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5.72%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468251"/>
                  </a:ext>
                </a:extLst>
              </a:tr>
              <a:tr h="24430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0.05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4.76%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2.97%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A9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6.20%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A7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5.79%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C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0.67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C4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98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0.79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7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3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7640557"/>
                  </a:ext>
                </a:extLst>
              </a:tr>
              <a:tr h="24430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3.77%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C3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3.33%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5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4.94%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5.53%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0.67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CA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0.63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9F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0.77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1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0.71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6135212"/>
                  </a:ext>
                </a:extLst>
              </a:tr>
              <a:tr h="24430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0.01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5.72%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5.72%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5.72%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5.72%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4434111"/>
                  </a:ext>
                </a:extLst>
              </a:tr>
              <a:tr h="24430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0.05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4.48%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2.48%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99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4.93%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5.41%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0.61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0.64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AB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0.72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0.72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0716128"/>
                  </a:ext>
                </a:extLst>
              </a:tr>
              <a:tr h="24430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0.1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5.48%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2.78%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A3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4.52%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B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6.67%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0.65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AE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0.75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D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0.79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8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0.74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71781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46303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1020114543"/>
  <p:tag name="MH_LIBRARY" val="CONTENTS"/>
  <p:tag name="MH_TYPE" val="OTHERS"/>
  <p:tag name="ID" val="54713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1020114543"/>
  <p:tag name="MH_LIBRARY" val="CONTENTS"/>
  <p:tag name="MH_TYPE" val="OTHERS"/>
  <p:tag name="ID" val="54713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1020114543"/>
  <p:tag name="MH_LIBRARY" val="CONTENTS"/>
  <p:tag name="MH_TYPE" val="NUMBER"/>
  <p:tag name="ID" val="547137"/>
  <p:tag name="MH_ORDER" val="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1020114543"/>
  <p:tag name="MH_LIBRARY" val="CONTENTS"/>
  <p:tag name="MH_TYPE" val="ENTRY"/>
  <p:tag name="ID" val="547137"/>
  <p:tag name="MH_ORDER" val="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1020114543"/>
  <p:tag name="MH_LIBRARY" val="CONTENTS"/>
  <p:tag name="MH_TYPE" val="NUMBER"/>
  <p:tag name="ID" val="547137"/>
  <p:tag name="MH_ORDER" val="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1020114543"/>
  <p:tag name="MH_LIBRARY" val="CONTENTS"/>
  <p:tag name="MH_TYPE" val="ENTRY"/>
  <p:tag name="ID" val="547137"/>
  <p:tag name="MH_ORDER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1020114543"/>
  <p:tag name="MH_LIBRARY" val="CONTENTS"/>
  <p:tag name="MH_TYPE" val="NUMBER"/>
  <p:tag name="ID" val="547137"/>
  <p:tag name="MH_ORDER" val="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1020114543"/>
  <p:tag name="MH_LIBRARY" val="CONTENTS"/>
  <p:tag name="MH_TYPE" val="ENTRY"/>
  <p:tag name="ID" val="547137"/>
  <p:tag name="MH_ORDER" val="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1020114543"/>
  <p:tag name="MH_LIBRARY" val="CONTENTS"/>
  <p:tag name="MH_TYPE" val="NUMBER"/>
  <p:tag name="ID" val="547137"/>
  <p:tag name="MH_ORDER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1020114543"/>
  <p:tag name="MH_LIBRARY" val="CONTENTS"/>
  <p:tag name="MH_TYPE" val="ENTRY"/>
  <p:tag name="ID" val="547137"/>
  <p:tag name="MH_ORDER" val="1"/>
</p:tagLst>
</file>

<file path=ppt/theme/theme1.xml><?xml version="1.0" encoding="utf-8"?>
<a:theme xmlns:a="http://schemas.openxmlformats.org/drawingml/2006/main" name="序列页模板范式">
  <a:themeElements>
    <a:clrScheme name="养老金">
      <a:dk1>
        <a:sysClr val="windowText" lastClr="000000"/>
      </a:dk1>
      <a:lt1>
        <a:sysClr val="window" lastClr="FFFFFF"/>
      </a:lt1>
      <a:dk2>
        <a:srgbClr val="E96004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模板内页范式-文字">
  <a:themeElements>
    <a:clrScheme name="养老金">
      <a:dk1>
        <a:sysClr val="windowText" lastClr="000000"/>
      </a:dk1>
      <a:lt1>
        <a:sysClr val="window" lastClr="FFFFFF"/>
      </a:lt1>
      <a:dk2>
        <a:srgbClr val="E96004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模板内页范式-图表">
  <a:themeElements>
    <a:clrScheme name="养老金">
      <a:dk1>
        <a:sysClr val="windowText" lastClr="000000"/>
      </a:dk1>
      <a:lt1>
        <a:sysClr val="window" lastClr="FFFFFF"/>
      </a:lt1>
      <a:dk2>
        <a:srgbClr val="E96004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养老金">
    <a:dk1>
      <a:sysClr val="windowText" lastClr="000000"/>
    </a:dk1>
    <a:lt1>
      <a:sysClr val="window" lastClr="FFFFFF"/>
    </a:lt1>
    <a:dk2>
      <a:srgbClr val="E96004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养老金">
    <a:dk1>
      <a:sysClr val="windowText" lastClr="000000"/>
    </a:dk1>
    <a:lt1>
      <a:sysClr val="window" lastClr="FFFFFF"/>
    </a:lt1>
    <a:dk2>
      <a:srgbClr val="E96004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养老金">
    <a:dk1>
      <a:sysClr val="windowText" lastClr="000000"/>
    </a:dk1>
    <a:lt1>
      <a:sysClr val="window" lastClr="FFFFFF"/>
    </a:lt1>
    <a:dk2>
      <a:srgbClr val="E96004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养老金">
    <a:dk1>
      <a:sysClr val="windowText" lastClr="000000"/>
    </a:dk1>
    <a:lt1>
      <a:sysClr val="window" lastClr="FFFFFF"/>
    </a:lt1>
    <a:dk2>
      <a:srgbClr val="E96004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养老金">
    <a:dk1>
      <a:sysClr val="windowText" lastClr="000000"/>
    </a:dk1>
    <a:lt1>
      <a:sysClr val="window" lastClr="FFFFFF"/>
    </a:lt1>
    <a:dk2>
      <a:srgbClr val="E96004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6.xml><?xml version="1.0" encoding="utf-8"?>
<a:themeOverride xmlns:a="http://schemas.openxmlformats.org/drawingml/2006/main">
  <a:clrScheme name="养老金">
    <a:dk1>
      <a:sysClr val="windowText" lastClr="000000"/>
    </a:dk1>
    <a:lt1>
      <a:sysClr val="window" lastClr="FFFFFF"/>
    </a:lt1>
    <a:dk2>
      <a:srgbClr val="E96004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7.xml><?xml version="1.0" encoding="utf-8"?>
<a:themeOverride xmlns:a="http://schemas.openxmlformats.org/drawingml/2006/main">
  <a:clrScheme name="养老金">
    <a:dk1>
      <a:sysClr val="windowText" lastClr="000000"/>
    </a:dk1>
    <a:lt1>
      <a:sysClr val="window" lastClr="FFFFFF"/>
    </a:lt1>
    <a:dk2>
      <a:srgbClr val="E96004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8.xml><?xml version="1.0" encoding="utf-8"?>
<a:themeOverride xmlns:a="http://schemas.openxmlformats.org/drawingml/2006/main">
  <a:clrScheme name="养老金">
    <a:dk1>
      <a:sysClr val="windowText" lastClr="000000"/>
    </a:dk1>
    <a:lt1>
      <a:sysClr val="window" lastClr="FFFFFF"/>
    </a:lt1>
    <a:dk2>
      <a:srgbClr val="E96004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9.xml><?xml version="1.0" encoding="utf-8"?>
<a:themeOverride xmlns:a="http://schemas.openxmlformats.org/drawingml/2006/main">
  <a:clrScheme name="养老金">
    <a:dk1>
      <a:sysClr val="windowText" lastClr="000000"/>
    </a:dk1>
    <a:lt1>
      <a:sysClr val="window" lastClr="FFFFFF"/>
    </a:lt1>
    <a:dk2>
      <a:srgbClr val="E96004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0.xml><?xml version="1.0" encoding="utf-8"?>
<a:themeOverride xmlns:a="http://schemas.openxmlformats.org/drawingml/2006/main">
  <a:clrScheme name="养老金">
    <a:dk1>
      <a:sysClr val="windowText" lastClr="000000"/>
    </a:dk1>
    <a:lt1>
      <a:sysClr val="window" lastClr="FFFFFF"/>
    </a:lt1>
    <a:dk2>
      <a:srgbClr val="E96004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1.xml><?xml version="1.0" encoding="utf-8"?>
<a:themeOverride xmlns:a="http://schemas.openxmlformats.org/drawingml/2006/main">
  <a:clrScheme name="养老金">
    <a:dk1>
      <a:sysClr val="windowText" lastClr="000000"/>
    </a:dk1>
    <a:lt1>
      <a:sysClr val="window" lastClr="FFFFFF"/>
    </a:lt1>
    <a:dk2>
      <a:srgbClr val="E96004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2.xml><?xml version="1.0" encoding="utf-8"?>
<a:themeOverride xmlns:a="http://schemas.openxmlformats.org/drawingml/2006/main">
  <a:clrScheme name="养老金">
    <a:dk1>
      <a:sysClr val="windowText" lastClr="000000"/>
    </a:dk1>
    <a:lt1>
      <a:sysClr val="window" lastClr="FFFFFF"/>
    </a:lt1>
    <a:dk2>
      <a:srgbClr val="E96004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3.xml><?xml version="1.0" encoding="utf-8"?>
<a:themeOverride xmlns:a="http://schemas.openxmlformats.org/drawingml/2006/main">
  <a:clrScheme name="养老金">
    <a:dk1>
      <a:sysClr val="windowText" lastClr="000000"/>
    </a:dk1>
    <a:lt1>
      <a:sysClr val="window" lastClr="FFFFFF"/>
    </a:lt1>
    <a:dk2>
      <a:srgbClr val="E96004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4.xml><?xml version="1.0" encoding="utf-8"?>
<a:themeOverride xmlns:a="http://schemas.openxmlformats.org/drawingml/2006/main">
  <a:clrScheme name="养老金">
    <a:dk1>
      <a:sysClr val="windowText" lastClr="000000"/>
    </a:dk1>
    <a:lt1>
      <a:sysClr val="window" lastClr="FFFFFF"/>
    </a:lt1>
    <a:dk2>
      <a:srgbClr val="E96004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7662</TotalTime>
  <Words>10879</Words>
  <Application>Microsoft Macintosh PowerPoint</Application>
  <PresentationFormat>宽屏</PresentationFormat>
  <Paragraphs>3205</Paragraphs>
  <Slides>60</Slides>
  <Notes>37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60</vt:i4>
      </vt:variant>
    </vt:vector>
  </HeadingPairs>
  <TitlesOfParts>
    <vt:vector size="80" baseType="lpstr">
      <vt:lpstr>等线</vt:lpstr>
      <vt:lpstr>黑体</vt:lpstr>
      <vt:lpstr>宋体</vt:lpstr>
      <vt:lpstr>宋体</vt:lpstr>
      <vt:lpstr>微软雅黑</vt:lpstr>
      <vt:lpstr>FontAwesome</vt:lpstr>
      <vt:lpstr>OPPOSans B</vt:lpstr>
      <vt:lpstr>OPPOSans M</vt:lpstr>
      <vt:lpstr>OPPOSans R</vt:lpstr>
      <vt:lpstr>Arial</vt:lpstr>
      <vt:lpstr>Calibri</vt:lpstr>
      <vt:lpstr>Cambria Math</vt:lpstr>
      <vt:lpstr>Elephant</vt:lpstr>
      <vt:lpstr>Rockwell Condensed</vt:lpstr>
      <vt:lpstr>Segoe UI Black</vt:lpstr>
      <vt:lpstr>Times New Roman</vt:lpstr>
      <vt:lpstr>Wingdings</vt:lpstr>
      <vt:lpstr>序列页模板范式</vt:lpstr>
      <vt:lpstr>模板内页范式-文字</vt:lpstr>
      <vt:lpstr>模板内页范式-图表</vt:lpstr>
      <vt:lpstr>PowerPoint 演示文稿</vt:lpstr>
      <vt:lpstr>PowerPoint 演示文稿</vt:lpstr>
      <vt:lpstr>PowerPoint 演示文稿</vt:lpstr>
      <vt:lpstr>1.1 研究背景 指数择时</vt:lpstr>
      <vt:lpstr>1.1 研究背景 指数择时</vt:lpstr>
      <vt:lpstr>1.1 研究背景 指数择时</vt:lpstr>
      <vt:lpstr>1.1 研究背景 指数择时</vt:lpstr>
      <vt:lpstr>1.1 研究背景 指数择时</vt:lpstr>
      <vt:lpstr>1.1 研究背景 指数择时</vt:lpstr>
      <vt:lpstr>1.1 研究背景 市场行情演绎</vt:lpstr>
      <vt:lpstr>1.2 研究方法与目标</vt:lpstr>
      <vt:lpstr>1.3 研究流程</vt:lpstr>
      <vt:lpstr>PowerPoint 演示文稿</vt:lpstr>
      <vt:lpstr>2.1 短期-动量反转 抓住短期趋势/转折带来的投资机遇</vt:lpstr>
      <vt:lpstr>2.1 短期-动量反转 抓住短期趋势/转折带来的投资机遇</vt:lpstr>
      <vt:lpstr>2.1 短期-动量反转 抓住短期趋势/转折带来的投资机遇</vt:lpstr>
      <vt:lpstr>2.1 短期-动量反转 抓住短期趋势/转折带来的投资机遇</vt:lpstr>
      <vt:lpstr>2.1 短期-动量反转 抓住短期趋势/转折带来的投资机遇</vt:lpstr>
      <vt:lpstr>2.1 短期-动量反转 抓住短期趋势/转折带来的投资机遇</vt:lpstr>
      <vt:lpstr>2.1 短期-动量反转 抓住短期趋势/转折带来的投资机遇</vt:lpstr>
      <vt:lpstr>2.2 中期-分歧度和流动性 做高确定性的中期收益的增厚</vt:lpstr>
      <vt:lpstr>2.2 中期-分歧度和流动性 做高确定性的中期收益的增厚</vt:lpstr>
      <vt:lpstr>2.2 中期-分歧度和流动性 做高确定性的中期收益的增厚</vt:lpstr>
      <vt:lpstr>2.3 长期-交易拥挤度 降低潜在的顶部风险</vt:lpstr>
      <vt:lpstr>2.3 长期-交易拥挤度 降低潜在的顶部风险</vt:lpstr>
      <vt:lpstr>PowerPoint 演示文稿</vt:lpstr>
      <vt:lpstr>3.1 指标有效性检验 将择时中的参数从样本内推向样本外的重要基础</vt:lpstr>
      <vt:lpstr>3.1 指标有效性检验 将择时中的参数从样本内推向样本外的重要基础</vt:lpstr>
      <vt:lpstr>3.1 指标有效性检验 将择时中的参数从样本内推向样本外的重要基础</vt:lpstr>
      <vt:lpstr>3.1 指标有效性检验 将择时中的参数从样本内推向样本外的重要基础</vt:lpstr>
      <vt:lpstr>3.2 上证50回测分析 整体表现</vt:lpstr>
      <vt:lpstr>3.2 上证50回测分析 整体表现</vt:lpstr>
      <vt:lpstr>3.2 上证50回测分析 最大回撤</vt:lpstr>
      <vt:lpstr>3.2 上证50回测分析 最大回撤</vt:lpstr>
      <vt:lpstr>3.3 多指数回测对比 上证50择时策略分年度统计</vt:lpstr>
      <vt:lpstr>3.3 多指数回测对比 中证500择时策略分年度统计</vt:lpstr>
      <vt:lpstr>3.3 多指数回测对比 创业板指择时策略分年度统计</vt:lpstr>
      <vt:lpstr>PowerPoint 演示文稿</vt:lpstr>
      <vt:lpstr>4.1 策略总结</vt:lpstr>
      <vt:lpstr>4.1 策略总结</vt:lpstr>
      <vt:lpstr>4.2 改进方向</vt:lpstr>
      <vt:lpstr>PowerPoint 演示文稿</vt:lpstr>
      <vt:lpstr>PowerPoint 演示文稿</vt:lpstr>
      <vt:lpstr>参考文献</vt:lpstr>
      <vt:lpstr>策略行情适应性分析</vt:lpstr>
      <vt:lpstr>最新信号跟踪</vt:lpstr>
      <vt:lpstr>参数敏感性检验 将择时中的参数从样本内推向样本外的重要基础</vt:lpstr>
      <vt:lpstr>参数敏感性检验 将择时中的参数从样本内推向样本外的重要基础</vt:lpstr>
      <vt:lpstr>参数敏感性检验 将择时中的参数从样本内推向样本外的重要基础</vt:lpstr>
      <vt:lpstr>参数敏感性检验 将择时中的参数从样本内推向样本外的重要基础</vt:lpstr>
      <vt:lpstr>参数敏感性检验 将择时中的参数从样本内推向样本外的重要基础</vt:lpstr>
      <vt:lpstr>参数敏感性检验 将择时中的参数从样本内推向样本外的重要基础</vt:lpstr>
      <vt:lpstr>参数敏感性检验 将择时中的参数从样本内推向样本外的重要基础</vt:lpstr>
      <vt:lpstr>参数敏感性检验 将择时中的参数从样本内推向样本外的重要基础</vt:lpstr>
      <vt:lpstr>参数敏感性检验 将择时中的参数从样本内推向样本外的重要基础</vt:lpstr>
      <vt:lpstr>参数敏感性检验 将择时中的参数从样本内推向样本外的重要基础</vt:lpstr>
      <vt:lpstr>参数敏感性检验 将择时中的参数从样本内推向样本外的重要基础</vt:lpstr>
      <vt:lpstr>参数敏感性检验 将择时中的参数从样本内推向样本外的重要基础</vt:lpstr>
      <vt:lpstr>参数敏感性检验 将择时中的参数从样本内推向样本外的重要基础</vt:lpstr>
      <vt:lpstr>参数敏感性检验 将择时中的参数从样本内推向样本外的重要基础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Happy</cp:lastModifiedBy>
  <cp:revision>403</cp:revision>
  <dcterms:created xsi:type="dcterms:W3CDTF">2018-11-03T02:28:30Z</dcterms:created>
  <dcterms:modified xsi:type="dcterms:W3CDTF">2023-07-05T15:22:24Z</dcterms:modified>
</cp:coreProperties>
</file>