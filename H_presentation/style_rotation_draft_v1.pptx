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</p:sldMasterIdLst>
  <p:notesMasterIdLst>
    <p:notesMasterId r:id="rId50"/>
  </p:notesMasterIdLst>
  <p:sldIdLst>
    <p:sldId id="362" r:id="rId3"/>
    <p:sldId id="498" r:id="rId4"/>
    <p:sldId id="501" r:id="rId5"/>
    <p:sldId id="497" r:id="rId6"/>
    <p:sldId id="530" r:id="rId7"/>
    <p:sldId id="324" r:id="rId8"/>
    <p:sldId id="541" r:id="rId9"/>
    <p:sldId id="531" r:id="rId10"/>
    <p:sldId id="544" r:id="rId11"/>
    <p:sldId id="545" r:id="rId12"/>
    <p:sldId id="546" r:id="rId13"/>
    <p:sldId id="547" r:id="rId14"/>
    <p:sldId id="548" r:id="rId15"/>
    <p:sldId id="532" r:id="rId16"/>
    <p:sldId id="543" r:id="rId17"/>
    <p:sldId id="542" r:id="rId18"/>
    <p:sldId id="533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05" r:id="rId27"/>
    <p:sldId id="504" r:id="rId28"/>
    <p:sldId id="527" r:id="rId29"/>
    <p:sldId id="506" r:id="rId30"/>
    <p:sldId id="507" r:id="rId31"/>
    <p:sldId id="508" r:id="rId32"/>
    <p:sldId id="509" r:id="rId33"/>
    <p:sldId id="510" r:id="rId34"/>
    <p:sldId id="511" r:id="rId35"/>
    <p:sldId id="512" r:id="rId36"/>
    <p:sldId id="513" r:id="rId37"/>
    <p:sldId id="514" r:id="rId38"/>
    <p:sldId id="515" r:id="rId39"/>
    <p:sldId id="516" r:id="rId40"/>
    <p:sldId id="517" r:id="rId41"/>
    <p:sldId id="518" r:id="rId42"/>
    <p:sldId id="519" r:id="rId43"/>
    <p:sldId id="520" r:id="rId44"/>
    <p:sldId id="521" r:id="rId45"/>
    <p:sldId id="522" r:id="rId46"/>
    <p:sldId id="523" r:id="rId47"/>
    <p:sldId id="524" r:id="rId48"/>
    <p:sldId id="29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/>
    <p:restoredTop sz="77123"/>
  </p:normalViewPr>
  <p:slideViewPr>
    <p:cSldViewPr snapToGrid="0" snapToObjects="1">
      <p:cViewPr varScale="1">
        <p:scale>
          <a:sx n="96" d="100"/>
          <a:sy n="96" d="100"/>
        </p:scale>
        <p:origin x="1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647C2-6565-194B-BFD9-AF3F6BCCF104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FDD74-B33A-854C-B7FF-3A818D7B01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FDD74-B33A-854C-B7FF-3A818D7B012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9397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175D-1438-9213-6552-5DD7F425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11643B-E137-E3FB-8C6F-52E29C790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E3D9FD-AC53-2F17-78FE-B79EDB97F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295696-C15C-A0A6-992F-C9605809B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FDD74-B33A-854C-B7FF-3A818D7B01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4688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FDD74-B33A-854C-B7FF-3A818D7B012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十年期国开债和两年期美债有更好的协整关系</a:t>
            </a:r>
            <a:endParaRPr kumimoji="1"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短</a:t>
            </a:r>
            <a:r>
              <a:rPr lang="zh-TW" altLang="zh-TW" dirty="0"/>
              <a:t>端收益率（2Y）主要由</a:t>
            </a:r>
            <a:r>
              <a:rPr lang="zh-TW" altLang="zh-TW" b="1" dirty="0"/>
              <a:t>市場對未來1-2年聯準會政策路徑的預期</a:t>
            </a:r>
            <a:r>
              <a:rPr lang="zh-TW" altLang="zh-TW" dirty="0"/>
              <a:t>驅動，傳導鏈條清晰：要捕捉的是</a:t>
            </a:r>
            <a:r>
              <a:rPr lang="zh-TW" altLang="zh-TW" b="1" dirty="0"/>
              <a:t>折現率的邊際變化</a:t>
            </a:r>
            <a:r>
              <a:rPr lang="zh-TW" altLang="zh-TW" dirty="0"/>
              <a:t>，而2Y更乾淨地反映這個信號，10Y的期限溢價噪音會干擾你的因子信號。</a:t>
            </a:r>
          </a:p>
          <a:p>
            <a:r>
              <a:rPr lang="zh-TW" altLang="zh-TW" dirty="0"/>
              <a:t>聯準會的資產負債表操作（QE購入大量長債、QT縮表）會直接壓低或推高10Y yield，製造出和基本面脫節的走勢。2Y受此影響相對小</a:t>
            </a:r>
            <a:r>
              <a:rPr lang="zh-CN" altLang="en-US" dirty="0"/>
              <a:t>。</a:t>
            </a:r>
            <a:r>
              <a:rPr lang="zh-TW" altLang="zh-TW" b="1" dirty="0"/>
              <a:t>短端（2Y及以下）的主要買家：</a:t>
            </a:r>
            <a:endParaRPr lang="zh-TW" altLang="zh-TW" dirty="0"/>
          </a:p>
          <a:p>
            <a:r>
              <a:rPr lang="zh-TW" altLang="zh-TW" b="1" dirty="0"/>
              <a:t>貨幣市場基金</a:t>
            </a:r>
            <a:r>
              <a:rPr lang="zh-TW" altLang="zh-TW" dirty="0"/>
              <a:t>：流動性管理，追求低風險短期收益</a:t>
            </a:r>
          </a:p>
          <a:p>
            <a:r>
              <a:rPr lang="zh-TW" altLang="zh-TW" b="1" dirty="0"/>
              <a:t>商業銀行</a:t>
            </a:r>
            <a:r>
              <a:rPr lang="zh-TW" altLang="zh-TW" dirty="0"/>
              <a:t>：流動性緩衝配置（LCR要求）</a:t>
            </a:r>
          </a:p>
          <a:p>
            <a:r>
              <a:rPr lang="zh-TW" altLang="zh-TW" b="1" dirty="0"/>
              <a:t>企業財務部門</a:t>
            </a:r>
            <a:r>
              <a:rPr lang="zh-TW" altLang="zh-TW" dirty="0"/>
              <a:t>：現金管理</a:t>
            </a:r>
          </a:p>
          <a:p>
            <a:r>
              <a:rPr lang="zh-TW" altLang="zh-TW" b="1" dirty="0"/>
              <a:t>Fed本身</a:t>
            </a:r>
            <a:r>
              <a:rPr lang="zh-TW" altLang="zh-TW" dirty="0"/>
              <a:t>：政策操作（逆回購、SOMA組合）</a:t>
            </a:r>
          </a:p>
          <a:p>
            <a:r>
              <a:rPr lang="zh-TW" altLang="zh-TW" b="1" dirty="0"/>
              <a:t>長端（10Y+）的主要買家：</a:t>
            </a:r>
            <a:endParaRPr lang="zh-TW" altLang="zh-TW" dirty="0"/>
          </a:p>
          <a:p>
            <a:r>
              <a:rPr lang="zh-TW" altLang="zh-TW" b="1" dirty="0"/>
              <a:t>外國央行</a:t>
            </a:r>
            <a:r>
              <a:rPr lang="zh-TW" altLang="zh-TW" dirty="0"/>
              <a:t>（最重要！）：中國、日本、沙烏地持有大量美債作為外匯儲備，主要集中在中長端。中國近年持續減持，日本是最大境外持有者</a:t>
            </a:r>
          </a:p>
          <a:p>
            <a:r>
              <a:rPr lang="zh-TW" altLang="zh-TW" b="1" dirty="0"/>
              <a:t>保險公司 &amp; 養老金</a:t>
            </a:r>
            <a:r>
              <a:rPr lang="zh-TW" altLang="zh-TW" dirty="0"/>
              <a:t>：資產負債久期匹配（ALM），天然的長債買家</a:t>
            </a:r>
          </a:p>
          <a:p>
            <a:r>
              <a:rPr lang="zh-TW" altLang="zh-TW" b="1" dirty="0"/>
              <a:t>壽險公司</a:t>
            </a:r>
            <a:r>
              <a:rPr lang="zh-TW" altLang="zh-TW" dirty="0"/>
              <a:t>：負債端是長期保單，必須配長債對沖</a:t>
            </a:r>
          </a:p>
          <a:p>
            <a:r>
              <a:rPr lang="zh-TW" altLang="zh-TW" b="1" dirty="0"/>
              <a:t>對沖基金</a:t>
            </a:r>
            <a:r>
              <a:rPr lang="zh-TW" altLang="zh-TW" dirty="0"/>
              <a:t>：基差交易（Cash-Future Basis Trade），非方向性持有</a:t>
            </a:r>
            <a:br>
              <a:rPr lang="en-US" altLang="zh-TW" dirty="0"/>
            </a:br>
            <a:r>
              <a:rPr lang="zh-TW" altLang="en-US" dirty="0"/>
              <a:t>待检验十年期国开债是否领先十年期国债</a:t>
            </a:r>
            <a:r>
              <a:rPr lang="zh-CN" altLang="en-US" dirty="0"/>
              <a:t>，两年期美债是否领先十年期美债</a:t>
            </a:r>
            <a:endParaRPr lang="zh-TW" altLang="zh-TW" dirty="0"/>
          </a:p>
          <a:p>
            <a:r>
              <a:rPr kumimoji="1" lang="zh-TW" altLang="en-US" dirty="0"/>
              <a:t>也可以收集一下研报或其他资料是如何定义资产之间的协整关系的</a:t>
            </a:r>
            <a:r>
              <a:rPr kumimoji="1" lang="zh-CN" altLang="en-US" dirty="0"/>
              <a:t>，看一下能不能论证十年期国开债和两年期美债之间的协整关系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FDD74-B33A-854C-B7FF-3A818D7B012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133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可选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\\192.168.1.115\b 项目2组\G广发基金\2015\9月\0914\广发PPT母版素材\JPG\--08.jpg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b="8791"/>
          <a:stretch>
            <a:fillRect/>
          </a:stretch>
        </p:blipFill>
        <p:spPr bwMode="auto">
          <a:xfrm>
            <a:off x="-953" y="602845"/>
            <a:ext cx="12192953" cy="6255155"/>
          </a:xfrm>
          <a:prstGeom prst="rect">
            <a:avLst/>
          </a:prstGeom>
          <a:noFill/>
        </p:spPr>
      </p:pic>
      <p:sp>
        <p:nvSpPr>
          <p:cNvPr id="26" name="矩形 25"/>
          <p:cNvSpPr/>
          <p:nvPr userDrawn="1"/>
        </p:nvSpPr>
        <p:spPr>
          <a:xfrm>
            <a:off x="0" y="1419226"/>
            <a:ext cx="12192000" cy="543877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楷体" panose="02010609060101010101" pitchFamily="49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5534026" y="1288554"/>
            <a:ext cx="6776589" cy="5569447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楷体" panose="02010609060101010101" pitchFamily="49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32" name="内容占位符 31"/>
          <p:cNvSpPr>
            <a:spLocks noGrp="1"/>
          </p:cNvSpPr>
          <p:nvPr>
            <p:ph sz="quarter" idx="10"/>
          </p:nvPr>
        </p:nvSpPr>
        <p:spPr>
          <a:xfrm>
            <a:off x="574488" y="2916801"/>
            <a:ext cx="6645088" cy="531625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1"/>
          </p:nvPr>
        </p:nvSpPr>
        <p:spPr>
          <a:xfrm>
            <a:off x="574489" y="5414589"/>
            <a:ext cx="3197785" cy="33496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660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目录页可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>
              <a:ea typeface="楷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ea typeface="楷体" panose="02010609060101010101" pitchFamily="49" charset="-122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2064139"/>
            <a:ext cx="7297381" cy="625119"/>
          </a:xfrm>
          <a:prstGeom prst="rect">
            <a:avLst/>
          </a:prstGeom>
          <a:gradFill flip="none" rotWithShape="1">
            <a:gsLst>
              <a:gs pos="0">
                <a:srgbClr val="5B9BD5">
                  <a:shade val="30000"/>
                  <a:satMod val="115000"/>
                </a:srgbClr>
              </a:gs>
              <a:gs pos="50000">
                <a:srgbClr val="5B9BD5">
                  <a:shade val="67500"/>
                  <a:satMod val="115000"/>
                </a:srgbClr>
              </a:gs>
              <a:gs pos="100000">
                <a:srgbClr val="5B9BD5">
                  <a:shade val="100000"/>
                  <a:satMod val="11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497860" y="2689257"/>
            <a:ext cx="2799523" cy="130667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772055" y="2160947"/>
            <a:ext cx="3787775" cy="444500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1800" kern="120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/>
          </p:nvPr>
        </p:nvSpPr>
        <p:spPr>
          <a:xfrm>
            <a:off x="1505979" y="3358871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rgbClr val="F79646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1505979" y="4135812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125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结束页参考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>
            <a:spLocks noChangeArrowheads="1"/>
          </p:cNvSpPr>
          <p:nvPr userDrawn="1"/>
        </p:nvSpPr>
        <p:spPr bwMode="auto">
          <a:xfrm>
            <a:off x="3233677" y="3614990"/>
            <a:ext cx="5724644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心系托付，一路广发</a:t>
            </a:r>
          </a:p>
        </p:txBody>
      </p:sp>
      <p:pic>
        <p:nvPicPr>
          <p:cNvPr id="11" name="Picture 3" descr="C:\Users\Administrator\Desktop\ppt封底0-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12192000" cy="6862032"/>
          </a:xfrm>
          <a:prstGeom prst="rect">
            <a:avLst/>
          </a:prstGeom>
          <a:noFill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35" y="2655341"/>
            <a:ext cx="5864364" cy="78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17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内页范式-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907" y="233578"/>
            <a:ext cx="10311275" cy="591407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4F81BD">
                    <a:lumMod val="75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56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内页范式-纯白（谨慎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2026/6/4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7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9165" y="251509"/>
            <a:ext cx="10311275" cy="591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" panose="02010609060101010101" pitchFamily="49" charset="-122"/>
              </a:defRPr>
            </a:lvl1pPr>
          </a:lstStyle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2026/6/4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497" y="6268934"/>
            <a:ext cx="1258939" cy="32486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87375" y="878776"/>
            <a:ext cx="9221643" cy="59377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rgbClr val="4F81BD">
                  <a:lumMod val="50000"/>
                </a:srgbClr>
              </a:solidFill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9961372" y="878773"/>
            <a:ext cx="1621029" cy="59379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rgbClr val="E4551A"/>
              </a:solidFill>
              <a:ea typeface="楷体" panose="02010609060101010101" pitchFamily="49" charset="-122"/>
            </a:endParaRPr>
          </a:p>
        </p:txBody>
      </p:sp>
      <p:sp>
        <p:nvSpPr>
          <p:cNvPr id="30" name="矩形 29"/>
          <p:cNvSpPr/>
          <p:nvPr userDrawn="1"/>
        </p:nvSpPr>
        <p:spPr>
          <a:xfrm>
            <a:off x="12192000" y="397009"/>
            <a:ext cx="1188000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页面主标题：微软雅黑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 加粗 蓝色（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R55 G96 B146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内文一级标题：推荐使用黑体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），一级标题使用“项目符号”中的钻石型符号，钻石型颜色为橙色（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内文二级标题：推荐使用宋体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），二级标题使用“项目符号”中的小圆型符号，小圆型颜色为橙色（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 内文文字：推荐使用宋体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），正文使用“项目符号”中的小圆型符号，小圆型颜色为橙色（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），在二级标题下使用时，可不用符号或使用其他符号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 一二级标题、内文文字进行提示和强调时，推荐使用加粗或变更颜色，推荐使用橙色（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所有备注中文为宋体，英文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Time New Roman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号，黑色（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49" name="矩形 48"/>
          <p:cNvSpPr/>
          <p:nvPr userDrawn="1"/>
        </p:nvSpPr>
        <p:spPr>
          <a:xfrm>
            <a:off x="-971986" y="478350"/>
            <a:ext cx="971985" cy="364565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-1003861" y="537860"/>
            <a:ext cx="1129295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R68 G114 B169</a:t>
            </a:r>
            <a:endParaRPr lang="zh-CN" altLang="en-US" sz="105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矩形 50"/>
          <p:cNvSpPr/>
          <p:nvPr userDrawn="1"/>
        </p:nvSpPr>
        <p:spPr>
          <a:xfrm>
            <a:off x="-971986" y="1108551"/>
            <a:ext cx="971986" cy="36456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-1003862" y="1161424"/>
            <a:ext cx="110148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R79 G129 B189</a:t>
            </a:r>
            <a:endParaRPr lang="zh-CN" altLang="en-US" sz="105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文本框 52"/>
          <p:cNvSpPr txBox="1"/>
          <p:nvPr userDrawn="1"/>
        </p:nvSpPr>
        <p:spPr>
          <a:xfrm>
            <a:off x="-852504" y="115578"/>
            <a:ext cx="781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参考配色</a:t>
            </a:r>
          </a:p>
        </p:txBody>
      </p:sp>
      <p:sp>
        <p:nvSpPr>
          <p:cNvPr id="54" name="矩形 53"/>
          <p:cNvSpPr/>
          <p:nvPr userDrawn="1"/>
        </p:nvSpPr>
        <p:spPr>
          <a:xfrm>
            <a:off x="-971986" y="1738752"/>
            <a:ext cx="971986" cy="36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-1034147" y="1805388"/>
            <a:ext cx="11898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R189 G205 B229</a:t>
            </a:r>
            <a:endParaRPr lang="zh-CN" altLang="en-US" sz="10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-971986" y="2369203"/>
            <a:ext cx="971986" cy="364565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-879357" y="2378145"/>
            <a:ext cx="88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R232 G56 B13</a:t>
            </a:r>
          </a:p>
          <a:p>
            <a:r>
              <a:rPr lang="zh-CN" altLang="en-US" sz="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VI</a:t>
            </a:r>
            <a:r>
              <a:rPr lang="zh-CN" altLang="en-US" sz="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标准色）</a:t>
            </a:r>
          </a:p>
        </p:txBody>
      </p:sp>
      <p:sp>
        <p:nvSpPr>
          <p:cNvPr id="58" name="矩形 57"/>
          <p:cNvSpPr/>
          <p:nvPr userDrawn="1"/>
        </p:nvSpPr>
        <p:spPr>
          <a:xfrm>
            <a:off x="-971986" y="3001540"/>
            <a:ext cx="971986" cy="36456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文本框 58"/>
          <p:cNvSpPr txBox="1"/>
          <p:nvPr userDrawn="1"/>
        </p:nvSpPr>
        <p:spPr>
          <a:xfrm>
            <a:off x="-1034147" y="3052277"/>
            <a:ext cx="109814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R247 G150 B70</a:t>
            </a:r>
            <a:endParaRPr lang="zh-CN" altLang="en-US" sz="105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矩形 59"/>
          <p:cNvSpPr/>
          <p:nvPr userDrawn="1"/>
        </p:nvSpPr>
        <p:spPr>
          <a:xfrm>
            <a:off x="-971987" y="3629354"/>
            <a:ext cx="971985" cy="364565"/>
          </a:xfrm>
          <a:prstGeom prst="rect">
            <a:avLst/>
          </a:prstGeom>
          <a:solidFill>
            <a:srgbClr val="FDBE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-1034147" y="3684614"/>
            <a:ext cx="112572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R253 G190 B148</a:t>
            </a:r>
            <a:endParaRPr lang="zh-CN" altLang="en-US" sz="10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矩形 61"/>
          <p:cNvSpPr/>
          <p:nvPr userDrawn="1"/>
        </p:nvSpPr>
        <p:spPr>
          <a:xfrm>
            <a:off x="-971987" y="4884982"/>
            <a:ext cx="971987" cy="3645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-1049323" y="4940242"/>
            <a:ext cx="11560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R166 G166 B166</a:t>
            </a:r>
            <a:endParaRPr lang="zh-CN" altLang="en-US" sz="105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矩形 63"/>
          <p:cNvSpPr/>
          <p:nvPr userDrawn="1"/>
        </p:nvSpPr>
        <p:spPr>
          <a:xfrm>
            <a:off x="-971987" y="5519956"/>
            <a:ext cx="971985" cy="364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文本框 64"/>
          <p:cNvSpPr txBox="1"/>
          <p:nvPr userDrawn="1"/>
        </p:nvSpPr>
        <p:spPr>
          <a:xfrm>
            <a:off x="-1034147" y="5568783"/>
            <a:ext cx="11447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R217 G217 B217</a:t>
            </a:r>
            <a:endParaRPr lang="zh-CN" altLang="en-US" sz="10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矩形 65"/>
          <p:cNvSpPr/>
          <p:nvPr userDrawn="1"/>
        </p:nvSpPr>
        <p:spPr>
          <a:xfrm>
            <a:off x="-971987" y="4257168"/>
            <a:ext cx="971987" cy="3645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文本框 66"/>
          <p:cNvSpPr txBox="1"/>
          <p:nvPr userDrawn="1"/>
        </p:nvSpPr>
        <p:spPr>
          <a:xfrm>
            <a:off x="-1043695" y="4312428"/>
            <a:ext cx="114481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R127 G127 B127</a:t>
            </a:r>
            <a:endParaRPr lang="zh-CN" altLang="en-US" sz="105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24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>
          <a:xfrm>
            <a:off x="574487" y="2916801"/>
            <a:ext cx="11100062" cy="1336222"/>
          </a:xfrm>
        </p:spPr>
        <p:txBody>
          <a:bodyPr/>
          <a:lstStyle/>
          <a:p>
            <a:r>
              <a:rPr lang="zh-CN" altLang="en-US" sz="4000" dirty="0"/>
              <a:t>A股成长</a:t>
            </a:r>
            <a:r>
              <a:rPr lang="en-US" altLang="zh-CN" sz="4000" dirty="0"/>
              <a:t>—</a:t>
            </a:r>
            <a:r>
              <a:rPr lang="zh-CN" altLang="en-US" sz="4000" dirty="0"/>
              <a:t>价值风格轮动多因子模型探究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1F900B63-504A-D5C8-4C0F-10FEBE2F8233}"/>
              </a:ext>
            </a:extLst>
          </p:cNvPr>
          <p:cNvSpPr txBox="1"/>
          <p:nvPr/>
        </p:nvSpPr>
        <p:spPr>
          <a:xfrm>
            <a:off x="758761" y="3769419"/>
            <a:ext cx="161582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800" dirty="0">
                <a:solidFill>
                  <a:srgbClr val="FFFFFF">
                    <a:alpha val="90000"/>
                  </a:srgbClr>
                </a:solidFill>
                <a:latin typeface="Arial"/>
                <a:ea typeface="Microsoft YaHei"/>
                <a:cs typeface="Arial"/>
              </a:rPr>
              <a:t>汇报人：张诗媛</a:t>
            </a:r>
            <a:endParaRPr lang="zh-CN" sz="1800" dirty="0">
              <a:solidFill>
                <a:srgbClr val="FFFFFF">
                  <a:alpha val="90000"/>
                </a:srgbClr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2A96115-92F9-9AC3-386F-16A0076F5022}"/>
              </a:ext>
            </a:extLst>
          </p:cNvPr>
          <p:cNvSpPr txBox="1"/>
          <p:nvPr/>
        </p:nvSpPr>
        <p:spPr>
          <a:xfrm>
            <a:off x="758761" y="4135179"/>
            <a:ext cx="1211870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 val="75000"/>
                  </a:srgbClr>
                </a:solidFill>
                <a:latin typeface="Arial"/>
                <a:ea typeface="Microsoft YaHei"/>
                <a:cs typeface="Arial"/>
              </a:rPr>
              <a:t>指导老师：</a:t>
            </a:r>
            <a:r>
              <a:rPr lang="zh-CN" altLang="en-US" sz="1350" dirty="0">
                <a:solidFill>
                  <a:srgbClr val="FFFFFF">
                    <a:alpha val="75000"/>
                  </a:srgbClr>
                </a:solidFill>
                <a:latin typeface="Arial"/>
                <a:ea typeface="Microsoft YaHei"/>
                <a:cs typeface="Arial"/>
              </a:rPr>
              <a:t>刘璐</a:t>
            </a:r>
            <a:endParaRPr lang="zh-CN" sz="1350" dirty="0">
              <a:solidFill>
                <a:srgbClr val="FFFFFF">
                  <a:alpha val="75000"/>
                </a:srgbClr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521E5B-CB5F-B1D8-A14D-11370FAB6047}"/>
              </a:ext>
            </a:extLst>
          </p:cNvPr>
          <p:cNvGrpSpPr/>
          <p:nvPr/>
        </p:nvGrpSpPr>
        <p:grpSpPr>
          <a:xfrm>
            <a:off x="762571" y="5788111"/>
            <a:ext cx="1607820" cy="466970"/>
            <a:chOff x="937260" y="5252085"/>
            <a:chExt cx="1607820" cy="466970"/>
          </a:xfrm>
        </p:grpSpPr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4BD83471-6E66-5EF4-8717-6EF2F431E68A}"/>
                </a:ext>
              </a:extLst>
            </p:cNvPr>
            <p:cNvSpPr txBox="1"/>
            <p:nvPr/>
          </p:nvSpPr>
          <p:spPr>
            <a:xfrm>
              <a:off x="937260" y="5252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 val="60000"/>
                    </a:srgbClr>
                  </a:solidFill>
                  <a:latin typeface="Arial"/>
                  <a:ea typeface="Microsoft YaHei"/>
                  <a:cs typeface="Arial"/>
                </a:rPr>
                <a:t>广发基金量化支持部</a:t>
              </a: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C07BCD9C-1E67-8213-C7BE-21B09287A81B}"/>
                </a:ext>
              </a:extLst>
            </p:cNvPr>
            <p:cNvSpPr txBox="1"/>
            <p:nvPr/>
          </p:nvSpPr>
          <p:spPr>
            <a:xfrm>
              <a:off x="938212" y="5545931"/>
              <a:ext cx="99386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2026年</a:t>
              </a:r>
              <a:r>
                <a:rPr lang="en-US" altLang="zh-CN" sz="1125" dirty="0">
                  <a:solidFill>
                    <a:srgbClr val="FFFFFF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5</a:t>
              </a:r>
              <a:r>
                <a:rPr lang="zh-CN" sz="1125" dirty="0">
                  <a:solidFill>
                    <a:srgbClr val="FFFFFF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月2</a:t>
              </a:r>
              <a:r>
                <a:rPr lang="en-US" altLang="zh-CN" sz="1125" dirty="0">
                  <a:solidFill>
                    <a:srgbClr val="FFFFFF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5</a:t>
              </a:r>
              <a:r>
                <a:rPr lang="zh-CN" sz="1125" dirty="0">
                  <a:solidFill>
                    <a:srgbClr val="FFFFFF">
                      <a:alpha val="50000"/>
                    </a:srgbClr>
                  </a:solidFill>
                  <a:latin typeface="Arial"/>
                  <a:ea typeface="Microsoft YaHei"/>
                  <a:cs typeface="Arial"/>
                </a:rPr>
                <a:t>日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研究框架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研究框架：从数据到信号到配置的完整链条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70000"/>
            <a:ext cx="5400000" cy="495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200" b="1" dirty="0">
                <a:solidFill>
                  <a:srgbClr val="4472A9"/>
                </a:solidFill>
                <a:latin typeface="Arial"/>
                <a:ea typeface="Microsoft YaHei"/>
              </a:rPr>
              <a:t>[宏观/量价/估值数据]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  ↓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[9大类别 470+候选因子]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[IC分析 + 经济意义筛 + 边际贡献测试]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  ↓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[23个核心因子]  →  [四层漏斗筛选]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  ↓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[W008_signal_binary（分类Binary投票）]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  ↓</a:t>
            </a:r>
          </a:p>
          <a:p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</a:rPr>
              <a:t>[风格指数回测（Part5）]  ←→  [风险预算框架（Part6）]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F4ADAAF-ADD1-D4D9-18A3-13355499ACFB}"/>
              </a:ext>
            </a:extLst>
          </p:cNvPr>
          <p:cNvSpPr txBox="1"/>
          <p:nvPr/>
        </p:nvSpPr>
        <p:spPr>
          <a:xfrm>
            <a:off x="8038212" y="826571"/>
            <a:ext cx="3517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样本内</a:t>
            </a:r>
            <a:r>
              <a:rPr kumimoji="1" lang="zh-CN" altLang="en-US" dirty="0"/>
              <a:t>：</a:t>
            </a:r>
            <a:r>
              <a:rPr kumimoji="1" lang="en-US" altLang="zh-CN" dirty="0"/>
              <a:t>2010-2022</a:t>
            </a:r>
          </a:p>
          <a:p>
            <a:r>
              <a:rPr kumimoji="1" lang="zh-TW" altLang="en-US" dirty="0"/>
              <a:t>样本外</a:t>
            </a:r>
            <a:r>
              <a:rPr kumimoji="1" lang="zh-CN" altLang="en-US" dirty="0"/>
              <a:t>：</a:t>
            </a:r>
            <a:r>
              <a:rPr kumimoji="1" lang="en-US" altLang="zh-CN" dirty="0"/>
              <a:t>2023-2026</a:t>
            </a:r>
            <a:endParaRPr kumimoji="1" lang="en-US" altLang="zh-TW" dirty="0"/>
          </a:p>
          <a:p>
            <a:r>
              <a:rPr kumimoji="1" lang="zh-TW" altLang="en-US" dirty="0"/>
              <a:t>费率单边千二</a:t>
            </a:r>
            <a:endParaRPr kumimoji="1" lang="en-US" altLang="zh-TW" dirty="0"/>
          </a:p>
          <a:p>
            <a:r>
              <a:rPr kumimoji="1" lang="zh-TW" altLang="en-US" dirty="0"/>
              <a:t>五轨回测保障因子稳定性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0F0-DC0D-5FBF-F818-49D9D960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887EE-B372-E39D-D7E5-F0D3E9780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sv-SE" altLang="zh-CN" dirty="0"/>
              <a:t>Part 1  研究动机：风格分化的现实意义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910717-5032-E6B0-B6B7-1A0E2066B960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7FDCAD41-34CC-667C-FADB-C425A87F8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A股风格年度差距超40个百分点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701E5753-113C-1C88-CCE3-41A319C7022E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0A169A1-C220-0130-98A3-4E2013B66C9A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F8502650-1715-2C78-CA45-4C7971940FE1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06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456E729-E641-62C9-B170-737B910A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522" y="2356519"/>
            <a:ext cx="3870478" cy="4158000"/>
          </a:xfrm>
          <a:prstGeom prst="rect">
            <a:avLst/>
          </a:prstGeom>
        </p:spPr>
      </p:pic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0999" y="295275"/>
            <a:ext cx="9490113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研究动机：成长与价值并非长期同涨同跌，风格差异最高年可形成显著收益分化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0000" y="782070"/>
            <a:ext cx="11430000" cy="11257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风格胜负较为均衡： 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17 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个样本年份中，成长占优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8 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年、价值占优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9 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年，说明市场并不存在单一风格长期稳定压制另一风格的特征。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年度分化足够大：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 成长与价值年度收益差的中位数约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13.5%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，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2020 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年出现最大差距，达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43.7%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，踩对风格往往接近踩对当年主线行情。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价值行情更分散： 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成长占优年份中，收益更多由头部高弹性股票贡献，</a:t>
            </a:r>
            <a:r>
              <a:rPr lang="tr-TR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P90 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收益均值约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78.9%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，明显高于中位数约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3.4%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；价值占优年份中，个股胜率均值约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60.0%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，高于成长占优年份的 </a:t>
            </a:r>
            <a:r>
              <a:rPr lang="en-US" altLang="zh-CN" sz="1200" dirty="0">
                <a:solidFill>
                  <a:srgbClr val="2C3E50"/>
                </a:solidFill>
                <a:latin typeface="Arial"/>
                <a:ea typeface="Microsoft YaHei"/>
              </a:rPr>
              <a:t>51.6%</a:t>
            </a:r>
            <a:r>
              <a:rPr lang="zh-CN" altLang="en-US" sz="1200" dirty="0">
                <a:solidFill>
                  <a:srgbClr val="2C3E50"/>
                </a:solidFill>
                <a:latin typeface="Arial"/>
                <a:ea typeface="Microsoft YaHei"/>
              </a:rPr>
              <a:t>，说明价值行情通常体现为广谱修复，价值股整体具备一定抗跌能力。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E66EBB2-FD95-32ED-3BA8-F6A12C077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59" y="2356519"/>
            <a:ext cx="6154096" cy="4158000"/>
          </a:xfrm>
          <a:prstGeom prst="rect">
            <a:avLst/>
          </a:prstGeom>
        </p:spPr>
      </p:pic>
      <p:sp>
        <p:nvSpPr>
          <p:cNvPr id="18" name="SlideTitle">
            <a:extLst>
              <a:ext uri="{FF2B5EF4-FFF2-40B4-BE49-F238E27FC236}">
                <a16:creationId xmlns:a16="http://schemas.microsoft.com/office/drawing/2014/main" id="{CD17EDDB-F617-74F9-4EF9-33C61E3C46AA}"/>
              </a:ext>
            </a:extLst>
          </p:cNvPr>
          <p:cNvSpPr txBox="1"/>
          <p:nvPr/>
        </p:nvSpPr>
        <p:spPr>
          <a:xfrm>
            <a:off x="865732" y="1901171"/>
            <a:ext cx="5580366" cy="386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zh-TW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图</a:t>
            </a:r>
            <a:r>
              <a:rPr lang="en-US" altLang="zh-CN" sz="1200" b="1" dirty="0">
                <a:solidFill>
                  <a:srgbClr val="2C3E50"/>
                </a:solidFill>
                <a:latin typeface="Arial"/>
                <a:ea typeface="Microsoft YaHei"/>
              </a:rPr>
              <a:t>1:</a:t>
            </a: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 成长</a:t>
            </a:r>
            <a:r>
              <a:rPr lang="en-US" altLang="zh-CN" sz="1200" b="1" dirty="0">
                <a:solidFill>
                  <a:srgbClr val="2C3E50"/>
                </a:solidFill>
                <a:latin typeface="Arial"/>
                <a:ea typeface="Microsoft YaHei"/>
              </a:rPr>
              <a:t>/</a:t>
            </a: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价值占优年份统计</a:t>
            </a:r>
            <a:endParaRPr lang="zh-CN" altLang="en-US" sz="1200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  <p:sp>
        <p:nvSpPr>
          <p:cNvPr id="19" name="SlideTitle">
            <a:extLst>
              <a:ext uri="{FF2B5EF4-FFF2-40B4-BE49-F238E27FC236}">
                <a16:creationId xmlns:a16="http://schemas.microsoft.com/office/drawing/2014/main" id="{00542959-2843-97B7-E8BD-A78ADBC09D93}"/>
              </a:ext>
            </a:extLst>
          </p:cNvPr>
          <p:cNvSpPr txBox="1"/>
          <p:nvPr/>
        </p:nvSpPr>
        <p:spPr>
          <a:xfrm>
            <a:off x="6649332" y="1901171"/>
            <a:ext cx="5580366" cy="386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zh-TW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图</a:t>
            </a:r>
            <a:r>
              <a:rPr lang="en-US" altLang="zh-CN" sz="1200" b="1" dirty="0">
                <a:solidFill>
                  <a:srgbClr val="2C3E50"/>
                </a:solidFill>
                <a:latin typeface="Arial"/>
                <a:ea typeface="Microsoft YaHei"/>
              </a:rPr>
              <a:t>2:</a:t>
            </a: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zh-TW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成长</a:t>
            </a:r>
            <a:r>
              <a:rPr lang="en-US" altLang="zh-CN" sz="1200" b="1" dirty="0">
                <a:solidFill>
                  <a:srgbClr val="2C3E50"/>
                </a:solidFill>
                <a:latin typeface="Arial"/>
                <a:ea typeface="Microsoft YaHei"/>
              </a:rPr>
              <a:t>/</a:t>
            </a:r>
            <a:r>
              <a:rPr lang="zh-CN" altLang="en-US" sz="1200" b="1" dirty="0">
                <a:solidFill>
                  <a:srgbClr val="2C3E50"/>
                </a:solidFill>
                <a:latin typeface="Arial"/>
                <a:ea typeface="Microsoft YaHei"/>
              </a:rPr>
              <a:t>价值占优年份风格广度、强度分布</a:t>
            </a:r>
            <a:endParaRPr lang="zh-CN" altLang="en-US" sz="1200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F2F75C-3F8E-0941-246A-0AC7CE5DDA80}"/>
              </a:ext>
            </a:extLst>
          </p:cNvPr>
          <p:cNvSpPr/>
          <p:nvPr/>
        </p:nvSpPr>
        <p:spPr>
          <a:xfrm>
            <a:off x="596959" y="6514519"/>
            <a:ext cx="6154096" cy="7900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可以補充每個年份跑得最好的股票，喚醒主觀記憶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1633-8B6D-1317-1933-D5F74F99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6428259E-1382-CBF3-3DF6-9AF3005EAC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90E0FD9E-AE7E-13C4-92CB-273960FBE148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0BF73BC6-B2FB-747E-91CA-2D41A6AF5CBF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51BF0A0F-C95E-AEF6-78F8-04EAF277B7B3}"/>
              </a:ext>
            </a:extLst>
          </p:cNvPr>
          <p:cNvSpPr txBox="1"/>
          <p:nvPr/>
        </p:nvSpPr>
        <p:spPr>
          <a:xfrm>
            <a:off x="380999" y="295275"/>
            <a:ext cx="9490113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过往研究：过拟合程度高、参数</a:t>
            </a:r>
            <a:r>
              <a:rPr lang="zh-TW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寻优风险性大</a:t>
            </a:r>
            <a:endParaRPr lang="zh-CN" altLang="en-US" sz="2000" b="1" dirty="0">
              <a:solidFill>
                <a:srgbClr val="4472A9"/>
              </a:solidFill>
              <a:latin typeface="Arial"/>
              <a:ea typeface="Microsoft Ya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DCB8737-AFDD-8E1A-9183-38E4D019D9A1}"/>
              </a:ext>
            </a:extLst>
          </p:cNvPr>
          <p:cNvSpPr txBox="1"/>
          <p:nvPr/>
        </p:nvSpPr>
        <p:spPr>
          <a:xfrm>
            <a:off x="380999" y="1122956"/>
            <a:ext cx="658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看因子集</a:t>
            </a:r>
            <a:r>
              <a:rPr kumimoji="1" lang="en-US" altLang="zh-TW" dirty="0"/>
              <a:t>ins</a:t>
            </a:r>
            <a:r>
              <a:rPr kumimoji="1" lang="zh-TW" altLang="en-US" dirty="0"/>
              <a:t>和</a:t>
            </a:r>
            <a:r>
              <a:rPr kumimoji="1" lang="en-US" altLang="zh-TW" dirty="0" err="1"/>
              <a:t>oos</a:t>
            </a:r>
            <a:r>
              <a:rPr kumimoji="1" lang="zh-TW" altLang="en-US" dirty="0"/>
              <a:t>的平均表现差异</a:t>
            </a:r>
            <a:endParaRPr kumimoji="1" lang="en-US" altLang="zh-TW" dirty="0"/>
          </a:p>
          <a:p>
            <a:r>
              <a:rPr kumimoji="1" lang="zh-TW" altLang="en-US" dirty="0"/>
              <a:t>统计显著</a:t>
            </a:r>
            <a:r>
              <a:rPr kumimoji="1" lang="zh-CN" altLang="en-US" dirty="0"/>
              <a:t>？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87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89AA-4D1B-9A1B-1BD2-158AEC54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6CC24A-6A82-9137-1596-EA59AC501C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zh-CN" altLang="en-US" dirty="0"/>
              <a:t>Part 2  理论框架：为什么成长价值会轮动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2E25FE-6A79-451D-D054-3E1D4720F706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91902122-AEBF-B215-F3D7-3ACF76992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DCF统一框架——两类股票对折现率的不同敏感性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97802751-3F07-BF54-24AE-9B4730BA53D4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C96DB7B3-2FAA-8ED4-9179-4E8CF7AD9487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45DC4A8F-CB6A-6149-86D6-BD843713A213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685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139C-F6BE-7745-7373-E0D56B71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37007C15-7CC9-6C6D-A19E-F8CCE4F72B71}"/>
              </a:ext>
            </a:extLst>
          </p:cNvPr>
          <p:cNvSpPr/>
          <p:nvPr/>
        </p:nvSpPr>
        <p:spPr>
          <a:xfrm>
            <a:off x="0" y="21266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D972C43F-CBE2-EC51-0583-BF1A810B1DB6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27F7C96E-E7DD-CAE2-3432-106E6B34262F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A1FD53CB-C680-A61C-ECB7-266F1582C843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理论框架：成长股 </a:t>
            </a:r>
            <a:r>
              <a:rPr lang="en-US" altLang="zh-CN" sz="2000" b="1" dirty="0">
                <a:solidFill>
                  <a:srgbClr val="4472A9"/>
                </a:solidFill>
                <a:latin typeface="Arial"/>
                <a:ea typeface="Microsoft YaHei"/>
              </a:rPr>
              <a:t>V.S.</a:t>
            </a:r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 价值股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67B71B8F-8452-179A-3055-02ED4F515A85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D2F197-6D10-A6CC-FAEB-988F9EFF7810}"/>
              </a:ext>
            </a:extLst>
          </p:cNvPr>
          <p:cNvSpPr/>
          <p:nvPr/>
        </p:nvSpPr>
        <p:spPr>
          <a:xfrm>
            <a:off x="1031422" y="2070100"/>
            <a:ext cx="2872999" cy="138223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成长股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D08EDA-319E-32D0-BE03-9287FBC801EE}"/>
              </a:ext>
            </a:extLst>
          </p:cNvPr>
          <p:cNvSpPr/>
          <p:nvPr/>
        </p:nvSpPr>
        <p:spPr>
          <a:xfrm>
            <a:off x="1031422" y="4271483"/>
            <a:ext cx="2872999" cy="138223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价值股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2D678A-B5C2-A2CC-FC58-B1CAC1D60F59}"/>
              </a:ext>
            </a:extLst>
          </p:cNvPr>
          <p:cNvSpPr txBox="1"/>
          <p:nvPr/>
        </p:nvSpPr>
        <p:spPr>
          <a:xfrm>
            <a:off x="4101510" y="408681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effectLst/>
                <a:latin typeface="Helvetica Neue" panose="02000503000000020004" pitchFamily="2" charset="0"/>
              </a:rPr>
              <a:t>低估值指数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——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低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1/(r-g)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，更多估值来自算式分子</a:t>
            </a:r>
            <a:endParaRPr lang="zh-TW" altLang="zh-TW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B2E81-C75F-9A23-E0B4-80369D83C0B2}"/>
              </a:ext>
            </a:extLst>
          </p:cNvPr>
          <p:cNvSpPr txBox="1"/>
          <p:nvPr/>
        </p:nvSpPr>
        <p:spPr>
          <a:xfrm>
            <a:off x="4101509" y="4510247"/>
            <a:ext cx="71583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zh-TW" altLang="zh-TW" dirty="0">
                <a:effectLst/>
                <a:latin typeface="Helvetica Neue" panose="02000503000000020004" pitchFamily="2" charset="0"/>
              </a:rPr>
              <a:t>A股市场：国证价值指数、沪深300价值指数、中证500价值指数、中证800价值指数等，主要编制依据是估值类指标</a:t>
            </a:r>
          </a:p>
          <a:p>
            <a:pPr>
              <a:buNone/>
            </a:pPr>
            <a:r>
              <a:rPr lang="zh-TW" altLang="zh-TW" dirty="0">
                <a:effectLst/>
                <a:latin typeface="Menlo" panose="020B0609030804020204" pitchFamily="49" charset="0"/>
              </a:rPr>
              <a:t>• </a:t>
            </a:r>
            <a:r>
              <a:rPr lang="zh-TW" altLang="zh-TW" dirty="0">
                <a:effectLst/>
                <a:latin typeface="PingFang TC"/>
              </a:rPr>
              <a:t>国际市场：标普</a:t>
            </a:r>
            <a:r>
              <a:rPr lang="zh-TW" altLang="zh-TW" dirty="0">
                <a:effectLst/>
                <a:latin typeface="Helvetica Neue" panose="02000503000000020004" pitchFamily="2" charset="0"/>
              </a:rPr>
              <a:t>500</a:t>
            </a:r>
            <a:r>
              <a:rPr lang="zh-TW" altLang="zh-TW" dirty="0">
                <a:effectLst/>
                <a:latin typeface="PingFang TC"/>
              </a:rPr>
              <a:t>价值指数的编制依据是价值因子</a:t>
            </a:r>
            <a:r>
              <a:rPr lang="zh-TW" altLang="zh-TW" dirty="0">
                <a:effectLst/>
                <a:latin typeface="Helvetica Neue" panose="02000503000000020004" pitchFamily="2" charset="0"/>
              </a:rPr>
              <a:t>/</a:t>
            </a:r>
            <a:r>
              <a:rPr lang="zh-TW" altLang="zh-TW" dirty="0">
                <a:effectLst/>
                <a:latin typeface="PingFang TC"/>
              </a:rPr>
              <a:t>成长因子的前</a:t>
            </a:r>
            <a:r>
              <a:rPr lang="zh-TW" altLang="zh-TW" dirty="0">
                <a:effectLst/>
                <a:latin typeface="Helvetica Neue" panose="02000503000000020004" pitchFamily="2" charset="0"/>
              </a:rPr>
              <a:t>33%</a:t>
            </a:r>
            <a:r>
              <a:rPr lang="zh-TW" altLang="zh-TW" dirty="0">
                <a:effectLst/>
                <a:latin typeface="PingFang TC"/>
              </a:rPr>
              <a:t>，其中价值因子主要参考</a:t>
            </a:r>
            <a:r>
              <a:rPr lang="zh-TW" altLang="zh-TW" dirty="0">
                <a:effectLst/>
                <a:latin typeface="Helvetica Neue" panose="02000503000000020004" pitchFamily="2" charset="0"/>
              </a:rPr>
              <a:t>PB PE PS</a:t>
            </a:r>
            <a:r>
              <a:rPr lang="zh-TW" altLang="zh-TW" dirty="0">
                <a:effectLst/>
                <a:latin typeface="PingFang TC"/>
              </a:rPr>
              <a:t>的倒数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4F38684-EC6A-A9F7-58A4-97D13C257D7E}"/>
              </a:ext>
            </a:extLst>
          </p:cNvPr>
          <p:cNvSpPr txBox="1"/>
          <p:nvPr/>
        </p:nvSpPr>
        <p:spPr>
          <a:xfrm>
            <a:off x="4101509" y="18130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（3年来的）销售额和利润增幅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8CBB06-3A84-0F52-CCB9-9C2D9852BC6D}"/>
              </a:ext>
            </a:extLst>
          </p:cNvPr>
          <p:cNvSpPr txBox="1"/>
          <p:nvPr/>
        </p:nvSpPr>
        <p:spPr>
          <a:xfrm>
            <a:off x="4239732" y="2236498"/>
            <a:ext cx="7158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• 过去的高增长不代表未来的高增长。增长3年过后，未来企业的增速可能会下滑。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B9970A4-2628-47C8-9351-E25B7819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7120" y="3222046"/>
            <a:ext cx="3590255" cy="64633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13B0D77-986A-B57F-DE11-8B4BE6B62478}"/>
              </a:ext>
            </a:extLst>
          </p:cNvPr>
          <p:cNvSpPr txBox="1"/>
          <p:nvPr/>
        </p:nvSpPr>
        <p:spPr>
          <a:xfrm>
            <a:off x="4101509" y="147585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Helvetica Neue" panose="02000503000000020004" pitchFamily="2" charset="0"/>
              </a:rPr>
              <a:t>更多估值来自算式分母</a:t>
            </a:r>
            <a:endParaRPr lang="zh-TW" altLang="zh-TW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1D32B4-36C0-3AE7-90AB-10A29AC7DC76}"/>
              </a:ext>
            </a:extLst>
          </p:cNvPr>
          <p:cNvSpPr txBox="1"/>
          <p:nvPr/>
        </p:nvSpPr>
        <p:spPr>
          <a:xfrm>
            <a:off x="9660454" y="3360545"/>
            <a:ext cx="2062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+</a:t>
            </a:r>
            <a:r>
              <a:rPr kumimoji="1" lang="zh-TW" altLang="en-US" dirty="0"/>
              <a:t> 價格偏移量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88492A-0358-13B0-A6FA-85CD3F160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36" y="1176596"/>
            <a:ext cx="3083442" cy="60496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9B37D5F-386B-72C3-B4E8-5FA771587738}"/>
              </a:ext>
            </a:extLst>
          </p:cNvPr>
          <p:cNvSpPr txBox="1"/>
          <p:nvPr/>
        </p:nvSpPr>
        <p:spPr>
          <a:xfrm>
            <a:off x="1222631" y="5210676"/>
            <a:ext cx="2573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zh-TW" dirty="0">
                <a:latin typeface="Helvetica Neue" panose="02000503000000020004" pitchFamily="2" charset="0"/>
              </a:rPr>
              <a:t>r-g</a:t>
            </a:r>
            <a:r>
              <a:rPr lang="zh-TW" altLang="en-US" dirty="0">
                <a:latin typeface="Helvetica Neue" panose="02000503000000020004" pitchFamily="2" charset="0"/>
              </a:rPr>
              <a:t>到估值的推导过程</a:t>
            </a:r>
            <a:endParaRPr lang="zh-TW" altLang="zh-TW" dirty="0">
              <a:effectLst/>
              <a:latin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53451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FE76-867B-9ACC-686C-3A0BF8A8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C2CF8952-D3A8-45AF-F0EE-BB233ECE55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3D3EA629-DF80-7171-A55E-7246E1CED1A2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6AEAE75E-7FFB-558C-ADD0-CFFE44170E0C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A1AC75A1-9DC5-8572-C854-A2E441E97713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已有因子整理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3A5B7B0C-0DFD-96FE-BA97-3118C77E2EA6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7628EF94-05E2-E0C0-8A20-61C2668415F5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2F0CFC9-DF07-E360-FF61-67CE9D4C3C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050"/>
          <a:stretch>
            <a:fillRect/>
          </a:stretch>
        </p:blipFill>
        <p:spPr>
          <a:xfrm>
            <a:off x="637754" y="1518277"/>
            <a:ext cx="2776870" cy="13601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4881288-A52C-BCCC-D54E-5A3EE327B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78" y="1507232"/>
            <a:ext cx="2962940" cy="1383752"/>
          </a:xfrm>
          <a:prstGeom prst="rect">
            <a:avLst/>
          </a:prstGeom>
        </p:spPr>
      </p:pic>
      <p:sp>
        <p:nvSpPr>
          <p:cNvPr id="8" name="圓角矩形 7">
            <a:extLst>
              <a:ext uri="{FF2B5EF4-FFF2-40B4-BE49-F238E27FC236}">
                <a16:creationId xmlns:a16="http://schemas.microsoft.com/office/drawing/2014/main" id="{04D58F93-7568-D053-AFAE-090AB03092D6}"/>
              </a:ext>
            </a:extLst>
          </p:cNvPr>
          <p:cNvSpPr/>
          <p:nvPr/>
        </p:nvSpPr>
        <p:spPr>
          <a:xfrm>
            <a:off x="276447" y="3482795"/>
            <a:ext cx="6921796" cy="114335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0FA08140-4D67-E2A0-E233-518F91FAEF45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rot="16200000" flipH="1">
            <a:off x="2579561" y="2325011"/>
            <a:ext cx="604412" cy="1711156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827BA11A-395C-F1FD-B4E8-3C908CBBCA3B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480648" y="2118928"/>
            <a:ext cx="281144" cy="182525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5B74125-AED1-C7B5-5059-23DAB60FD477}"/>
              </a:ext>
            </a:extLst>
          </p:cNvPr>
          <p:cNvSpPr/>
          <p:nvPr/>
        </p:nvSpPr>
        <p:spPr>
          <a:xfrm>
            <a:off x="458642" y="3652251"/>
            <a:ext cx="2033398" cy="8020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贴现率</a:t>
            </a:r>
            <a:r>
              <a:rPr kumimoji="1" lang="zh-CN" altLang="en-US" sz="1400" dirty="0">
                <a:solidFill>
                  <a:schemeClr val="tx1"/>
                </a:solidFill>
              </a:rPr>
              <a:t>（</a:t>
            </a:r>
            <a:r>
              <a:rPr kumimoji="1" lang="en-US" altLang="zh-CN" sz="1400" dirty="0">
                <a:solidFill>
                  <a:schemeClr val="tx1"/>
                </a:solidFill>
              </a:rPr>
              <a:t>r</a:t>
            </a:r>
            <a:r>
              <a:rPr kumimoji="1" lang="zh-CN" altLang="en-US" sz="1400" dirty="0">
                <a:solidFill>
                  <a:schemeClr val="tx1"/>
                </a:solidFill>
              </a:rPr>
              <a:t>）</a:t>
            </a:r>
            <a:endParaRPr kumimoji="1" lang="en-US" altLang="zh-TW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流动性</a:t>
            </a:r>
            <a:r>
              <a:rPr kumimoji="1" lang="zh-CN" altLang="en-US" sz="1400" dirty="0">
                <a:solidFill>
                  <a:schemeClr val="tx1"/>
                </a:solidFill>
              </a:rPr>
              <a:t>（</a:t>
            </a:r>
            <a:r>
              <a:rPr kumimoji="1" lang="en-US" altLang="zh-CN" sz="1400" dirty="0">
                <a:solidFill>
                  <a:schemeClr val="tx1"/>
                </a:solidFill>
              </a:rPr>
              <a:t>risk premium</a:t>
            </a:r>
            <a:r>
              <a:rPr kumimoji="1" lang="zh-CN" altLang="en-US" sz="1400" dirty="0">
                <a:solidFill>
                  <a:schemeClr val="tx1"/>
                </a:solidFill>
              </a:rPr>
              <a:t>）</a:t>
            </a:r>
            <a:endParaRPr kumimoji="1" lang="en-US" altLang="zh-TW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经济增长</a:t>
            </a:r>
            <a:r>
              <a:rPr kumimoji="1" lang="zh-CN" altLang="en-US" sz="1400" dirty="0">
                <a:solidFill>
                  <a:schemeClr val="tx1"/>
                </a:solidFill>
              </a:rPr>
              <a:t>（</a:t>
            </a:r>
            <a:r>
              <a:rPr kumimoji="1" lang="en-US" altLang="zh-CN" sz="1400" dirty="0">
                <a:solidFill>
                  <a:schemeClr val="tx1"/>
                </a:solidFill>
              </a:rPr>
              <a:t>g</a:t>
            </a:r>
            <a:r>
              <a:rPr kumimoji="1" lang="zh-CN" altLang="en-US" sz="1400" dirty="0">
                <a:solidFill>
                  <a:schemeClr val="tx1"/>
                </a:solidFill>
              </a:rPr>
              <a:t>上限）</a:t>
            </a:r>
            <a:endParaRPr kumimoji="1"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通货膨胀</a:t>
            </a:r>
            <a:endParaRPr kumimoji="1"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海外宏观</a:t>
            </a:r>
            <a:endParaRPr kumimoji="1"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7F4F13-9BC2-FAF8-4E9C-7445BF863A03}"/>
              </a:ext>
            </a:extLst>
          </p:cNvPr>
          <p:cNvSpPr/>
          <p:nvPr/>
        </p:nvSpPr>
        <p:spPr>
          <a:xfrm>
            <a:off x="2651294" y="3640390"/>
            <a:ext cx="2033398" cy="8020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盈利</a:t>
            </a:r>
            <a:endParaRPr kumimoji="1" lang="en-US" altLang="zh-TW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贷款</a:t>
            </a:r>
            <a:r>
              <a:rPr kumimoji="1" lang="zh-CN" altLang="en-US" sz="1400" dirty="0">
                <a:solidFill>
                  <a:schemeClr val="tx1"/>
                </a:solidFill>
              </a:rPr>
              <a:t>（增长预期）</a:t>
            </a:r>
            <a:endParaRPr kumimoji="1"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通货膨胀</a:t>
            </a:r>
            <a:endParaRPr kumimoji="1"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海外宏观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4DE335-D570-C342-EB68-FE9359051BC7}"/>
              </a:ext>
            </a:extLst>
          </p:cNvPr>
          <p:cNvSpPr/>
          <p:nvPr/>
        </p:nvSpPr>
        <p:spPr>
          <a:xfrm>
            <a:off x="5001086" y="3602384"/>
            <a:ext cx="2033398" cy="8020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量价</a:t>
            </a:r>
            <a:endParaRPr kumimoji="1" lang="en-US" altLang="zh-TW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资金流</a:t>
            </a:r>
            <a:endParaRPr kumimoji="1"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447E1B-1FB6-188F-5E39-17356AF32035}"/>
              </a:ext>
            </a:extLst>
          </p:cNvPr>
          <p:cNvSpPr txBox="1"/>
          <p:nvPr/>
        </p:nvSpPr>
        <p:spPr>
          <a:xfrm>
            <a:off x="911706" y="3723147"/>
            <a:ext cx="203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分母端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2A5EB9B-C6C3-7385-F442-088FCBECADA4}"/>
              </a:ext>
            </a:extLst>
          </p:cNvPr>
          <p:cNvSpPr txBox="1"/>
          <p:nvPr/>
        </p:nvSpPr>
        <p:spPr>
          <a:xfrm>
            <a:off x="2674236" y="3617373"/>
            <a:ext cx="740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分子端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C7A1D89-7C19-FC28-F29C-3FA0553F5CEF}"/>
              </a:ext>
            </a:extLst>
          </p:cNvPr>
          <p:cNvSpPr txBox="1"/>
          <p:nvPr/>
        </p:nvSpPr>
        <p:spPr>
          <a:xfrm>
            <a:off x="5107729" y="3656349"/>
            <a:ext cx="740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交易端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0152EC92-69C5-4FA9-A039-32F5BD3C007F}"/>
              </a:ext>
            </a:extLst>
          </p:cNvPr>
          <p:cNvSpPr/>
          <p:nvPr/>
        </p:nvSpPr>
        <p:spPr>
          <a:xfrm>
            <a:off x="301496" y="4990741"/>
            <a:ext cx="6921796" cy="13822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按经济逻辑得出的分类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8CC71-5CE3-291F-15E2-A4623CA8748F}"/>
              </a:ext>
            </a:extLst>
          </p:cNvPr>
          <p:cNvSpPr txBox="1"/>
          <p:nvPr/>
        </p:nvSpPr>
        <p:spPr>
          <a:xfrm>
            <a:off x="5369442" y="6007395"/>
            <a:ext cx="182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-</a:t>
            </a:r>
            <a:r>
              <a:rPr kumimoji="1" lang="zh-CN" altLang="en-US" dirty="0"/>
              <a:t>较弱数 </a:t>
            </a:r>
            <a:r>
              <a:rPr kumimoji="1" lang="en-US" altLang="zh-CN" dirty="0"/>
              <a:t>+</a:t>
            </a:r>
            <a:r>
              <a:rPr kumimoji="1" lang="zh-CN" altLang="en-US" dirty="0"/>
              <a:t>演绎数</a:t>
            </a:r>
            <a:endParaRPr kumimoji="1" lang="zh-TW" altLang="en-US" dirty="0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7E4795A-ED79-86FC-52E4-EF7FA3EBB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23575"/>
              </p:ext>
            </p:extLst>
          </p:nvPr>
        </p:nvGraphicFramePr>
        <p:xfrm>
          <a:off x="7420279" y="1004711"/>
          <a:ext cx="4190474" cy="559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809">
                  <a:extLst>
                    <a:ext uri="{9D8B030D-6E8A-4147-A177-3AD203B41FA5}">
                      <a16:colId xmlns:a16="http://schemas.microsoft.com/office/drawing/2014/main" val="931129157"/>
                    </a:ext>
                  </a:extLst>
                </a:gridCol>
                <a:gridCol w="1584252">
                  <a:extLst>
                    <a:ext uri="{9D8B030D-6E8A-4147-A177-3AD203B41FA5}">
                      <a16:colId xmlns:a16="http://schemas.microsoft.com/office/drawing/2014/main" val="2182728652"/>
                    </a:ext>
                  </a:extLst>
                </a:gridCol>
                <a:gridCol w="1637413">
                  <a:extLst>
                    <a:ext uri="{9D8B030D-6E8A-4147-A177-3AD203B41FA5}">
                      <a16:colId xmlns:a16="http://schemas.microsoft.com/office/drawing/2014/main" val="669921790"/>
                    </a:ext>
                  </a:extLst>
                </a:gridCol>
              </a:tblGrid>
              <a:tr h="49524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902636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zh-TW" altLang="en-US" dirty="0"/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7822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08320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474091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475415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r>
                        <a:rPr lang="zh-CN" altLang="en-US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454062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28893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278092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15519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en-US" altLang="zh-TW" dirty="0"/>
                        <a:t>XX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246289"/>
                  </a:ext>
                </a:extLst>
              </a:tr>
              <a:tr h="495242">
                <a:tc>
                  <a:txBody>
                    <a:bodyPr/>
                    <a:lstStyle/>
                    <a:p>
                      <a:r>
                        <a:rPr lang="zh-TW" altLang="en-US" dirty="0"/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价值跑赢</a:t>
                      </a:r>
                      <a:r>
                        <a:rPr lang="zh-CN" altLang="en-US" dirty="0"/>
                        <a:t>（具体股票）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成长跑赢</a:t>
                      </a:r>
                      <a:r>
                        <a:rPr lang="zh-CN" altLang="en-US" dirty="0"/>
                        <a:t>（具体股票）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54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3E4B-1360-2385-4C00-8FF1961E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lueLine">
            <a:extLst>
              <a:ext uri="{FF2B5EF4-FFF2-40B4-BE49-F238E27FC236}">
                <a16:creationId xmlns:a16="http://schemas.microsoft.com/office/drawing/2014/main" id="{C939A7AF-6AAD-3015-8642-4D440C0A2EDF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1203C1BB-970B-21BB-E51C-65D273649D3E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31138804-37A8-3CCE-DC9D-50EB745C47CC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B77853CD-9A73-9033-7579-CE85E5467F4D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4080562-2BBF-A33A-4FF7-46FA89A14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257" b="42354"/>
          <a:stretch>
            <a:fillRect/>
          </a:stretch>
        </p:blipFill>
        <p:spPr>
          <a:xfrm>
            <a:off x="381000" y="826571"/>
            <a:ext cx="4455042" cy="485886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F0B8E109-02F4-EE0E-F54A-E6347A469C3F}"/>
              </a:ext>
            </a:extLst>
          </p:cNvPr>
          <p:cNvSpPr txBox="1"/>
          <p:nvPr/>
        </p:nvSpPr>
        <p:spPr>
          <a:xfrm>
            <a:off x="381000" y="1431300"/>
            <a:ext cx="6581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无风险利率</a:t>
            </a:r>
            <a:r>
              <a:rPr kumimoji="1" lang="zh-CN" altLang="en-US" dirty="0"/>
              <a:t>：选用十年期国开债利率和两年期美债利率</a:t>
            </a:r>
            <a:endParaRPr kumimoji="1" lang="en-US" altLang="zh-CN" dirty="0"/>
          </a:p>
          <a:p>
            <a:r>
              <a:rPr kumimoji="1" lang="en-US" altLang="zh-TW" dirty="0"/>
              <a:t>	</a:t>
            </a:r>
            <a:r>
              <a:rPr kumimoji="1" lang="en-US" altLang="zh-CN" dirty="0"/>
              <a:t>-</a:t>
            </a:r>
            <a:r>
              <a:rPr kumimoji="1" lang="zh-CN" altLang="en-US" dirty="0"/>
              <a:t> 十年期国开债利率：交易量更频繁，更表达市场观点</a:t>
            </a:r>
            <a:endParaRPr kumimoji="1" lang="en-US" altLang="zh-CN" dirty="0"/>
          </a:p>
          <a:p>
            <a:r>
              <a:rPr kumimoji="1" lang="en-US" altLang="zh-TW" dirty="0"/>
              <a:t>	</a:t>
            </a:r>
            <a:r>
              <a:rPr kumimoji="1" lang="en-US" altLang="zh-CN" dirty="0"/>
              <a:t>-</a:t>
            </a:r>
            <a:r>
              <a:rPr kumimoji="1" lang="zh-CN" altLang="en-US" dirty="0"/>
              <a:t> 两年期美国国债：</a:t>
            </a:r>
            <a:endParaRPr kumimoji="1" lang="en-US" altLang="zh-CN" dirty="0"/>
          </a:p>
          <a:p>
            <a:r>
              <a:rPr kumimoji="1" lang="en-US" altLang="zh-TW" dirty="0"/>
              <a:t>I_rf_level_002_rebalance_50_combo_nav_ratio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ED29D47-D45D-5DA8-8163-2D53A3E53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124" y="1360481"/>
            <a:ext cx="4589618" cy="2268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B694797-13D5-528F-A095-57D118EA9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934" y="3993689"/>
            <a:ext cx="4589617" cy="226800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D86833-D266-F160-76A8-8682FC923A96}"/>
              </a:ext>
            </a:extLst>
          </p:cNvPr>
          <p:cNvSpPr txBox="1"/>
          <p:nvPr/>
        </p:nvSpPr>
        <p:spPr>
          <a:xfrm>
            <a:off x="8381000" y="991149"/>
            <a:ext cx="1787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dirty="0"/>
              <a:t>十年期国开债</a:t>
            </a:r>
            <a:endParaRPr kumimoji="1" lang="en-US" altLang="zh-TW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31D1A0C-369D-9CAC-A28A-0CF5A9254520}"/>
              </a:ext>
            </a:extLst>
          </p:cNvPr>
          <p:cNvSpPr txBox="1"/>
          <p:nvPr/>
        </p:nvSpPr>
        <p:spPr>
          <a:xfrm>
            <a:off x="8381000" y="3654823"/>
            <a:ext cx="1787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两年期美债</a:t>
            </a:r>
            <a:endParaRPr kumimoji="1" lang="en-US" altLang="zh-TW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FD0ED7BB-AE01-C723-65DD-5F947870B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936" y="3936253"/>
            <a:ext cx="3082869" cy="2325626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D9FD95AB-BF4F-F311-2B87-4660FC6B41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805" y="4319197"/>
            <a:ext cx="2962731" cy="1814903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D221A09B-CFA6-30B3-AA67-B1913622D351}"/>
              </a:ext>
            </a:extLst>
          </p:cNvPr>
          <p:cNvSpPr txBox="1"/>
          <p:nvPr/>
        </p:nvSpPr>
        <p:spPr>
          <a:xfrm>
            <a:off x="4111870" y="3906128"/>
            <a:ext cx="285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或换成相关性的图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C1B87F3D-506E-CA7C-4862-E92782148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510844"/>
              </p:ext>
            </p:extLst>
          </p:nvPr>
        </p:nvGraphicFramePr>
        <p:xfrm>
          <a:off x="1168456" y="2786029"/>
          <a:ext cx="4686300" cy="302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78530205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54104293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40895166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编号</a:t>
                      </a:r>
                      <a:endParaRPr lang="zh-TW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原数据</a:t>
                      </a:r>
                      <a:endParaRPr lang="zh-TW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 dirty="0">
                          <a:effectLst/>
                        </a:rPr>
                        <a:t>测度目标</a:t>
                      </a:r>
                      <a:endParaRPr 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7223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中国十年期国债利率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水平高低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5589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2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 dirty="0">
                          <a:effectLst/>
                        </a:rPr>
                        <a:t>美国十年期国债利率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趋势方向（短期均线 - 长期均线）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609702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 dirty="0">
                          <a:effectLst/>
                        </a:rPr>
                        <a:t>3 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中国五年期国债利率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趋势方向（线性变化率）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07355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4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中国三年期国债利率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趋势加速度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933115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5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中国一年期国债利率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901935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6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b="1" u="none" strike="noStrike" dirty="0">
                          <a:effectLst/>
                        </a:rPr>
                        <a:t>中国十年期国开债利率</a:t>
                      </a:r>
                      <a:endParaRPr 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4317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7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中国五年期国开债利率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07758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8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中国三年期国开债利率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23067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9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中国一年期国开债利率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85052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10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中国六月期国开债利率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278546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11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中国三月期国开债利率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54532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12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中国一月期国开债利率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236614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13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b="1" u="none" strike="noStrike" dirty="0">
                          <a:effectLst/>
                        </a:rPr>
                        <a:t>美国两年期国债利率</a:t>
                      </a:r>
                      <a:endParaRPr 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74302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14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美国六月期国债利率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057174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15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美国三月期国债利率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20934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16 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美国一月期国债利率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2784479"/>
                  </a:ext>
                </a:extLst>
              </a:tr>
            </a:tbl>
          </a:graphicData>
        </a:graphic>
      </p:graphicFrame>
      <p:pic>
        <p:nvPicPr>
          <p:cNvPr id="44" name="圖片 43">
            <a:extLst>
              <a:ext uri="{FF2B5EF4-FFF2-40B4-BE49-F238E27FC236}">
                <a16:creationId xmlns:a16="http://schemas.microsoft.com/office/drawing/2014/main" id="{52012494-F5FE-398F-D0CB-36E0AF3CA7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6603" y="2094412"/>
            <a:ext cx="5899284" cy="291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2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211F-EB3B-CF67-62CB-EE4FA8E60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lueLine">
            <a:extLst>
              <a:ext uri="{FF2B5EF4-FFF2-40B4-BE49-F238E27FC236}">
                <a16:creationId xmlns:a16="http://schemas.microsoft.com/office/drawing/2014/main" id="{49447761-1DC9-8BA1-2B49-3E444ABC9336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BA4D9CC9-9B16-91DF-E853-CC326C97D1C9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1C07EAAE-B17E-BFFB-97FF-25DFFC9BEFC6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8109CF92-7354-AF17-44E1-C5EFF244A4F6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503BDC-BCFF-DDA6-1AD1-B6EAF2BB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57" b="42354"/>
          <a:stretch>
            <a:fillRect/>
          </a:stretch>
        </p:blipFill>
        <p:spPr>
          <a:xfrm>
            <a:off x="381000" y="826571"/>
            <a:ext cx="4455042" cy="485886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5524D07-C076-DB8E-1D00-99B0EDF26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283635"/>
              </p:ext>
            </p:extLst>
          </p:nvPr>
        </p:nvGraphicFramePr>
        <p:xfrm>
          <a:off x="381000" y="1270144"/>
          <a:ext cx="6657753" cy="28676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516">
                  <a:extLst>
                    <a:ext uri="{9D8B030D-6E8A-4147-A177-3AD203B41FA5}">
                      <a16:colId xmlns:a16="http://schemas.microsoft.com/office/drawing/2014/main" val="1234788162"/>
                    </a:ext>
                  </a:extLst>
                </a:gridCol>
                <a:gridCol w="1297172">
                  <a:extLst>
                    <a:ext uri="{9D8B030D-6E8A-4147-A177-3AD203B41FA5}">
                      <a16:colId xmlns:a16="http://schemas.microsoft.com/office/drawing/2014/main" val="542434591"/>
                    </a:ext>
                  </a:extLst>
                </a:gridCol>
                <a:gridCol w="2870791">
                  <a:extLst>
                    <a:ext uri="{9D8B030D-6E8A-4147-A177-3AD203B41FA5}">
                      <a16:colId xmlns:a16="http://schemas.microsoft.com/office/drawing/2014/main" val="2112733755"/>
                    </a:ext>
                  </a:extLst>
                </a:gridCol>
                <a:gridCol w="797442">
                  <a:extLst>
                    <a:ext uri="{9D8B030D-6E8A-4147-A177-3AD203B41FA5}">
                      <a16:colId xmlns:a16="http://schemas.microsoft.com/office/drawing/2014/main" val="2090953366"/>
                    </a:ext>
                  </a:extLst>
                </a:gridCol>
                <a:gridCol w="467832">
                  <a:extLst>
                    <a:ext uri="{9D8B030D-6E8A-4147-A177-3AD203B41FA5}">
                      <a16:colId xmlns:a16="http://schemas.microsoft.com/office/drawing/2014/main" val="13831095"/>
                    </a:ext>
                  </a:extLst>
                </a:gridCol>
              </a:tblGrid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逻辑路径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子类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原数据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测度目标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编号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extLst>
                  <a:ext uri="{0D108BD9-81ED-4DB2-BD59-A6C34878D82A}">
                    <a16:rowId xmlns:a16="http://schemas.microsoft.com/office/drawing/2014/main" val="4084684889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 dirty="0">
                          <a:effectLst/>
                        </a:rPr>
                        <a:t>换手率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风格关注度拐点期（相对换手率分位数）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V071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1290893743"/>
                  </a:ext>
                </a:extLst>
              </a:tr>
              <a:tr h="118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60日平均换手率变化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V072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69681040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 dirty="0">
                          <a:effectLst/>
                        </a:rPr>
                        <a:t>换手率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上证A股换手率：半年新高事件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趋势突破A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V073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4051122958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市场换手率状态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水平偏离A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 dirty="0">
                          <a:effectLst/>
                        </a:rPr>
                        <a:t>V074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72949685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相对换手率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V075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531191150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中证全指20日换手率均值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水平偏离A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V076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1062694090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wind全A换手率相对趋势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趋势方向A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V077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4263109610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股市换手率分位数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水平高低A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V078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737032877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换手率因子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趋势方向A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V079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670961159"/>
                  </a:ext>
                </a:extLst>
              </a:tr>
              <a:tr h="1314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TVR_120D因子比率（成长/价值）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V119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489258820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换手率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TVR_20D_DN因子比率（成长/价值）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V120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4029315796"/>
                  </a:ext>
                </a:extLst>
              </a:tr>
              <a:tr h="234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细分板块受关注度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超配比例风格轮动分板块-金融地产（绝对值法）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V204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812365052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细分板块受关注度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超配比例风格轮动分板块-周期（绝对值法）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V205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629143596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beta元素（波动率）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000" u="none" strike="noStrike" dirty="0">
                          <a:effectLst/>
                        </a:rPr>
                        <a:t>细分板块受关注度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超配比例风格轮动分板块-TMT（绝对值法）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>
                          <a:effectLst/>
                        </a:rPr>
                        <a:t>风格间差异</a:t>
                      </a:r>
                      <a:endParaRPr lang="zh-TW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000" u="none" strike="noStrike" dirty="0">
                          <a:effectLst/>
                        </a:rPr>
                        <a:t>V206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4166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450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2687-DB4F-3E49-2C1B-1A0C0BC3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lueLine">
            <a:extLst>
              <a:ext uri="{FF2B5EF4-FFF2-40B4-BE49-F238E27FC236}">
                <a16:creationId xmlns:a16="http://schemas.microsoft.com/office/drawing/2014/main" id="{3D34AD92-9E22-1A97-36D7-4B1F920925CE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0C7F13D0-FE10-F6D4-4C08-01C45A3373D4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7C0A63DE-AAC2-F263-6512-FC268059650C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05011855-3235-08A2-A1E2-FA63CC920370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E184D2-408E-BCB4-DEE4-36B0A275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57" b="42354"/>
          <a:stretch>
            <a:fillRect/>
          </a:stretch>
        </p:blipFill>
        <p:spPr>
          <a:xfrm>
            <a:off x="381000" y="826571"/>
            <a:ext cx="4455042" cy="485886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66EF9DA-76B4-6D2B-6DC8-B8C8C67A7BF2}"/>
              </a:ext>
            </a:extLst>
          </p:cNvPr>
          <p:cNvSpPr txBox="1"/>
          <p:nvPr/>
        </p:nvSpPr>
        <p:spPr>
          <a:xfrm>
            <a:off x="5774635" y="943125"/>
            <a:ext cx="658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ERP</a:t>
            </a:r>
            <a:r>
              <a:rPr kumimoji="1" lang="zh-TW" altLang="en-US" dirty="0"/>
              <a:t>包含</a:t>
            </a:r>
            <a:r>
              <a:rPr kumimoji="1" lang="zh-CN" altLang="en-US" dirty="0"/>
              <a:t>：基本面</a:t>
            </a:r>
            <a:endParaRPr kumimoji="1" lang="en-US" altLang="zh-TW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3813A9-AF0C-ABCE-B656-BAB6F164CFDD}"/>
              </a:ext>
            </a:extLst>
          </p:cNvPr>
          <p:cNvSpPr/>
          <p:nvPr/>
        </p:nvSpPr>
        <p:spPr>
          <a:xfrm>
            <a:off x="640574" y="1367503"/>
            <a:ext cx="4558747" cy="503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整体代理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CB98CC-4B45-21A8-5422-1D722E9F30B3}"/>
              </a:ext>
            </a:extLst>
          </p:cNvPr>
          <p:cNvSpPr/>
          <p:nvPr/>
        </p:nvSpPr>
        <p:spPr>
          <a:xfrm>
            <a:off x="6992679" y="1367503"/>
            <a:ext cx="4558747" cy="503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组合代理</a:t>
            </a:r>
          </a:p>
        </p:txBody>
      </p:sp>
    </p:spTree>
    <p:extLst>
      <p:ext uri="{BB962C8B-B14F-4D97-AF65-F5344CB8AC3E}">
        <p14:creationId xmlns:p14="http://schemas.microsoft.com/office/powerpoint/2010/main" val="108968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B630-1102-2017-05FC-3B89CE10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lueLine">
            <a:extLst>
              <a:ext uri="{FF2B5EF4-FFF2-40B4-BE49-F238E27FC236}">
                <a16:creationId xmlns:a16="http://schemas.microsoft.com/office/drawing/2014/main" id="{143119A7-BACF-40AE-A37C-4B9097419CF2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1EEBCB33-2AF2-A98F-612D-E18CDD362BBD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4A34D792-C2BD-9BBE-80B2-9E2A4A8EC753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F38CBCAB-5017-4408-5C2D-C9592982EE9F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D4451A-F0A3-E1FF-9556-9FEA0613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57" b="42354"/>
          <a:stretch>
            <a:fillRect/>
          </a:stretch>
        </p:blipFill>
        <p:spPr>
          <a:xfrm>
            <a:off x="381000" y="826571"/>
            <a:ext cx="4455042" cy="4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61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3FB5-92C4-9353-B099-FC374AEC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lueLine">
            <a:extLst>
              <a:ext uri="{FF2B5EF4-FFF2-40B4-BE49-F238E27FC236}">
                <a16:creationId xmlns:a16="http://schemas.microsoft.com/office/drawing/2014/main" id="{F2BCECFD-9952-1E34-AFD8-77727456C58A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831DE4EA-DB8A-7C61-F4FE-0BDA88F8C057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6431B626-8567-BA4D-4E1A-21E7431A3D77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2DA1BEE9-4DD6-B046-1B07-A5B272123787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C19AB8B-0ECB-D4DA-1BA5-B3F7D511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57" b="42354"/>
          <a:stretch>
            <a:fillRect/>
          </a:stretch>
        </p:blipFill>
        <p:spPr>
          <a:xfrm>
            <a:off x="381000" y="826571"/>
            <a:ext cx="4455042" cy="4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1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9358-457F-3AD0-F352-5D7212DE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28372ECD-B8F5-622E-56C0-61AA7020648F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DF784F3A-87F1-F3B7-3BE0-538F72EAB8F7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A7A6EE4E-3402-64B5-3335-3D4D51AA6E0F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339329C8-334C-B4E2-A3E1-1A99B23C82FE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因子整理：海外宏观因子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D58B9CB2-B225-B1F2-20FE-988F8DBF49DD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6C4F7125-90E2-E5EB-08D7-DBB0A2665CCF}"/>
              </a:ext>
            </a:extLst>
          </p:cNvPr>
          <p:cNvSpPr txBox="1"/>
          <p:nvPr/>
        </p:nvSpPr>
        <p:spPr>
          <a:xfrm>
            <a:off x="381000" y="1740168"/>
            <a:ext cx="4297326" cy="44407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TW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海外风险事件与全球风险偏好： 欧债危机、贸易战、疫情、俄乌冲突、海外银行风险等事件，通过 VIX 和全球风险资产回撤影响成长股估值。</a:t>
            </a:r>
            <a:endParaRPr lang="en-US" altLang="zh-TW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数据：</a:t>
            </a:r>
            <a:r>
              <a:rPr lang="zh-TW" altLang="zh-TW" dirty="0"/>
              <a:t>CBOE VIX</a:t>
            </a:r>
            <a:r>
              <a:rPr lang="zh-CN" altLang="en-US" dirty="0"/>
              <a:t>、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事件：欧债危机、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2.</a:t>
            </a:r>
            <a:r>
              <a:rPr lang="zh-TW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美联储政策与全球折现率： QE、扩表、降息降低全球无风险利率，利好成长股；Taper、加息、美债利率上行压制成长股。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数据：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X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年期美国国债到期收益率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FED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扩表、美联储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QE</a:t>
            </a:r>
          </a:p>
          <a:p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3.</a:t>
            </a:r>
            <a:r>
              <a:rPr lang="zh-TW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全球通胀与大宗商品周期： 原油和大宗商品价格影响全球 PPI、通胀预期和上游盈利，通常与价值风格表现更相关。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数据：布伦特原油价格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事件：俄乌冲突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4.</a:t>
            </a:r>
            <a:r>
              <a:rPr lang="zh-TW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人民币汇率与外资流动： 人民币贬值、中美利差收窄、美元走强可能引发外资流出压力，并压制 A 股成长股估值。</a:t>
            </a:r>
            <a:endParaRPr lang="en-US" altLang="zh-TW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数据：离岸人民币汇率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	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7322ECE-053F-6AF9-B58D-BE85C649FE8F}"/>
              </a:ext>
            </a:extLst>
          </p:cNvPr>
          <p:cNvSpPr txBox="1"/>
          <p:nvPr/>
        </p:nvSpPr>
        <p:spPr>
          <a:xfrm>
            <a:off x="5433237" y="954307"/>
            <a:ext cx="229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成长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914DC42-4937-8393-3080-8DFB275960C1}"/>
              </a:ext>
            </a:extLst>
          </p:cNvPr>
          <p:cNvSpPr txBox="1"/>
          <p:nvPr/>
        </p:nvSpPr>
        <p:spPr>
          <a:xfrm>
            <a:off x="9073116" y="997553"/>
            <a:ext cx="229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价值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724872-C0CF-D5B0-3739-0C005E69E501}"/>
              </a:ext>
            </a:extLst>
          </p:cNvPr>
          <p:cNvSpPr txBox="1"/>
          <p:nvPr/>
        </p:nvSpPr>
        <p:spPr>
          <a:xfrm>
            <a:off x="5167309" y="1366885"/>
            <a:ext cx="3213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海外风险事件 ↑ → 全球风险偏好 ↓ → 风险溢价 ↑ → 高估值/高久期成长股估值压缩 → 成长风格承压。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4D8B10-CE9C-E2DD-1819-170C596A6925}"/>
              </a:ext>
            </a:extLst>
          </p:cNvPr>
          <p:cNvSpPr txBox="1"/>
          <p:nvPr/>
        </p:nvSpPr>
        <p:spPr>
          <a:xfrm>
            <a:off x="8686058" y="1366885"/>
            <a:ext cx="3213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TW" altLang="zh-TW" dirty="0">
                <a:solidFill>
                  <a:srgbClr val="000000"/>
                </a:solidFill>
                <a:latin typeface="-webkit-standard"/>
              </a:rPr>
              <a:t>估值安全边际较高</a:t>
            </a:r>
          </a:p>
          <a:p>
            <a:pPr algn="l">
              <a:buFont typeface="+mj-lt"/>
              <a:buAutoNum type="arabicPeriod"/>
            </a:pPr>
            <a:r>
              <a:rPr lang="zh-TW" altLang="zh-TW" dirty="0">
                <a:solidFill>
                  <a:srgbClr val="000000"/>
                </a:solidFill>
                <a:latin typeface="-webkit-standard"/>
              </a:rPr>
              <a:t>现金流更靠近当期</a:t>
            </a:r>
            <a:endParaRPr lang="en-US" altLang="zh-TW" dirty="0">
              <a:solidFill>
                <a:srgbClr val="000000"/>
              </a:solidFill>
              <a:latin typeface="-webkit-standard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-webkit-standard"/>
              </a:rPr>
              <a:t>受影响较少</a:t>
            </a:r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，但仍然负面影响</a:t>
            </a:r>
            <a:endParaRPr lang="zh-TW" altLang="zh-TW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AB34384-4376-F318-CD6F-831A8D0C3889}"/>
              </a:ext>
            </a:extLst>
          </p:cNvPr>
          <p:cNvSpPr txBox="1"/>
          <p:nvPr/>
        </p:nvSpPr>
        <p:spPr>
          <a:xfrm>
            <a:off x="5167309" y="2828367"/>
            <a:ext cx="3213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美联储降息/QE/扩表 → 美债利率下降 → 全球折现率下降 → 远期现金流价值上升 → 成长股估值提升。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AB98587-1B4C-A3E9-1FD6-FEB4E2E84DCF}"/>
              </a:ext>
            </a:extLst>
          </p:cNvPr>
          <p:cNvSpPr txBox="1"/>
          <p:nvPr/>
        </p:nvSpPr>
        <p:spPr>
          <a:xfrm>
            <a:off x="8746309" y="2885575"/>
            <a:ext cx="32136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弹性小</a:t>
            </a:r>
            <a:endParaRPr lang="en-US" altLang="zh-TW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zh-TW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收紧时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：</a:t>
            </a:r>
            <a:endParaRPr lang="en-US" altLang="zh-C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-webkit-standard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）银行盈利预期</a:t>
            </a:r>
            <a:endParaRPr lang="en-US" altLang="zh-CN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B88A409-D47F-4297-9323-7979B40E7C35}"/>
              </a:ext>
            </a:extLst>
          </p:cNvPr>
          <p:cNvSpPr txBox="1"/>
          <p:nvPr/>
        </p:nvSpPr>
        <p:spPr>
          <a:xfrm>
            <a:off x="5167309" y="4289849"/>
            <a:ext cx="3213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原油/大宗上涨 → 通胀预期上升 → 美债利率上行 / 加息预期增强 → 成长股估值压缩。</a:t>
            </a:r>
            <a:endParaRPr lang="en-US" altLang="zh-TW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-webkit-standard"/>
              </a:rPr>
              <a:t>成本端可能压低利润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94A331E-D29B-7B15-BCD5-D0C791633ACC}"/>
              </a:ext>
            </a:extLst>
          </p:cNvPr>
          <p:cNvSpPr txBox="1"/>
          <p:nvPr/>
        </p:nvSpPr>
        <p:spPr>
          <a:xfrm>
            <a:off x="8674837" y="4278914"/>
            <a:ext cx="32851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全球 PPI 上行 / 大宗商品上涨 → 上游周期盈利改善 → 低估值价值股盈利修复 → 价值风格相对占优。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88B24DA-A3A8-E0C1-4B74-1DCA40C820AF}"/>
              </a:ext>
            </a:extLst>
          </p:cNvPr>
          <p:cNvSpPr txBox="1"/>
          <p:nvPr/>
        </p:nvSpPr>
        <p:spPr>
          <a:xfrm>
            <a:off x="5167308" y="5657671"/>
            <a:ext cx="3213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人民币贬值往往对应 </a:t>
            </a:r>
            <a:r>
              <a:rPr lang="zh-TW" altLang="zh-TW" b="1" i="0" dirty="0">
                <a:solidFill>
                  <a:srgbClr val="000000"/>
                </a:solidFill>
                <a:effectLst/>
              </a:rPr>
              <a:t>美元走强和中美利差压力</a:t>
            </a:r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。这意味着海外流动性收紧，外资对人民币资产的配置意愿下降。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0DE0641-94C1-B89E-7C84-8486DEF0BC89}"/>
              </a:ext>
            </a:extLst>
          </p:cNvPr>
          <p:cNvSpPr txBox="1"/>
          <p:nvPr/>
        </p:nvSpPr>
        <p:spPr>
          <a:xfrm>
            <a:off x="8674836" y="5657671"/>
            <a:ext cx="32851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solidFill>
                  <a:srgbClr val="000000"/>
                </a:solidFill>
                <a:effectLst/>
              </a:rPr>
              <a:t>低估值</a:t>
            </a:r>
            <a:r>
              <a:rPr lang="zh-CN" altLang="en-US" b="1" dirty="0">
                <a:solidFill>
                  <a:srgbClr val="000000"/>
                </a:solidFill>
              </a:rPr>
              <a:t>，敏感度低</a:t>
            </a:r>
            <a:endParaRPr lang="en-US" altLang="zh-TW" b="1" i="0" dirty="0">
              <a:solidFill>
                <a:srgbClr val="000000"/>
              </a:solidFill>
              <a:effectLst/>
            </a:endParaRPr>
          </a:p>
          <a:p>
            <a:r>
              <a:rPr lang="zh-TW" altLang="zh-TW" b="1" i="0" dirty="0">
                <a:solidFill>
                  <a:srgbClr val="000000"/>
                </a:solidFill>
                <a:effectLst/>
              </a:rPr>
              <a:t>出口链价值股可能受益于人民币贬值</a:t>
            </a:r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，因为汇兑和出口价格竞争力改善；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571DF6-72E6-D1D7-21B6-AB44E1017D60}"/>
              </a:ext>
            </a:extLst>
          </p:cNvPr>
          <p:cNvSpPr/>
          <p:nvPr/>
        </p:nvSpPr>
        <p:spPr>
          <a:xfrm>
            <a:off x="170121" y="2734707"/>
            <a:ext cx="11729628" cy="141199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28A360A-C91F-9007-8810-C278CD952F01}"/>
              </a:ext>
            </a:extLst>
          </p:cNvPr>
          <p:cNvSpPr txBox="1"/>
          <p:nvPr/>
        </p:nvSpPr>
        <p:spPr>
          <a:xfrm>
            <a:off x="11284962" y="2996708"/>
            <a:ext cx="53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贴现率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05AD60-3348-BF91-D60C-F3C969A85E19}"/>
              </a:ext>
            </a:extLst>
          </p:cNvPr>
          <p:cNvSpPr/>
          <p:nvPr/>
        </p:nvSpPr>
        <p:spPr>
          <a:xfrm>
            <a:off x="182670" y="5672669"/>
            <a:ext cx="11729628" cy="141199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0F132D7-E5E8-4B61-5FAC-856B33DBA317}"/>
              </a:ext>
            </a:extLst>
          </p:cNvPr>
          <p:cNvSpPr txBox="1"/>
          <p:nvPr/>
        </p:nvSpPr>
        <p:spPr>
          <a:xfrm>
            <a:off x="10754394" y="6617660"/>
            <a:ext cx="133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资金流</a:t>
            </a:r>
          </a:p>
        </p:txBody>
      </p:sp>
    </p:spTree>
    <p:extLst>
      <p:ext uri="{BB962C8B-B14F-4D97-AF65-F5344CB8AC3E}">
        <p14:creationId xmlns:p14="http://schemas.microsoft.com/office/powerpoint/2010/main" val="91469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2FA66-4923-03AE-AFE7-3DF2F6DE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F5AF44B8-733E-58B2-A813-03312C9156AF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4113350C-C522-B962-A55E-081477714390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E6C48891-39FA-FB8A-3670-9650FB633635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9F5C4CE1-5DDB-FF2A-E811-2A68986B6BF4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因子整理：海外宏观因子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26E46268-22B8-BD9B-030D-D42B4064812E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A6581C32-FA55-C581-7023-9DA0E35EF3FD}"/>
              </a:ext>
            </a:extLst>
          </p:cNvPr>
          <p:cNvSpPr txBox="1"/>
          <p:nvPr/>
        </p:nvSpPr>
        <p:spPr>
          <a:xfrm>
            <a:off x="631861" y="430177"/>
            <a:ext cx="4297326" cy="4495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5.</a:t>
            </a:r>
            <a:r>
              <a:rPr lang="zh-TW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出现全球范围科技产业周期</a:t>
            </a:r>
            <a:endParaRPr lang="en-US" altLang="zh-TW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	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zh-TW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数据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：韩国半导体出口指数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	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iPhone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发布、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AI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浪潮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TW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6.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影响出口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	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数据：</a:t>
            </a:r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en-US" altLang="zh-TW" sz="1600" dirty="0">
                <a:solidFill>
                  <a:srgbClr val="2C3E50"/>
                </a:solidFill>
                <a:latin typeface="Arial"/>
                <a:ea typeface="Microsoft YaHei"/>
              </a:rPr>
              <a:t>	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-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事件：中美贸易战、太平洋贸易协定</a:t>
            </a:r>
            <a:endParaRPr lang="en-US" altLang="zh-TW" sz="1600" dirty="0">
              <a:solidFill>
                <a:srgbClr val="2C3E50"/>
              </a:solidFill>
              <a:latin typeface="Arial"/>
              <a:ea typeface="Microsoft YaHei"/>
            </a:endParaRPr>
          </a:p>
          <a:p>
            <a:endParaRPr lang="en-US" altLang="zh-CN" sz="1600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570D75-B27F-B5D6-5CCF-8D75067FFD50}"/>
              </a:ext>
            </a:extLst>
          </p:cNvPr>
          <p:cNvSpPr txBox="1"/>
          <p:nvPr/>
        </p:nvSpPr>
        <p:spPr>
          <a:xfrm>
            <a:off x="5506776" y="1246758"/>
            <a:ext cx="229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成长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6ACC4E-2A41-7A0D-BBA7-E170B2995FD2}"/>
              </a:ext>
            </a:extLst>
          </p:cNvPr>
          <p:cNvSpPr txBox="1"/>
          <p:nvPr/>
        </p:nvSpPr>
        <p:spPr>
          <a:xfrm>
            <a:off x="9146655" y="1290004"/>
            <a:ext cx="229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价值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5858A3D-7241-0852-797E-4BAE056C84AE}"/>
              </a:ext>
            </a:extLst>
          </p:cNvPr>
          <p:cNvSpPr txBox="1"/>
          <p:nvPr/>
        </p:nvSpPr>
        <p:spPr>
          <a:xfrm>
            <a:off x="4952694" y="1754586"/>
            <a:ext cx="3404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科技产业周期上行 → 成长股分子端盈利预期改善 + 估值溢价扩张 → 成长跑赢价值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7BF06A-7043-0F05-6D60-598C29EFA3D2}"/>
              </a:ext>
            </a:extLst>
          </p:cNvPr>
          <p:cNvSpPr txBox="1"/>
          <p:nvPr/>
        </p:nvSpPr>
        <p:spPr>
          <a:xfrm>
            <a:off x="4992093" y="3078847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外需变化 → 出口链盈利预期变化 → 影响制造业、消费电子、机械、化工、纺织、家电等行业 → 再通过行业结构影响成长/价值风格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7933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52DA-DB49-166E-E145-49BF4AEC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41BA6927-046A-CC73-F3D3-CCB5DD6F349C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E5121004-8871-8562-3D3C-8E87F38EA763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1397C22F-E668-9CB7-2F21-0AF171B21776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27D5282C-DC5C-A597-8FB3-16636A253DBE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因子整理：海外宏观因子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4469FD56-63C2-8F67-1719-6375BF56C7F1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E76A27F-9532-8966-E55F-990F76EE1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367242"/>
              </p:ext>
            </p:extLst>
          </p:nvPr>
        </p:nvGraphicFramePr>
        <p:xfrm>
          <a:off x="381000" y="1020504"/>
          <a:ext cx="6121401" cy="284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8647">
                  <a:extLst>
                    <a:ext uri="{9D8B030D-6E8A-4147-A177-3AD203B41FA5}">
                      <a16:colId xmlns:a16="http://schemas.microsoft.com/office/drawing/2014/main" val="878067324"/>
                    </a:ext>
                  </a:extLst>
                </a:gridCol>
                <a:gridCol w="3706478">
                  <a:extLst>
                    <a:ext uri="{9D8B030D-6E8A-4147-A177-3AD203B41FA5}">
                      <a16:colId xmlns:a16="http://schemas.microsoft.com/office/drawing/2014/main" val="2456891595"/>
                    </a:ext>
                  </a:extLst>
                </a:gridCol>
                <a:gridCol w="698138">
                  <a:extLst>
                    <a:ext uri="{9D8B030D-6E8A-4147-A177-3AD203B41FA5}">
                      <a16:colId xmlns:a16="http://schemas.microsoft.com/office/drawing/2014/main" val="2087133078"/>
                    </a:ext>
                  </a:extLst>
                </a:gridCol>
                <a:gridCol w="698138">
                  <a:extLst>
                    <a:ext uri="{9D8B030D-6E8A-4147-A177-3AD203B41FA5}">
                      <a16:colId xmlns:a16="http://schemas.microsoft.com/office/drawing/2014/main" val="90098060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影响路径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原始数据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factor_id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signal_type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16497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全球折现率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美国：当月PMI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O001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event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833137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全球折现率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美国：非农就业人数同比变化滚动两年z-score值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O002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event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16299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全球折现率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美国：CPI 同比较上月差值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O008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event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19927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全球折现率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美国：失业率较上月差值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O009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event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079224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全球风险偏好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CBOE波动率指数前月涨跌幅滚动一年z-score值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O011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653403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全球贸易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波罗的海干散货指数突破6个月布林带上/下轨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O015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79893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纳斯达克100相对于SP500的超额收益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O017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621302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O018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32756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费城半导体指数（SOX除SPX外影响）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O019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80577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费城半导体指数（SOX），对数斜率分位点算法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O020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0734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费城半导体指数（SOX），斜率加速度算法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O021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70753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费城半导体指数（SOX），偏离长期趋势z-score算法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O022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19058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费城半导体指数（SOX），R方加权斜率算法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O023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68786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费城半导体指数（SOX），多时间尺度斜率共振算法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O024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state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022275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全球科技周期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韩国半导体出口金额，当月值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>
                          <a:effectLst/>
                        </a:rPr>
                        <a:t>O025</a:t>
                      </a:r>
                      <a:endParaRPr 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100" u="none" strike="noStrike" dirty="0">
                          <a:effectLst/>
                        </a:rPr>
                        <a:t>event</a:t>
                      </a:r>
                      <a:endParaRPr 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5678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05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7D96-765D-F6DA-EAD2-B5739C76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EC8FC617-CD6D-2D63-620A-5B775625D761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8E730147-B2C8-9DAD-D5B4-804318A87876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83174B77-1218-BDFB-93C9-995E599DC230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5E9E13A9-186A-E6BB-B23A-8824DFF99E64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因子整理：资金流因子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8A08858E-9CD1-7735-D812-44272E1956E9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FB16036C-1803-C966-087B-3450F5AF25FE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3C36DBD7-C8C7-4761-2C0E-3894B5B3699C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5407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D4962-8416-DC55-6E7A-EB517450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E97A5FF1-6E99-3639-250E-E19A4F5AE48C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1CD5D4B9-03D2-2C64-358F-1A78C1907F61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9575FF10-2DB6-6048-C230-7EA104ABAD7E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71C6ED07-48B5-0E38-FE67-0764C337279E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因子整理：流动性因子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37559D14-D832-BF5F-0DAB-17F90CC332A7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0F180D04-F43C-687E-28A5-EB0F3D0FA83E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9A9AFB34-1DE2-964C-9CD6-64183B3A8D52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35752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1DF0-9362-FC7E-3DFE-D42570C3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E3817ECE-E329-E3DC-B588-1229C4474982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59F6C127-65E5-C1E0-D2CF-4FD76F5AB37F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E11FC55E-9EBE-E071-639D-FA728DF80A52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CA13544A-002A-ADFB-5015-525A1960EF28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因子整理：贴现率因子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34F2196E-84F1-8F10-5DD7-02132512BF34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76A32954-844C-6090-DA6A-26082DF012F2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TW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贴现率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=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无风险利率 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股权风险溢价（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ERP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）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信用利差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CDAF9B00-2FD6-A4CD-15A4-B0F3264C28F8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41746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1A72-B7E2-42FE-3B2C-59ECCCC1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3D41406C-BBA9-A587-DC7C-654C583B264E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A765DBFA-6B29-A2A0-2415-9D79B4F4A25E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C1BC125A-6747-2402-F28D-BEF94675A653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7256618A-3F3C-ABF9-6996-0C25AB023597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因子整理：盈利因子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1A1BB644-0363-7472-EB62-74B9373CDABF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61F49AF1-7DD6-93F7-7599-6C92BC084A56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D973E030-C900-EF61-10EE-6DE2167AE2FB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26282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3113-5473-0581-871B-CF73BAD9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586DA7BB-E07E-7945-9CAF-F8EB0F8300D2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E39B8D32-28AA-F4C8-8B7D-1CE2F0E95CC8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FFF4647A-DB6E-8E7C-CA33-34AB57F63AFE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B899CA8D-EB0C-864C-138D-FB1182CD56BC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因子整理：贷款（增长预期）因子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03EAA754-A449-4573-E67D-CB195E0DD079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6CC7A76F-F29B-5C86-6FF9-5BF92A41F7F1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065ED1EF-2F36-2E22-9CC1-DFEA5F4BFF7A}"/>
              </a:ext>
            </a:extLst>
          </p:cNvPr>
          <p:cNvSpPr txBox="1"/>
          <p:nvPr/>
        </p:nvSpPr>
        <p:spPr>
          <a:xfrm>
            <a:off x="380000" y="1778517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2355A30D-F2E9-E64E-8DDC-54E8EC88FBDB}"/>
              </a:ext>
            </a:extLst>
          </p:cNvPr>
          <p:cNvSpPr txBox="1"/>
          <p:nvPr/>
        </p:nvSpPr>
        <p:spPr>
          <a:xfrm>
            <a:off x="380000" y="1035050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TW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新增贷款量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=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贷款 * （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1+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项目增长率 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–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利息率）</a:t>
            </a:r>
          </a:p>
        </p:txBody>
      </p:sp>
    </p:spTree>
    <p:extLst>
      <p:ext uri="{BB962C8B-B14F-4D97-AF65-F5344CB8AC3E}">
        <p14:creationId xmlns:p14="http://schemas.microsoft.com/office/powerpoint/2010/main" val="2683199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9287-9FB0-3934-7ACA-880E4DA3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85E307A9-CE58-3F7B-CBAA-0579BA141C34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3A3670D3-1683-4206-AA2D-0EF67FAEEBB9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9588C6F8-4A4D-B435-1811-CDC03C862039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17F61E00-7BBA-4FE1-A71D-D5155C26BB44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因子整理：经济增长因子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1B725B6C-6B7D-0DA4-962A-4FD42DD3D92E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F9F3EB9A-E75D-20B5-CB4F-F777243D6295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C41C3E8D-5836-B91E-8E0C-7DEE988B625E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16086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6441-18A2-8E2E-32F5-E8ED58C8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466C1ABF-8234-938C-AD3D-ADA6B0F9A47E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C1B9CFB4-9DED-6453-D19E-E6D156A5A66B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DA368F44-6B35-34C8-42A5-3EE799D477AC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788043E6-B66E-6FBD-F7DF-B1CE1DE339CE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因子整理：通货膨胀因子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F4DB97B7-60A4-BCDC-35AC-BF8FB0CBEE13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67C88FC0-0E96-B0A8-90BE-AB85053AE611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2CA54E92-2843-FDCF-57E4-090167B50536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59273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75DE-3553-7F26-15A3-242580EC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DACD2552-435F-A865-A531-8645FC01783C}"/>
              </a:ext>
            </a:extLst>
          </p:cNvPr>
          <p:cNvSpPr/>
          <p:nvPr/>
        </p:nvSpPr>
        <p:spPr>
          <a:xfrm>
            <a:off x="0" y="291583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CC872209-E751-AB77-7301-4FB2D32CA570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D516F27C-363F-B955-7C35-BEE836C9B7DF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2652CF56-954D-D7C6-B3F5-05BB381596BC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因子整理：量价因子</a:t>
            </a: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C0EE83E9-AF66-0124-20B1-A2E0E43984CC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73E7C23F-C851-DD36-2375-CC804C6D1AB5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83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314DDE05-794D-92AE-0B03-3BCC815C2E81}"/>
              </a:ext>
            </a:extLst>
          </p:cNvPr>
          <p:cNvSpPr txBox="1"/>
          <p:nvPr/>
        </p:nvSpPr>
        <p:spPr>
          <a:xfrm>
            <a:off x="380000" y="1298574"/>
            <a:ext cx="11430000" cy="1370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影响路径：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r>
              <a:rPr lang="en-US" altLang="zh-CN" sz="1600" dirty="0">
                <a:solidFill>
                  <a:srgbClr val="2C3E50"/>
                </a:solidFill>
                <a:latin typeface="Arial"/>
                <a:ea typeface="Microsoft YaHei"/>
              </a:rPr>
              <a:t>1.</a:t>
            </a:r>
            <a:r>
              <a:rPr lang="zh-CN" altLang="en-US" sz="1600" dirty="0">
                <a:solidFill>
                  <a:srgbClr val="2C3E50"/>
                </a:solidFill>
                <a:latin typeface="Arial"/>
                <a:ea typeface="Microsoft YaHei"/>
              </a:rPr>
              <a:t> </a:t>
            </a:r>
            <a:endParaRPr lang="zh-CN" altLang="en-US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32055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作用逻辑整理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10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综合参考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xx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篇研报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+《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追寻价值之路</a:t>
            </a:r>
            <a:r>
              <a:rPr lang="en-US" altLang="zh-CN" sz="1600" b="1" dirty="0">
                <a:solidFill>
                  <a:srgbClr val="2C3E50"/>
                </a:solidFill>
                <a:latin typeface="Arial"/>
                <a:ea typeface="Microsoft YaHei"/>
              </a:rPr>
              <a:t>》</a:t>
            </a:r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，整理出九大类影响因子</a:t>
            </a:r>
          </a:p>
        </p:txBody>
      </p:sp>
      <p:sp>
        <p:nvSpPr>
          <p:cNvPr id="200" name="TB200"/>
          <p:cNvSpPr txBox="1"/>
          <p:nvPr/>
        </p:nvSpPr>
        <p:spPr>
          <a:xfrm>
            <a:off x="597569" y="1590675"/>
            <a:ext cx="2000000" cy="6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变量</a:t>
            </a:r>
          </a:p>
        </p:txBody>
      </p:sp>
      <p:sp>
        <p:nvSpPr>
          <p:cNvPr id="201" name="TB201"/>
          <p:cNvSpPr txBox="1"/>
          <p:nvPr/>
        </p:nvSpPr>
        <p:spPr>
          <a:xfrm>
            <a:off x="2597569" y="1590675"/>
            <a:ext cx="2500000" cy="6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经济含义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5097569" y="1590675"/>
            <a:ext cx="3000000" cy="6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成长/价值影响</a:t>
            </a:r>
          </a:p>
        </p:txBody>
      </p:sp>
      <p:sp>
        <p:nvSpPr>
          <p:cNvPr id="203" name="TB203"/>
          <p:cNvSpPr txBox="1"/>
          <p:nvPr/>
        </p:nvSpPr>
        <p:spPr>
          <a:xfrm>
            <a:off x="8097569" y="1590675"/>
            <a:ext cx="3500000" cy="6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00" b="1" dirty="0">
                <a:solidFill>
                  <a:srgbClr val="FFFFFF"/>
                </a:solidFill>
                <a:latin typeface="Arial"/>
                <a:ea typeface="Microsoft YaHei"/>
              </a:rPr>
              <a:t>对应因子类别</a:t>
            </a:r>
          </a:p>
        </p:txBody>
      </p:sp>
      <p:sp>
        <p:nvSpPr>
          <p:cNvPr id="210" name="TB210"/>
          <p:cNvSpPr txBox="1"/>
          <p:nvPr/>
        </p:nvSpPr>
        <p:spPr>
          <a:xfrm>
            <a:off x="597569" y="1590675"/>
            <a:ext cx="2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r（折现率/利率）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2597569" y="1590675"/>
            <a:ext cx="2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未来现金流时间价值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5097569" y="1590675"/>
            <a:ext cx="3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利率↑→成长估值↓更多</a:t>
            </a:r>
          </a:p>
        </p:txBody>
      </p:sp>
      <p:sp>
        <p:nvSpPr>
          <p:cNvPr id="213" name="TB213"/>
          <p:cNvSpPr txBox="1"/>
          <p:nvPr/>
        </p:nvSpPr>
        <p:spPr>
          <a:xfrm>
            <a:off x="8097569" y="1590675"/>
            <a:ext cx="3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I类（利率）、D类（信用）</a:t>
            </a:r>
          </a:p>
        </p:txBody>
      </p:sp>
      <p:sp>
        <p:nvSpPr>
          <p:cNvPr id="214" name="TB214"/>
          <p:cNvSpPr txBox="1"/>
          <p:nvPr/>
        </p:nvSpPr>
        <p:spPr>
          <a:xfrm>
            <a:off x="597569" y="2320675"/>
            <a:ext cx="2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g（增长预期）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2597569" y="2320675"/>
            <a:ext cx="2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Terminal Value增速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5097569" y="2320675"/>
            <a:ext cx="3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景气↑→成长Terminal Value↑</a:t>
            </a:r>
          </a:p>
        </p:txBody>
      </p:sp>
      <p:sp>
        <p:nvSpPr>
          <p:cNvPr id="217" name="TB217"/>
          <p:cNvSpPr txBox="1"/>
          <p:nvPr/>
        </p:nvSpPr>
        <p:spPr>
          <a:xfrm>
            <a:off x="8097569" y="2320675"/>
            <a:ext cx="3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G类（PMI/贷款/出口）</a:t>
            </a:r>
          </a:p>
        </p:txBody>
      </p:sp>
      <p:sp>
        <p:nvSpPr>
          <p:cNvPr id="218" name="TB218"/>
          <p:cNvSpPr txBox="1"/>
          <p:nvPr/>
        </p:nvSpPr>
        <p:spPr>
          <a:xfrm>
            <a:off x="597569" y="3050675"/>
            <a:ext cx="2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CF（当期盈利）</a:t>
            </a:r>
          </a:p>
        </p:txBody>
      </p:sp>
      <p:sp>
        <p:nvSpPr>
          <p:cNvPr id="219" name="TB219"/>
          <p:cNvSpPr txBox="1"/>
          <p:nvPr/>
        </p:nvSpPr>
        <p:spPr>
          <a:xfrm>
            <a:off x="2597569" y="3050675"/>
            <a:ext cx="2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近期现金流实现</a:t>
            </a:r>
          </a:p>
        </p:txBody>
      </p:sp>
      <p:sp>
        <p:nvSpPr>
          <p:cNvPr id="220" name="TB220"/>
          <p:cNvSpPr txBox="1"/>
          <p:nvPr/>
        </p:nvSpPr>
        <p:spPr>
          <a:xfrm>
            <a:off x="5097569" y="3050675"/>
            <a:ext cx="3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盈利兑现↑→价值占优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8097569" y="3050675"/>
            <a:ext cx="3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P类（ROE/利润）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597569" y="3780675"/>
            <a:ext cx="2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估值赔率</a:t>
            </a:r>
          </a:p>
        </p:txBody>
      </p:sp>
      <p:sp>
        <p:nvSpPr>
          <p:cNvPr id="223" name="TB223"/>
          <p:cNvSpPr txBox="1"/>
          <p:nvPr/>
        </p:nvSpPr>
        <p:spPr>
          <a:xfrm>
            <a:off x="2597569" y="3780675"/>
            <a:ext cx="2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PE/PB分位数</a:t>
            </a:r>
          </a:p>
        </p:txBody>
      </p:sp>
      <p:sp>
        <p:nvSpPr>
          <p:cNvPr id="224" name="TB224"/>
          <p:cNvSpPr txBox="1"/>
          <p:nvPr/>
        </p:nvSpPr>
        <p:spPr>
          <a:xfrm>
            <a:off x="5097569" y="3780675"/>
            <a:ext cx="3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极端低估→反转概率↑</a:t>
            </a:r>
          </a:p>
        </p:txBody>
      </p:sp>
      <p:sp>
        <p:nvSpPr>
          <p:cNvPr id="225" name="TB225"/>
          <p:cNvSpPr txBox="1"/>
          <p:nvPr/>
        </p:nvSpPr>
        <p:spPr>
          <a:xfrm>
            <a:off x="8097569" y="3780675"/>
            <a:ext cx="3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V类（估值）</a:t>
            </a:r>
          </a:p>
        </p:txBody>
      </p:sp>
      <p:sp>
        <p:nvSpPr>
          <p:cNvPr id="226" name="TB226"/>
          <p:cNvSpPr txBox="1"/>
          <p:nvPr/>
        </p:nvSpPr>
        <p:spPr>
          <a:xfrm>
            <a:off x="597569" y="4510675"/>
            <a:ext cx="2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动量</a:t>
            </a:r>
          </a:p>
        </p:txBody>
      </p:sp>
      <p:sp>
        <p:nvSpPr>
          <p:cNvPr id="227" name="TB227"/>
          <p:cNvSpPr txBox="1"/>
          <p:nvPr/>
        </p:nvSpPr>
        <p:spPr>
          <a:xfrm>
            <a:off x="2597569" y="4510675"/>
            <a:ext cx="2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风格趋势延续</a:t>
            </a:r>
          </a:p>
        </p:txBody>
      </p:sp>
      <p:sp>
        <p:nvSpPr>
          <p:cNvPr id="228" name="TB228"/>
          <p:cNvSpPr txBox="1"/>
          <p:nvPr/>
        </p:nvSpPr>
        <p:spPr>
          <a:xfrm>
            <a:off x="5097569" y="4510675"/>
            <a:ext cx="30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短期趋势反馈</a:t>
            </a:r>
          </a:p>
        </p:txBody>
      </p:sp>
      <p:sp>
        <p:nvSpPr>
          <p:cNvPr id="229" name="TB229"/>
          <p:cNvSpPr txBox="1"/>
          <p:nvPr/>
        </p:nvSpPr>
        <p:spPr>
          <a:xfrm>
            <a:off x="8097569" y="4510675"/>
            <a:ext cx="3500000" cy="7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V类（动量/强势股）</a:t>
            </a:r>
          </a:p>
        </p:txBody>
      </p:sp>
      <p:sp>
        <p:nvSpPr>
          <p:cNvPr id="230" name="TB230"/>
          <p:cNvSpPr txBox="1"/>
          <p:nvPr/>
        </p:nvSpPr>
        <p:spPr>
          <a:xfrm>
            <a:off x="597569" y="5240675"/>
            <a:ext cx="2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流动性</a:t>
            </a:r>
          </a:p>
        </p:txBody>
      </p:sp>
      <p:sp>
        <p:nvSpPr>
          <p:cNvPr id="231" name="TB231"/>
          <p:cNvSpPr txBox="1"/>
          <p:nvPr/>
        </p:nvSpPr>
        <p:spPr>
          <a:xfrm>
            <a:off x="2597569" y="5240675"/>
            <a:ext cx="2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风险偏好/资金供给</a:t>
            </a:r>
          </a:p>
        </p:txBody>
      </p:sp>
      <p:sp>
        <p:nvSpPr>
          <p:cNvPr id="232" name="TB232"/>
          <p:cNvSpPr txBox="1"/>
          <p:nvPr/>
        </p:nvSpPr>
        <p:spPr>
          <a:xfrm>
            <a:off x="5097569" y="5240675"/>
            <a:ext cx="30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风险偏好↑→成长弹性↑</a:t>
            </a:r>
          </a:p>
        </p:txBody>
      </p:sp>
      <p:sp>
        <p:nvSpPr>
          <p:cNvPr id="233" name="TB233"/>
          <p:cNvSpPr txBox="1"/>
          <p:nvPr/>
        </p:nvSpPr>
        <p:spPr>
          <a:xfrm>
            <a:off x="8097569" y="5240675"/>
            <a:ext cx="35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L类/C类（货币/资金）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29BD31-CF66-95FD-A1E3-EF84457E755E}"/>
              </a:ext>
            </a:extLst>
          </p:cNvPr>
          <p:cNvSpPr/>
          <p:nvPr/>
        </p:nvSpPr>
        <p:spPr>
          <a:xfrm>
            <a:off x="6067927" y="1244766"/>
            <a:ext cx="5742073" cy="28518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追寻价值之路每年信息整理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EF09F0-0D8D-C1B3-0805-CA9D939BEF17}"/>
              </a:ext>
            </a:extLst>
          </p:cNvPr>
          <p:cNvSpPr/>
          <p:nvPr/>
        </p:nvSpPr>
        <p:spPr>
          <a:xfrm>
            <a:off x="380000" y="4318332"/>
            <a:ext cx="11430000" cy="181576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背景页里面的表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成长股和价值股的定义：不同</a:t>
            </a:r>
            <a:r>
              <a:rPr lang="zh-TW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久期现金流的资产</a:t>
            </a:r>
            <a:endParaRPr lang="zh-CN" altLang="en-US" sz="2000" b="1" dirty="0">
              <a:solidFill>
                <a:srgbClr val="4472A9"/>
              </a:solidFill>
              <a:latin typeface="Arial"/>
              <a:ea typeface="Microsoft YaHei"/>
            </a:endParaRP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9</a:t>
            </a:r>
          </a:p>
        </p:txBody>
      </p:sp>
      <p:sp>
        <p:nvSpPr>
          <p:cNvPr id="3" name="MLT200">
            <a:extLst>
              <a:ext uri="{FF2B5EF4-FFF2-40B4-BE49-F238E27FC236}">
                <a16:creationId xmlns:a16="http://schemas.microsoft.com/office/drawing/2014/main" id="{EF818DDE-7ADE-C195-D6BA-770B61CD03D3}"/>
              </a:ext>
            </a:extLst>
          </p:cNvPr>
          <p:cNvSpPr txBox="1"/>
          <p:nvPr/>
        </p:nvSpPr>
        <p:spPr>
          <a:xfrm>
            <a:off x="381000" y="1473456"/>
            <a:ext cx="5500000" cy="1706021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成长股：久期长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两阶段DCF公式：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V = CF1/(1+r) + CF2/(1+r)^2 + ... + TV/(1+r)^n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成长股特征（大权重在Terminal Value）：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对折现率r高度敏感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利率↓时估值大幅上升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利率↑时估值大幅下降</a:t>
            </a:r>
          </a:p>
        </p:txBody>
      </p:sp>
      <p:sp>
        <p:nvSpPr>
          <p:cNvPr id="4" name="MLT201">
            <a:extLst>
              <a:ext uri="{FF2B5EF4-FFF2-40B4-BE49-F238E27FC236}">
                <a16:creationId xmlns:a16="http://schemas.microsoft.com/office/drawing/2014/main" id="{79052EC8-C078-1EE0-4B16-25B1ABFB319A}"/>
              </a:ext>
            </a:extLst>
          </p:cNvPr>
          <p:cNvSpPr txBox="1"/>
          <p:nvPr/>
        </p:nvSpPr>
        <p:spPr>
          <a:xfrm>
            <a:off x="6200000" y="1473457"/>
            <a:ext cx="5400000" cy="1706021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价值股：久期短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价值股特征（大权重在近期现金流）：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对当期盈利高度敏感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ROE上升时估值提升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受利率影响相对较小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底部结论：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这个框架解释了为什么利率变化对成长股冲击更大，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而盈利改善对价值股更直接利好。</a:t>
            </a:r>
          </a:p>
        </p:txBody>
      </p:sp>
      <p:sp>
        <p:nvSpPr>
          <p:cNvPr id="5" name="SlideTitle">
            <a:extLst>
              <a:ext uri="{FF2B5EF4-FFF2-40B4-BE49-F238E27FC236}">
                <a16:creationId xmlns:a16="http://schemas.microsoft.com/office/drawing/2014/main" id="{91728F6B-484F-75E9-FC48-86ED06F523FF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成长股估值来自远期现金流，价值股来自近期盈利——这决定了对宏观变量的不同敏感性</a:t>
            </a:r>
          </a:p>
        </p:txBody>
      </p:sp>
      <p:sp>
        <p:nvSpPr>
          <p:cNvPr id="6" name="SlideTitle">
            <a:extLst>
              <a:ext uri="{FF2B5EF4-FFF2-40B4-BE49-F238E27FC236}">
                <a16:creationId xmlns:a16="http://schemas.microsoft.com/office/drawing/2014/main" id="{75D2E126-1EA4-2A9D-19C1-E66A8A5111BF}"/>
              </a:ext>
            </a:extLst>
          </p:cNvPr>
          <p:cNvSpPr txBox="1"/>
          <p:nvPr/>
        </p:nvSpPr>
        <p:spPr>
          <a:xfrm>
            <a:off x="380000" y="3482363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这里放公式框架</a:t>
            </a:r>
            <a:endParaRPr lang="en-US" altLang="zh-CN" sz="1600" b="1" dirty="0">
              <a:solidFill>
                <a:srgbClr val="2C3E50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D03A-DE0C-4A23-371B-48068327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2FEBEDC4-E0ED-9B67-B598-A7342FB050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>
            <a:extLst>
              <a:ext uri="{FF2B5EF4-FFF2-40B4-BE49-F238E27FC236}">
                <a16:creationId xmlns:a16="http://schemas.microsoft.com/office/drawing/2014/main" id="{83342FF6-4731-4990-CB85-465B50224256}"/>
              </a:ext>
            </a:extLst>
          </p:cNvPr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>
            <a:extLst>
              <a:ext uri="{FF2B5EF4-FFF2-40B4-BE49-F238E27FC236}">
                <a16:creationId xmlns:a16="http://schemas.microsoft.com/office/drawing/2014/main" id="{270BFA7B-8D0B-5BD5-36F2-5240F72F4C17}"/>
              </a:ext>
            </a:extLst>
          </p:cNvPr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>
            <a:extLst>
              <a:ext uri="{FF2B5EF4-FFF2-40B4-BE49-F238E27FC236}">
                <a16:creationId xmlns:a16="http://schemas.microsoft.com/office/drawing/2014/main" id="{FD838A13-76B3-1B74-4ABD-8E0C4371821E}"/>
              </a:ext>
            </a:extLst>
          </p:cNvPr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2 成长股和价值股的定义：不同</a:t>
            </a:r>
            <a:r>
              <a:rPr lang="zh-TW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久期现金流的资产</a:t>
            </a:r>
            <a:endParaRPr lang="zh-CN" altLang="en-US" sz="2000" b="1" dirty="0">
              <a:solidFill>
                <a:srgbClr val="4472A9"/>
              </a:solidFill>
              <a:latin typeface="Arial"/>
              <a:ea typeface="Microsoft YaHei"/>
            </a:endParaRPr>
          </a:p>
        </p:txBody>
      </p:sp>
      <p:sp>
        <p:nvSpPr>
          <p:cNvPr id="104" name="PageNum">
            <a:extLst>
              <a:ext uri="{FF2B5EF4-FFF2-40B4-BE49-F238E27FC236}">
                <a16:creationId xmlns:a16="http://schemas.microsoft.com/office/drawing/2014/main" id="{66CBA330-908C-7C40-CB9E-A05189E31B54}"/>
              </a:ext>
            </a:extLst>
          </p:cNvPr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9</a:t>
            </a:r>
          </a:p>
        </p:txBody>
      </p:sp>
      <p:sp>
        <p:nvSpPr>
          <p:cNvPr id="105" name="SlideTitle">
            <a:extLst>
              <a:ext uri="{FF2B5EF4-FFF2-40B4-BE49-F238E27FC236}">
                <a16:creationId xmlns:a16="http://schemas.microsoft.com/office/drawing/2014/main" id="{599C249A-B78A-7AF2-7E87-2E33AE37155D}"/>
              </a:ext>
            </a:extLst>
          </p:cNvPr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成长股估值来自远期现金流，价值股来自近期盈利——这决定了对宏观变量的不同敏感性</a:t>
            </a:r>
          </a:p>
        </p:txBody>
      </p:sp>
      <p:sp>
        <p:nvSpPr>
          <p:cNvPr id="200" name="MLT200">
            <a:extLst>
              <a:ext uri="{FF2B5EF4-FFF2-40B4-BE49-F238E27FC236}">
                <a16:creationId xmlns:a16="http://schemas.microsoft.com/office/drawing/2014/main" id="{54CE24F6-3A51-A263-DB90-7A2BF56B587A}"/>
              </a:ext>
            </a:extLst>
          </p:cNvPr>
          <p:cNvSpPr txBox="1"/>
          <p:nvPr/>
        </p:nvSpPr>
        <p:spPr>
          <a:xfrm>
            <a:off x="381000" y="1349999"/>
            <a:ext cx="5500000" cy="1706021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成长股：久期长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两阶段DCF公式：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V = CF1/(1+r) + CF2/(1+r)^2 + ... + TV/(1+r)^n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成长股特征（大权重在Terminal Value）：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对折现率r高度敏感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利率↓时估值大幅上升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利率↑时估值大幅下降</a:t>
            </a:r>
          </a:p>
        </p:txBody>
      </p:sp>
      <p:sp>
        <p:nvSpPr>
          <p:cNvPr id="201" name="MLT201">
            <a:extLst>
              <a:ext uri="{FF2B5EF4-FFF2-40B4-BE49-F238E27FC236}">
                <a16:creationId xmlns:a16="http://schemas.microsoft.com/office/drawing/2014/main" id="{3A360EC9-5445-996E-7F33-A7C3DD6CA280}"/>
              </a:ext>
            </a:extLst>
          </p:cNvPr>
          <p:cNvSpPr txBox="1"/>
          <p:nvPr/>
        </p:nvSpPr>
        <p:spPr>
          <a:xfrm>
            <a:off x="6200000" y="1350000"/>
            <a:ext cx="5400000" cy="1706021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价值股：久期短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价值股特征（大权重在近期现金流）：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对当期盈利高度敏感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ROE上升时估值提升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→ 受利率影响相对较小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底部结论：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这个框架解释了为什么利率变化对成长股冲击更大，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而盈利改善对价值股更直接利好。</a:t>
            </a:r>
          </a:p>
        </p:txBody>
      </p:sp>
    </p:spTree>
    <p:extLst>
      <p:ext uri="{BB962C8B-B14F-4D97-AF65-F5344CB8AC3E}">
        <p14:creationId xmlns:p14="http://schemas.microsoft.com/office/powerpoint/2010/main" val="1477832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0F0-DC0D-5FBF-F818-49D9D960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887EE-B372-E39D-D7E5-F0D3E9780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sv-SE" altLang="zh-CN" dirty="0"/>
              <a:t>Part 3  因子体系：从470+到23个核心因子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910717-5032-E6B0-B6B7-1A0E2066B960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7FDCAD41-34CC-667C-FADB-C425A87F8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9大类别470+候选因子 + state/event双挂载工程体系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701E5753-113C-1C88-CCE3-41A319C7022E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0A169A1-C220-0130-98A3-4E2013B66C9A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F8502650-1715-2C78-CA45-4C7971940FE1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063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3 因子体系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12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470+候选因子、9大类别、完整工程体系——这是筛选有效信号的基础</a:t>
            </a:r>
          </a:p>
        </p:txBody>
      </p:sp>
      <p:sp>
        <p:nvSpPr>
          <p:cNvPr id="200" name="STAT200"/>
          <p:cNvSpPr/>
          <p:nvPr/>
        </p:nvSpPr>
        <p:spPr>
          <a:xfrm>
            <a:off x="381000" y="1370000"/>
            <a:ext cx="2700000" cy="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470+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候选因子</a:t>
            </a:r>
          </a:p>
        </p:txBody>
      </p:sp>
      <p:sp>
        <p:nvSpPr>
          <p:cNvPr id="201" name="STAT201"/>
          <p:cNvSpPr/>
          <p:nvPr/>
        </p:nvSpPr>
        <p:spPr>
          <a:xfrm>
            <a:off x="3181000" y="1370000"/>
            <a:ext cx="2700000" cy="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9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大经济类别</a:t>
            </a:r>
          </a:p>
        </p:txBody>
      </p:sp>
      <p:sp>
        <p:nvSpPr>
          <p:cNvPr id="202" name="STAT202"/>
          <p:cNvSpPr/>
          <p:nvPr/>
        </p:nvSpPr>
        <p:spPr>
          <a:xfrm>
            <a:off x="5981000" y="1370000"/>
            <a:ext cx="2700000" cy="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474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IC分析覆盖</a:t>
            </a:r>
          </a:p>
        </p:txBody>
      </p:sp>
      <p:sp>
        <p:nvSpPr>
          <p:cNvPr id="203" name="STAT203"/>
          <p:cNvSpPr/>
          <p:nvPr/>
        </p:nvSpPr>
        <p:spPr>
          <a:xfrm>
            <a:off x="8781000" y="1370000"/>
            <a:ext cx="2700000" cy="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494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回测汇总</a:t>
            </a:r>
          </a:p>
        </p:txBody>
      </p:sp>
      <p:sp>
        <p:nvSpPr>
          <p:cNvPr id="210" name="TB210"/>
          <p:cNvSpPr txBox="1"/>
          <p:nvPr/>
        </p:nvSpPr>
        <p:spPr>
          <a:xfrm>
            <a:off x="381000" y="2450000"/>
            <a:ext cx="1300000" cy="5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类别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1800000" y="2450000"/>
            <a:ext cx="4200000" cy="5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代表因子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6200000" y="2450000"/>
            <a:ext cx="4200000" cy="5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经济逻辑</a:t>
            </a:r>
          </a:p>
        </p:txBody>
      </p:sp>
      <p:sp>
        <p:nvSpPr>
          <p:cNvPr id="220" name="TB220"/>
          <p:cNvSpPr txBox="1"/>
          <p:nvPr/>
        </p:nvSpPr>
        <p:spPr>
          <a:xfrm>
            <a:off x="381000" y="2950000"/>
            <a:ext cx="13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I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1800000" y="295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十年国债、SHIBOR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6200000" y="295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折现率</a:t>
            </a:r>
          </a:p>
        </p:txBody>
      </p:sp>
      <p:sp>
        <p:nvSpPr>
          <p:cNvPr id="223" name="TB223"/>
          <p:cNvSpPr txBox="1"/>
          <p:nvPr/>
        </p:nvSpPr>
        <p:spPr>
          <a:xfrm>
            <a:off x="381000" y="3370000"/>
            <a:ext cx="13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G</a:t>
            </a:r>
          </a:p>
        </p:txBody>
      </p:sp>
      <p:sp>
        <p:nvSpPr>
          <p:cNvPr id="224" name="TB224"/>
          <p:cNvSpPr txBox="1"/>
          <p:nvPr/>
        </p:nvSpPr>
        <p:spPr>
          <a:xfrm>
            <a:off x="1800000" y="337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PMI、中长期贷款</a:t>
            </a:r>
          </a:p>
        </p:txBody>
      </p:sp>
      <p:sp>
        <p:nvSpPr>
          <p:cNvPr id="225" name="TB225"/>
          <p:cNvSpPr txBox="1"/>
          <p:nvPr/>
        </p:nvSpPr>
        <p:spPr>
          <a:xfrm>
            <a:off x="6200000" y="337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景气/增长</a:t>
            </a:r>
          </a:p>
        </p:txBody>
      </p:sp>
      <p:sp>
        <p:nvSpPr>
          <p:cNvPr id="226" name="TB226"/>
          <p:cNvSpPr txBox="1"/>
          <p:nvPr/>
        </p:nvSpPr>
        <p:spPr>
          <a:xfrm>
            <a:off x="381000" y="3790000"/>
            <a:ext cx="13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P</a:t>
            </a:r>
          </a:p>
        </p:txBody>
      </p:sp>
      <p:sp>
        <p:nvSpPr>
          <p:cNvPr id="227" name="TB227"/>
          <p:cNvSpPr txBox="1"/>
          <p:nvPr/>
        </p:nvSpPr>
        <p:spPr>
          <a:xfrm>
            <a:off x="1800000" y="379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CPI-PPI剪刀差</a:t>
            </a:r>
          </a:p>
        </p:txBody>
      </p:sp>
      <p:sp>
        <p:nvSpPr>
          <p:cNvPr id="228" name="TB228"/>
          <p:cNvSpPr txBox="1"/>
          <p:nvPr/>
        </p:nvSpPr>
        <p:spPr>
          <a:xfrm>
            <a:off x="6200000" y="379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利润分配</a:t>
            </a:r>
          </a:p>
        </p:txBody>
      </p:sp>
      <p:sp>
        <p:nvSpPr>
          <p:cNvPr id="229" name="TB229"/>
          <p:cNvSpPr txBox="1"/>
          <p:nvPr/>
        </p:nvSpPr>
        <p:spPr>
          <a:xfrm>
            <a:off x="381000" y="4210000"/>
            <a:ext cx="13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V</a:t>
            </a:r>
          </a:p>
        </p:txBody>
      </p:sp>
      <p:sp>
        <p:nvSpPr>
          <p:cNvPr id="230" name="TB230"/>
          <p:cNvSpPr txBox="1"/>
          <p:nvPr/>
        </p:nvSpPr>
        <p:spPr>
          <a:xfrm>
            <a:off x="1800000" y="421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强势股占比、动量差</a:t>
            </a:r>
          </a:p>
        </p:txBody>
      </p:sp>
      <p:sp>
        <p:nvSpPr>
          <p:cNvPr id="231" name="TB231"/>
          <p:cNvSpPr txBox="1"/>
          <p:nvPr/>
        </p:nvSpPr>
        <p:spPr>
          <a:xfrm>
            <a:off x="6200000" y="421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市场行为</a:t>
            </a:r>
          </a:p>
        </p:txBody>
      </p:sp>
      <p:sp>
        <p:nvSpPr>
          <p:cNvPr id="232" name="TB232"/>
          <p:cNvSpPr txBox="1"/>
          <p:nvPr/>
        </p:nvSpPr>
        <p:spPr>
          <a:xfrm>
            <a:off x="381000" y="4630000"/>
            <a:ext cx="13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D</a:t>
            </a:r>
          </a:p>
        </p:txBody>
      </p:sp>
      <p:sp>
        <p:nvSpPr>
          <p:cNvPr id="233" name="TB233"/>
          <p:cNvSpPr txBox="1"/>
          <p:nvPr/>
        </p:nvSpPr>
        <p:spPr>
          <a:xfrm>
            <a:off x="1800000" y="463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信用利差</a:t>
            </a:r>
          </a:p>
        </p:txBody>
      </p:sp>
      <p:sp>
        <p:nvSpPr>
          <p:cNvPr id="234" name="TB234"/>
          <p:cNvSpPr txBox="1"/>
          <p:nvPr/>
        </p:nvSpPr>
        <p:spPr>
          <a:xfrm>
            <a:off x="6200000" y="463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风险偏好</a:t>
            </a:r>
          </a:p>
        </p:txBody>
      </p:sp>
      <p:sp>
        <p:nvSpPr>
          <p:cNvPr id="235" name="TB235"/>
          <p:cNvSpPr txBox="1"/>
          <p:nvPr/>
        </p:nvSpPr>
        <p:spPr>
          <a:xfrm>
            <a:off x="381000" y="5050000"/>
            <a:ext cx="13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L</a:t>
            </a:r>
          </a:p>
        </p:txBody>
      </p:sp>
      <p:sp>
        <p:nvSpPr>
          <p:cNvPr id="236" name="TB236"/>
          <p:cNvSpPr txBox="1"/>
          <p:nvPr/>
        </p:nvSpPr>
        <p:spPr>
          <a:xfrm>
            <a:off x="1800000" y="505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DR007、M1-M2</a:t>
            </a:r>
          </a:p>
        </p:txBody>
      </p:sp>
      <p:sp>
        <p:nvSpPr>
          <p:cNvPr id="237" name="TB237"/>
          <p:cNvSpPr txBox="1"/>
          <p:nvPr/>
        </p:nvSpPr>
        <p:spPr>
          <a:xfrm>
            <a:off x="6200000" y="505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流动性</a:t>
            </a:r>
          </a:p>
        </p:txBody>
      </p:sp>
      <p:sp>
        <p:nvSpPr>
          <p:cNvPr id="238" name="TB238"/>
          <p:cNvSpPr txBox="1"/>
          <p:nvPr/>
        </p:nvSpPr>
        <p:spPr>
          <a:xfrm>
            <a:off x="381000" y="5470000"/>
            <a:ext cx="13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C</a:t>
            </a:r>
          </a:p>
        </p:txBody>
      </p:sp>
      <p:sp>
        <p:nvSpPr>
          <p:cNvPr id="239" name="TB239"/>
          <p:cNvSpPr txBox="1"/>
          <p:nvPr/>
        </p:nvSpPr>
        <p:spPr>
          <a:xfrm>
            <a:off x="1800000" y="547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换手率差</a:t>
            </a:r>
          </a:p>
        </p:txBody>
      </p:sp>
      <p:sp>
        <p:nvSpPr>
          <p:cNvPr id="240" name="TB240"/>
          <p:cNvSpPr txBox="1"/>
          <p:nvPr/>
        </p:nvSpPr>
        <p:spPr>
          <a:xfrm>
            <a:off x="6200000" y="547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量价</a:t>
            </a:r>
          </a:p>
        </p:txBody>
      </p:sp>
      <p:sp>
        <p:nvSpPr>
          <p:cNvPr id="241" name="TB241"/>
          <p:cNvSpPr txBox="1"/>
          <p:nvPr/>
        </p:nvSpPr>
        <p:spPr>
          <a:xfrm>
            <a:off x="381000" y="5890000"/>
            <a:ext cx="13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O</a:t>
            </a:r>
          </a:p>
        </p:txBody>
      </p:sp>
      <p:sp>
        <p:nvSpPr>
          <p:cNvPr id="242" name="TB242"/>
          <p:cNvSpPr txBox="1"/>
          <p:nvPr/>
        </p:nvSpPr>
        <p:spPr>
          <a:xfrm>
            <a:off x="1800000" y="589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出口PMI</a:t>
            </a:r>
          </a:p>
        </p:txBody>
      </p:sp>
      <p:sp>
        <p:nvSpPr>
          <p:cNvPr id="243" name="TB243"/>
          <p:cNvSpPr txBox="1"/>
          <p:nvPr/>
        </p:nvSpPr>
        <p:spPr>
          <a:xfrm>
            <a:off x="6200000" y="5890000"/>
            <a:ext cx="4200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外需</a:t>
            </a:r>
          </a:p>
        </p:txBody>
      </p:sp>
      <p:sp>
        <p:nvSpPr>
          <p:cNvPr id="244" name="TB244"/>
          <p:cNvSpPr txBox="1"/>
          <p:nvPr/>
        </p:nvSpPr>
        <p:spPr>
          <a:xfrm>
            <a:off x="381000" y="6310000"/>
            <a:ext cx="13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F</a:t>
            </a:r>
          </a:p>
        </p:txBody>
      </p:sp>
      <p:sp>
        <p:nvSpPr>
          <p:cNvPr id="245" name="TB245"/>
          <p:cNvSpPr txBox="1"/>
          <p:nvPr/>
        </p:nvSpPr>
        <p:spPr>
          <a:xfrm>
            <a:off x="1800000" y="631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特殊/其他</a:t>
            </a:r>
          </a:p>
        </p:txBody>
      </p:sp>
      <p:sp>
        <p:nvSpPr>
          <p:cNvPr id="246" name="TB246"/>
          <p:cNvSpPr txBox="1"/>
          <p:nvPr/>
        </p:nvSpPr>
        <p:spPr>
          <a:xfrm>
            <a:off x="6200000" y="6310000"/>
            <a:ext cx="4200000" cy="4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多元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3 因子体系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13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四层严格筛选：IC统计→经济意义→边际贡献，防止过拟合的核心机制</a:t>
            </a:r>
          </a:p>
        </p:txBody>
      </p:sp>
      <p:sp>
        <p:nvSpPr>
          <p:cNvPr id="200" name="TB200"/>
          <p:cNvSpPr txBox="1"/>
          <p:nvPr/>
        </p:nvSpPr>
        <p:spPr>
          <a:xfrm>
            <a:off x="381000" y="2000000"/>
            <a:ext cx="11000000" cy="38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50" b="1" dirty="0">
                <a:solidFill>
                  <a:srgbClr val="FFFFFF"/>
                </a:solidFill>
                <a:latin typeface="Arial"/>
                <a:ea typeface="Microsoft YaHei"/>
              </a:rPr>
              <a:t>470+ 候选因子 | 9大类别</a:t>
            </a:r>
          </a:p>
        </p:txBody>
      </p:sp>
      <p:sp>
        <p:nvSpPr>
          <p:cNvPr id="201" name="TB201"/>
          <p:cNvSpPr txBox="1"/>
          <p:nvPr/>
        </p:nvSpPr>
        <p:spPr>
          <a:xfrm>
            <a:off x="1381000" y="2500000"/>
            <a:ext cx="9000000" cy="380000"/>
          </a:xfrm>
          <a:prstGeom prst="rect">
            <a:avLst/>
          </a:prstGeom>
          <a:solidFill>
            <a:srgbClr val="5B84B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50" b="1" dirty="0">
                <a:solidFill>
                  <a:srgbClr val="FFFFFF"/>
                </a:solidFill>
                <a:latin typeface="Arial"/>
                <a:ea typeface="Microsoft YaHei"/>
              </a:rPr>
              <a:t>~200个 通过负IC检查（nega_checked）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2381000" y="3000000"/>
            <a:ext cx="7000000" cy="380000"/>
          </a:xfrm>
          <a:prstGeom prst="rect">
            <a:avLst/>
          </a:prstGeom>
          <a:solidFill>
            <a:srgbClr val="6B9CD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50" b="1" dirty="0">
                <a:solidFill>
                  <a:srgbClr val="FFFFFF"/>
                </a:solidFill>
                <a:latin typeface="Arial"/>
                <a:ea typeface="Microsoft YaHei"/>
              </a:rPr>
              <a:t>46个高分因子（IC打分≥3分，满分4分）</a:t>
            </a:r>
          </a:p>
        </p:txBody>
      </p:sp>
      <p:sp>
        <p:nvSpPr>
          <p:cNvPr id="203" name="TB203"/>
          <p:cNvSpPr txBox="1"/>
          <p:nvPr/>
        </p:nvSpPr>
        <p:spPr>
          <a:xfrm>
            <a:off x="3381000" y="3500000"/>
            <a:ext cx="5000000" cy="380000"/>
          </a:xfrm>
          <a:prstGeom prst="rect">
            <a:avLst/>
          </a:prstGeom>
          <a:solidFill>
            <a:srgbClr val="7BB4EC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50" b="1" dirty="0">
                <a:solidFill>
                  <a:srgbClr val="FFFFFF"/>
                </a:solidFill>
                <a:latin typeface="Arial"/>
                <a:ea typeface="Microsoft YaHei"/>
              </a:rPr>
              <a:t>23个 经济意义筛选通过</a:t>
            </a:r>
          </a:p>
        </p:txBody>
      </p:sp>
      <p:sp>
        <p:nvSpPr>
          <p:cNvPr id="204" name="TB204"/>
          <p:cNvSpPr txBox="1"/>
          <p:nvPr/>
        </p:nvSpPr>
        <p:spPr>
          <a:xfrm>
            <a:off x="4381000" y="4000000"/>
            <a:ext cx="3000000" cy="380000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150" b="1" dirty="0">
                <a:solidFill>
                  <a:srgbClr val="FFFFFF"/>
                </a:solidFill>
                <a:latin typeface="Arial"/>
                <a:ea typeface="Microsoft YaHei"/>
              </a:rPr>
              <a:t>9个 进入W008的底层因子</a:t>
            </a:r>
          </a:p>
        </p:txBody>
      </p:sp>
      <p:sp>
        <p:nvSpPr>
          <p:cNvPr id="210" name="MLT210"/>
          <p:cNvSpPr txBox="1"/>
          <p:nvPr/>
        </p:nvSpPr>
        <p:spPr>
          <a:xfrm>
            <a:off x="7500000" y="190000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00" b="1" dirty="0">
                <a:solidFill>
                  <a:srgbClr val="2C3E50"/>
                </a:solidFill>
                <a:latin typeface="Arial"/>
                <a:ea typeface="Microsoft YaHei"/>
              </a:rPr>
              <a:t>各层筛选条件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层1→2：负IC概率检查（&lt;50%）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层2→3：IC综合打分≥3分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    4维度各1分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层3→4：经济意义人工审核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层4→5：边际贡献测试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    加入后W008胜率&gt;现状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3 因子体系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14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对474个因子全量做IC分析，46个≥3分的高分因子分布在8个经济类别中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000000" cy="20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2C3E50"/>
                </a:solidFill>
                <a:latin typeface="Arial"/>
                <a:ea typeface="Microsoft YaHei"/>
              </a:rPr>
              <a:t>IC打分体系说明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IC打分体系（4分制）：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① 非正IC概率&lt;50%  → 1分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② 正IC概率&gt;50%    → 1分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③ Pearson IC方向正确 → 1分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④ Rank IC方向正确  → 1分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满分4分，≥3分认为因子有效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5700000" y="1350000"/>
            <a:ext cx="57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00" b="1" dirty="0">
                <a:solidFill>
                  <a:srgbClr val="2C3E50"/>
                </a:solidFill>
                <a:latin typeface="Arial"/>
                <a:ea typeface="Microsoft YaHei"/>
              </a:rPr>
              <a:t>46个高分因子按类别分布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C033、C034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G001、G026、G027、G055、G056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I001、I002、I006、I007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P021、P035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V001、V128、V155、V167、V168、V201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F014、F023、F024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W003-W008组合信号</a:t>
            </a:r>
          </a:p>
        </p:txBody>
      </p:sp>
      <p:sp>
        <p:nvSpPr>
          <p:cNvPr id="202" name="PH202"/>
          <p:cNvSpPr/>
          <p:nvPr/>
        </p:nvSpPr>
        <p:spPr>
          <a:xfrm>
            <a:off x="381000" y="3600000"/>
            <a:ext cx="11430000" cy="26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AAAAAA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1000" dirty="0">
                <a:solidFill>
                  <a:srgbClr val="666666"/>
                </a:solidFill>
                <a:latin typeface="Arial"/>
                <a:ea typeface="Microsoft YaHei"/>
              </a:rPr>
              <a:t>待补图表：代表性Rolling IC图（I001/G001/V001）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3 因子体系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15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入选的9个因子横跨4个经济类别，相关性低——这是组合能带来增量信息的前提</a:t>
            </a:r>
          </a:p>
        </p:txBody>
      </p:sp>
      <p:pic>
        <p:nvPicPr>
          <p:cNvPr id="200" name="IMG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50000"/>
            <a:ext cx="5500000" cy="2900000"/>
          </a:xfrm>
          <a:prstGeom prst="rect">
            <a:avLst/>
          </a:prstGeom>
        </p:spPr>
      </p:pic>
      <p:pic>
        <p:nvPicPr>
          <p:cNvPr id="201" name="IMG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350000"/>
            <a:ext cx="5500000" cy="2900000"/>
          </a:xfrm>
          <a:prstGeom prst="rect">
            <a:avLst/>
          </a:prstGeom>
        </p:spPr>
      </p:pic>
      <p:sp>
        <p:nvSpPr>
          <p:cNvPr id="202" name="MLT202"/>
          <p:cNvSpPr txBox="1"/>
          <p:nvPr/>
        </p:nvSpPr>
        <p:spPr>
          <a:xfrm>
            <a:off x="381000" y="4400000"/>
            <a:ext cx="11430000" cy="1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2C3E50"/>
                </a:solidFill>
                <a:latin typeface="Arial"/>
                <a:ea typeface="Microsoft YaHei"/>
              </a:rPr>
              <a:t>相关性筛选的意义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关键发现：W009加入高相关因子后月胜率从55.42%下降至51.77%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→ 证明相关性筛选有效：高相关因子带来重复信息，损伤而非增强组合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→ 入选的9个W008因子横跨4个经济类别（I/G/P/V），相关性低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→ 这是组合能带来增量信息的前提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0F0-DC0D-5FBF-F818-49D9D960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887EE-B372-E39D-D7E5-F0D3E9780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sv-SE" altLang="zh-CN" dirty="0"/>
              <a:t>Part 4  信号组合：W008的构建与迭代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910717-5032-E6B0-B6B7-1A0E2066B960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7FDCAD41-34CC-667C-FADB-C425A87F8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分类Binary投票：每类信号独立表决，防止单类主导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701E5753-113C-1C88-CCE3-41A319C7022E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0A169A1-C220-0130-98A3-4E2013B66C9A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F8502650-1715-2C78-CA45-4C7971940FE1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063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4 信号组合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17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分类Binary投票：每类经济信号独立表决，避免单类别信号支配组合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6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分类Binary投票设计示意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I组因子 binary → [+1/-1]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G组因子 binary → [+1/-1]  ─┐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P组因子 binary → [+1/-1]  ─┤→ 等权平均 → 连续信号 → 二值化 → W008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V组因子 binary → [+1/-1]  ─┘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说明：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每组取组内因子的二值化信号平均，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再对4组等权平均得到连续信号，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最后阈值二值化为+1（成长）/-1（价值）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6300000" y="1350000"/>
            <a:ext cx="53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2C3E50"/>
                </a:solidFill>
                <a:latin typeface="Arial"/>
                <a:ea typeface="Microsoft YaHei"/>
              </a:rPr>
              <a:t>设计优点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✓ 方向清晰：每组只贡献+1或-1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✓ 异常值鲁棒：单因子极端值影响有上限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✓ 可解释性：每组贡献来源透明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✓ 便于切换：只需改变各组权重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✓ 防止单类别信号支配：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4类等权，无主导类别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4 信号组合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18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W008使用4类9个互补因子——覆盖DCF框架的四条信息链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500000" cy="22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4472A9"/>
                </a:solidFill>
                <a:latin typeface="Arial"/>
                <a:ea typeface="Microsoft YaHei"/>
              </a:rPr>
              <a:t>I组（折现率）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I001 十年国债均线方向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I002 美国6M国债差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I004 SHIBOR均线方向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逻辑：利率压制成长久期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6481000" y="1350000"/>
            <a:ext cx="5500000" cy="22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2C7BB6"/>
                </a:solidFill>
                <a:latin typeface="Arial"/>
                <a:ea typeface="Microsoft YaHei"/>
              </a:rPr>
              <a:t>G组（景气）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G001 PMI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G002 中长期贷款余额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G005 出口预期差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逻辑：增长预期影响Terminal Value</a:t>
            </a:r>
          </a:p>
        </p:txBody>
      </p:sp>
      <p:sp>
        <p:nvSpPr>
          <p:cNvPr id="202" name="MLT202"/>
          <p:cNvSpPr txBox="1"/>
          <p:nvPr/>
        </p:nvSpPr>
        <p:spPr>
          <a:xfrm>
            <a:off x="381000" y="3750000"/>
            <a:ext cx="5500000" cy="22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E8380D"/>
                </a:solidFill>
                <a:latin typeface="Arial"/>
                <a:ea typeface="Microsoft YaHei"/>
              </a:rPr>
              <a:t>P组（利润）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P001 CPI-PPI剪刀差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逻辑：上下游利润分配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（利润向下游转移→消费价值股）</a:t>
            </a:r>
          </a:p>
        </p:txBody>
      </p:sp>
      <p:sp>
        <p:nvSpPr>
          <p:cNvPr id="203" name="MLT203"/>
          <p:cNvSpPr txBox="1"/>
          <p:nvPr/>
        </p:nvSpPr>
        <p:spPr>
          <a:xfrm>
            <a:off x="6481000" y="3750000"/>
            <a:ext cx="5500000" cy="22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28B463"/>
                </a:solidFill>
                <a:latin typeface="Arial"/>
                <a:ea typeface="Microsoft YaHei"/>
              </a:rPr>
              <a:t>V组（市场）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V001 强势股占比差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V002 20日动量差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逻辑：价格趋势确认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4 信号组合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19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6轮迭代，月胜率从~50%提升至55.42%——W009下降是反例，证明筛选框架有效</a:t>
            </a:r>
          </a:p>
        </p:txBody>
      </p:sp>
      <p:sp>
        <p:nvSpPr>
          <p:cNvPr id="200" name="PH200"/>
          <p:cNvSpPr/>
          <p:nvPr/>
        </p:nvSpPr>
        <p:spPr>
          <a:xfrm>
            <a:off x="381000" y="1350000"/>
            <a:ext cx="11430000" cy="22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AAAAAA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1000" dirty="0">
                <a:solidFill>
                  <a:srgbClr val="666666"/>
                </a:solidFill>
                <a:latin typeface="Arial"/>
                <a:ea typeface="Microsoft YaHei"/>
              </a:rPr>
              <a:t>待补图表：W003→W010版本月度胜率折线图（P0优先级）</a:t>
            </a:r>
          </a:p>
        </p:txBody>
      </p:sp>
      <p:sp>
        <p:nvSpPr>
          <p:cNvPr id="210" name="TB210"/>
          <p:cNvSpPr txBox="1"/>
          <p:nvPr/>
        </p:nvSpPr>
        <p:spPr>
          <a:xfrm>
            <a:off x="381000" y="3750000"/>
            <a:ext cx="2500000" cy="4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版本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3000000" y="3750000"/>
            <a:ext cx="3400000" cy="4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主要改动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6500000" y="3750000"/>
            <a:ext cx="2900000" cy="4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月度胜率</a:t>
            </a:r>
          </a:p>
        </p:txBody>
      </p:sp>
      <p:sp>
        <p:nvSpPr>
          <p:cNvPr id="213" name="TB213"/>
          <p:cNvSpPr txBox="1"/>
          <p:nvPr/>
        </p:nvSpPr>
        <p:spPr>
          <a:xfrm>
            <a:off x="9500000" y="3750000"/>
            <a:ext cx="2000000" cy="40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20" name="TB220"/>
          <p:cNvSpPr txBox="1"/>
          <p:nvPr/>
        </p:nvSpPr>
        <p:spPr>
          <a:xfrm>
            <a:off x="381000" y="415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W003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3000000" y="4150000"/>
            <a:ext cx="3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初代多因子分类投票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6500000" y="4150000"/>
            <a:ext cx="29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~50-53%</a:t>
            </a:r>
          </a:p>
        </p:txBody>
      </p:sp>
      <p:sp>
        <p:nvSpPr>
          <p:cNvPr id="223" name="TB223"/>
          <p:cNvSpPr txBox="1"/>
          <p:nvPr/>
        </p:nvSpPr>
        <p:spPr>
          <a:xfrm>
            <a:off x="9500000" y="415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24" name="TB224"/>
          <p:cNvSpPr txBox="1"/>
          <p:nvPr/>
        </p:nvSpPr>
        <p:spPr>
          <a:xfrm>
            <a:off x="381000" y="4540000"/>
            <a:ext cx="25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W005_binary</a:t>
            </a:r>
          </a:p>
        </p:txBody>
      </p:sp>
      <p:sp>
        <p:nvSpPr>
          <p:cNvPr id="225" name="TB225"/>
          <p:cNvSpPr txBox="1"/>
          <p:nvPr/>
        </p:nvSpPr>
        <p:spPr>
          <a:xfrm>
            <a:off x="3000000" y="4540000"/>
            <a:ext cx="34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首次分类binary投票</a:t>
            </a:r>
          </a:p>
        </p:txBody>
      </p:sp>
      <p:sp>
        <p:nvSpPr>
          <p:cNvPr id="226" name="TB226"/>
          <p:cNvSpPr txBox="1"/>
          <p:nvPr/>
        </p:nvSpPr>
        <p:spPr>
          <a:xfrm>
            <a:off x="6500000" y="4540000"/>
            <a:ext cx="29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55.21%</a:t>
            </a:r>
          </a:p>
        </p:txBody>
      </p:sp>
      <p:sp>
        <p:nvSpPr>
          <p:cNvPr id="227" name="TB227"/>
          <p:cNvSpPr txBox="1"/>
          <p:nvPr/>
        </p:nvSpPr>
        <p:spPr>
          <a:xfrm>
            <a:off x="9500000" y="4540000"/>
            <a:ext cx="20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28" name="TB228"/>
          <p:cNvSpPr txBox="1"/>
          <p:nvPr/>
        </p:nvSpPr>
        <p:spPr>
          <a:xfrm>
            <a:off x="381000" y="493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W006_binary</a:t>
            </a:r>
          </a:p>
        </p:txBody>
      </p:sp>
      <p:sp>
        <p:nvSpPr>
          <p:cNvPr id="229" name="TB229"/>
          <p:cNvSpPr txBox="1"/>
          <p:nvPr/>
        </p:nvSpPr>
        <p:spPr>
          <a:xfrm>
            <a:off x="3000000" y="4930000"/>
            <a:ext cx="3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优化组合逻辑</a:t>
            </a:r>
          </a:p>
        </p:txBody>
      </p:sp>
      <p:sp>
        <p:nvSpPr>
          <p:cNvPr id="230" name="TB230"/>
          <p:cNvSpPr txBox="1"/>
          <p:nvPr/>
        </p:nvSpPr>
        <p:spPr>
          <a:xfrm>
            <a:off x="6500000" y="4930000"/>
            <a:ext cx="29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55.31%</a:t>
            </a:r>
          </a:p>
        </p:txBody>
      </p:sp>
      <p:sp>
        <p:nvSpPr>
          <p:cNvPr id="231" name="TB231"/>
          <p:cNvSpPr txBox="1"/>
          <p:nvPr/>
        </p:nvSpPr>
        <p:spPr>
          <a:xfrm>
            <a:off x="9500000" y="493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32" name="TB232"/>
          <p:cNvSpPr txBox="1"/>
          <p:nvPr/>
        </p:nvSpPr>
        <p:spPr>
          <a:xfrm>
            <a:off x="381000" y="5320000"/>
            <a:ext cx="25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W007_binary</a:t>
            </a:r>
          </a:p>
        </p:txBody>
      </p:sp>
      <p:sp>
        <p:nvSpPr>
          <p:cNvPr id="233" name="TB233"/>
          <p:cNvSpPr txBox="1"/>
          <p:nvPr/>
        </p:nvSpPr>
        <p:spPr>
          <a:xfrm>
            <a:off x="3000000" y="5320000"/>
            <a:ext cx="34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再优化</a:t>
            </a:r>
          </a:p>
        </p:txBody>
      </p:sp>
      <p:sp>
        <p:nvSpPr>
          <p:cNvPr id="234" name="TB234"/>
          <p:cNvSpPr txBox="1"/>
          <p:nvPr/>
        </p:nvSpPr>
        <p:spPr>
          <a:xfrm>
            <a:off x="6500000" y="5320000"/>
            <a:ext cx="29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dirty="0">
                <a:solidFill>
                  <a:srgbClr val="4A5568"/>
                </a:solidFill>
                <a:latin typeface="Arial"/>
                <a:ea typeface="Microsoft YaHei"/>
              </a:rPr>
              <a:t>54.06%</a:t>
            </a:r>
          </a:p>
        </p:txBody>
      </p:sp>
      <p:sp>
        <p:nvSpPr>
          <p:cNvPr id="235" name="TB235"/>
          <p:cNvSpPr txBox="1"/>
          <p:nvPr/>
        </p:nvSpPr>
        <p:spPr>
          <a:xfrm>
            <a:off x="9500000" y="5320000"/>
            <a:ext cx="20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36" name="TB236"/>
          <p:cNvSpPr txBox="1"/>
          <p:nvPr/>
        </p:nvSpPr>
        <p:spPr>
          <a:xfrm>
            <a:off x="381000" y="571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4472A9"/>
                </a:solidFill>
                <a:latin typeface="Arial"/>
                <a:ea typeface="Microsoft YaHei"/>
              </a:rPr>
              <a:t>W008_binary</a:t>
            </a:r>
          </a:p>
        </p:txBody>
      </p:sp>
      <p:sp>
        <p:nvSpPr>
          <p:cNvPr id="237" name="TB237"/>
          <p:cNvSpPr txBox="1"/>
          <p:nvPr/>
        </p:nvSpPr>
        <p:spPr>
          <a:xfrm>
            <a:off x="3000000" y="5710000"/>
            <a:ext cx="3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4A5568"/>
                </a:solidFill>
                <a:latin typeface="Arial"/>
                <a:ea typeface="Microsoft YaHei"/>
              </a:rPr>
              <a:t>当前最优（★）</a:t>
            </a:r>
          </a:p>
        </p:txBody>
      </p:sp>
      <p:sp>
        <p:nvSpPr>
          <p:cNvPr id="238" name="TB238"/>
          <p:cNvSpPr txBox="1"/>
          <p:nvPr/>
        </p:nvSpPr>
        <p:spPr>
          <a:xfrm>
            <a:off x="6500000" y="5710000"/>
            <a:ext cx="29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4472A9"/>
                </a:solidFill>
                <a:latin typeface="Arial"/>
                <a:ea typeface="Microsoft YaHei"/>
              </a:rPr>
              <a:t>55.42%</a:t>
            </a:r>
          </a:p>
        </p:txBody>
      </p:sp>
      <p:sp>
        <p:nvSpPr>
          <p:cNvPr id="239" name="TB239"/>
          <p:cNvSpPr txBox="1"/>
          <p:nvPr/>
        </p:nvSpPr>
        <p:spPr>
          <a:xfrm>
            <a:off x="9500000" y="571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40" name="TB240"/>
          <p:cNvSpPr txBox="1"/>
          <p:nvPr/>
        </p:nvSpPr>
        <p:spPr>
          <a:xfrm>
            <a:off x="381000" y="6100000"/>
            <a:ext cx="25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E8380D"/>
                </a:solidFill>
                <a:latin typeface="Arial"/>
                <a:ea typeface="Microsoft YaHei"/>
              </a:rPr>
              <a:t>W009_binary</a:t>
            </a:r>
          </a:p>
        </p:txBody>
      </p:sp>
      <p:sp>
        <p:nvSpPr>
          <p:cNvPr id="241" name="TB241"/>
          <p:cNvSpPr txBox="1"/>
          <p:nvPr/>
        </p:nvSpPr>
        <p:spPr>
          <a:xfrm>
            <a:off x="3000000" y="6100000"/>
            <a:ext cx="34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4A5568"/>
                </a:solidFill>
                <a:latin typeface="Arial"/>
                <a:ea typeface="Microsoft YaHei"/>
              </a:rPr>
              <a:t>新加因子（↓下降）</a:t>
            </a:r>
          </a:p>
        </p:txBody>
      </p:sp>
      <p:sp>
        <p:nvSpPr>
          <p:cNvPr id="242" name="TB242"/>
          <p:cNvSpPr txBox="1"/>
          <p:nvPr/>
        </p:nvSpPr>
        <p:spPr>
          <a:xfrm>
            <a:off x="6500000" y="6100000"/>
            <a:ext cx="29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E8380D"/>
                </a:solidFill>
                <a:latin typeface="Arial"/>
                <a:ea typeface="Microsoft YaHei"/>
              </a:rPr>
              <a:t>51.77%</a:t>
            </a:r>
          </a:p>
        </p:txBody>
      </p:sp>
      <p:sp>
        <p:nvSpPr>
          <p:cNvPr id="243" name="TB243"/>
          <p:cNvSpPr txBox="1"/>
          <p:nvPr/>
        </p:nvSpPr>
        <p:spPr>
          <a:xfrm>
            <a:off x="9500000" y="6100000"/>
            <a:ext cx="20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/>
          </a:p>
        </p:txBody>
      </p:sp>
      <p:sp>
        <p:nvSpPr>
          <p:cNvPr id="250" name="MLT250"/>
          <p:cNvSpPr txBox="1"/>
          <p:nvPr/>
        </p:nvSpPr>
        <p:spPr>
          <a:xfrm>
            <a:off x="381000" y="6600000"/>
            <a:ext cx="11430000" cy="10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W009胜率下降说明：边际贡献负向的因子损伤组合，证明筛选框架是有效约束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0F0-DC0D-5FBF-F818-49D9D960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887EE-B372-E39D-D7E5-F0D3E9780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sv-SE" altLang="zh-CN" dirty="0"/>
              <a:t>Part 5  回测结果：W008在风格轮动中的表现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910717-5032-E6B0-B6B7-1A0E2066B960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7FDCAD41-34CC-667C-FADB-C425A87F8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月度胜率55.42%、超额年化5.20%、信息比率1.71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701E5753-113C-1C88-CCE3-41A319C7022E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0A169A1-C220-0130-98A3-4E2013B66C9A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F8502650-1715-2C78-CA45-4C7971940FE1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063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5 回测结果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21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周频五轨调仓+七项筛选标准：回测设计控制随机性，评价标准先定义后看结果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5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4472A9"/>
                </a:solidFill>
                <a:latin typeface="Arial"/>
                <a:ea typeface="Microsoft YaHei"/>
              </a:rPr>
              <a:t>五轨调仓说明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五轨调仓设计：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将全部交易日分成5组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每50个交易日一个rebalance窗口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各组分别从不同起点开始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取5个轨道的平均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目的：降低单日偶然性，提高稳定性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W008通过 6/7 项筛选标准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唯一局限：价值波段胜率~42% (&lt;50%)</a:t>
            </a:r>
          </a:p>
        </p:txBody>
      </p:sp>
      <p:sp>
        <p:nvSpPr>
          <p:cNvPr id="2" name="TB200"/>
          <p:cNvSpPr txBox="1"/>
          <p:nvPr/>
        </p:nvSpPr>
        <p:spPr>
          <a:xfrm>
            <a:off x="6100000" y="1350000"/>
            <a:ext cx="55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① 调仓次数 &gt; 15次</a:t>
            </a:r>
          </a:p>
        </p:txBody>
      </p:sp>
      <p:sp>
        <p:nvSpPr>
          <p:cNvPr id="201" name="TB201"/>
          <p:cNvSpPr txBox="1"/>
          <p:nvPr/>
        </p:nvSpPr>
        <p:spPr>
          <a:xfrm>
            <a:off x="6100000" y="2050000"/>
            <a:ext cx="5500000" cy="6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② 全区间收益 &gt; 基准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6100000" y="2750000"/>
            <a:ext cx="55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③ 超额夏普 &gt; 0</a:t>
            </a:r>
          </a:p>
        </p:txBody>
      </p:sp>
      <p:sp>
        <p:nvSpPr>
          <p:cNvPr id="203" name="TB203"/>
          <p:cNvSpPr txBox="1"/>
          <p:nvPr/>
        </p:nvSpPr>
        <p:spPr>
          <a:xfrm>
            <a:off x="6100000" y="3450000"/>
            <a:ext cx="5500000" cy="6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④ Period胜率 &gt; 50%</a:t>
            </a:r>
          </a:p>
        </p:txBody>
      </p:sp>
      <p:sp>
        <p:nvSpPr>
          <p:cNvPr id="204" name="TB204"/>
          <p:cNvSpPr txBox="1"/>
          <p:nvPr/>
        </p:nvSpPr>
        <p:spPr>
          <a:xfrm>
            <a:off x="6100000" y="4150000"/>
            <a:ext cx="55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⑤ 盈亏比 &gt; 1</a:t>
            </a:r>
          </a:p>
        </p:txBody>
      </p:sp>
      <p:sp>
        <p:nvSpPr>
          <p:cNvPr id="205" name="TB205"/>
          <p:cNvSpPr txBox="1"/>
          <p:nvPr/>
        </p:nvSpPr>
        <p:spPr>
          <a:xfrm>
            <a:off x="6100000" y="4850000"/>
            <a:ext cx="5500000" cy="6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dirty="0">
                <a:solidFill>
                  <a:srgbClr val="28B463"/>
                </a:solidFill>
                <a:latin typeface="Arial"/>
                <a:ea typeface="Microsoft YaHei"/>
              </a:rPr>
              <a:t>✓  ⑥ 期望收益 &gt; 0</a:t>
            </a:r>
          </a:p>
        </p:txBody>
      </p:sp>
      <p:sp>
        <p:nvSpPr>
          <p:cNvPr id="206" name="TB206"/>
          <p:cNvSpPr txBox="1"/>
          <p:nvPr/>
        </p:nvSpPr>
        <p:spPr>
          <a:xfrm>
            <a:off x="6100000" y="5550000"/>
            <a:ext cx="55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50" b="1" dirty="0">
                <a:solidFill>
                  <a:srgbClr val="E8380D"/>
                </a:solidFill>
                <a:latin typeface="Arial"/>
                <a:ea typeface="Microsoft YaHei"/>
              </a:rPr>
              <a:t>✗  ⑦ 成长/价值波段各自胜率&gt;50%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5 回测结果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22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月度胜率55.4%、超额年化5.2%、信息比率1.71——W008在16年回测中持续积累超额</a:t>
            </a:r>
          </a:p>
        </p:txBody>
      </p:sp>
      <p:sp>
        <p:nvSpPr>
          <p:cNvPr id="200" name="PH200"/>
          <p:cNvSpPr/>
          <p:nvPr/>
        </p:nvSpPr>
        <p:spPr>
          <a:xfrm>
            <a:off x="381000" y="1350000"/>
            <a:ext cx="7800000" cy="49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AAAAAA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1000" dirty="0">
                <a:solidFill>
                  <a:srgbClr val="666666"/>
                </a:solidFill>
                <a:latin typeface="Arial"/>
                <a:ea typeface="Microsoft YaHei"/>
              </a:rPr>
              <a:t>待补图表：W008净值曲线（策略vs基准）+ 净值比值图
（原始图在 E_backtesting/Result/W008_signal_binary/）</a:t>
            </a:r>
          </a:p>
        </p:txBody>
      </p:sp>
      <p:sp>
        <p:nvSpPr>
          <p:cNvPr id="2" name="STAT200"/>
          <p:cNvSpPr/>
          <p:nvPr/>
        </p:nvSpPr>
        <p:spPr>
          <a:xfrm>
            <a:off x="8400000" y="13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55.42%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月度胜率</a:t>
            </a:r>
          </a:p>
        </p:txBody>
      </p:sp>
      <p:sp>
        <p:nvSpPr>
          <p:cNvPr id="201" name="STAT201"/>
          <p:cNvSpPr/>
          <p:nvPr/>
        </p:nvSpPr>
        <p:spPr>
          <a:xfrm>
            <a:off x="8400000" y="20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53.80%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Period胜率</a:t>
            </a:r>
          </a:p>
        </p:txBody>
      </p:sp>
      <p:sp>
        <p:nvSpPr>
          <p:cNvPr id="202" name="STAT202"/>
          <p:cNvSpPr/>
          <p:nvPr/>
        </p:nvSpPr>
        <p:spPr>
          <a:xfrm>
            <a:off x="8400000" y="27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1.032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盈亏比</a:t>
            </a:r>
          </a:p>
        </p:txBody>
      </p:sp>
      <p:sp>
        <p:nvSpPr>
          <p:cNvPr id="203" name="STAT203"/>
          <p:cNvSpPr/>
          <p:nvPr/>
        </p:nvSpPr>
        <p:spPr>
          <a:xfrm>
            <a:off x="8400000" y="34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+0.22%/月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期望收益</a:t>
            </a:r>
          </a:p>
        </p:txBody>
      </p:sp>
      <p:sp>
        <p:nvSpPr>
          <p:cNvPr id="204" name="STAT204"/>
          <p:cNvSpPr/>
          <p:nvPr/>
        </p:nvSpPr>
        <p:spPr>
          <a:xfrm>
            <a:off x="8400000" y="41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5.20%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超额年化</a:t>
            </a:r>
          </a:p>
        </p:txBody>
      </p:sp>
      <p:sp>
        <p:nvSpPr>
          <p:cNvPr id="205" name="STAT205"/>
          <p:cNvSpPr/>
          <p:nvPr/>
        </p:nvSpPr>
        <p:spPr>
          <a:xfrm>
            <a:off x="8400000" y="48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1.226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超额夏普</a:t>
            </a:r>
          </a:p>
        </p:txBody>
      </p:sp>
      <p:sp>
        <p:nvSpPr>
          <p:cNvPr id="206" name="STAT206"/>
          <p:cNvSpPr/>
          <p:nvPr/>
        </p:nvSpPr>
        <p:spPr>
          <a:xfrm>
            <a:off x="8400000" y="5550000"/>
            <a:ext cx="3400000" cy="64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3200" b="1" dirty="0">
                <a:solidFill>
                  <a:srgbClr val="4472A9"/>
                </a:solidFill>
                <a:latin typeface="Arial"/>
                <a:ea typeface="Microsoft YaHei"/>
              </a:rPr>
              <a:t>1.707</a:t>
            </a:r>
          </a:p>
          <a:p>
            <a:pPr algn="ctr"/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信息比率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5 回测结果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23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2014、2017、2020、2021、2024、2025年均有正贡献——超额在多种市场环境下可积累</a:t>
            </a:r>
          </a:p>
        </p:txBody>
      </p:sp>
      <p:sp>
        <p:nvSpPr>
          <p:cNvPr id="200" name="PH200"/>
          <p:cNvSpPr/>
          <p:nvPr/>
        </p:nvSpPr>
        <p:spPr>
          <a:xfrm>
            <a:off x="381000" y="1350000"/>
            <a:ext cx="11430000" cy="34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AAAAAA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zh-CN" sz="1000" dirty="0">
                <a:solidFill>
                  <a:srgbClr val="666666"/>
                </a:solidFill>
                <a:latin typeface="Arial"/>
                <a:ea typeface="Microsoft YaHei"/>
              </a:rPr>
              <a:t>待补图表：分年度超额收益柱状图（正绿负红）2010-2026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381000" y="5000000"/>
            <a:ext cx="11430000" cy="22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2C3E50"/>
                </a:solidFill>
                <a:latin typeface="Arial"/>
                <a:ea typeface="Microsoft YaHei"/>
              </a:rPr>
              <a:t>典型年份说明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2021年：成长大牛市，W008准确偏向成长方向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2022年：价值占优，W008部分捕捉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2024年：价值切成长，W008跟上节奏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整体：2014、2017、2020、2021、2024、2025年均有正贡献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5 回测结果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24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W008在16年回测中表现稳健，但需正视两个局限：价值波段胜率偏低、参数扰动检验不完整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5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200" b="1" dirty="0">
                <a:solidFill>
                  <a:srgbClr val="2C3E50"/>
                </a:solidFill>
                <a:latin typeface="Arial"/>
                <a:ea typeface="Microsoft YaHei"/>
              </a:rPr>
              <a:t>已实现成果</a:t>
            </a:r>
          </a:p>
          <a:p>
            <a:r>
              <a:rPr lang="zh-CN" sz="1200" dirty="0">
                <a:solidFill>
                  <a:srgbClr val="28B463"/>
                </a:solidFill>
                <a:latin typeface="Arial"/>
                <a:ea typeface="Microsoft YaHei"/>
              </a:rPr>
              <a:t>✓ 通过6/7项筛选标准</a:t>
            </a:r>
          </a:p>
          <a:p>
            <a:r>
              <a:rPr lang="zh-CN" sz="1200" dirty="0">
                <a:solidFill>
                  <a:srgbClr val="28B463"/>
                </a:solidFill>
                <a:latin typeface="Arial"/>
                <a:ea typeface="Microsoft YaHei"/>
              </a:rPr>
              <a:t>✓ 16年跨周期稳健（2010-2026）</a:t>
            </a:r>
          </a:p>
          <a:p>
            <a:r>
              <a:rPr lang="zh-CN" sz="1200" dirty="0">
                <a:solidFill>
                  <a:srgbClr val="28B463"/>
                </a:solidFill>
                <a:latin typeface="Arial"/>
                <a:ea typeface="Microsoft YaHei"/>
              </a:rPr>
              <a:t>✓ 超额年化5.20%，信息比率1.71</a:t>
            </a:r>
          </a:p>
          <a:p>
            <a:r>
              <a:rPr lang="zh-CN" sz="1200" dirty="0">
                <a:solidFill>
                  <a:srgbClr val="28B463"/>
                </a:solidFill>
                <a:latin typeface="Arial"/>
                <a:ea typeface="Microsoft YaHei"/>
              </a:rPr>
              <a:t>✓ W009反例验证了筛选框架有效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6200000" y="1350000"/>
            <a:ext cx="54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E8380D"/>
                </a:solidFill>
                <a:latin typeface="Arial"/>
                <a:ea typeface="Microsoft YaHei"/>
              </a:rPr>
              <a:t>两个局限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✗ 价值波段胜率约42%（&lt;50%）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  原因：价值占优年份信号滞后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  强价值年份（如2022）受利率类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  因子主导，价值信号不够强</a:t>
            </a:r>
          </a:p>
          <a:p>
            <a:endParaRPr lang="zh-CN" sz="1100" dirty="0">
              <a:solidFill>
                <a:srgbClr val="E8380D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✗ 参数系统扰动检验未完整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  后续：需系统测试窗口/阈值/</a:t>
            </a:r>
          </a:p>
          <a:p>
            <a:r>
              <a:rPr lang="zh-CN" sz="1100" dirty="0">
                <a:solidFill>
                  <a:srgbClr val="E8380D"/>
                </a:solidFill>
                <a:latin typeface="Arial"/>
                <a:ea typeface="Microsoft YaHei"/>
              </a:rPr>
              <a:t>  调仓频率的敏感性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0F0-DC0D-5FBF-F818-49D9D960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F887EE-B372-E39D-D7E5-F0D3E9780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5087971" cy="444500"/>
          </a:xfrm>
        </p:spPr>
        <p:txBody>
          <a:bodyPr>
            <a:normAutofit/>
          </a:bodyPr>
          <a:lstStyle/>
          <a:p>
            <a:r>
              <a:rPr lang="sv-SE" altLang="zh-CN" dirty="0"/>
              <a:t>Part 6  延伸验证：风险预算多资产框架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910717-5032-E6B0-B6B7-1A0E2066B960}"/>
              </a:ext>
            </a:extLst>
          </p:cNvPr>
          <p:cNvGrpSpPr/>
          <p:nvPr/>
        </p:nvGrpSpPr>
        <p:grpSpPr>
          <a:xfrm>
            <a:off x="772055" y="3429000"/>
            <a:ext cx="947375" cy="1228970"/>
            <a:chOff x="1699260" y="3870960"/>
            <a:chExt cx="947375" cy="1228970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7FDCAD41-34CC-667C-FADB-C425A87F8734}"/>
                </a:ext>
              </a:extLst>
            </p:cNvPr>
            <p:cNvSpPr txBox="1"/>
            <p:nvPr/>
          </p:nvSpPr>
          <p:spPr>
            <a:xfrm>
              <a:off x="1699260" y="3870960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F79646"/>
                  </a:solidFill>
                  <a:latin typeface="Arial"/>
                  <a:ea typeface="Microsoft YaHei"/>
                  <a:cs typeface="Arial"/>
                </a:rPr>
                <a:t>同一信号，换一个完全不同的多资产框架——alpha质量更强的证明</a:t>
              </a:r>
              <a:endParaRPr lang="zh-CN" sz="1200" b="1" dirty="0">
                <a:solidFill>
                  <a:srgbClr val="F7964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701E5753-113C-1C88-CCE3-41A319C7022E}"/>
                </a:ext>
              </a:extLst>
            </p:cNvPr>
            <p:cNvSpPr txBox="1"/>
            <p:nvPr/>
          </p:nvSpPr>
          <p:spPr>
            <a:xfrm>
              <a:off x="1700212" y="43553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01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0A169A1-C220-0130-98A3-4E2013B66C9A}"/>
                </a:ext>
              </a:extLst>
            </p:cNvPr>
            <p:cNvSpPr txBox="1"/>
            <p:nvPr/>
          </p:nvSpPr>
          <p:spPr>
            <a:xfrm>
              <a:off x="1700212" y="464105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02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F8502650-1715-2C78-CA45-4C7971940FE1}"/>
                </a:ext>
              </a:extLst>
            </p:cNvPr>
            <p:cNvSpPr txBox="1"/>
            <p:nvPr/>
          </p:nvSpPr>
          <p:spPr>
            <a:xfrm>
              <a:off x="1700212" y="4926806"/>
              <a:ext cx="58509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380D"/>
                  </a:solidFill>
                  <a:latin typeface="Arial"/>
                  <a:ea typeface="Microsoft YaHei"/>
                  <a:cs typeface="Arial"/>
                </a:rPr>
                <a:t>03</a:t>
              </a:r>
              <a:r>
                <a:rPr lang="en-US" altLang="zh-CN" sz="11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sz="1125" dirty="0" err="1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blabla</a:t>
              </a:r>
              <a:endParaRPr lang="zh-CN" sz="1125" dirty="0">
                <a:solidFill>
                  <a:srgbClr val="4A556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0634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6 延伸验证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26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同一信号，在完全不同的多资产框架中还有效——这是对alpha质量更强的证明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55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50" b="1" dirty="0">
                <a:solidFill>
                  <a:srgbClr val="4472A9"/>
                </a:solidFill>
                <a:latin typeface="Arial"/>
                <a:ea typeface="Microsoft YaHei"/>
              </a:rPr>
              <a:t>路径1（已完成）</a:t>
            </a:r>
          </a:p>
          <a:p>
            <a:r>
              <a:rPr lang="zh-CN" sz="1150" dirty="0">
                <a:solidFill>
                  <a:srgbClr val="4A5568"/>
                </a:solidFill>
                <a:latin typeface="Arial"/>
                <a:ea typeface="Microsoft YaHei"/>
              </a:rPr>
              <a:t>框架A：风格指数回测</a:t>
            </a:r>
          </a:p>
          <a:p>
            <a:endParaRPr lang="zh-CN" sz="11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50" dirty="0">
                <a:solidFill>
                  <a:srgbClr val="4A5568"/>
                </a:solidFill>
                <a:latin typeface="Arial"/>
                <a:ea typeface="Microsoft YaHei"/>
              </a:rPr>
              <a:t>• 成长指数 vs 价值指数</a:t>
            </a:r>
          </a:p>
          <a:p>
            <a:r>
              <a:rPr lang="zh-CN" sz="1150" dirty="0">
                <a:solidFill>
                  <a:srgbClr val="4A5568"/>
                </a:solidFill>
                <a:latin typeface="Arial"/>
                <a:ea typeface="Microsoft YaHei"/>
              </a:rPr>
              <a:t>• 验证：方向胜率 &gt; 50%?</a:t>
            </a:r>
          </a:p>
          <a:p>
            <a:r>
              <a:rPr lang="zh-CN" sz="1150" dirty="0">
                <a:solidFill>
                  <a:srgbClr val="4A5568"/>
                </a:solidFill>
                <a:latin typeface="Arial"/>
                <a:ea typeface="Microsoft YaHei"/>
              </a:rPr>
              <a:t>• 视角：相对表现</a:t>
            </a:r>
          </a:p>
          <a:p>
            <a:r>
              <a:rPr lang="zh-CN" sz="1150" dirty="0">
                <a:solidFill>
                  <a:srgbClr val="4A5568"/>
                </a:solidFill>
                <a:latin typeface="Arial"/>
                <a:ea typeface="Microsoft YaHei"/>
              </a:rPr>
              <a:t>• 已验证：月度胜率55.42%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6200000" y="1350000"/>
            <a:ext cx="55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100" b="1" dirty="0">
                <a:solidFill>
                  <a:srgbClr val="E8380D"/>
                </a:solidFill>
                <a:latin typeface="Arial"/>
                <a:ea typeface="Microsoft YaHei"/>
              </a:rPr>
              <a:t>路径2（延伸验证）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框架B：风险预算多资产</a:t>
            </a:r>
          </a:p>
          <a:p>
            <a:endParaRPr lang="zh-CN" sz="11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W008 or HS300 + CBA00201（中债）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月末调仓，6种风险预算比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(1:1, 1:5, 10:1, 20:1, 50:1, 100:1)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验证：权益资产能否让净值单调增长?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视角：绝对收益路径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• 组合：权益波动率~21%，债券~3%</a:t>
            </a:r>
          </a:p>
          <a:p>
            <a:r>
              <a:rPr lang="zh-CN" sz="1100" dirty="0">
                <a:solidFill>
                  <a:srgbClr val="4A5568"/>
                </a:solidFill>
                <a:latin typeface="Arial"/>
                <a:ea typeface="Microsoft YaHei"/>
              </a:rPr>
              <a:t>  100:1时权益仓位仅约27%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6 延伸验证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27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相同框架下，W008随权益占比提高净值单调增长，HS300则没有——差别来自权益资产回报路径</a:t>
            </a:r>
          </a:p>
        </p:txBody>
      </p:sp>
      <p:pic>
        <p:nvPicPr>
          <p:cNvPr id="200" name="IMG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50000"/>
            <a:ext cx="7800000" cy="4900000"/>
          </a:xfrm>
          <a:prstGeom prst="rect">
            <a:avLst/>
          </a:prstGeom>
        </p:spPr>
      </p:pic>
      <p:sp>
        <p:nvSpPr>
          <p:cNvPr id="201" name="MLT201"/>
          <p:cNvSpPr txBox="1"/>
          <p:nvPr/>
        </p:nvSpPr>
        <p:spPr>
          <a:xfrm>
            <a:off x="8400000" y="1350000"/>
            <a:ext cx="34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2C3E50"/>
                </a:solidFill>
                <a:latin typeface="Arial"/>
                <a:ea typeface="Microsoft YaHei"/>
              </a:rPr>
              <a:t>解读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W008高预算 &gt; 低预算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（分层清晰）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HS300高预算 ≈ 低预算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（无分化）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两组波动率相似（~21%）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差别来自回报路径本身</a:t>
            </a:r>
          </a:p>
          <a:p>
            <a:endParaRPr lang="zh-CN" sz="105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W008的alpha在多资产</a:t>
            </a:r>
          </a:p>
          <a:p>
            <a:r>
              <a:rPr lang="zh-CN" sz="1050" dirty="0">
                <a:solidFill>
                  <a:srgbClr val="4A5568"/>
                </a:solidFill>
                <a:latin typeface="Arial"/>
                <a:ea typeface="Microsoft YaHei"/>
              </a:rPr>
              <a:t>框架下仍然有效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6 延伸验证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28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W008在100:1极端预算下夏普仍为1.05，HS300在50:1时夏普已跌至0.66</a:t>
            </a:r>
          </a:p>
        </p:txBody>
      </p:sp>
      <p:sp>
        <p:nvSpPr>
          <p:cNvPr id="210" name="TB210"/>
          <p:cNvSpPr txBox="1"/>
          <p:nvPr/>
        </p:nvSpPr>
        <p:spPr>
          <a:xfrm>
            <a:off x="381000" y="1350000"/>
            <a:ext cx="2000000" cy="45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组合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2500000" y="1350000"/>
            <a:ext cx="2400000" cy="45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风险预算比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5000000" y="1350000"/>
            <a:ext cx="2500000" cy="45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年化收益</a:t>
            </a:r>
          </a:p>
        </p:txBody>
      </p:sp>
      <p:sp>
        <p:nvSpPr>
          <p:cNvPr id="213" name="TB213"/>
          <p:cNvSpPr txBox="1"/>
          <p:nvPr/>
        </p:nvSpPr>
        <p:spPr>
          <a:xfrm>
            <a:off x="7600000" y="1350000"/>
            <a:ext cx="2300000" cy="45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最大回撤</a:t>
            </a:r>
          </a:p>
        </p:txBody>
      </p:sp>
      <p:sp>
        <p:nvSpPr>
          <p:cNvPr id="214" name="TB214"/>
          <p:cNvSpPr txBox="1"/>
          <p:nvPr/>
        </p:nvSpPr>
        <p:spPr>
          <a:xfrm>
            <a:off x="10000000" y="1350000"/>
            <a:ext cx="2000000" cy="450000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1000" b="1" dirty="0">
                <a:solidFill>
                  <a:srgbClr val="FFFFFF"/>
                </a:solidFill>
                <a:latin typeface="Arial"/>
                <a:ea typeface="Microsoft YaHei"/>
              </a:rPr>
              <a:t>夏普</a:t>
            </a:r>
          </a:p>
        </p:txBody>
      </p:sp>
      <p:sp>
        <p:nvSpPr>
          <p:cNvPr id="220" name="TB220"/>
          <p:cNvSpPr txBox="1"/>
          <p:nvPr/>
        </p:nvSpPr>
        <p:spPr>
          <a:xfrm>
            <a:off x="381000" y="180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2500000" y="1800000"/>
            <a:ext cx="24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1:1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5000000" y="1800000"/>
            <a:ext cx="25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23" name="TB223"/>
          <p:cNvSpPr txBox="1"/>
          <p:nvPr/>
        </p:nvSpPr>
        <p:spPr>
          <a:xfrm>
            <a:off x="7600000" y="1800000"/>
            <a:ext cx="23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24" name="TB224"/>
          <p:cNvSpPr txBox="1"/>
          <p:nvPr/>
        </p:nvSpPr>
        <p:spPr>
          <a:xfrm>
            <a:off x="10000000" y="180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25" name="TB225"/>
          <p:cNvSpPr txBox="1"/>
          <p:nvPr/>
        </p:nvSpPr>
        <p:spPr>
          <a:xfrm>
            <a:off x="381000" y="219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26" name="TB226"/>
          <p:cNvSpPr txBox="1"/>
          <p:nvPr/>
        </p:nvSpPr>
        <p:spPr>
          <a:xfrm>
            <a:off x="2500000" y="2190000"/>
            <a:ext cx="24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1:5</a:t>
            </a:r>
          </a:p>
        </p:txBody>
      </p:sp>
      <p:sp>
        <p:nvSpPr>
          <p:cNvPr id="227" name="TB227"/>
          <p:cNvSpPr txBox="1"/>
          <p:nvPr/>
        </p:nvSpPr>
        <p:spPr>
          <a:xfrm>
            <a:off x="5000000" y="2190000"/>
            <a:ext cx="25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28" name="TB228"/>
          <p:cNvSpPr txBox="1"/>
          <p:nvPr/>
        </p:nvSpPr>
        <p:spPr>
          <a:xfrm>
            <a:off x="7600000" y="2190000"/>
            <a:ext cx="23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29" name="TB229"/>
          <p:cNvSpPr txBox="1"/>
          <p:nvPr/>
        </p:nvSpPr>
        <p:spPr>
          <a:xfrm>
            <a:off x="10000000" y="219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30" name="TB230"/>
          <p:cNvSpPr txBox="1"/>
          <p:nvPr/>
        </p:nvSpPr>
        <p:spPr>
          <a:xfrm>
            <a:off x="381000" y="258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31" name="TB231"/>
          <p:cNvSpPr txBox="1"/>
          <p:nvPr/>
        </p:nvSpPr>
        <p:spPr>
          <a:xfrm>
            <a:off x="2500000" y="2580000"/>
            <a:ext cx="24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10:1</a:t>
            </a:r>
          </a:p>
        </p:txBody>
      </p:sp>
      <p:sp>
        <p:nvSpPr>
          <p:cNvPr id="232" name="TB232"/>
          <p:cNvSpPr txBox="1"/>
          <p:nvPr/>
        </p:nvSpPr>
        <p:spPr>
          <a:xfrm>
            <a:off x="5000000" y="2580000"/>
            <a:ext cx="25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~6%</a:t>
            </a:r>
          </a:p>
        </p:txBody>
      </p:sp>
      <p:sp>
        <p:nvSpPr>
          <p:cNvPr id="233" name="TB233"/>
          <p:cNvSpPr txBox="1"/>
          <p:nvPr/>
        </p:nvSpPr>
        <p:spPr>
          <a:xfrm>
            <a:off x="7600000" y="2580000"/>
            <a:ext cx="23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~-5%</a:t>
            </a:r>
          </a:p>
        </p:txBody>
      </p:sp>
      <p:sp>
        <p:nvSpPr>
          <p:cNvPr id="234" name="TB234"/>
          <p:cNvSpPr txBox="1"/>
          <p:nvPr/>
        </p:nvSpPr>
        <p:spPr>
          <a:xfrm>
            <a:off x="10000000" y="258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~0.9</a:t>
            </a:r>
          </a:p>
        </p:txBody>
      </p:sp>
      <p:sp>
        <p:nvSpPr>
          <p:cNvPr id="235" name="TB235"/>
          <p:cNvSpPr txBox="1"/>
          <p:nvPr/>
        </p:nvSpPr>
        <p:spPr>
          <a:xfrm>
            <a:off x="381000" y="297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36" name="TB236"/>
          <p:cNvSpPr txBox="1"/>
          <p:nvPr/>
        </p:nvSpPr>
        <p:spPr>
          <a:xfrm>
            <a:off x="2500000" y="2970000"/>
            <a:ext cx="24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20:1</a:t>
            </a:r>
          </a:p>
        </p:txBody>
      </p:sp>
      <p:sp>
        <p:nvSpPr>
          <p:cNvPr id="237" name="TB237"/>
          <p:cNvSpPr txBox="1"/>
          <p:nvPr/>
        </p:nvSpPr>
        <p:spPr>
          <a:xfrm>
            <a:off x="5000000" y="2970000"/>
            <a:ext cx="25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~6%</a:t>
            </a:r>
          </a:p>
        </p:txBody>
      </p:sp>
      <p:sp>
        <p:nvSpPr>
          <p:cNvPr id="238" name="TB238"/>
          <p:cNvSpPr txBox="1"/>
          <p:nvPr/>
        </p:nvSpPr>
        <p:spPr>
          <a:xfrm>
            <a:off x="7600000" y="2970000"/>
            <a:ext cx="23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~-8%</a:t>
            </a:r>
          </a:p>
        </p:txBody>
      </p:sp>
      <p:sp>
        <p:nvSpPr>
          <p:cNvPr id="239" name="TB239"/>
          <p:cNvSpPr txBox="1"/>
          <p:nvPr/>
        </p:nvSpPr>
        <p:spPr>
          <a:xfrm>
            <a:off x="10000000" y="297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~0.8</a:t>
            </a:r>
          </a:p>
        </p:txBody>
      </p:sp>
      <p:sp>
        <p:nvSpPr>
          <p:cNvPr id="240" name="TB240"/>
          <p:cNvSpPr txBox="1"/>
          <p:nvPr/>
        </p:nvSpPr>
        <p:spPr>
          <a:xfrm>
            <a:off x="381000" y="3360000"/>
            <a:ext cx="2000000" cy="37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41" name="TB241"/>
          <p:cNvSpPr txBox="1"/>
          <p:nvPr/>
        </p:nvSpPr>
        <p:spPr>
          <a:xfrm>
            <a:off x="2500000" y="3360000"/>
            <a:ext cx="2400000" cy="37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50:1</a:t>
            </a:r>
          </a:p>
        </p:txBody>
      </p:sp>
      <p:sp>
        <p:nvSpPr>
          <p:cNvPr id="242" name="TB242"/>
          <p:cNvSpPr txBox="1"/>
          <p:nvPr/>
        </p:nvSpPr>
        <p:spPr>
          <a:xfrm>
            <a:off x="5000000" y="3360000"/>
            <a:ext cx="2500000" cy="37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~7%</a:t>
            </a:r>
          </a:p>
        </p:txBody>
      </p:sp>
      <p:sp>
        <p:nvSpPr>
          <p:cNvPr id="243" name="TB243"/>
          <p:cNvSpPr txBox="1"/>
          <p:nvPr/>
        </p:nvSpPr>
        <p:spPr>
          <a:xfrm>
            <a:off x="7600000" y="3360000"/>
            <a:ext cx="2300000" cy="37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-13.23%</a:t>
            </a:r>
          </a:p>
        </p:txBody>
      </p:sp>
      <p:sp>
        <p:nvSpPr>
          <p:cNvPr id="244" name="TB244"/>
          <p:cNvSpPr txBox="1"/>
          <p:nvPr/>
        </p:nvSpPr>
        <p:spPr>
          <a:xfrm>
            <a:off x="10000000" y="3360000"/>
            <a:ext cx="2000000" cy="37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0.66</a:t>
            </a:r>
          </a:p>
        </p:txBody>
      </p:sp>
      <p:sp>
        <p:nvSpPr>
          <p:cNvPr id="245" name="TB245"/>
          <p:cNvSpPr txBox="1"/>
          <p:nvPr/>
        </p:nvSpPr>
        <p:spPr>
          <a:xfrm>
            <a:off x="381000" y="375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HS300</a:t>
            </a:r>
          </a:p>
        </p:txBody>
      </p:sp>
      <p:sp>
        <p:nvSpPr>
          <p:cNvPr id="246" name="TB246"/>
          <p:cNvSpPr txBox="1"/>
          <p:nvPr/>
        </p:nvSpPr>
        <p:spPr>
          <a:xfrm>
            <a:off x="2500000" y="3750000"/>
            <a:ext cx="24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100:1</a:t>
            </a:r>
          </a:p>
        </p:txBody>
      </p:sp>
      <p:sp>
        <p:nvSpPr>
          <p:cNvPr id="247" name="TB247"/>
          <p:cNvSpPr txBox="1"/>
          <p:nvPr/>
        </p:nvSpPr>
        <p:spPr>
          <a:xfrm>
            <a:off x="5000000" y="3750000"/>
            <a:ext cx="25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~8%</a:t>
            </a:r>
          </a:p>
        </p:txBody>
      </p:sp>
      <p:sp>
        <p:nvSpPr>
          <p:cNvPr id="248" name="TB248"/>
          <p:cNvSpPr txBox="1"/>
          <p:nvPr/>
        </p:nvSpPr>
        <p:spPr>
          <a:xfrm>
            <a:off x="7600000" y="3750000"/>
            <a:ext cx="23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~-25%</a:t>
            </a:r>
          </a:p>
        </p:txBody>
      </p:sp>
      <p:sp>
        <p:nvSpPr>
          <p:cNvPr id="249" name="TB249"/>
          <p:cNvSpPr txBox="1"/>
          <p:nvPr/>
        </p:nvSpPr>
        <p:spPr>
          <a:xfrm>
            <a:off x="10000000" y="3750000"/>
            <a:ext cx="2000000" cy="37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~0.5</a:t>
            </a:r>
          </a:p>
        </p:txBody>
      </p:sp>
      <p:sp>
        <p:nvSpPr>
          <p:cNvPr id="250" name="TB250"/>
          <p:cNvSpPr txBox="1"/>
          <p:nvPr/>
        </p:nvSpPr>
        <p:spPr>
          <a:xfrm>
            <a:off x="381000" y="414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51" name="TB251"/>
          <p:cNvSpPr txBox="1"/>
          <p:nvPr/>
        </p:nvSpPr>
        <p:spPr>
          <a:xfrm>
            <a:off x="2500000" y="4140000"/>
            <a:ext cx="2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1:1</a:t>
            </a:r>
          </a:p>
        </p:txBody>
      </p:sp>
      <p:sp>
        <p:nvSpPr>
          <p:cNvPr id="252" name="TB252"/>
          <p:cNvSpPr txBox="1"/>
          <p:nvPr/>
        </p:nvSpPr>
        <p:spPr>
          <a:xfrm>
            <a:off x="5000000" y="414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53" name="TB253"/>
          <p:cNvSpPr txBox="1"/>
          <p:nvPr/>
        </p:nvSpPr>
        <p:spPr>
          <a:xfrm>
            <a:off x="7600000" y="4140000"/>
            <a:ext cx="23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54" name="TB254"/>
          <p:cNvSpPr txBox="1"/>
          <p:nvPr/>
        </p:nvSpPr>
        <p:spPr>
          <a:xfrm>
            <a:off x="10000000" y="414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55" name="TB255"/>
          <p:cNvSpPr txBox="1"/>
          <p:nvPr/>
        </p:nvSpPr>
        <p:spPr>
          <a:xfrm>
            <a:off x="381000" y="453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56" name="TB256"/>
          <p:cNvSpPr txBox="1"/>
          <p:nvPr/>
        </p:nvSpPr>
        <p:spPr>
          <a:xfrm>
            <a:off x="2500000" y="4530000"/>
            <a:ext cx="2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1:5</a:t>
            </a:r>
          </a:p>
        </p:txBody>
      </p:sp>
      <p:sp>
        <p:nvSpPr>
          <p:cNvPr id="257" name="TB257"/>
          <p:cNvSpPr txBox="1"/>
          <p:nvPr/>
        </p:nvSpPr>
        <p:spPr>
          <a:xfrm>
            <a:off x="5000000" y="453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58" name="TB258"/>
          <p:cNvSpPr txBox="1"/>
          <p:nvPr/>
        </p:nvSpPr>
        <p:spPr>
          <a:xfrm>
            <a:off x="7600000" y="4530000"/>
            <a:ext cx="23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59" name="TB259"/>
          <p:cNvSpPr txBox="1"/>
          <p:nvPr/>
        </p:nvSpPr>
        <p:spPr>
          <a:xfrm>
            <a:off x="10000000" y="453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0" name="TB260"/>
          <p:cNvSpPr txBox="1"/>
          <p:nvPr/>
        </p:nvSpPr>
        <p:spPr>
          <a:xfrm>
            <a:off x="381000" y="492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61" name="TB261"/>
          <p:cNvSpPr txBox="1"/>
          <p:nvPr/>
        </p:nvSpPr>
        <p:spPr>
          <a:xfrm>
            <a:off x="2500000" y="4920000"/>
            <a:ext cx="2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10:1</a:t>
            </a:r>
          </a:p>
        </p:txBody>
      </p:sp>
      <p:sp>
        <p:nvSpPr>
          <p:cNvPr id="262" name="TB262"/>
          <p:cNvSpPr txBox="1"/>
          <p:nvPr/>
        </p:nvSpPr>
        <p:spPr>
          <a:xfrm>
            <a:off x="5000000" y="492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3" name="TB263"/>
          <p:cNvSpPr txBox="1"/>
          <p:nvPr/>
        </p:nvSpPr>
        <p:spPr>
          <a:xfrm>
            <a:off x="7600000" y="4920000"/>
            <a:ext cx="23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4" name="TB264"/>
          <p:cNvSpPr txBox="1"/>
          <p:nvPr/>
        </p:nvSpPr>
        <p:spPr>
          <a:xfrm>
            <a:off x="10000000" y="492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5" name="TB265"/>
          <p:cNvSpPr txBox="1"/>
          <p:nvPr/>
        </p:nvSpPr>
        <p:spPr>
          <a:xfrm>
            <a:off x="381000" y="531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66" name="TB266"/>
          <p:cNvSpPr txBox="1"/>
          <p:nvPr/>
        </p:nvSpPr>
        <p:spPr>
          <a:xfrm>
            <a:off x="2500000" y="5310000"/>
            <a:ext cx="2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20:1</a:t>
            </a:r>
          </a:p>
        </p:txBody>
      </p:sp>
      <p:sp>
        <p:nvSpPr>
          <p:cNvPr id="267" name="TB267"/>
          <p:cNvSpPr txBox="1"/>
          <p:nvPr/>
        </p:nvSpPr>
        <p:spPr>
          <a:xfrm>
            <a:off x="5000000" y="531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8" name="TB268"/>
          <p:cNvSpPr txBox="1"/>
          <p:nvPr/>
        </p:nvSpPr>
        <p:spPr>
          <a:xfrm>
            <a:off x="7600000" y="5310000"/>
            <a:ext cx="23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69" name="TB269"/>
          <p:cNvSpPr txBox="1"/>
          <p:nvPr/>
        </p:nvSpPr>
        <p:spPr>
          <a:xfrm>
            <a:off x="10000000" y="531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70" name="TB270"/>
          <p:cNvSpPr txBox="1"/>
          <p:nvPr/>
        </p:nvSpPr>
        <p:spPr>
          <a:xfrm>
            <a:off x="381000" y="570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71" name="TB271"/>
          <p:cNvSpPr txBox="1"/>
          <p:nvPr/>
        </p:nvSpPr>
        <p:spPr>
          <a:xfrm>
            <a:off x="2500000" y="5700000"/>
            <a:ext cx="24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50:1</a:t>
            </a:r>
          </a:p>
        </p:txBody>
      </p:sp>
      <p:sp>
        <p:nvSpPr>
          <p:cNvPr id="272" name="TB272"/>
          <p:cNvSpPr txBox="1"/>
          <p:nvPr/>
        </p:nvSpPr>
        <p:spPr>
          <a:xfrm>
            <a:off x="5000000" y="5700000"/>
            <a:ext cx="25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73" name="TB273"/>
          <p:cNvSpPr txBox="1"/>
          <p:nvPr/>
        </p:nvSpPr>
        <p:spPr>
          <a:xfrm>
            <a:off x="7600000" y="5700000"/>
            <a:ext cx="23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74" name="TB274"/>
          <p:cNvSpPr txBox="1"/>
          <p:nvPr/>
        </p:nvSpPr>
        <p:spPr>
          <a:xfrm>
            <a:off x="10000000" y="5700000"/>
            <a:ext cx="2000000" cy="37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[待补]</a:t>
            </a:r>
          </a:p>
        </p:txBody>
      </p:sp>
      <p:sp>
        <p:nvSpPr>
          <p:cNvPr id="275" name="TB275"/>
          <p:cNvSpPr txBox="1"/>
          <p:nvPr/>
        </p:nvSpPr>
        <p:spPr>
          <a:xfrm>
            <a:off x="381000" y="6090000"/>
            <a:ext cx="2000000" cy="37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W008</a:t>
            </a:r>
          </a:p>
        </p:txBody>
      </p:sp>
      <p:sp>
        <p:nvSpPr>
          <p:cNvPr id="276" name="TB276"/>
          <p:cNvSpPr txBox="1"/>
          <p:nvPr/>
        </p:nvSpPr>
        <p:spPr>
          <a:xfrm>
            <a:off x="2500000" y="6090000"/>
            <a:ext cx="2400000" cy="37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100:1</a:t>
            </a:r>
          </a:p>
        </p:txBody>
      </p:sp>
      <p:sp>
        <p:nvSpPr>
          <p:cNvPr id="277" name="TB277"/>
          <p:cNvSpPr txBox="1"/>
          <p:nvPr/>
        </p:nvSpPr>
        <p:spPr>
          <a:xfrm>
            <a:off x="5000000" y="6090000"/>
            <a:ext cx="2500000" cy="37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~14%</a:t>
            </a:r>
          </a:p>
        </p:txBody>
      </p:sp>
      <p:sp>
        <p:nvSpPr>
          <p:cNvPr id="278" name="TB278"/>
          <p:cNvSpPr txBox="1"/>
          <p:nvPr/>
        </p:nvSpPr>
        <p:spPr>
          <a:xfrm>
            <a:off x="7600000" y="6090000"/>
            <a:ext cx="2300000" cy="37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-5.94%</a:t>
            </a:r>
          </a:p>
        </p:txBody>
      </p:sp>
      <p:sp>
        <p:nvSpPr>
          <p:cNvPr id="279" name="TB279"/>
          <p:cNvSpPr txBox="1"/>
          <p:nvPr/>
        </p:nvSpPr>
        <p:spPr>
          <a:xfrm>
            <a:off x="10000000" y="6090000"/>
            <a:ext cx="2000000" cy="37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altLang="en-US" sz="950" dirty="0">
                <a:solidFill>
                  <a:srgbClr val="4A5568"/>
                </a:solidFill>
                <a:latin typeface="Arial"/>
                <a:ea typeface="Microsoft YaHei"/>
              </a:rPr>
              <a:t>1.05</a:t>
            </a:r>
          </a:p>
        </p:txBody>
      </p:sp>
      <p:sp>
        <p:nvSpPr>
          <p:cNvPr id="290" name="MLT290"/>
          <p:cNvSpPr txBox="1"/>
          <p:nvPr/>
        </p:nvSpPr>
        <p:spPr>
          <a:xfrm>
            <a:off x="381000" y="65000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00" b="1" dirty="0">
                <a:solidFill>
                  <a:srgbClr val="2C3E50"/>
                </a:solidFill>
                <a:latin typeface="Arial"/>
                <a:ea typeface="Microsoft YaHei"/>
              </a:rPr>
              <a:t>三条结论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① W008收益随权益预算单调递增，HS300基本持平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② W008回撤平稳（100:1仅-5.94%），HS300在极端预算骤升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③ W008夏普在高预算仍&gt;1，HS300在50:1已跌至0.66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101" name="BlueLine"/>
          <p:cNvSpPr/>
          <p:nvPr/>
        </p:nvSpPr>
        <p:spPr>
          <a:xfrm>
            <a:off x="381000" y="723900"/>
            <a:ext cx="9096375" cy="47625"/>
          </a:xfrm>
          <a:prstGeom prst="rect">
            <a:avLst/>
          </a:prstGeom>
          <a:solidFill>
            <a:srgbClr val="4472A9"/>
          </a:solidFill>
          <a:ln>
            <a:noFill/>
          </a:ln>
        </p:spPr>
      </p:sp>
      <p:sp>
        <p:nvSpPr>
          <p:cNvPr id="102" name="RedLine"/>
          <p:cNvSpPr/>
          <p:nvPr/>
        </p:nvSpPr>
        <p:spPr>
          <a:xfrm>
            <a:off x="9572625" y="723900"/>
            <a:ext cx="2238375" cy="47625"/>
          </a:xfrm>
          <a:prstGeom prst="rect">
            <a:avLst/>
          </a:prstGeom>
          <a:solidFill>
            <a:srgbClr val="E8380D"/>
          </a:solidFill>
          <a:ln>
            <a:noFill/>
          </a:ln>
        </p:spPr>
      </p:sp>
      <p:sp>
        <p:nvSpPr>
          <p:cNvPr id="103" name="HeaderTitle"/>
          <p:cNvSpPr txBox="1"/>
          <p:nvPr/>
        </p:nvSpPr>
        <p:spPr>
          <a:xfrm>
            <a:off x="381000" y="295275"/>
            <a:ext cx="8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2000" b="1" dirty="0">
                <a:solidFill>
                  <a:srgbClr val="4472A9"/>
                </a:solidFill>
                <a:latin typeface="Arial"/>
                <a:ea typeface="Microsoft YaHei"/>
              </a:rPr>
              <a:t>Part 7 总结与展望</a:t>
            </a:r>
          </a:p>
        </p:txBody>
      </p:sp>
      <p:sp>
        <p:nvSpPr>
          <p:cNvPr id="104" name="PageNum"/>
          <p:cNvSpPr txBox="1"/>
          <p:nvPr/>
        </p:nvSpPr>
        <p:spPr>
          <a:xfrm>
            <a:off x="118100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/>
            <a:r>
              <a:rPr lang="en-US" sz="900" dirty="0">
                <a:solidFill>
                  <a:srgbClr val="B0B0B0"/>
                </a:solidFill>
                <a:latin typeface="Arial"/>
              </a:rPr>
              <a:t>29</a:t>
            </a:r>
          </a:p>
        </p:txBody>
      </p:sp>
      <p:sp>
        <p:nvSpPr>
          <p:cNvPr id="105" name="SlideTitle"/>
          <p:cNvSpPr txBox="1"/>
          <p:nvPr/>
        </p:nvSpPr>
        <p:spPr>
          <a:xfrm>
            <a:off x="381000" y="81915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zh-CN" altLang="en-US" sz="1600" b="1" dirty="0">
                <a:solidFill>
                  <a:srgbClr val="2C3E50"/>
                </a:solidFill>
                <a:latin typeface="Arial"/>
                <a:ea typeface="Microsoft YaHei"/>
              </a:rPr>
              <a:t>研究成果总览 + 局限性 + 后续方向</a:t>
            </a:r>
          </a:p>
        </p:txBody>
      </p:sp>
      <p:sp>
        <p:nvSpPr>
          <p:cNvPr id="200" name="MLT200"/>
          <p:cNvSpPr txBox="1"/>
          <p:nvPr/>
        </p:nvSpPr>
        <p:spPr>
          <a:xfrm>
            <a:off x="381000" y="1350000"/>
            <a:ext cx="3800000" cy="49000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00" b="1" dirty="0">
                <a:solidFill>
                  <a:srgbClr val="4472A9"/>
                </a:solidFill>
                <a:latin typeface="Arial"/>
                <a:ea typeface="Microsoft YaHei"/>
              </a:rPr>
              <a:t>五项核心成果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① 现实验证：RBSA确认风格暴露影响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基金表现，差值2.60%/期，15年13年跑赢</a:t>
            </a:r>
          </a:p>
          <a:p>
            <a:endParaRPr lang="zh-CN" sz="10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② 因子体系：470+候选→9类工程→23个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入选，IC全量覆盖474个</a:t>
            </a:r>
          </a:p>
          <a:p>
            <a:endParaRPr lang="zh-CN" sz="10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③ 筛选框架：四层漏斗，IC打分+经济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意义+边际贡献三道关口</a:t>
            </a:r>
          </a:p>
          <a:p>
            <a:endParaRPr lang="zh-CN" sz="10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④ W008信号：月胜率55.42%、超额年化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5.20%、信息比率1.71</a:t>
            </a:r>
          </a:p>
          <a:p>
            <a:endParaRPr lang="zh-CN" sz="1000" dirty="0">
              <a:solidFill>
                <a:srgbClr val="4A5568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⑤ 配置验证：风险预算框架中W008收益</a:t>
            </a:r>
          </a:p>
          <a:p>
            <a:r>
              <a:rPr lang="zh-CN" sz="1000" dirty="0">
                <a:solidFill>
                  <a:srgbClr val="4A5568"/>
                </a:solidFill>
                <a:latin typeface="Arial"/>
                <a:ea typeface="Microsoft YaHei"/>
              </a:rPr>
              <a:t>  单调增、回撤可控、夏普始终&gt;1</a:t>
            </a:r>
          </a:p>
        </p:txBody>
      </p:sp>
      <p:sp>
        <p:nvSpPr>
          <p:cNvPr id="201" name="MLT201"/>
          <p:cNvSpPr txBox="1"/>
          <p:nvPr/>
        </p:nvSpPr>
        <p:spPr>
          <a:xfrm>
            <a:off x="4400000" y="1350000"/>
            <a:ext cx="3600000" cy="4900000"/>
          </a:xfrm>
          <a:prstGeom prst="rect">
            <a:avLst/>
          </a:prstGeom>
          <a:solidFill>
            <a:srgbClr val="FFF3F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50" b="1" dirty="0">
                <a:solidFill>
                  <a:srgbClr val="E8380D"/>
                </a:solidFill>
                <a:latin typeface="Arial"/>
                <a:ea typeface="Microsoft YaHei"/>
              </a:rPr>
              <a:t>三个已知局限</a:t>
            </a:r>
          </a:p>
          <a:p>
            <a:r>
              <a:rPr lang="zh-CN" sz="1050" dirty="0">
                <a:solidFill>
                  <a:srgbClr val="E8380D"/>
                </a:solidFill>
                <a:latin typeface="Arial"/>
                <a:ea typeface="Microsoft YaHei"/>
              </a:rPr>
              <a:t>✗ 参数系统扰动检验不完整</a:t>
            </a:r>
          </a:p>
          <a:p>
            <a:endParaRPr lang="zh-CN" sz="1050" dirty="0">
              <a:solidFill>
                <a:srgbClr val="E8380D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E8380D"/>
                </a:solidFill>
                <a:latin typeface="Arial"/>
                <a:ea typeface="Microsoft YaHei"/>
              </a:rPr>
              <a:t>✗ 价值波段胜率约42%（&lt;50%）</a:t>
            </a:r>
          </a:p>
          <a:p>
            <a:endParaRPr lang="zh-CN" sz="1050" dirty="0">
              <a:solidFill>
                <a:srgbClr val="E8380D"/>
              </a:solidFill>
              <a:latin typeface="Arial"/>
              <a:ea typeface="Microsoft YaHei"/>
            </a:endParaRPr>
          </a:p>
          <a:p>
            <a:r>
              <a:rPr lang="zh-CN" sz="1050" dirty="0">
                <a:solidFill>
                  <a:srgbClr val="E8380D"/>
                </a:solidFill>
                <a:latin typeface="Arial"/>
                <a:ea typeface="Microsoft YaHei"/>
              </a:rPr>
              <a:t>✗ 样本外独立验证期间有限</a:t>
            </a:r>
          </a:p>
        </p:txBody>
      </p:sp>
      <p:sp>
        <p:nvSpPr>
          <p:cNvPr id="202" name="MLT202"/>
          <p:cNvSpPr txBox="1"/>
          <p:nvPr/>
        </p:nvSpPr>
        <p:spPr>
          <a:xfrm>
            <a:off x="8200000" y="1350000"/>
            <a:ext cx="3600000" cy="4900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zh-CN" sz="1000" b="1" dirty="0">
                <a:solidFill>
                  <a:srgbClr val="28B463"/>
                </a:solidFill>
                <a:latin typeface="Arial"/>
                <a:ea typeface="Microsoft YaHei"/>
              </a:rPr>
              <a:t>五个后续方向</a:t>
            </a: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→ 系统参数敏感性分析</a:t>
            </a: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  （窗口、阈值、频率）</a:t>
            </a:r>
          </a:p>
          <a:p>
            <a:endParaRPr lang="zh-CN" sz="1000" dirty="0">
              <a:solidFill>
                <a:srgbClr val="28B463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→ 样本内外滚动验证</a:t>
            </a:r>
          </a:p>
          <a:p>
            <a:endParaRPr lang="zh-CN" sz="1000" dirty="0">
              <a:solidFill>
                <a:srgbClr val="28B463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→ 价值波段因子优化</a:t>
            </a:r>
          </a:p>
          <a:p>
            <a:endParaRPr lang="zh-CN" sz="1000" dirty="0">
              <a:solidFill>
                <a:srgbClr val="28B463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→ 多风格标的泛化</a:t>
            </a:r>
          </a:p>
          <a:p>
            <a:endParaRPr lang="zh-CN" sz="1000" dirty="0">
              <a:solidFill>
                <a:srgbClr val="28B463"/>
              </a:solidFill>
              <a:latin typeface="Arial"/>
              <a:ea typeface="Microsoft YaHei"/>
            </a:endParaRPr>
          </a:p>
          <a:p>
            <a:r>
              <a:rPr lang="zh-CN" sz="1000" dirty="0">
                <a:solidFill>
                  <a:srgbClr val="28B463"/>
                </a:solidFill>
                <a:latin typeface="Arial"/>
                <a:ea typeface="Microsoft YaHei"/>
              </a:rPr>
              <a:t>→ 因子贡献分解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模板内页范式-文字">
  <a:themeElements>
    <a:clrScheme name="养老金">
      <a:dk1>
        <a:sysClr val="windowText" lastClr="000000"/>
      </a:dk1>
      <a:lt1>
        <a:sysClr val="window" lastClr="FFFFFF"/>
      </a:lt1>
      <a:dk2>
        <a:srgbClr val="E96004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5456</Words>
  <Application>Microsoft Macintosh PowerPoint</Application>
  <PresentationFormat>寬螢幕</PresentationFormat>
  <Paragraphs>856</Paragraphs>
  <Slides>47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47</vt:i4>
      </vt:variant>
    </vt:vector>
  </HeadingPairs>
  <TitlesOfParts>
    <vt:vector size="59" baseType="lpstr">
      <vt:lpstr>-webkit-standard</vt:lpstr>
      <vt:lpstr>新細明體</vt:lpstr>
      <vt:lpstr>等线</vt:lpstr>
      <vt:lpstr>楷体</vt:lpstr>
      <vt:lpstr>微软雅黑</vt:lpstr>
      <vt:lpstr>PingFang TC</vt:lpstr>
      <vt:lpstr>Arial</vt:lpstr>
      <vt:lpstr>Calibri</vt:lpstr>
      <vt:lpstr>Helvetica Neue</vt:lpstr>
      <vt:lpstr>Menlo</vt:lpstr>
      <vt:lpstr>Office Theme</vt:lpstr>
      <vt:lpstr>模板内页范式-文字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Chloe Zhang</cp:lastModifiedBy>
  <cp:revision>17</cp:revision>
  <dcterms:created xsi:type="dcterms:W3CDTF">2013-01-27T09:14:16Z</dcterms:created>
  <dcterms:modified xsi:type="dcterms:W3CDTF">2026-06-05T09:24:10Z</dcterms:modified>
  <cp:category/>
</cp:coreProperties>
</file>