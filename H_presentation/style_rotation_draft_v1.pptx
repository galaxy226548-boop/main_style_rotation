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3" r:id="rId2"/>
  </p:sldMasterIdLst>
  <p:notesMasterIdLst>
    <p:notesMasterId r:id="rId32"/>
  </p:notesMasterIdLst>
  <p:sldIdLst>
    <p:sldId id="362" r:id="rId3"/>
    <p:sldId id="498" r:id="rId4"/>
    <p:sldId id="501" r:id="rId5"/>
    <p:sldId id="497" r:id="rId6"/>
    <p:sldId id="530" r:id="rId7"/>
    <p:sldId id="324" r:id="rId8"/>
    <p:sldId id="505" r:id="rId9"/>
    <p:sldId id="504" r:id="rId10"/>
    <p:sldId id="527" r:id="rId11"/>
    <p:sldId id="506" r:id="rId12"/>
    <p:sldId id="507" r:id="rId13"/>
    <p:sldId id="508" r:id="rId14"/>
    <p:sldId id="509" r:id="rId15"/>
    <p:sldId id="510" r:id="rId16"/>
    <p:sldId id="511" r:id="rId17"/>
    <p:sldId id="512" r:id="rId18"/>
    <p:sldId id="513" r:id="rId19"/>
    <p:sldId id="514" r:id="rId20"/>
    <p:sldId id="515" r:id="rId21"/>
    <p:sldId id="516" r:id="rId22"/>
    <p:sldId id="517" r:id="rId23"/>
    <p:sldId id="518" r:id="rId24"/>
    <p:sldId id="519" r:id="rId25"/>
    <p:sldId id="520" r:id="rId26"/>
    <p:sldId id="521" r:id="rId27"/>
    <p:sldId id="522" r:id="rId28"/>
    <p:sldId id="523" r:id="rId29"/>
    <p:sldId id="524" r:id="rId30"/>
    <p:sldId id="296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35"/>
    <p:restoredTop sz="94749"/>
  </p:normalViewPr>
  <p:slideViewPr>
    <p:cSldViewPr snapToGrid="0" snapToObjects="1">
      <p:cViewPr>
        <p:scale>
          <a:sx n="106" d="100"/>
          <a:sy n="106" d="100"/>
        </p:scale>
        <p:origin x="568" y="1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3647C2-6565-194B-BFD9-AF3F6BCCF104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FDD74-B33A-854C-B7FF-3A818D7B012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2605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000" baseline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4F6F4-4874-41F5-9A61-4DB40C2B32E9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FDD74-B33A-854C-B7FF-3A818D7B0124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89397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175D-1438-9213-6552-5DD7F4257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F11643B-E137-E3FB-8C6F-52E29C790F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AE3D9FD-AC53-2F17-78FE-B79EDB97FB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295696-C15C-A0A6-992F-C9605809BF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FDD74-B33A-854C-B7FF-3A818D7B0124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54688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可选版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" descr="\\192.168.1.115\b 项目2组\G广发基金\2015\9月\0914\广发PPT母版素材\JPG\--08.jpg"/>
          <p:cNvPicPr>
            <a:picLocks noChangeAspect="1" noChangeArrowheads="1"/>
          </p:cNvPicPr>
          <p:nvPr userDrawn="1"/>
        </p:nvPicPr>
        <p:blipFill rotWithShape="1">
          <a:blip r:embed="rId2" cstate="print"/>
          <a:srcRect b="8791"/>
          <a:stretch>
            <a:fillRect/>
          </a:stretch>
        </p:blipFill>
        <p:spPr bwMode="auto">
          <a:xfrm>
            <a:off x="-953" y="602845"/>
            <a:ext cx="12192953" cy="6255155"/>
          </a:xfrm>
          <a:prstGeom prst="rect">
            <a:avLst/>
          </a:prstGeom>
          <a:noFill/>
        </p:spPr>
      </p:pic>
      <p:sp>
        <p:nvSpPr>
          <p:cNvPr id="26" name="矩形 25"/>
          <p:cNvSpPr/>
          <p:nvPr userDrawn="1"/>
        </p:nvSpPr>
        <p:spPr>
          <a:xfrm>
            <a:off x="0" y="1419226"/>
            <a:ext cx="12192000" cy="5438775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ea typeface="楷体" panose="02010609060101010101" pitchFamily="49" charset="-122"/>
            </a:endParaRPr>
          </a:p>
        </p:txBody>
      </p:sp>
      <p:sp>
        <p:nvSpPr>
          <p:cNvPr id="27" name="矩形 26"/>
          <p:cNvSpPr/>
          <p:nvPr userDrawn="1"/>
        </p:nvSpPr>
        <p:spPr>
          <a:xfrm>
            <a:off x="5534026" y="1288554"/>
            <a:ext cx="6776589" cy="5569447"/>
          </a:xfrm>
          <a:prstGeom prst="rect">
            <a:avLst/>
          </a:prstGeom>
          <a:blipFill dpi="0" rotWithShape="1">
            <a:blip r:embed="rId3">
              <a:alphaModFix amt="10000"/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ea typeface="楷体" panose="02010609060101010101" pitchFamily="49" charset="-122"/>
            </a:endParaRPr>
          </a:p>
        </p:txBody>
      </p:sp>
      <p:pic>
        <p:nvPicPr>
          <p:cNvPr id="29" name="图片 2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319" y="465119"/>
            <a:ext cx="2703583" cy="363944"/>
          </a:xfrm>
          <a:prstGeom prst="rect">
            <a:avLst/>
          </a:prstGeom>
        </p:spPr>
      </p:pic>
      <p:sp>
        <p:nvSpPr>
          <p:cNvPr id="32" name="内容占位符 31"/>
          <p:cNvSpPr>
            <a:spLocks noGrp="1"/>
          </p:cNvSpPr>
          <p:nvPr>
            <p:ph sz="quarter" idx="10"/>
          </p:nvPr>
        </p:nvSpPr>
        <p:spPr>
          <a:xfrm>
            <a:off x="574488" y="2916801"/>
            <a:ext cx="6645088" cy="531625"/>
          </a:xfrm>
        </p:spPr>
        <p:txBody>
          <a:bodyPr>
            <a:noAutofit/>
          </a:bodyPr>
          <a:lstStyle>
            <a:lvl1pPr marL="0" indent="0">
              <a:buNone/>
              <a:defRPr sz="3200" b="1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36" name="文本占位符 35"/>
          <p:cNvSpPr>
            <a:spLocks noGrp="1"/>
          </p:cNvSpPr>
          <p:nvPr>
            <p:ph type="body" sz="quarter" idx="11"/>
          </p:nvPr>
        </p:nvSpPr>
        <p:spPr>
          <a:xfrm>
            <a:off x="574489" y="5414589"/>
            <a:ext cx="3197785" cy="334963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956600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二级目录页可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ea typeface="楷体" panose="02010609060101010101" pitchFamily="49" charset="-122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>
                <a:ea typeface="楷体" panose="02010609060101010101" pitchFamily="49" charset="-122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D61C2A5B-FD07-4229-8F8C-1BFEB44AF40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0" y="2064139"/>
            <a:ext cx="7297381" cy="625119"/>
          </a:xfrm>
          <a:prstGeom prst="rect">
            <a:avLst/>
          </a:prstGeom>
          <a:gradFill flip="none" rotWithShape="1">
            <a:gsLst>
              <a:gs pos="0">
                <a:srgbClr val="5B9BD5">
                  <a:shade val="30000"/>
                  <a:satMod val="115000"/>
                </a:srgbClr>
              </a:gs>
              <a:gs pos="50000">
                <a:srgbClr val="5B9BD5">
                  <a:shade val="67500"/>
                  <a:satMod val="115000"/>
                </a:srgbClr>
              </a:gs>
              <a:gs pos="100000">
                <a:srgbClr val="5B9BD5">
                  <a:shade val="100000"/>
                  <a:satMod val="11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itchFamily="2" charset="-122"/>
              <a:cs typeface="+mn-cs"/>
            </a:endParaRPr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319" y="465119"/>
            <a:ext cx="2703583" cy="363944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4497860" y="2689257"/>
            <a:ext cx="2799523" cy="130667"/>
          </a:xfrm>
          <a:prstGeom prst="rect">
            <a:avLst/>
          </a:prstGeom>
          <a:solidFill>
            <a:srgbClr val="F7964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itchFamily="2" charset="-122"/>
              <a:cs typeface="+mn-cs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sz="quarter" idx="13" hasCustomPrompt="1"/>
          </p:nvPr>
        </p:nvSpPr>
        <p:spPr>
          <a:xfrm>
            <a:off x="772055" y="2160947"/>
            <a:ext cx="3787775" cy="444500"/>
          </a:xfr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buNone/>
              <a:defRPr lang="zh-CN" altLang="en-US" sz="1800" kern="120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  <a:cs typeface="+mn-cs"/>
              </a:defRPr>
            </a:lvl1pPr>
          </a:lstStyle>
          <a:p>
            <a:pPr lvl="0"/>
            <a:r>
              <a:rPr lang="zh-CN" altLang="en-US" dirty="0"/>
              <a:t>单击此处编辑母版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4"/>
          </p:nvPr>
        </p:nvSpPr>
        <p:spPr>
          <a:xfrm>
            <a:off x="1505979" y="3358871"/>
            <a:ext cx="2646878" cy="584775"/>
          </a:xfrm>
        </p:spPr>
        <p:txBody>
          <a:bodyPr wrap="none" anchor="ctr">
            <a:spAutoFit/>
          </a:bodyPr>
          <a:lstStyle>
            <a:lvl1pPr marL="0" indent="0">
              <a:buNone/>
              <a:defRPr lang="zh-CN" altLang="en-US" sz="1600" dirty="0" smtClean="0">
                <a:solidFill>
                  <a:srgbClr val="F79646"/>
                </a:solidFill>
                <a:latin typeface="楷体" panose="02010609060101010101" pitchFamily="49" charset="-122"/>
                <a:ea typeface="楷体" panose="02010609060101010101" pitchFamily="49" charset="-122"/>
              </a:defRPr>
            </a:lvl1pPr>
          </a:lstStyle>
          <a:p>
            <a:pPr marL="0" lvl="0">
              <a:lnSpc>
                <a:spcPct val="200000"/>
              </a:lnSpc>
            </a:pPr>
            <a:r>
              <a:rPr lang="zh-CN" altLang="en-US" dirty="0"/>
              <a:t>单击此处编辑母版文本样式</a:t>
            </a:r>
          </a:p>
        </p:txBody>
      </p:sp>
      <p:sp>
        <p:nvSpPr>
          <p:cNvPr id="17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505979" y="4135812"/>
            <a:ext cx="2646878" cy="584775"/>
          </a:xfrm>
        </p:spPr>
        <p:txBody>
          <a:bodyPr wrap="none" anchor="ctr">
            <a:spAutoFit/>
          </a:bodyPr>
          <a:lstStyle>
            <a:lvl1pPr marL="0" indent="0">
              <a:buNone/>
              <a:defRPr lang="zh-CN" altLang="en-US" sz="1600" dirty="0" smtClean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defRPr>
            </a:lvl1pPr>
          </a:lstStyle>
          <a:p>
            <a:pPr marL="0" lvl="0">
              <a:lnSpc>
                <a:spcPct val="200000"/>
              </a:lnSpc>
            </a:pPr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441253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结束页参考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6"/>
          <p:cNvSpPr>
            <a:spLocks noChangeArrowheads="1"/>
          </p:cNvSpPr>
          <p:nvPr userDrawn="1"/>
        </p:nvSpPr>
        <p:spPr bwMode="auto">
          <a:xfrm>
            <a:off x="3233677" y="3614990"/>
            <a:ext cx="5724644" cy="9787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zh-CN" altLang="en-US" sz="48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心系托付，一路广发</a:t>
            </a:r>
          </a:p>
        </p:txBody>
      </p:sp>
      <p:pic>
        <p:nvPicPr>
          <p:cNvPr id="11" name="Picture 3" descr="C:\Users\Administrator\Desktop\ppt封底0-01.jpg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1"/>
            <a:ext cx="12192000" cy="6862032"/>
          </a:xfrm>
          <a:prstGeom prst="rect">
            <a:avLst/>
          </a:prstGeom>
          <a:noFill/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635" y="2655341"/>
            <a:ext cx="5864364" cy="789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179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模板内页范式-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1907" y="233578"/>
            <a:ext cx="10311275" cy="591407"/>
          </a:xfrm>
        </p:spPr>
        <p:txBody>
          <a:bodyPr>
            <a:normAutofit/>
          </a:bodyPr>
          <a:lstStyle>
            <a:lvl1pPr>
              <a:defRPr lang="zh-CN" altLang="en-US" sz="2800" b="1" kern="1200" dirty="0">
                <a:solidFill>
                  <a:srgbClr val="4F81BD">
                    <a:lumMod val="75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ctr">
              <a:defRPr/>
            </a:lvl1pPr>
          </a:lstStyle>
          <a:p>
            <a:fld id="{0C913308-F349-4B6D-A68A-DD1791B4A57B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13564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模板内页范式-纯白（谨慎使用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92301BE8-2934-4802-B053-0D125B425CDE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2026/5/28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>
          <a:xfrm>
            <a:off x="4559829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ea typeface="楷体" panose="02010609060101010101" pitchFamily="49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319" y="465119"/>
            <a:ext cx="2703583" cy="36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574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1109165" y="251509"/>
            <a:ext cx="10311275" cy="5914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ea typeface="楷体" panose="02010609060101010101" pitchFamily="49" charset="-122"/>
              </a:defRPr>
            </a:lvl1pPr>
          </a:lstStyle>
          <a:p>
            <a:fld id="{92301BE8-2934-4802-B053-0D125B425CDE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2026/5/28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559829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ea typeface="楷体" panose="02010609060101010101" pitchFamily="49" charset="-122"/>
              </a:defRPr>
            </a:lvl1pPr>
          </a:lstStyle>
          <a:p>
            <a:fld id="{0C913308-F349-4B6D-A68A-DD1791B4A57B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1497" y="6268934"/>
            <a:ext cx="1258939" cy="324863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587375" y="878776"/>
            <a:ext cx="9221643" cy="59377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solidFill>
                <a:srgbClr val="4F81BD">
                  <a:lumMod val="50000"/>
                </a:srgbClr>
              </a:solidFill>
              <a:ea typeface="楷体" panose="02010609060101010101" pitchFamily="49" charset="-122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9961372" y="878773"/>
            <a:ext cx="1621029" cy="59379"/>
          </a:xfrm>
          <a:prstGeom prst="rect">
            <a:avLst/>
          </a:prstGeom>
          <a:solidFill>
            <a:srgbClr val="E838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solidFill>
                <a:srgbClr val="E4551A"/>
              </a:solidFill>
              <a:ea typeface="楷体" panose="02010609060101010101" pitchFamily="49" charset="-122"/>
            </a:endParaRPr>
          </a:p>
        </p:txBody>
      </p:sp>
      <p:sp>
        <p:nvSpPr>
          <p:cNvPr id="30" name="矩形 29"/>
          <p:cNvSpPr/>
          <p:nvPr userDrawn="1"/>
        </p:nvSpPr>
        <p:spPr>
          <a:xfrm>
            <a:off x="12192000" y="397009"/>
            <a:ext cx="1188000" cy="6324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1. 页面主标题：微软雅黑 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28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号 加粗 蓝色（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R55 G96 B146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</a:t>
            </a: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just"/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just"/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2. 内文一级标题：推荐使用黑体  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16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号  黑色（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R0 G0 B0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），一级标题使用“项目符号”中的钻石型符号，钻石型颜色为橙色（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R247 G150 B70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</a:t>
            </a: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just"/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3. 内文二级标题：推荐使用宋体  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14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号  黑色（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R0 G0 B0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），二级标题使用“项目符号”中的小圆型符号，小圆型颜色为橙色（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R247 G150 B70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</a:t>
            </a: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4. 内文文字：推荐使用宋体  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14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号  黑色（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R0 G0 B0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），正文使用“项目符号”中的小圆型符号，小圆型颜色为橙色（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R247 G150 B70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），在二级标题下使用时，可不用符号或使用其他符号</a:t>
            </a: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. 一二级标题、内文文字进行提示和强调时，推荐使用加粗或变更颜色，推荐使用橙色（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R247 G150 B70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</a:t>
            </a: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just"/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所有备注中文为宋体，英文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Time New Roman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号，黑色（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G0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B0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</a:t>
            </a:r>
          </a:p>
        </p:txBody>
      </p:sp>
      <p:sp>
        <p:nvSpPr>
          <p:cNvPr id="49" name="矩形 48"/>
          <p:cNvSpPr/>
          <p:nvPr userDrawn="1"/>
        </p:nvSpPr>
        <p:spPr>
          <a:xfrm>
            <a:off x="-971986" y="478350"/>
            <a:ext cx="971985" cy="364565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0" name="文本框 49"/>
          <p:cNvSpPr txBox="1"/>
          <p:nvPr userDrawn="1"/>
        </p:nvSpPr>
        <p:spPr>
          <a:xfrm>
            <a:off x="-1003861" y="537860"/>
            <a:ext cx="1129295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R68 G114 B169</a:t>
            </a:r>
            <a:endParaRPr lang="zh-CN" altLang="en-US" sz="105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1" name="矩形 50"/>
          <p:cNvSpPr/>
          <p:nvPr userDrawn="1"/>
        </p:nvSpPr>
        <p:spPr>
          <a:xfrm>
            <a:off x="-971986" y="1108551"/>
            <a:ext cx="971986" cy="364565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2" name="文本框 51"/>
          <p:cNvSpPr txBox="1"/>
          <p:nvPr userDrawn="1"/>
        </p:nvSpPr>
        <p:spPr>
          <a:xfrm>
            <a:off x="-1003862" y="1161424"/>
            <a:ext cx="1101487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R79 G129 B189</a:t>
            </a:r>
            <a:endParaRPr lang="zh-CN" altLang="en-US" sz="105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3" name="文本框 52"/>
          <p:cNvSpPr txBox="1"/>
          <p:nvPr userDrawn="1"/>
        </p:nvSpPr>
        <p:spPr>
          <a:xfrm>
            <a:off x="-852504" y="115578"/>
            <a:ext cx="7814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楷体" panose="02010609060101010101" pitchFamily="49" charset="-122"/>
                <a:ea typeface="楷体" panose="02010609060101010101" pitchFamily="49" charset="-122"/>
              </a:rPr>
              <a:t>参考配色</a:t>
            </a:r>
          </a:p>
        </p:txBody>
      </p:sp>
      <p:sp>
        <p:nvSpPr>
          <p:cNvPr id="54" name="矩形 53"/>
          <p:cNvSpPr/>
          <p:nvPr userDrawn="1"/>
        </p:nvSpPr>
        <p:spPr>
          <a:xfrm>
            <a:off x="-971986" y="1738752"/>
            <a:ext cx="971986" cy="3645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5" name="文本框 54"/>
          <p:cNvSpPr txBox="1"/>
          <p:nvPr userDrawn="1"/>
        </p:nvSpPr>
        <p:spPr>
          <a:xfrm>
            <a:off x="-1034147" y="1805388"/>
            <a:ext cx="11898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楷体" panose="02010609060101010101" pitchFamily="49" charset="-122"/>
                <a:ea typeface="楷体" panose="02010609060101010101" pitchFamily="49" charset="-122"/>
              </a:rPr>
              <a:t>R189 G205 B229</a:t>
            </a:r>
            <a:endParaRPr lang="zh-CN" altLang="en-US" sz="105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6" name="矩形 55"/>
          <p:cNvSpPr/>
          <p:nvPr userDrawn="1"/>
        </p:nvSpPr>
        <p:spPr>
          <a:xfrm>
            <a:off x="-971986" y="2369203"/>
            <a:ext cx="971986" cy="364565"/>
          </a:xfrm>
          <a:prstGeom prst="rect">
            <a:avLst/>
          </a:prstGeom>
          <a:solidFill>
            <a:srgbClr val="E838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7" name="文本框 56"/>
          <p:cNvSpPr txBox="1"/>
          <p:nvPr userDrawn="1"/>
        </p:nvSpPr>
        <p:spPr>
          <a:xfrm>
            <a:off x="-879357" y="2378145"/>
            <a:ext cx="8802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R232 G56 B13</a:t>
            </a:r>
          </a:p>
          <a:p>
            <a:r>
              <a:rPr lang="zh-CN" altLang="en-US" sz="8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（</a:t>
            </a:r>
            <a:r>
              <a:rPr lang="en-US" altLang="zh-CN" sz="8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VI</a:t>
            </a:r>
            <a:r>
              <a:rPr lang="zh-CN" altLang="en-US" sz="8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标准色）</a:t>
            </a:r>
          </a:p>
        </p:txBody>
      </p:sp>
      <p:sp>
        <p:nvSpPr>
          <p:cNvPr id="58" name="矩形 57"/>
          <p:cNvSpPr/>
          <p:nvPr userDrawn="1"/>
        </p:nvSpPr>
        <p:spPr>
          <a:xfrm>
            <a:off x="-971986" y="3001540"/>
            <a:ext cx="971986" cy="364565"/>
          </a:xfrm>
          <a:prstGeom prst="rect">
            <a:avLst/>
          </a:prstGeom>
          <a:solidFill>
            <a:srgbClr val="F796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9" name="文本框 58"/>
          <p:cNvSpPr txBox="1"/>
          <p:nvPr userDrawn="1"/>
        </p:nvSpPr>
        <p:spPr>
          <a:xfrm>
            <a:off x="-1034147" y="3052277"/>
            <a:ext cx="1098143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R247 G150 B70</a:t>
            </a:r>
            <a:endParaRPr lang="zh-CN" altLang="en-US" sz="105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0" name="矩形 59"/>
          <p:cNvSpPr/>
          <p:nvPr userDrawn="1"/>
        </p:nvSpPr>
        <p:spPr>
          <a:xfrm>
            <a:off x="-971987" y="3629354"/>
            <a:ext cx="971985" cy="364565"/>
          </a:xfrm>
          <a:prstGeom prst="rect">
            <a:avLst/>
          </a:prstGeom>
          <a:solidFill>
            <a:srgbClr val="FDBE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1" name="文本框 60"/>
          <p:cNvSpPr txBox="1"/>
          <p:nvPr userDrawn="1"/>
        </p:nvSpPr>
        <p:spPr>
          <a:xfrm>
            <a:off x="-1034147" y="3684614"/>
            <a:ext cx="1125723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楷体" panose="02010609060101010101" pitchFamily="49" charset="-122"/>
                <a:ea typeface="楷体" panose="02010609060101010101" pitchFamily="49" charset="-122"/>
              </a:rPr>
              <a:t>R253 G190 B148</a:t>
            </a:r>
            <a:endParaRPr lang="zh-CN" altLang="en-US" sz="105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2" name="矩形 61"/>
          <p:cNvSpPr/>
          <p:nvPr userDrawn="1"/>
        </p:nvSpPr>
        <p:spPr>
          <a:xfrm>
            <a:off x="-971987" y="4884982"/>
            <a:ext cx="971987" cy="36456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3" name="文本框 62"/>
          <p:cNvSpPr txBox="1"/>
          <p:nvPr userDrawn="1"/>
        </p:nvSpPr>
        <p:spPr>
          <a:xfrm>
            <a:off x="-1049323" y="4940242"/>
            <a:ext cx="1156073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R166 G166 B166</a:t>
            </a:r>
            <a:endParaRPr lang="zh-CN" altLang="en-US" sz="105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4" name="矩形 63"/>
          <p:cNvSpPr/>
          <p:nvPr userDrawn="1"/>
        </p:nvSpPr>
        <p:spPr>
          <a:xfrm>
            <a:off x="-971987" y="5519956"/>
            <a:ext cx="971985" cy="3645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5" name="文本框 64"/>
          <p:cNvSpPr txBox="1"/>
          <p:nvPr userDrawn="1"/>
        </p:nvSpPr>
        <p:spPr>
          <a:xfrm>
            <a:off x="-1034147" y="5568783"/>
            <a:ext cx="1144773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楷体" panose="02010609060101010101" pitchFamily="49" charset="-122"/>
                <a:ea typeface="楷体" panose="02010609060101010101" pitchFamily="49" charset="-122"/>
              </a:rPr>
              <a:t>R217 G217 B217</a:t>
            </a:r>
            <a:endParaRPr lang="zh-CN" altLang="en-US" sz="105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6" name="矩形 65"/>
          <p:cNvSpPr/>
          <p:nvPr userDrawn="1"/>
        </p:nvSpPr>
        <p:spPr>
          <a:xfrm>
            <a:off x="-971987" y="4257168"/>
            <a:ext cx="971987" cy="36456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bg1">
                  <a:lumMod val="5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7" name="文本框 66"/>
          <p:cNvSpPr txBox="1"/>
          <p:nvPr userDrawn="1"/>
        </p:nvSpPr>
        <p:spPr>
          <a:xfrm>
            <a:off x="-1043695" y="4312428"/>
            <a:ext cx="1144818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R127 G127 B127</a:t>
            </a:r>
            <a:endParaRPr lang="zh-CN" altLang="en-US" sz="105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247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楷体" panose="02010609060101010101" pitchFamily="49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楷体" panose="02010609060101010101" pitchFamily="49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楷体" panose="02010609060101010101" pitchFamily="49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楷体" panose="02010609060101010101" pitchFamily="49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楷体" panose="02010609060101010101" pitchFamily="49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5"/>
          <p:cNvSpPr>
            <a:spLocks noGrp="1"/>
          </p:cNvSpPr>
          <p:nvPr>
            <p:ph sz="quarter" idx="10"/>
          </p:nvPr>
        </p:nvSpPr>
        <p:spPr>
          <a:xfrm>
            <a:off x="574487" y="2916801"/>
            <a:ext cx="11100062" cy="1336222"/>
          </a:xfrm>
        </p:spPr>
        <p:txBody>
          <a:bodyPr/>
          <a:lstStyle/>
          <a:p>
            <a:r>
              <a:rPr lang="zh-CN" altLang="en-US" sz="4000" dirty="0"/>
              <a:t>A股成长</a:t>
            </a:r>
            <a:r>
              <a:rPr lang="en-US" altLang="zh-CN" sz="4000" dirty="0"/>
              <a:t>—</a:t>
            </a:r>
            <a:r>
              <a:rPr lang="zh-CN" altLang="en-US" sz="4000" dirty="0"/>
              <a:t>价值风格轮动多因子模型探究</a:t>
            </a:r>
            <a:endParaRPr lang="zh-CN" altLang="en-US" sz="40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F900B63-504A-D5C8-4C0F-10FEBE2F8233}"/>
              </a:ext>
            </a:extLst>
          </p:cNvPr>
          <p:cNvSpPr txBox="1"/>
          <p:nvPr/>
        </p:nvSpPr>
        <p:spPr>
          <a:xfrm>
            <a:off x="758761" y="3769419"/>
            <a:ext cx="1615827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800" dirty="0">
                <a:solidFill>
                  <a:srgbClr val="FFFFFF">
                    <a:alpha val="90000"/>
                  </a:srgbClr>
                </a:solidFill>
                <a:latin typeface="Arial"/>
                <a:ea typeface="Microsoft YaHei"/>
                <a:cs typeface="Arial"/>
              </a:rPr>
              <a:t>汇报人：张诗媛</a:t>
            </a:r>
            <a:endParaRPr lang="zh-CN" sz="1800" dirty="0">
              <a:solidFill>
                <a:srgbClr val="FFFFFF">
                  <a:alpha val="90000"/>
                </a:srgbClr>
              </a:solidFill>
              <a:latin typeface="Arial"/>
              <a:ea typeface="Microsoft YaHei"/>
              <a:cs typeface="Arial"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72A96115-92F9-9AC3-386F-16A0076F5022}"/>
              </a:ext>
            </a:extLst>
          </p:cNvPr>
          <p:cNvSpPr txBox="1"/>
          <p:nvPr/>
        </p:nvSpPr>
        <p:spPr>
          <a:xfrm>
            <a:off x="758761" y="4135179"/>
            <a:ext cx="1211870" cy="2077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FFFF">
                    <a:alpha val="75000"/>
                  </a:srgbClr>
                </a:solidFill>
                <a:latin typeface="Arial"/>
                <a:ea typeface="Microsoft YaHei"/>
                <a:cs typeface="Arial"/>
              </a:rPr>
              <a:t>指导老师：</a:t>
            </a:r>
            <a:r>
              <a:rPr lang="zh-CN" altLang="en-US" sz="1350" dirty="0">
                <a:solidFill>
                  <a:srgbClr val="FFFFFF">
                    <a:alpha val="75000"/>
                  </a:srgbClr>
                </a:solidFill>
                <a:latin typeface="Arial"/>
                <a:ea typeface="Microsoft YaHei"/>
                <a:cs typeface="Arial"/>
              </a:rPr>
              <a:t>刘璐</a:t>
            </a:r>
            <a:endParaRPr lang="zh-CN" sz="1350" dirty="0">
              <a:solidFill>
                <a:srgbClr val="FFFFFF">
                  <a:alpha val="75000"/>
                </a:srgbClr>
              </a:solidFill>
              <a:latin typeface="Arial"/>
              <a:ea typeface="Microsoft YaHei"/>
              <a:cs typeface="Arial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E1521E5B-CB5F-B1D8-A14D-11370FAB6047}"/>
              </a:ext>
            </a:extLst>
          </p:cNvPr>
          <p:cNvGrpSpPr/>
          <p:nvPr/>
        </p:nvGrpSpPr>
        <p:grpSpPr>
          <a:xfrm>
            <a:off x="762571" y="5788111"/>
            <a:ext cx="1607820" cy="466970"/>
            <a:chOff x="937260" y="5252085"/>
            <a:chExt cx="1607820" cy="466970"/>
          </a:xfrm>
        </p:grpSpPr>
        <p:sp>
          <p:nvSpPr>
            <p:cNvPr id="5" name="TextBox 7">
              <a:extLst>
                <a:ext uri="{FF2B5EF4-FFF2-40B4-BE49-F238E27FC236}">
                  <a16:creationId xmlns:a16="http://schemas.microsoft.com/office/drawing/2014/main" id="{4BD83471-6E66-5EF4-8717-6EF2F431E68A}"/>
                </a:ext>
              </a:extLst>
            </p:cNvPr>
            <p:cNvSpPr txBox="1"/>
            <p:nvPr/>
          </p:nvSpPr>
          <p:spPr>
            <a:xfrm>
              <a:off x="937260" y="5252085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 val="60000"/>
                    </a:srgbClr>
                  </a:solidFill>
                  <a:latin typeface="Arial"/>
                  <a:ea typeface="Microsoft YaHei"/>
                  <a:cs typeface="Arial"/>
                </a:rPr>
                <a:t>广发基金量化支持部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C07BCD9C-1E67-8213-C7BE-21B09287A81B}"/>
                </a:ext>
              </a:extLst>
            </p:cNvPr>
            <p:cNvSpPr txBox="1"/>
            <p:nvPr/>
          </p:nvSpPr>
          <p:spPr>
            <a:xfrm>
              <a:off x="938212" y="5545931"/>
              <a:ext cx="993862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FFFFF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2026年</a:t>
              </a:r>
              <a:r>
                <a:rPr lang="en-US" altLang="zh-CN" sz="1125" dirty="0">
                  <a:solidFill>
                    <a:srgbClr val="FFFFFF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5</a:t>
              </a:r>
              <a:r>
                <a:rPr lang="zh-CN" sz="1125" dirty="0">
                  <a:solidFill>
                    <a:srgbClr val="FFFFFF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月2</a:t>
              </a:r>
              <a:r>
                <a:rPr lang="en-US" altLang="zh-CN" sz="1125" dirty="0">
                  <a:solidFill>
                    <a:srgbClr val="FFFFFF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5</a:t>
              </a:r>
              <a:r>
                <a:rPr lang="zh-CN" sz="1125" dirty="0">
                  <a:solidFill>
                    <a:srgbClr val="FFFFFF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日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研究框架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研究框架：从数据到信号到配置的完整链条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70000"/>
            <a:ext cx="5400000" cy="495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200" b="1" dirty="0">
                <a:solidFill>
                  <a:srgbClr val="4472A9"/>
                </a:solidFill>
                <a:latin typeface="Arial"/>
                <a:ea typeface="Microsoft YaHei"/>
              </a:rPr>
              <a:t>[宏观/量价/估值数据]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  ↓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[9大类别 470+候选因子]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[IC分析 + 经济意义筛 + 边际贡献测试]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  ↓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[23个核心因子]  →  [四层漏斗筛选]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  ↓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[W008_signal_binary（分类Binary投票）]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  ↓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[风格指数回测（Part5）]  ←→  [风险预算框架（Part6）]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10F0-DC0D-5FBF-F818-49D9D960C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F887EE-B372-E39D-D7E5-F0D3E97806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sv-SE" altLang="zh-CN" dirty="0"/>
              <a:t>Part 1  研究动机：风格分化的现实意义</a:t>
            </a:r>
            <a:endParaRPr lang="zh-CN" alt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4910717-5032-E6B0-B6B7-1A0E2066B960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7FDCAD41-34CC-667C-FADB-C425A87F8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A股风格年度差距超40个百分点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701E5753-113C-1C88-CCE3-41A319C7022E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30A169A1-C220-0130-98A3-4E2013B66C9A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F8502650-1715-2C78-CA45-4C7971940FE1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2063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456E729-E641-62C9-B170-737B910A2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522" y="2356519"/>
            <a:ext cx="3870478" cy="4158000"/>
          </a:xfrm>
          <a:prstGeom prst="rect">
            <a:avLst/>
          </a:prstGeom>
        </p:spPr>
      </p:pic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0999" y="295275"/>
            <a:ext cx="9490113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研究动机：成长与价值并非长期同涨同跌，风格差异最高年可形成显著收益分化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0000" y="782070"/>
            <a:ext cx="11430000" cy="11257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风格胜负较为均衡： 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17 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个样本年份中，成长占优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8 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年、价值占优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9 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年，说明市场并不存在单一风格长期稳定压制另一风格的特征。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年度分化足够大：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 成长与价值年度收益差的中位数约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13.5%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，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2020 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年出现最大差距，达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43.7%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，踩对风格往往接近踩对当年主线行情。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价值行情更分散： 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成长占优年份中，收益更多由头部高弹性股票贡献，</a:t>
            </a:r>
            <a:r>
              <a:rPr lang="tr-TR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P90 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收益均值约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78.9%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，明显高于中位数约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3.4%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；价值占优年份中，个股胜率均值约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60.0%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，高于成长占优年份的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51.6%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，说明价值行情通常体现为广谱修复，价值股整体具备一定抗跌能力。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E66EBB2-FD95-32ED-3BA8-F6A12C077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59" y="2356519"/>
            <a:ext cx="6154096" cy="4158000"/>
          </a:xfrm>
          <a:prstGeom prst="rect">
            <a:avLst/>
          </a:prstGeom>
        </p:spPr>
      </p:pic>
      <p:sp>
        <p:nvSpPr>
          <p:cNvPr id="18" name="SlideTitle">
            <a:extLst>
              <a:ext uri="{FF2B5EF4-FFF2-40B4-BE49-F238E27FC236}">
                <a16:creationId xmlns:a16="http://schemas.microsoft.com/office/drawing/2014/main" id="{CD17EDDB-F617-74F9-4EF9-33C61E3C46AA}"/>
              </a:ext>
            </a:extLst>
          </p:cNvPr>
          <p:cNvSpPr txBox="1"/>
          <p:nvPr/>
        </p:nvSpPr>
        <p:spPr>
          <a:xfrm>
            <a:off x="865732" y="1901171"/>
            <a:ext cx="5580366" cy="386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50000"/>
              </a:lnSpc>
            </a:pPr>
            <a:r>
              <a:rPr lang="zh-TW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图</a:t>
            </a:r>
            <a:r>
              <a:rPr lang="en-US" altLang="zh-CN" sz="1200" b="1" dirty="0">
                <a:solidFill>
                  <a:srgbClr val="2C3E50"/>
                </a:solidFill>
                <a:latin typeface="Arial"/>
                <a:ea typeface="Microsoft YaHei"/>
              </a:rPr>
              <a:t>1:</a:t>
            </a: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 成长</a:t>
            </a:r>
            <a:r>
              <a:rPr lang="en-US" altLang="zh-CN" sz="1200" b="1" dirty="0">
                <a:solidFill>
                  <a:srgbClr val="2C3E50"/>
                </a:solidFill>
                <a:latin typeface="Arial"/>
                <a:ea typeface="Microsoft YaHei"/>
              </a:rPr>
              <a:t>/</a:t>
            </a: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价值占优年份统计</a:t>
            </a:r>
            <a:endParaRPr lang="zh-CN" altLang="en-US" sz="1200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  <p:sp>
        <p:nvSpPr>
          <p:cNvPr id="19" name="SlideTitle">
            <a:extLst>
              <a:ext uri="{FF2B5EF4-FFF2-40B4-BE49-F238E27FC236}">
                <a16:creationId xmlns:a16="http://schemas.microsoft.com/office/drawing/2014/main" id="{00542959-2843-97B7-E8BD-A78ADBC09D93}"/>
              </a:ext>
            </a:extLst>
          </p:cNvPr>
          <p:cNvSpPr txBox="1"/>
          <p:nvPr/>
        </p:nvSpPr>
        <p:spPr>
          <a:xfrm>
            <a:off x="6649332" y="1901171"/>
            <a:ext cx="5580366" cy="386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50000"/>
              </a:lnSpc>
            </a:pPr>
            <a:r>
              <a:rPr lang="zh-TW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图</a:t>
            </a:r>
            <a:r>
              <a:rPr lang="en-US" altLang="zh-CN" sz="1200" b="1" dirty="0">
                <a:solidFill>
                  <a:srgbClr val="2C3E50"/>
                </a:solidFill>
                <a:latin typeface="Arial"/>
                <a:ea typeface="Microsoft YaHei"/>
              </a:rPr>
              <a:t>2:</a:t>
            </a: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zh-TW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成长</a:t>
            </a:r>
            <a:r>
              <a:rPr lang="en-US" altLang="zh-CN" sz="1200" b="1" dirty="0">
                <a:solidFill>
                  <a:srgbClr val="2C3E50"/>
                </a:solidFill>
                <a:latin typeface="Arial"/>
                <a:ea typeface="Microsoft YaHei"/>
              </a:rPr>
              <a:t>/</a:t>
            </a: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价值占优年份风格广度、强度分布</a:t>
            </a:r>
            <a:endParaRPr lang="zh-CN" altLang="en-US" sz="1200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C1633-8B6D-1317-1933-D5F74F99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6428259E-1382-CBF3-3DF6-9AF3005EAC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90E0FD9E-AE7E-13C4-92CB-273960FBE148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0BF73BC6-B2FB-747E-91CA-2D41A6AF5CBF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51BF0A0F-C95E-AEF6-78F8-04EAF277B7B3}"/>
              </a:ext>
            </a:extLst>
          </p:cNvPr>
          <p:cNvSpPr txBox="1"/>
          <p:nvPr/>
        </p:nvSpPr>
        <p:spPr>
          <a:xfrm>
            <a:off x="380999" y="295275"/>
            <a:ext cx="9490113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过往研究：过拟合程度高、参数</a:t>
            </a:r>
            <a:r>
              <a:rPr lang="zh-TW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寻优风险性大</a:t>
            </a:r>
            <a:endParaRPr lang="zh-CN" altLang="en-US" sz="2000" b="1" dirty="0">
              <a:solidFill>
                <a:srgbClr val="4472A9"/>
              </a:solidFill>
              <a:latin typeface="Arial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387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189AA-4D1B-9A1B-1BD2-158AEC546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86CC24A-6A82-9137-1596-EA59AC501C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zh-CN" altLang="en-US" dirty="0"/>
              <a:t>Part 2  理论框架：为什么成长价值会轮动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6D2E25FE-6A79-451D-D054-3E1D4720F706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91902122-AEBF-B215-F3D7-3ACF76992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DCF统一框架——两类股票对折现率的不同敏感性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97802751-3F07-BF54-24AE-9B4730BA53D4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C96DB7B3-2FAA-8ED4-9179-4E8CF7AD9487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45DC4A8F-CB6A-6149-86D6-BD843713A213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26855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作用逻辑整理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xx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sp>
        <p:nvSpPr>
          <p:cNvPr id="200" name="TB200"/>
          <p:cNvSpPr txBox="1"/>
          <p:nvPr/>
        </p:nvSpPr>
        <p:spPr>
          <a:xfrm>
            <a:off x="597569" y="1590675"/>
            <a:ext cx="2000000" cy="6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00" b="1" dirty="0">
                <a:solidFill>
                  <a:srgbClr val="FFFFFF"/>
                </a:solidFill>
                <a:latin typeface="Arial"/>
                <a:ea typeface="Microsoft YaHei"/>
              </a:rPr>
              <a:t>变量</a:t>
            </a:r>
          </a:p>
        </p:txBody>
      </p:sp>
      <p:sp>
        <p:nvSpPr>
          <p:cNvPr id="201" name="TB201"/>
          <p:cNvSpPr txBox="1"/>
          <p:nvPr/>
        </p:nvSpPr>
        <p:spPr>
          <a:xfrm>
            <a:off x="2597569" y="1590675"/>
            <a:ext cx="2500000" cy="6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00" b="1" dirty="0">
                <a:solidFill>
                  <a:srgbClr val="FFFFFF"/>
                </a:solidFill>
                <a:latin typeface="Arial"/>
                <a:ea typeface="Microsoft YaHei"/>
              </a:rPr>
              <a:t>经济含义</a:t>
            </a:r>
          </a:p>
        </p:txBody>
      </p:sp>
      <p:sp>
        <p:nvSpPr>
          <p:cNvPr id="202" name="TB202"/>
          <p:cNvSpPr txBox="1"/>
          <p:nvPr/>
        </p:nvSpPr>
        <p:spPr>
          <a:xfrm>
            <a:off x="5097569" y="1590675"/>
            <a:ext cx="3000000" cy="6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00" b="1" dirty="0">
                <a:solidFill>
                  <a:srgbClr val="FFFFFF"/>
                </a:solidFill>
                <a:latin typeface="Arial"/>
                <a:ea typeface="Microsoft YaHei"/>
              </a:rPr>
              <a:t>成长/价值影响</a:t>
            </a:r>
          </a:p>
        </p:txBody>
      </p:sp>
      <p:sp>
        <p:nvSpPr>
          <p:cNvPr id="203" name="TB203"/>
          <p:cNvSpPr txBox="1"/>
          <p:nvPr/>
        </p:nvSpPr>
        <p:spPr>
          <a:xfrm>
            <a:off x="8097569" y="1590675"/>
            <a:ext cx="3500000" cy="6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00" b="1" dirty="0">
                <a:solidFill>
                  <a:srgbClr val="FFFFFF"/>
                </a:solidFill>
                <a:latin typeface="Arial"/>
                <a:ea typeface="Microsoft YaHei"/>
              </a:rPr>
              <a:t>对应因子类别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597569" y="1590675"/>
            <a:ext cx="2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r（折现率/利率）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2597569" y="1590675"/>
            <a:ext cx="2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未来现金流时间价值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5097569" y="1590675"/>
            <a:ext cx="3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利率↑→成长估值↓更多</a:t>
            </a:r>
          </a:p>
        </p:txBody>
      </p:sp>
      <p:sp>
        <p:nvSpPr>
          <p:cNvPr id="213" name="TB213"/>
          <p:cNvSpPr txBox="1"/>
          <p:nvPr/>
        </p:nvSpPr>
        <p:spPr>
          <a:xfrm>
            <a:off x="8097569" y="1590675"/>
            <a:ext cx="3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I类（利率）、D类（信用）</a:t>
            </a:r>
          </a:p>
        </p:txBody>
      </p:sp>
      <p:sp>
        <p:nvSpPr>
          <p:cNvPr id="214" name="TB214"/>
          <p:cNvSpPr txBox="1"/>
          <p:nvPr/>
        </p:nvSpPr>
        <p:spPr>
          <a:xfrm>
            <a:off x="597569" y="2320675"/>
            <a:ext cx="2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g（增长预期）</a:t>
            </a:r>
          </a:p>
        </p:txBody>
      </p:sp>
      <p:sp>
        <p:nvSpPr>
          <p:cNvPr id="215" name="TB215"/>
          <p:cNvSpPr txBox="1"/>
          <p:nvPr/>
        </p:nvSpPr>
        <p:spPr>
          <a:xfrm>
            <a:off x="2597569" y="2320675"/>
            <a:ext cx="2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Terminal Value增速</a:t>
            </a:r>
          </a:p>
        </p:txBody>
      </p:sp>
      <p:sp>
        <p:nvSpPr>
          <p:cNvPr id="216" name="TB216"/>
          <p:cNvSpPr txBox="1"/>
          <p:nvPr/>
        </p:nvSpPr>
        <p:spPr>
          <a:xfrm>
            <a:off x="5097569" y="2320675"/>
            <a:ext cx="3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景气↑→成长Terminal Value↑</a:t>
            </a:r>
          </a:p>
        </p:txBody>
      </p:sp>
      <p:sp>
        <p:nvSpPr>
          <p:cNvPr id="217" name="TB217"/>
          <p:cNvSpPr txBox="1"/>
          <p:nvPr/>
        </p:nvSpPr>
        <p:spPr>
          <a:xfrm>
            <a:off x="8097569" y="2320675"/>
            <a:ext cx="3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G类（PMI/贷款/出口）</a:t>
            </a:r>
          </a:p>
        </p:txBody>
      </p:sp>
      <p:sp>
        <p:nvSpPr>
          <p:cNvPr id="218" name="TB218"/>
          <p:cNvSpPr txBox="1"/>
          <p:nvPr/>
        </p:nvSpPr>
        <p:spPr>
          <a:xfrm>
            <a:off x="597569" y="3050675"/>
            <a:ext cx="2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CF（当期盈利）</a:t>
            </a:r>
          </a:p>
        </p:txBody>
      </p:sp>
      <p:sp>
        <p:nvSpPr>
          <p:cNvPr id="219" name="TB219"/>
          <p:cNvSpPr txBox="1"/>
          <p:nvPr/>
        </p:nvSpPr>
        <p:spPr>
          <a:xfrm>
            <a:off x="2597569" y="3050675"/>
            <a:ext cx="2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近期现金流实现</a:t>
            </a:r>
          </a:p>
        </p:txBody>
      </p:sp>
      <p:sp>
        <p:nvSpPr>
          <p:cNvPr id="220" name="TB220"/>
          <p:cNvSpPr txBox="1"/>
          <p:nvPr/>
        </p:nvSpPr>
        <p:spPr>
          <a:xfrm>
            <a:off x="5097569" y="3050675"/>
            <a:ext cx="3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盈利兑现↑→价值占优</a:t>
            </a:r>
          </a:p>
        </p:txBody>
      </p:sp>
      <p:sp>
        <p:nvSpPr>
          <p:cNvPr id="221" name="TB221"/>
          <p:cNvSpPr txBox="1"/>
          <p:nvPr/>
        </p:nvSpPr>
        <p:spPr>
          <a:xfrm>
            <a:off x="8097569" y="3050675"/>
            <a:ext cx="3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P类（ROE/利润）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597569" y="3780675"/>
            <a:ext cx="2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估值赔率</a:t>
            </a:r>
          </a:p>
        </p:txBody>
      </p:sp>
      <p:sp>
        <p:nvSpPr>
          <p:cNvPr id="223" name="TB223"/>
          <p:cNvSpPr txBox="1"/>
          <p:nvPr/>
        </p:nvSpPr>
        <p:spPr>
          <a:xfrm>
            <a:off x="2597569" y="3780675"/>
            <a:ext cx="2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PE/PB分位数</a:t>
            </a:r>
          </a:p>
        </p:txBody>
      </p:sp>
      <p:sp>
        <p:nvSpPr>
          <p:cNvPr id="224" name="TB224"/>
          <p:cNvSpPr txBox="1"/>
          <p:nvPr/>
        </p:nvSpPr>
        <p:spPr>
          <a:xfrm>
            <a:off x="5097569" y="3780675"/>
            <a:ext cx="3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极端低估→反转概率↑</a:t>
            </a:r>
          </a:p>
        </p:txBody>
      </p:sp>
      <p:sp>
        <p:nvSpPr>
          <p:cNvPr id="225" name="TB225"/>
          <p:cNvSpPr txBox="1"/>
          <p:nvPr/>
        </p:nvSpPr>
        <p:spPr>
          <a:xfrm>
            <a:off x="8097569" y="3780675"/>
            <a:ext cx="3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V类（估值）</a:t>
            </a:r>
          </a:p>
        </p:txBody>
      </p:sp>
      <p:sp>
        <p:nvSpPr>
          <p:cNvPr id="226" name="TB226"/>
          <p:cNvSpPr txBox="1"/>
          <p:nvPr/>
        </p:nvSpPr>
        <p:spPr>
          <a:xfrm>
            <a:off x="597569" y="4510675"/>
            <a:ext cx="2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动量</a:t>
            </a:r>
          </a:p>
        </p:txBody>
      </p:sp>
      <p:sp>
        <p:nvSpPr>
          <p:cNvPr id="227" name="TB227"/>
          <p:cNvSpPr txBox="1"/>
          <p:nvPr/>
        </p:nvSpPr>
        <p:spPr>
          <a:xfrm>
            <a:off x="2597569" y="4510675"/>
            <a:ext cx="2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风格趋势延续</a:t>
            </a:r>
          </a:p>
        </p:txBody>
      </p:sp>
      <p:sp>
        <p:nvSpPr>
          <p:cNvPr id="228" name="TB228"/>
          <p:cNvSpPr txBox="1"/>
          <p:nvPr/>
        </p:nvSpPr>
        <p:spPr>
          <a:xfrm>
            <a:off x="5097569" y="4510675"/>
            <a:ext cx="3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短期趋势反馈</a:t>
            </a:r>
          </a:p>
        </p:txBody>
      </p:sp>
      <p:sp>
        <p:nvSpPr>
          <p:cNvPr id="229" name="TB229"/>
          <p:cNvSpPr txBox="1"/>
          <p:nvPr/>
        </p:nvSpPr>
        <p:spPr>
          <a:xfrm>
            <a:off x="8097569" y="4510675"/>
            <a:ext cx="3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V类（动量/强势股）</a:t>
            </a:r>
          </a:p>
        </p:txBody>
      </p:sp>
      <p:sp>
        <p:nvSpPr>
          <p:cNvPr id="230" name="TB230"/>
          <p:cNvSpPr txBox="1"/>
          <p:nvPr/>
        </p:nvSpPr>
        <p:spPr>
          <a:xfrm>
            <a:off x="597569" y="5240675"/>
            <a:ext cx="2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流动性</a:t>
            </a:r>
          </a:p>
        </p:txBody>
      </p:sp>
      <p:sp>
        <p:nvSpPr>
          <p:cNvPr id="231" name="TB231"/>
          <p:cNvSpPr txBox="1"/>
          <p:nvPr/>
        </p:nvSpPr>
        <p:spPr>
          <a:xfrm>
            <a:off x="2597569" y="5240675"/>
            <a:ext cx="2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风险偏好/资金供给</a:t>
            </a:r>
          </a:p>
        </p:txBody>
      </p:sp>
      <p:sp>
        <p:nvSpPr>
          <p:cNvPr id="232" name="TB232"/>
          <p:cNvSpPr txBox="1"/>
          <p:nvPr/>
        </p:nvSpPr>
        <p:spPr>
          <a:xfrm>
            <a:off x="5097569" y="5240675"/>
            <a:ext cx="3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风险偏好↑→成长弹性↑</a:t>
            </a:r>
          </a:p>
        </p:txBody>
      </p:sp>
      <p:sp>
        <p:nvSpPr>
          <p:cNvPr id="233" name="TB233"/>
          <p:cNvSpPr txBox="1"/>
          <p:nvPr/>
        </p:nvSpPr>
        <p:spPr>
          <a:xfrm>
            <a:off x="8097569" y="5240675"/>
            <a:ext cx="3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L类/C类（货币/资金）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3073173-E25F-A694-310C-124EF0469D2C}"/>
              </a:ext>
            </a:extLst>
          </p:cNvPr>
          <p:cNvSpPr/>
          <p:nvPr/>
        </p:nvSpPr>
        <p:spPr>
          <a:xfrm>
            <a:off x="381000" y="1250950"/>
            <a:ext cx="5470359" cy="285181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/>
              <a:t>研报因子整理表截图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029BD31-CF66-95FD-A1E3-EF84457E755E}"/>
              </a:ext>
            </a:extLst>
          </p:cNvPr>
          <p:cNvSpPr/>
          <p:nvPr/>
        </p:nvSpPr>
        <p:spPr>
          <a:xfrm>
            <a:off x="6067927" y="1244766"/>
            <a:ext cx="5742073" cy="285181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/>
              <a:t>追寻价值之路每年信息整理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DEF09F0-0D8D-C1B3-0805-CA9D939BEF17}"/>
              </a:ext>
            </a:extLst>
          </p:cNvPr>
          <p:cNvSpPr/>
          <p:nvPr/>
        </p:nvSpPr>
        <p:spPr>
          <a:xfrm>
            <a:off x="380000" y="4318332"/>
            <a:ext cx="11430000" cy="181576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/>
              <a:t>背景页里面的表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成长股和价值股的定义：不同</a:t>
            </a:r>
            <a:r>
              <a:rPr lang="zh-TW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久期现金流的资产</a:t>
            </a:r>
            <a:endParaRPr lang="zh-CN" altLang="en-US" sz="2000" b="1" dirty="0">
              <a:solidFill>
                <a:srgbClr val="4472A9"/>
              </a:solidFill>
              <a:latin typeface="Arial"/>
              <a:ea typeface="Microsoft YaHei"/>
            </a:endParaRP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9</a:t>
            </a:r>
          </a:p>
        </p:txBody>
      </p:sp>
      <p:sp>
        <p:nvSpPr>
          <p:cNvPr id="3" name="MLT200">
            <a:extLst>
              <a:ext uri="{FF2B5EF4-FFF2-40B4-BE49-F238E27FC236}">
                <a16:creationId xmlns:a16="http://schemas.microsoft.com/office/drawing/2014/main" id="{EF818DDE-7ADE-C195-D6BA-770B61CD03D3}"/>
              </a:ext>
            </a:extLst>
          </p:cNvPr>
          <p:cNvSpPr txBox="1"/>
          <p:nvPr/>
        </p:nvSpPr>
        <p:spPr>
          <a:xfrm>
            <a:off x="381000" y="1473456"/>
            <a:ext cx="5500000" cy="1706021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成长股：久期长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两阶段DCF公式：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V = CF1/(1+r) + CF2/(1+r)^2 + ... + TV/(1+r)^n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成长股特征（大权重在Terminal Value）：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对折现率r高度敏感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利率↓时估值大幅上升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利率↑时估值大幅下降</a:t>
            </a:r>
          </a:p>
        </p:txBody>
      </p:sp>
      <p:sp>
        <p:nvSpPr>
          <p:cNvPr id="4" name="MLT201">
            <a:extLst>
              <a:ext uri="{FF2B5EF4-FFF2-40B4-BE49-F238E27FC236}">
                <a16:creationId xmlns:a16="http://schemas.microsoft.com/office/drawing/2014/main" id="{79052EC8-C078-1EE0-4B16-25B1ABFB319A}"/>
              </a:ext>
            </a:extLst>
          </p:cNvPr>
          <p:cNvSpPr txBox="1"/>
          <p:nvPr/>
        </p:nvSpPr>
        <p:spPr>
          <a:xfrm>
            <a:off x="6200000" y="1473457"/>
            <a:ext cx="5400000" cy="1706021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价值股：久期短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价值股特征（大权重在近期现金流）：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对当期盈利高度敏感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ROE上升时估值提升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受利率影响相对较小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底部结论：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这个框架解释了为什么利率变化对成长股冲击更大，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而盈利改善对价值股更直接利好。</a:t>
            </a:r>
          </a:p>
        </p:txBody>
      </p:sp>
      <p:sp>
        <p:nvSpPr>
          <p:cNvPr id="5" name="SlideTitle">
            <a:extLst>
              <a:ext uri="{FF2B5EF4-FFF2-40B4-BE49-F238E27FC236}">
                <a16:creationId xmlns:a16="http://schemas.microsoft.com/office/drawing/2014/main" id="{91728F6B-484F-75E9-FC48-86ED06F523FF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成长股估值来自远期现金流，价值股来自近期盈利——这决定了对宏观变量的不同敏感性</a:t>
            </a:r>
          </a:p>
        </p:txBody>
      </p:sp>
      <p:sp>
        <p:nvSpPr>
          <p:cNvPr id="6" name="SlideTitle">
            <a:extLst>
              <a:ext uri="{FF2B5EF4-FFF2-40B4-BE49-F238E27FC236}">
                <a16:creationId xmlns:a16="http://schemas.microsoft.com/office/drawing/2014/main" id="{75D2E126-1EA4-2A9D-19C1-E66A8A5111BF}"/>
              </a:ext>
            </a:extLst>
          </p:cNvPr>
          <p:cNvSpPr txBox="1"/>
          <p:nvPr/>
        </p:nvSpPr>
        <p:spPr>
          <a:xfrm>
            <a:off x="380000" y="3482363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这里放公式框架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4D03A-DE0C-4A23-371B-48068327A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2FEBEDC4-E0ED-9B67-B598-A7342FB050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83342FF6-4731-4990-CB85-465B50224256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270BFA7B-8D0B-5BD5-36F2-5240F72F4C17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FD838A13-76B3-1B74-4ABD-8E0C4371821E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成长股和价值股的定义：不同</a:t>
            </a:r>
            <a:r>
              <a:rPr lang="zh-TW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久期现金流的资产</a:t>
            </a:r>
            <a:endParaRPr lang="zh-CN" altLang="en-US" sz="2000" b="1" dirty="0">
              <a:solidFill>
                <a:srgbClr val="4472A9"/>
              </a:solidFill>
              <a:latin typeface="Arial"/>
              <a:ea typeface="Microsoft YaHei"/>
            </a:endParaRP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66CBA330-908C-7C40-CB9E-A05189E31B54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9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599C249A-B78A-7AF2-7E87-2E33AE37155D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成长股估值来自远期现金流，价值股来自近期盈利——这决定了对宏观变量的不同敏感性</a:t>
            </a:r>
          </a:p>
        </p:txBody>
      </p:sp>
      <p:sp>
        <p:nvSpPr>
          <p:cNvPr id="200" name="MLT200">
            <a:extLst>
              <a:ext uri="{FF2B5EF4-FFF2-40B4-BE49-F238E27FC236}">
                <a16:creationId xmlns:a16="http://schemas.microsoft.com/office/drawing/2014/main" id="{54CE24F6-3A51-A263-DB90-7A2BF56B587A}"/>
              </a:ext>
            </a:extLst>
          </p:cNvPr>
          <p:cNvSpPr txBox="1"/>
          <p:nvPr/>
        </p:nvSpPr>
        <p:spPr>
          <a:xfrm>
            <a:off x="381000" y="1349999"/>
            <a:ext cx="5500000" cy="1706021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成长股：久期长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两阶段DCF公式：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V = CF1/(1+r) + CF2/(1+r)^2 + ... + TV/(1+r)^n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成长股特征（大权重在Terminal Value）：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对折现率r高度敏感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利率↓时估值大幅上升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利率↑时估值大幅下降</a:t>
            </a:r>
          </a:p>
        </p:txBody>
      </p:sp>
      <p:sp>
        <p:nvSpPr>
          <p:cNvPr id="201" name="MLT201">
            <a:extLst>
              <a:ext uri="{FF2B5EF4-FFF2-40B4-BE49-F238E27FC236}">
                <a16:creationId xmlns:a16="http://schemas.microsoft.com/office/drawing/2014/main" id="{3A360EC9-5445-996E-7F33-A7C3DD6CA280}"/>
              </a:ext>
            </a:extLst>
          </p:cNvPr>
          <p:cNvSpPr txBox="1"/>
          <p:nvPr/>
        </p:nvSpPr>
        <p:spPr>
          <a:xfrm>
            <a:off x="6200000" y="1350000"/>
            <a:ext cx="5400000" cy="1706021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价值股：久期短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价值股特征（大权重在近期现金流）：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对当期盈利高度敏感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ROE上升时估值提升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受利率影响相对较小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底部结论：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这个框架解释了为什么利率变化对成长股冲击更大，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而盈利改善对价值股更直接利好。</a:t>
            </a:r>
          </a:p>
        </p:txBody>
      </p:sp>
    </p:spTree>
    <p:extLst>
      <p:ext uri="{BB962C8B-B14F-4D97-AF65-F5344CB8AC3E}">
        <p14:creationId xmlns:p14="http://schemas.microsoft.com/office/powerpoint/2010/main" val="1477832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10F0-DC0D-5FBF-F818-49D9D960C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F887EE-B372-E39D-D7E5-F0D3E97806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sv-SE" altLang="zh-CN" dirty="0"/>
              <a:t>Part 3  因子体系：从470+到23个核心因子</a:t>
            </a:r>
            <a:endParaRPr lang="zh-CN" alt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4910717-5032-E6B0-B6B7-1A0E2066B960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7FDCAD41-34CC-667C-FADB-C425A87F8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9大类别470+候选因子 + state/event双挂载工程体系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701E5753-113C-1C88-CCE3-41A319C7022E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30A169A1-C220-0130-98A3-4E2013B66C9A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F8502650-1715-2C78-CA45-4C7971940FE1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2063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3 因子体系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12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470+候选因子、9大类别、完整工程体系——这是筛选有效信号的基础</a:t>
            </a:r>
          </a:p>
        </p:txBody>
      </p:sp>
      <p:sp>
        <p:nvSpPr>
          <p:cNvPr id="200" name="STAT200"/>
          <p:cNvSpPr/>
          <p:nvPr/>
        </p:nvSpPr>
        <p:spPr>
          <a:xfrm>
            <a:off x="381000" y="1370000"/>
            <a:ext cx="2700000" cy="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470+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候选因子</a:t>
            </a:r>
          </a:p>
        </p:txBody>
      </p:sp>
      <p:sp>
        <p:nvSpPr>
          <p:cNvPr id="201" name="STAT201"/>
          <p:cNvSpPr/>
          <p:nvPr/>
        </p:nvSpPr>
        <p:spPr>
          <a:xfrm>
            <a:off x="3181000" y="1370000"/>
            <a:ext cx="2700000" cy="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9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大经济类别</a:t>
            </a:r>
          </a:p>
        </p:txBody>
      </p:sp>
      <p:sp>
        <p:nvSpPr>
          <p:cNvPr id="202" name="STAT202"/>
          <p:cNvSpPr/>
          <p:nvPr/>
        </p:nvSpPr>
        <p:spPr>
          <a:xfrm>
            <a:off x="5981000" y="1370000"/>
            <a:ext cx="2700000" cy="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474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IC分析覆盖</a:t>
            </a:r>
          </a:p>
        </p:txBody>
      </p:sp>
      <p:sp>
        <p:nvSpPr>
          <p:cNvPr id="203" name="STAT203"/>
          <p:cNvSpPr/>
          <p:nvPr/>
        </p:nvSpPr>
        <p:spPr>
          <a:xfrm>
            <a:off x="8781000" y="1370000"/>
            <a:ext cx="2700000" cy="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494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回测汇总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381000" y="2450000"/>
            <a:ext cx="1300000" cy="5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类别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1800000" y="2450000"/>
            <a:ext cx="4200000" cy="5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代表因子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6200000" y="2450000"/>
            <a:ext cx="4200000" cy="5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经济逻辑</a:t>
            </a:r>
          </a:p>
        </p:txBody>
      </p:sp>
      <p:sp>
        <p:nvSpPr>
          <p:cNvPr id="220" name="TB220"/>
          <p:cNvSpPr txBox="1"/>
          <p:nvPr/>
        </p:nvSpPr>
        <p:spPr>
          <a:xfrm>
            <a:off x="381000" y="2950000"/>
            <a:ext cx="13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I</a:t>
            </a:r>
          </a:p>
        </p:txBody>
      </p:sp>
      <p:sp>
        <p:nvSpPr>
          <p:cNvPr id="221" name="TB221"/>
          <p:cNvSpPr txBox="1"/>
          <p:nvPr/>
        </p:nvSpPr>
        <p:spPr>
          <a:xfrm>
            <a:off x="1800000" y="295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十年国债、SHIBOR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6200000" y="295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折现率</a:t>
            </a:r>
          </a:p>
        </p:txBody>
      </p:sp>
      <p:sp>
        <p:nvSpPr>
          <p:cNvPr id="223" name="TB223"/>
          <p:cNvSpPr txBox="1"/>
          <p:nvPr/>
        </p:nvSpPr>
        <p:spPr>
          <a:xfrm>
            <a:off x="381000" y="3370000"/>
            <a:ext cx="13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G</a:t>
            </a:r>
          </a:p>
        </p:txBody>
      </p:sp>
      <p:sp>
        <p:nvSpPr>
          <p:cNvPr id="224" name="TB224"/>
          <p:cNvSpPr txBox="1"/>
          <p:nvPr/>
        </p:nvSpPr>
        <p:spPr>
          <a:xfrm>
            <a:off x="1800000" y="337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PMI、中长期贷款</a:t>
            </a:r>
          </a:p>
        </p:txBody>
      </p:sp>
      <p:sp>
        <p:nvSpPr>
          <p:cNvPr id="225" name="TB225"/>
          <p:cNvSpPr txBox="1"/>
          <p:nvPr/>
        </p:nvSpPr>
        <p:spPr>
          <a:xfrm>
            <a:off x="6200000" y="337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景气/增长</a:t>
            </a:r>
          </a:p>
        </p:txBody>
      </p:sp>
      <p:sp>
        <p:nvSpPr>
          <p:cNvPr id="226" name="TB226"/>
          <p:cNvSpPr txBox="1"/>
          <p:nvPr/>
        </p:nvSpPr>
        <p:spPr>
          <a:xfrm>
            <a:off x="381000" y="3790000"/>
            <a:ext cx="13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P</a:t>
            </a:r>
          </a:p>
        </p:txBody>
      </p:sp>
      <p:sp>
        <p:nvSpPr>
          <p:cNvPr id="227" name="TB227"/>
          <p:cNvSpPr txBox="1"/>
          <p:nvPr/>
        </p:nvSpPr>
        <p:spPr>
          <a:xfrm>
            <a:off x="1800000" y="379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CPI-PPI剪刀差</a:t>
            </a:r>
          </a:p>
        </p:txBody>
      </p:sp>
      <p:sp>
        <p:nvSpPr>
          <p:cNvPr id="228" name="TB228"/>
          <p:cNvSpPr txBox="1"/>
          <p:nvPr/>
        </p:nvSpPr>
        <p:spPr>
          <a:xfrm>
            <a:off x="6200000" y="379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利润分配</a:t>
            </a:r>
          </a:p>
        </p:txBody>
      </p:sp>
      <p:sp>
        <p:nvSpPr>
          <p:cNvPr id="229" name="TB229"/>
          <p:cNvSpPr txBox="1"/>
          <p:nvPr/>
        </p:nvSpPr>
        <p:spPr>
          <a:xfrm>
            <a:off x="381000" y="4210000"/>
            <a:ext cx="13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V</a:t>
            </a:r>
          </a:p>
        </p:txBody>
      </p:sp>
      <p:sp>
        <p:nvSpPr>
          <p:cNvPr id="230" name="TB230"/>
          <p:cNvSpPr txBox="1"/>
          <p:nvPr/>
        </p:nvSpPr>
        <p:spPr>
          <a:xfrm>
            <a:off x="1800000" y="421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强势股占比、动量差</a:t>
            </a:r>
          </a:p>
        </p:txBody>
      </p:sp>
      <p:sp>
        <p:nvSpPr>
          <p:cNvPr id="231" name="TB231"/>
          <p:cNvSpPr txBox="1"/>
          <p:nvPr/>
        </p:nvSpPr>
        <p:spPr>
          <a:xfrm>
            <a:off x="6200000" y="421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市场行为</a:t>
            </a:r>
          </a:p>
        </p:txBody>
      </p:sp>
      <p:sp>
        <p:nvSpPr>
          <p:cNvPr id="232" name="TB232"/>
          <p:cNvSpPr txBox="1"/>
          <p:nvPr/>
        </p:nvSpPr>
        <p:spPr>
          <a:xfrm>
            <a:off x="381000" y="4630000"/>
            <a:ext cx="13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D</a:t>
            </a:r>
          </a:p>
        </p:txBody>
      </p:sp>
      <p:sp>
        <p:nvSpPr>
          <p:cNvPr id="233" name="TB233"/>
          <p:cNvSpPr txBox="1"/>
          <p:nvPr/>
        </p:nvSpPr>
        <p:spPr>
          <a:xfrm>
            <a:off x="1800000" y="463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信用利差</a:t>
            </a:r>
          </a:p>
        </p:txBody>
      </p:sp>
      <p:sp>
        <p:nvSpPr>
          <p:cNvPr id="234" name="TB234"/>
          <p:cNvSpPr txBox="1"/>
          <p:nvPr/>
        </p:nvSpPr>
        <p:spPr>
          <a:xfrm>
            <a:off x="6200000" y="463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风险偏好</a:t>
            </a:r>
          </a:p>
        </p:txBody>
      </p:sp>
      <p:sp>
        <p:nvSpPr>
          <p:cNvPr id="235" name="TB235"/>
          <p:cNvSpPr txBox="1"/>
          <p:nvPr/>
        </p:nvSpPr>
        <p:spPr>
          <a:xfrm>
            <a:off x="381000" y="5050000"/>
            <a:ext cx="13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L</a:t>
            </a:r>
          </a:p>
        </p:txBody>
      </p:sp>
      <p:sp>
        <p:nvSpPr>
          <p:cNvPr id="236" name="TB236"/>
          <p:cNvSpPr txBox="1"/>
          <p:nvPr/>
        </p:nvSpPr>
        <p:spPr>
          <a:xfrm>
            <a:off x="1800000" y="505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DR007、M1-M2</a:t>
            </a:r>
          </a:p>
        </p:txBody>
      </p:sp>
      <p:sp>
        <p:nvSpPr>
          <p:cNvPr id="237" name="TB237"/>
          <p:cNvSpPr txBox="1"/>
          <p:nvPr/>
        </p:nvSpPr>
        <p:spPr>
          <a:xfrm>
            <a:off x="6200000" y="505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流动性</a:t>
            </a:r>
          </a:p>
        </p:txBody>
      </p:sp>
      <p:sp>
        <p:nvSpPr>
          <p:cNvPr id="238" name="TB238"/>
          <p:cNvSpPr txBox="1"/>
          <p:nvPr/>
        </p:nvSpPr>
        <p:spPr>
          <a:xfrm>
            <a:off x="381000" y="5470000"/>
            <a:ext cx="13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C</a:t>
            </a:r>
          </a:p>
        </p:txBody>
      </p:sp>
      <p:sp>
        <p:nvSpPr>
          <p:cNvPr id="239" name="TB239"/>
          <p:cNvSpPr txBox="1"/>
          <p:nvPr/>
        </p:nvSpPr>
        <p:spPr>
          <a:xfrm>
            <a:off x="1800000" y="547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换手率差</a:t>
            </a:r>
          </a:p>
        </p:txBody>
      </p:sp>
      <p:sp>
        <p:nvSpPr>
          <p:cNvPr id="240" name="TB240"/>
          <p:cNvSpPr txBox="1"/>
          <p:nvPr/>
        </p:nvSpPr>
        <p:spPr>
          <a:xfrm>
            <a:off x="6200000" y="547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量价</a:t>
            </a:r>
          </a:p>
        </p:txBody>
      </p:sp>
      <p:sp>
        <p:nvSpPr>
          <p:cNvPr id="241" name="TB241"/>
          <p:cNvSpPr txBox="1"/>
          <p:nvPr/>
        </p:nvSpPr>
        <p:spPr>
          <a:xfrm>
            <a:off x="381000" y="5890000"/>
            <a:ext cx="13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O</a:t>
            </a:r>
          </a:p>
        </p:txBody>
      </p:sp>
      <p:sp>
        <p:nvSpPr>
          <p:cNvPr id="242" name="TB242"/>
          <p:cNvSpPr txBox="1"/>
          <p:nvPr/>
        </p:nvSpPr>
        <p:spPr>
          <a:xfrm>
            <a:off x="1800000" y="589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出口PMI</a:t>
            </a:r>
          </a:p>
        </p:txBody>
      </p:sp>
      <p:sp>
        <p:nvSpPr>
          <p:cNvPr id="243" name="TB243"/>
          <p:cNvSpPr txBox="1"/>
          <p:nvPr/>
        </p:nvSpPr>
        <p:spPr>
          <a:xfrm>
            <a:off x="6200000" y="589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外需</a:t>
            </a:r>
          </a:p>
        </p:txBody>
      </p:sp>
      <p:sp>
        <p:nvSpPr>
          <p:cNvPr id="244" name="TB244"/>
          <p:cNvSpPr txBox="1"/>
          <p:nvPr/>
        </p:nvSpPr>
        <p:spPr>
          <a:xfrm>
            <a:off x="381000" y="6310000"/>
            <a:ext cx="13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F</a:t>
            </a:r>
          </a:p>
        </p:txBody>
      </p:sp>
      <p:sp>
        <p:nvSpPr>
          <p:cNvPr id="245" name="TB245"/>
          <p:cNvSpPr txBox="1"/>
          <p:nvPr/>
        </p:nvSpPr>
        <p:spPr>
          <a:xfrm>
            <a:off x="1800000" y="631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特殊/其他</a:t>
            </a:r>
          </a:p>
        </p:txBody>
      </p:sp>
      <p:sp>
        <p:nvSpPr>
          <p:cNvPr id="246" name="TB246"/>
          <p:cNvSpPr txBox="1"/>
          <p:nvPr/>
        </p:nvSpPr>
        <p:spPr>
          <a:xfrm>
            <a:off x="6200000" y="631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多元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3 因子体系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13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四层严格筛选：IC统计→经济意义→边际贡献，防止过拟合的核心机制</a:t>
            </a:r>
          </a:p>
        </p:txBody>
      </p:sp>
      <p:sp>
        <p:nvSpPr>
          <p:cNvPr id="200" name="TB200"/>
          <p:cNvSpPr txBox="1"/>
          <p:nvPr/>
        </p:nvSpPr>
        <p:spPr>
          <a:xfrm>
            <a:off x="381000" y="2000000"/>
            <a:ext cx="11000000" cy="38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50" b="1" dirty="0">
                <a:solidFill>
                  <a:srgbClr val="FFFFFF"/>
                </a:solidFill>
                <a:latin typeface="Arial"/>
                <a:ea typeface="Microsoft YaHei"/>
              </a:rPr>
              <a:t>470+ 候选因子 | 9大类别</a:t>
            </a:r>
          </a:p>
        </p:txBody>
      </p:sp>
      <p:sp>
        <p:nvSpPr>
          <p:cNvPr id="201" name="TB201"/>
          <p:cNvSpPr txBox="1"/>
          <p:nvPr/>
        </p:nvSpPr>
        <p:spPr>
          <a:xfrm>
            <a:off x="1381000" y="2500000"/>
            <a:ext cx="9000000" cy="380000"/>
          </a:xfrm>
          <a:prstGeom prst="rect">
            <a:avLst/>
          </a:prstGeom>
          <a:solidFill>
            <a:srgbClr val="5B84BD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50" b="1" dirty="0">
                <a:solidFill>
                  <a:srgbClr val="FFFFFF"/>
                </a:solidFill>
                <a:latin typeface="Arial"/>
                <a:ea typeface="Microsoft YaHei"/>
              </a:rPr>
              <a:t>~200个 通过负IC检查（nega_checked）</a:t>
            </a:r>
          </a:p>
        </p:txBody>
      </p:sp>
      <p:sp>
        <p:nvSpPr>
          <p:cNvPr id="202" name="TB202"/>
          <p:cNvSpPr txBox="1"/>
          <p:nvPr/>
        </p:nvSpPr>
        <p:spPr>
          <a:xfrm>
            <a:off x="2381000" y="3000000"/>
            <a:ext cx="7000000" cy="380000"/>
          </a:xfrm>
          <a:prstGeom prst="rect">
            <a:avLst/>
          </a:prstGeom>
          <a:solidFill>
            <a:srgbClr val="6B9CD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50" b="1" dirty="0">
                <a:solidFill>
                  <a:srgbClr val="FFFFFF"/>
                </a:solidFill>
                <a:latin typeface="Arial"/>
                <a:ea typeface="Microsoft YaHei"/>
              </a:rPr>
              <a:t>46个高分因子（IC打分≥3分，满分4分）</a:t>
            </a:r>
          </a:p>
        </p:txBody>
      </p:sp>
      <p:sp>
        <p:nvSpPr>
          <p:cNvPr id="203" name="TB203"/>
          <p:cNvSpPr txBox="1"/>
          <p:nvPr/>
        </p:nvSpPr>
        <p:spPr>
          <a:xfrm>
            <a:off x="3381000" y="3500000"/>
            <a:ext cx="5000000" cy="380000"/>
          </a:xfrm>
          <a:prstGeom prst="rect">
            <a:avLst/>
          </a:prstGeom>
          <a:solidFill>
            <a:srgbClr val="7BB4EC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50" b="1" dirty="0">
                <a:solidFill>
                  <a:srgbClr val="FFFFFF"/>
                </a:solidFill>
                <a:latin typeface="Arial"/>
                <a:ea typeface="Microsoft YaHei"/>
              </a:rPr>
              <a:t>23个 经济意义筛选通过</a:t>
            </a:r>
          </a:p>
        </p:txBody>
      </p:sp>
      <p:sp>
        <p:nvSpPr>
          <p:cNvPr id="204" name="TB204"/>
          <p:cNvSpPr txBox="1"/>
          <p:nvPr/>
        </p:nvSpPr>
        <p:spPr>
          <a:xfrm>
            <a:off x="4381000" y="4000000"/>
            <a:ext cx="3000000" cy="380000"/>
          </a:xfrm>
          <a:prstGeom prst="rect">
            <a:avLst/>
          </a:prstGeom>
          <a:solidFill>
            <a:srgbClr val="E8380D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50" b="1" dirty="0">
                <a:solidFill>
                  <a:srgbClr val="FFFFFF"/>
                </a:solidFill>
                <a:latin typeface="Arial"/>
                <a:ea typeface="Microsoft YaHei"/>
              </a:rPr>
              <a:t>9个 进入W008的底层因子</a:t>
            </a:r>
          </a:p>
        </p:txBody>
      </p:sp>
      <p:sp>
        <p:nvSpPr>
          <p:cNvPr id="210" name="MLT210"/>
          <p:cNvSpPr txBox="1"/>
          <p:nvPr/>
        </p:nvSpPr>
        <p:spPr>
          <a:xfrm>
            <a:off x="7500000" y="190000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00" b="1" dirty="0">
                <a:solidFill>
                  <a:srgbClr val="2C3E50"/>
                </a:solidFill>
                <a:latin typeface="Arial"/>
                <a:ea typeface="Microsoft YaHei"/>
              </a:rPr>
              <a:t>各层筛选条件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层1→2：负IC概率检查（&lt;50%）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层2→3：IC综合打分≥3分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    4维度各1分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层3→4：经济意义人工审核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层4→5：边际贡献测试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    加入后W008胜率&gt;现状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3 因子体系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14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对474个因子全量做IC分析，46个≥3分的高分因子分布在8个经济类别中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000000" cy="20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2C3E50"/>
                </a:solidFill>
                <a:latin typeface="Arial"/>
                <a:ea typeface="Microsoft YaHei"/>
              </a:rPr>
              <a:t>IC打分体系说明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IC打分体系（4分制）：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① 非正IC概率&lt;50%  → 1分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② 正IC概率&gt;50%    → 1分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③ Pearson IC方向正确 → 1分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④ Rank IC方向正确  → 1分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满分4分，≥3分认为因子有效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5700000" y="1350000"/>
            <a:ext cx="5700000" cy="2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00" b="1" dirty="0">
                <a:solidFill>
                  <a:srgbClr val="2C3E50"/>
                </a:solidFill>
                <a:latin typeface="Arial"/>
                <a:ea typeface="Microsoft YaHei"/>
              </a:rPr>
              <a:t>46个高分因子按类别分布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C033、C034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G001、G026、G027、G055、G056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I001、I002、I006、I007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P021、P035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V001、V128、V155、V167、V168、V201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F014、F023、F024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W003-W008组合信号</a:t>
            </a:r>
          </a:p>
        </p:txBody>
      </p:sp>
      <p:sp>
        <p:nvSpPr>
          <p:cNvPr id="202" name="PH202"/>
          <p:cNvSpPr/>
          <p:nvPr/>
        </p:nvSpPr>
        <p:spPr>
          <a:xfrm>
            <a:off x="381000" y="3600000"/>
            <a:ext cx="11430000" cy="2600000"/>
          </a:xfrm>
          <a:prstGeom prst="rect">
            <a:avLst/>
          </a:prstGeom>
          <a:solidFill>
            <a:srgbClr val="D9D9D9"/>
          </a:solidFill>
          <a:ln w="9525">
            <a:solidFill>
              <a:srgbClr val="AAAAAA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1000" dirty="0">
                <a:solidFill>
                  <a:srgbClr val="666666"/>
                </a:solidFill>
                <a:latin typeface="Arial"/>
                <a:ea typeface="Microsoft YaHei"/>
              </a:rPr>
              <a:t>待补图表：代表性Rolling IC图（I001/G001/V001）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3 因子体系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15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入选的9个因子横跨4个经济类别，相关性低——这是组合能带来增量信息的前提</a:t>
            </a:r>
          </a:p>
        </p:txBody>
      </p:sp>
      <p:pic>
        <p:nvPicPr>
          <p:cNvPr id="200" name="IMG2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50000"/>
            <a:ext cx="5500000" cy="2900000"/>
          </a:xfrm>
          <a:prstGeom prst="rect">
            <a:avLst/>
          </a:prstGeom>
        </p:spPr>
      </p:pic>
      <p:pic>
        <p:nvPicPr>
          <p:cNvPr id="201" name="IMG2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000" y="1350000"/>
            <a:ext cx="5500000" cy="2900000"/>
          </a:xfrm>
          <a:prstGeom prst="rect">
            <a:avLst/>
          </a:prstGeom>
        </p:spPr>
      </p:pic>
      <p:sp>
        <p:nvSpPr>
          <p:cNvPr id="202" name="MLT202"/>
          <p:cNvSpPr txBox="1"/>
          <p:nvPr/>
        </p:nvSpPr>
        <p:spPr>
          <a:xfrm>
            <a:off x="381000" y="4400000"/>
            <a:ext cx="11430000" cy="1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2C3E50"/>
                </a:solidFill>
                <a:latin typeface="Arial"/>
                <a:ea typeface="Microsoft YaHei"/>
              </a:rPr>
              <a:t>相关性筛选的意义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关键发现：W009加入高相关因子后月胜率从55.42%下降至51.77%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→ 证明相关性筛选有效：高相关因子带来重复信息，损伤而非增强组合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→ 入选的9个W008因子横跨4个经济类别（I/G/P/V），相关性低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→ 这是组合能带来增量信息的前提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10F0-DC0D-5FBF-F818-49D9D960C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F887EE-B372-E39D-D7E5-F0D3E97806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sv-SE" altLang="zh-CN" dirty="0"/>
              <a:t>Part 4  信号组合：W008的构建与迭代</a:t>
            </a:r>
            <a:endParaRPr lang="zh-CN" alt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4910717-5032-E6B0-B6B7-1A0E2066B960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7FDCAD41-34CC-667C-FADB-C425A87F8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分类Binary投票：每类信号独立表决，防止单类主导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701E5753-113C-1C88-CCE3-41A319C7022E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30A169A1-C220-0130-98A3-4E2013B66C9A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F8502650-1715-2C78-CA45-4C7971940FE1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20634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4 信号组合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17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分类Binary投票：每类经济信号独立表决，避免单类别信号支配组合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6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分类Binary投票设计示意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I组因子 binary → [+1/-1]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G组因子 binary → [+1/-1]  ─┐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P组因子 binary → [+1/-1]  ─┤→ 等权平均 → 连续信号 → 二值化 → W008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V组因子 binary → [+1/-1]  ─┘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说明：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每组取组内因子的二值化信号平均，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再对4组等权平均得到连续信号，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最后阈值二值化为+1（成长）/-1（价值）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6300000" y="1350000"/>
            <a:ext cx="53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2C3E50"/>
                </a:solidFill>
                <a:latin typeface="Arial"/>
                <a:ea typeface="Microsoft YaHei"/>
              </a:rPr>
              <a:t>设计优点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✓ 方向清晰：每组只贡献+1或-1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✓ 异常值鲁棒：单因子极端值影响有上限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✓ 可解释性：每组贡献来源透明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✓ 便于切换：只需改变各组权重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✓ 防止单类别信号支配：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4类等权，无主导类别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4 信号组合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18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W008使用4类9个互补因子——覆盖DCF框架的四条信息链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500000" cy="22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4472A9"/>
                </a:solidFill>
                <a:latin typeface="Arial"/>
                <a:ea typeface="Microsoft YaHei"/>
              </a:rPr>
              <a:t>I组（折现率）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I001 十年国债均线方向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I002 美国6M国债差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I004 SHIBOR均线方向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逻辑：利率压制成长久期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6481000" y="1350000"/>
            <a:ext cx="5500000" cy="22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2C7BB6"/>
                </a:solidFill>
                <a:latin typeface="Arial"/>
                <a:ea typeface="Microsoft YaHei"/>
              </a:rPr>
              <a:t>G组（景气）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G001 PMI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G002 中长期贷款余额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G005 出口预期差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逻辑：增长预期影响Terminal Value</a:t>
            </a:r>
          </a:p>
        </p:txBody>
      </p:sp>
      <p:sp>
        <p:nvSpPr>
          <p:cNvPr id="202" name="MLT202"/>
          <p:cNvSpPr txBox="1"/>
          <p:nvPr/>
        </p:nvSpPr>
        <p:spPr>
          <a:xfrm>
            <a:off x="381000" y="3750000"/>
            <a:ext cx="5500000" cy="22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E8380D"/>
                </a:solidFill>
                <a:latin typeface="Arial"/>
                <a:ea typeface="Microsoft YaHei"/>
              </a:rPr>
              <a:t>P组（利润）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P001 CPI-PPI剪刀差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逻辑：上下游利润分配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（利润向下游转移→消费价值股）</a:t>
            </a:r>
          </a:p>
        </p:txBody>
      </p:sp>
      <p:sp>
        <p:nvSpPr>
          <p:cNvPr id="203" name="MLT203"/>
          <p:cNvSpPr txBox="1"/>
          <p:nvPr/>
        </p:nvSpPr>
        <p:spPr>
          <a:xfrm>
            <a:off x="6481000" y="3750000"/>
            <a:ext cx="5500000" cy="22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28B463"/>
                </a:solidFill>
                <a:latin typeface="Arial"/>
                <a:ea typeface="Microsoft YaHei"/>
              </a:rPr>
              <a:t>V组（市场）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V001 强势股占比差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V002 20日动量差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逻辑：价格趋势确认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4 信号组合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19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6轮迭代，月胜率从~50%提升至55.42%——W009下降是反例，证明筛选框架有效</a:t>
            </a:r>
          </a:p>
        </p:txBody>
      </p:sp>
      <p:sp>
        <p:nvSpPr>
          <p:cNvPr id="200" name="PH200"/>
          <p:cNvSpPr/>
          <p:nvPr/>
        </p:nvSpPr>
        <p:spPr>
          <a:xfrm>
            <a:off x="381000" y="1350000"/>
            <a:ext cx="11430000" cy="2200000"/>
          </a:xfrm>
          <a:prstGeom prst="rect">
            <a:avLst/>
          </a:prstGeom>
          <a:solidFill>
            <a:srgbClr val="D9D9D9"/>
          </a:solidFill>
          <a:ln w="9525">
            <a:solidFill>
              <a:srgbClr val="AAAAAA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1000" dirty="0">
                <a:solidFill>
                  <a:srgbClr val="666666"/>
                </a:solidFill>
                <a:latin typeface="Arial"/>
                <a:ea typeface="Microsoft YaHei"/>
              </a:rPr>
              <a:t>待补图表：W003→W010版本月度胜率折线图（P0优先级）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381000" y="3750000"/>
            <a:ext cx="2500000" cy="4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版本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3000000" y="3750000"/>
            <a:ext cx="3400000" cy="4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主要改动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6500000" y="3750000"/>
            <a:ext cx="2900000" cy="4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月度胜率</a:t>
            </a:r>
          </a:p>
        </p:txBody>
      </p:sp>
      <p:sp>
        <p:nvSpPr>
          <p:cNvPr id="213" name="TB213"/>
          <p:cNvSpPr txBox="1"/>
          <p:nvPr/>
        </p:nvSpPr>
        <p:spPr>
          <a:xfrm>
            <a:off x="9500000" y="3750000"/>
            <a:ext cx="2000000" cy="4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20" name="TB220"/>
          <p:cNvSpPr txBox="1"/>
          <p:nvPr/>
        </p:nvSpPr>
        <p:spPr>
          <a:xfrm>
            <a:off x="381000" y="415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W003</a:t>
            </a:r>
          </a:p>
        </p:txBody>
      </p:sp>
      <p:sp>
        <p:nvSpPr>
          <p:cNvPr id="221" name="TB221"/>
          <p:cNvSpPr txBox="1"/>
          <p:nvPr/>
        </p:nvSpPr>
        <p:spPr>
          <a:xfrm>
            <a:off x="3000000" y="4150000"/>
            <a:ext cx="3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初代多因子分类投票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6500000" y="4150000"/>
            <a:ext cx="29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~50-53%</a:t>
            </a:r>
          </a:p>
        </p:txBody>
      </p:sp>
      <p:sp>
        <p:nvSpPr>
          <p:cNvPr id="223" name="TB223"/>
          <p:cNvSpPr txBox="1"/>
          <p:nvPr/>
        </p:nvSpPr>
        <p:spPr>
          <a:xfrm>
            <a:off x="9500000" y="415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24" name="TB224"/>
          <p:cNvSpPr txBox="1"/>
          <p:nvPr/>
        </p:nvSpPr>
        <p:spPr>
          <a:xfrm>
            <a:off x="381000" y="4540000"/>
            <a:ext cx="25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W005_binary</a:t>
            </a:r>
          </a:p>
        </p:txBody>
      </p:sp>
      <p:sp>
        <p:nvSpPr>
          <p:cNvPr id="225" name="TB225"/>
          <p:cNvSpPr txBox="1"/>
          <p:nvPr/>
        </p:nvSpPr>
        <p:spPr>
          <a:xfrm>
            <a:off x="3000000" y="4540000"/>
            <a:ext cx="34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首次分类binary投票</a:t>
            </a:r>
          </a:p>
        </p:txBody>
      </p:sp>
      <p:sp>
        <p:nvSpPr>
          <p:cNvPr id="226" name="TB226"/>
          <p:cNvSpPr txBox="1"/>
          <p:nvPr/>
        </p:nvSpPr>
        <p:spPr>
          <a:xfrm>
            <a:off x="6500000" y="4540000"/>
            <a:ext cx="29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55.21%</a:t>
            </a:r>
          </a:p>
        </p:txBody>
      </p:sp>
      <p:sp>
        <p:nvSpPr>
          <p:cNvPr id="227" name="TB227"/>
          <p:cNvSpPr txBox="1"/>
          <p:nvPr/>
        </p:nvSpPr>
        <p:spPr>
          <a:xfrm>
            <a:off x="9500000" y="4540000"/>
            <a:ext cx="20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28" name="TB228"/>
          <p:cNvSpPr txBox="1"/>
          <p:nvPr/>
        </p:nvSpPr>
        <p:spPr>
          <a:xfrm>
            <a:off x="381000" y="493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W006_binary</a:t>
            </a:r>
          </a:p>
        </p:txBody>
      </p:sp>
      <p:sp>
        <p:nvSpPr>
          <p:cNvPr id="229" name="TB229"/>
          <p:cNvSpPr txBox="1"/>
          <p:nvPr/>
        </p:nvSpPr>
        <p:spPr>
          <a:xfrm>
            <a:off x="3000000" y="4930000"/>
            <a:ext cx="3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优化组合逻辑</a:t>
            </a:r>
          </a:p>
        </p:txBody>
      </p:sp>
      <p:sp>
        <p:nvSpPr>
          <p:cNvPr id="230" name="TB230"/>
          <p:cNvSpPr txBox="1"/>
          <p:nvPr/>
        </p:nvSpPr>
        <p:spPr>
          <a:xfrm>
            <a:off x="6500000" y="4930000"/>
            <a:ext cx="29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55.31%</a:t>
            </a:r>
          </a:p>
        </p:txBody>
      </p:sp>
      <p:sp>
        <p:nvSpPr>
          <p:cNvPr id="231" name="TB231"/>
          <p:cNvSpPr txBox="1"/>
          <p:nvPr/>
        </p:nvSpPr>
        <p:spPr>
          <a:xfrm>
            <a:off x="9500000" y="493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32" name="TB232"/>
          <p:cNvSpPr txBox="1"/>
          <p:nvPr/>
        </p:nvSpPr>
        <p:spPr>
          <a:xfrm>
            <a:off x="381000" y="5320000"/>
            <a:ext cx="25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W007_binary</a:t>
            </a:r>
          </a:p>
        </p:txBody>
      </p:sp>
      <p:sp>
        <p:nvSpPr>
          <p:cNvPr id="233" name="TB233"/>
          <p:cNvSpPr txBox="1"/>
          <p:nvPr/>
        </p:nvSpPr>
        <p:spPr>
          <a:xfrm>
            <a:off x="3000000" y="5320000"/>
            <a:ext cx="34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再优化</a:t>
            </a:r>
          </a:p>
        </p:txBody>
      </p:sp>
      <p:sp>
        <p:nvSpPr>
          <p:cNvPr id="234" name="TB234"/>
          <p:cNvSpPr txBox="1"/>
          <p:nvPr/>
        </p:nvSpPr>
        <p:spPr>
          <a:xfrm>
            <a:off x="6500000" y="5320000"/>
            <a:ext cx="29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54.06%</a:t>
            </a:r>
          </a:p>
        </p:txBody>
      </p:sp>
      <p:sp>
        <p:nvSpPr>
          <p:cNvPr id="235" name="TB235"/>
          <p:cNvSpPr txBox="1"/>
          <p:nvPr/>
        </p:nvSpPr>
        <p:spPr>
          <a:xfrm>
            <a:off x="9500000" y="5320000"/>
            <a:ext cx="20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36" name="TB236"/>
          <p:cNvSpPr txBox="1"/>
          <p:nvPr/>
        </p:nvSpPr>
        <p:spPr>
          <a:xfrm>
            <a:off x="381000" y="571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4472A9"/>
                </a:solidFill>
                <a:latin typeface="Arial"/>
                <a:ea typeface="Microsoft YaHei"/>
              </a:rPr>
              <a:t>W008_binary</a:t>
            </a:r>
          </a:p>
        </p:txBody>
      </p:sp>
      <p:sp>
        <p:nvSpPr>
          <p:cNvPr id="237" name="TB237"/>
          <p:cNvSpPr txBox="1"/>
          <p:nvPr/>
        </p:nvSpPr>
        <p:spPr>
          <a:xfrm>
            <a:off x="3000000" y="5710000"/>
            <a:ext cx="3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4A5568"/>
                </a:solidFill>
                <a:latin typeface="Arial"/>
                <a:ea typeface="Microsoft YaHei"/>
              </a:rPr>
              <a:t>当前最优（★）</a:t>
            </a:r>
          </a:p>
        </p:txBody>
      </p:sp>
      <p:sp>
        <p:nvSpPr>
          <p:cNvPr id="238" name="TB238"/>
          <p:cNvSpPr txBox="1"/>
          <p:nvPr/>
        </p:nvSpPr>
        <p:spPr>
          <a:xfrm>
            <a:off x="6500000" y="5710000"/>
            <a:ext cx="29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4472A9"/>
                </a:solidFill>
                <a:latin typeface="Arial"/>
                <a:ea typeface="Microsoft YaHei"/>
              </a:rPr>
              <a:t>55.42%</a:t>
            </a:r>
          </a:p>
        </p:txBody>
      </p:sp>
      <p:sp>
        <p:nvSpPr>
          <p:cNvPr id="239" name="TB239"/>
          <p:cNvSpPr txBox="1"/>
          <p:nvPr/>
        </p:nvSpPr>
        <p:spPr>
          <a:xfrm>
            <a:off x="9500000" y="571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40" name="TB240"/>
          <p:cNvSpPr txBox="1"/>
          <p:nvPr/>
        </p:nvSpPr>
        <p:spPr>
          <a:xfrm>
            <a:off x="381000" y="6100000"/>
            <a:ext cx="25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E8380D"/>
                </a:solidFill>
                <a:latin typeface="Arial"/>
                <a:ea typeface="Microsoft YaHei"/>
              </a:rPr>
              <a:t>W009_binary</a:t>
            </a:r>
          </a:p>
        </p:txBody>
      </p:sp>
      <p:sp>
        <p:nvSpPr>
          <p:cNvPr id="241" name="TB241"/>
          <p:cNvSpPr txBox="1"/>
          <p:nvPr/>
        </p:nvSpPr>
        <p:spPr>
          <a:xfrm>
            <a:off x="3000000" y="6100000"/>
            <a:ext cx="34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4A5568"/>
                </a:solidFill>
                <a:latin typeface="Arial"/>
                <a:ea typeface="Microsoft YaHei"/>
              </a:rPr>
              <a:t>新加因子（↓下降）</a:t>
            </a:r>
          </a:p>
        </p:txBody>
      </p:sp>
      <p:sp>
        <p:nvSpPr>
          <p:cNvPr id="242" name="TB242"/>
          <p:cNvSpPr txBox="1"/>
          <p:nvPr/>
        </p:nvSpPr>
        <p:spPr>
          <a:xfrm>
            <a:off x="6500000" y="6100000"/>
            <a:ext cx="29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E8380D"/>
                </a:solidFill>
                <a:latin typeface="Arial"/>
                <a:ea typeface="Microsoft YaHei"/>
              </a:rPr>
              <a:t>51.77%</a:t>
            </a:r>
          </a:p>
        </p:txBody>
      </p:sp>
      <p:sp>
        <p:nvSpPr>
          <p:cNvPr id="243" name="TB243"/>
          <p:cNvSpPr txBox="1"/>
          <p:nvPr/>
        </p:nvSpPr>
        <p:spPr>
          <a:xfrm>
            <a:off x="9500000" y="6100000"/>
            <a:ext cx="20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50" name="MLT250"/>
          <p:cNvSpPr txBox="1"/>
          <p:nvPr/>
        </p:nvSpPr>
        <p:spPr>
          <a:xfrm>
            <a:off x="381000" y="6600000"/>
            <a:ext cx="11430000" cy="10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W009胜率下降说明：边际贡献负向的因子损伤组合，证明筛选框架是有效约束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10F0-DC0D-5FBF-F818-49D9D960C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F887EE-B372-E39D-D7E5-F0D3E97806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sv-SE" altLang="zh-CN" dirty="0"/>
              <a:t>Part 5  回测结果：W008在风格轮动中的表现</a:t>
            </a:r>
            <a:endParaRPr lang="zh-CN" alt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4910717-5032-E6B0-B6B7-1A0E2066B960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7FDCAD41-34CC-667C-FADB-C425A87F8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月度胜率55.42%、超额年化5.20%、信息比率1.71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701E5753-113C-1C88-CCE3-41A319C7022E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30A169A1-C220-0130-98A3-4E2013B66C9A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F8502650-1715-2C78-CA45-4C7971940FE1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20634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5 回测结果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21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周频五轨调仓+七项筛选标准：回测设计控制随机性，评价标准先定义后看结果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5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五轨调仓说明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五轨调仓设计：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将全部交易日分成5组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每50个交易日一个rebalance窗口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各组分别从不同起点开始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取5个轨道的平均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目的：降低单日偶然性，提高稳定性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W008通过 6/7 项筛选标准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唯一局限：价值波段胜率~42% (&lt;50%)</a:t>
            </a:r>
          </a:p>
        </p:txBody>
      </p:sp>
      <p:sp>
        <p:nvSpPr>
          <p:cNvPr id="2" name="TB200"/>
          <p:cNvSpPr txBox="1"/>
          <p:nvPr/>
        </p:nvSpPr>
        <p:spPr>
          <a:xfrm>
            <a:off x="6100000" y="1350000"/>
            <a:ext cx="55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① 调仓次数 &gt; 15次</a:t>
            </a:r>
          </a:p>
        </p:txBody>
      </p:sp>
      <p:sp>
        <p:nvSpPr>
          <p:cNvPr id="201" name="TB201"/>
          <p:cNvSpPr txBox="1"/>
          <p:nvPr/>
        </p:nvSpPr>
        <p:spPr>
          <a:xfrm>
            <a:off x="6100000" y="2050000"/>
            <a:ext cx="5500000" cy="6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② 全区间收益 &gt; 基准</a:t>
            </a:r>
          </a:p>
        </p:txBody>
      </p:sp>
      <p:sp>
        <p:nvSpPr>
          <p:cNvPr id="202" name="TB202"/>
          <p:cNvSpPr txBox="1"/>
          <p:nvPr/>
        </p:nvSpPr>
        <p:spPr>
          <a:xfrm>
            <a:off x="6100000" y="2750000"/>
            <a:ext cx="55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③ 超额夏普 &gt; 0</a:t>
            </a:r>
          </a:p>
        </p:txBody>
      </p:sp>
      <p:sp>
        <p:nvSpPr>
          <p:cNvPr id="203" name="TB203"/>
          <p:cNvSpPr txBox="1"/>
          <p:nvPr/>
        </p:nvSpPr>
        <p:spPr>
          <a:xfrm>
            <a:off x="6100000" y="3450000"/>
            <a:ext cx="5500000" cy="6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④ Period胜率 &gt; 50%</a:t>
            </a:r>
          </a:p>
        </p:txBody>
      </p:sp>
      <p:sp>
        <p:nvSpPr>
          <p:cNvPr id="204" name="TB204"/>
          <p:cNvSpPr txBox="1"/>
          <p:nvPr/>
        </p:nvSpPr>
        <p:spPr>
          <a:xfrm>
            <a:off x="6100000" y="4150000"/>
            <a:ext cx="55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⑤ 盈亏比 &gt; 1</a:t>
            </a:r>
          </a:p>
        </p:txBody>
      </p:sp>
      <p:sp>
        <p:nvSpPr>
          <p:cNvPr id="205" name="TB205"/>
          <p:cNvSpPr txBox="1"/>
          <p:nvPr/>
        </p:nvSpPr>
        <p:spPr>
          <a:xfrm>
            <a:off x="6100000" y="4850000"/>
            <a:ext cx="5500000" cy="6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⑥ 期望收益 &gt; 0</a:t>
            </a:r>
          </a:p>
        </p:txBody>
      </p:sp>
      <p:sp>
        <p:nvSpPr>
          <p:cNvPr id="206" name="TB206"/>
          <p:cNvSpPr txBox="1"/>
          <p:nvPr/>
        </p:nvSpPr>
        <p:spPr>
          <a:xfrm>
            <a:off x="6100000" y="5550000"/>
            <a:ext cx="55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b="1" dirty="0">
                <a:solidFill>
                  <a:srgbClr val="E8380D"/>
                </a:solidFill>
                <a:latin typeface="Arial"/>
                <a:ea typeface="Microsoft YaHei"/>
              </a:rPr>
              <a:t>✗  ⑦ 成长/价值波段各自胜率&gt;50%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5 回测结果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22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月度胜率55.4%、超额年化5.2%、信息比率1.71——W008在16年回测中持续积累超额</a:t>
            </a:r>
          </a:p>
        </p:txBody>
      </p:sp>
      <p:sp>
        <p:nvSpPr>
          <p:cNvPr id="200" name="PH200"/>
          <p:cNvSpPr/>
          <p:nvPr/>
        </p:nvSpPr>
        <p:spPr>
          <a:xfrm>
            <a:off x="381000" y="1350000"/>
            <a:ext cx="7800000" cy="4900000"/>
          </a:xfrm>
          <a:prstGeom prst="rect">
            <a:avLst/>
          </a:prstGeom>
          <a:solidFill>
            <a:srgbClr val="D9D9D9"/>
          </a:solidFill>
          <a:ln w="9525">
            <a:solidFill>
              <a:srgbClr val="AAAAAA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1000" dirty="0">
                <a:solidFill>
                  <a:srgbClr val="666666"/>
                </a:solidFill>
                <a:latin typeface="Arial"/>
                <a:ea typeface="Microsoft YaHei"/>
              </a:rPr>
              <a:t>待补图表：W008净值曲线（策略vs基准）+ 净值比值图
（原始图在 E_backtesting/Result/W008_signal_binary/）</a:t>
            </a:r>
          </a:p>
        </p:txBody>
      </p:sp>
      <p:sp>
        <p:nvSpPr>
          <p:cNvPr id="2" name="STAT200"/>
          <p:cNvSpPr/>
          <p:nvPr/>
        </p:nvSpPr>
        <p:spPr>
          <a:xfrm>
            <a:off x="8400000" y="13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55.42%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月度胜率</a:t>
            </a:r>
          </a:p>
        </p:txBody>
      </p:sp>
      <p:sp>
        <p:nvSpPr>
          <p:cNvPr id="201" name="STAT201"/>
          <p:cNvSpPr/>
          <p:nvPr/>
        </p:nvSpPr>
        <p:spPr>
          <a:xfrm>
            <a:off x="8400000" y="20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53.80%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Period胜率</a:t>
            </a:r>
          </a:p>
        </p:txBody>
      </p:sp>
      <p:sp>
        <p:nvSpPr>
          <p:cNvPr id="202" name="STAT202"/>
          <p:cNvSpPr/>
          <p:nvPr/>
        </p:nvSpPr>
        <p:spPr>
          <a:xfrm>
            <a:off x="8400000" y="27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1.032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盈亏比</a:t>
            </a:r>
          </a:p>
        </p:txBody>
      </p:sp>
      <p:sp>
        <p:nvSpPr>
          <p:cNvPr id="203" name="STAT203"/>
          <p:cNvSpPr/>
          <p:nvPr/>
        </p:nvSpPr>
        <p:spPr>
          <a:xfrm>
            <a:off x="8400000" y="34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+0.22%/月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期望收益</a:t>
            </a:r>
          </a:p>
        </p:txBody>
      </p:sp>
      <p:sp>
        <p:nvSpPr>
          <p:cNvPr id="204" name="STAT204"/>
          <p:cNvSpPr/>
          <p:nvPr/>
        </p:nvSpPr>
        <p:spPr>
          <a:xfrm>
            <a:off x="8400000" y="41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5.20%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超额年化</a:t>
            </a:r>
          </a:p>
        </p:txBody>
      </p:sp>
      <p:sp>
        <p:nvSpPr>
          <p:cNvPr id="205" name="STAT205"/>
          <p:cNvSpPr/>
          <p:nvPr/>
        </p:nvSpPr>
        <p:spPr>
          <a:xfrm>
            <a:off x="8400000" y="48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1.226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超额夏普</a:t>
            </a:r>
          </a:p>
        </p:txBody>
      </p:sp>
      <p:sp>
        <p:nvSpPr>
          <p:cNvPr id="206" name="STAT206"/>
          <p:cNvSpPr/>
          <p:nvPr/>
        </p:nvSpPr>
        <p:spPr>
          <a:xfrm>
            <a:off x="8400000" y="55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1.707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信息比率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5 回测结果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23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2014、2017、2020、2021、2024、2025年均有正贡献——超额在多种市场环境下可积累</a:t>
            </a:r>
          </a:p>
        </p:txBody>
      </p:sp>
      <p:sp>
        <p:nvSpPr>
          <p:cNvPr id="200" name="PH200"/>
          <p:cNvSpPr/>
          <p:nvPr/>
        </p:nvSpPr>
        <p:spPr>
          <a:xfrm>
            <a:off x="381000" y="1350000"/>
            <a:ext cx="11430000" cy="3400000"/>
          </a:xfrm>
          <a:prstGeom prst="rect">
            <a:avLst/>
          </a:prstGeom>
          <a:solidFill>
            <a:srgbClr val="D9D9D9"/>
          </a:solidFill>
          <a:ln w="9525">
            <a:solidFill>
              <a:srgbClr val="AAAAAA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1000" dirty="0">
                <a:solidFill>
                  <a:srgbClr val="666666"/>
                </a:solidFill>
                <a:latin typeface="Arial"/>
                <a:ea typeface="Microsoft YaHei"/>
              </a:rPr>
              <a:t>待补图表：分年度超额收益柱状图（正绿负红）2010-2026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381000" y="5000000"/>
            <a:ext cx="11430000" cy="22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2C3E50"/>
                </a:solidFill>
                <a:latin typeface="Arial"/>
                <a:ea typeface="Microsoft YaHei"/>
              </a:rPr>
              <a:t>典型年份说明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2021年：成长大牛市，W008准确偏向成长方向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2022年：价值占优，W008部分捕捉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2024年：价值切成长，W008跟上节奏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整体：2014、2017、2020、2021、2024、2025年均有正贡献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5 回测结果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24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W008在16年回测中表现稳健，但需正视两个局限：价值波段胜率偏低、参数扰动检验不完整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5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200" b="1" dirty="0">
                <a:solidFill>
                  <a:srgbClr val="2C3E50"/>
                </a:solidFill>
                <a:latin typeface="Arial"/>
                <a:ea typeface="Microsoft YaHei"/>
              </a:rPr>
              <a:t>已实现成果</a:t>
            </a:r>
          </a:p>
          <a:p>
            <a:r>
              <a:rPr lang="zh-CN" sz="1200" dirty="0">
                <a:solidFill>
                  <a:srgbClr val="28B463"/>
                </a:solidFill>
                <a:latin typeface="Arial"/>
                <a:ea typeface="Microsoft YaHei"/>
              </a:rPr>
              <a:t>✓ 通过6/7项筛选标准</a:t>
            </a:r>
          </a:p>
          <a:p>
            <a:r>
              <a:rPr lang="zh-CN" sz="1200" dirty="0">
                <a:solidFill>
                  <a:srgbClr val="28B463"/>
                </a:solidFill>
                <a:latin typeface="Arial"/>
                <a:ea typeface="Microsoft YaHei"/>
              </a:rPr>
              <a:t>✓ 16年跨周期稳健（2010-2026）</a:t>
            </a:r>
          </a:p>
          <a:p>
            <a:r>
              <a:rPr lang="zh-CN" sz="1200" dirty="0">
                <a:solidFill>
                  <a:srgbClr val="28B463"/>
                </a:solidFill>
                <a:latin typeface="Arial"/>
                <a:ea typeface="Microsoft YaHei"/>
              </a:rPr>
              <a:t>✓ 超额年化5.20%，信息比率1.71</a:t>
            </a:r>
          </a:p>
          <a:p>
            <a:r>
              <a:rPr lang="zh-CN" sz="1200" dirty="0">
                <a:solidFill>
                  <a:srgbClr val="28B463"/>
                </a:solidFill>
                <a:latin typeface="Arial"/>
                <a:ea typeface="Microsoft YaHei"/>
              </a:rPr>
              <a:t>✓ W009反例验证了筛选框架有效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6200000" y="1350000"/>
            <a:ext cx="54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E8380D"/>
                </a:solidFill>
                <a:latin typeface="Arial"/>
                <a:ea typeface="Microsoft YaHei"/>
              </a:rPr>
              <a:t>两个局限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✗ 价值波段胜率约42%（&lt;50%）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  原因：价值占优年份信号滞后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  强价值年份（如2022）受利率类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  因子主导，价值信号不够强</a:t>
            </a:r>
          </a:p>
          <a:p>
            <a:endParaRPr lang="zh-CN" sz="1100" dirty="0">
              <a:solidFill>
                <a:srgbClr val="E8380D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✗ 参数系统扰动检验未完整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  后续：需系统测试窗口/阈值/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  调仓频率的敏感性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10F0-DC0D-5FBF-F818-49D9D960C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F887EE-B372-E39D-D7E5-F0D3E97806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sv-SE" altLang="zh-CN" dirty="0"/>
              <a:t>Part 6  延伸验证：风险预算多资产框架</a:t>
            </a:r>
            <a:endParaRPr lang="zh-CN" alt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4910717-5032-E6B0-B6B7-1A0E2066B960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7FDCAD41-34CC-667C-FADB-C425A87F8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同一信号，换一个完全不同的多资产框架——alpha质量更强的证明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701E5753-113C-1C88-CCE3-41A319C7022E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30A169A1-C220-0130-98A3-4E2013B66C9A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F8502650-1715-2C78-CA45-4C7971940FE1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206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6 延伸验证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26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同一信号，在完全不同的多资产框架中还有效——这是对alpha质量更强的证明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5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50" b="1" dirty="0">
                <a:solidFill>
                  <a:srgbClr val="4472A9"/>
                </a:solidFill>
                <a:latin typeface="Arial"/>
                <a:ea typeface="Microsoft YaHei"/>
              </a:rPr>
              <a:t>路径1（已完成）</a:t>
            </a:r>
          </a:p>
          <a:p>
            <a:r>
              <a:rPr lang="zh-CN" sz="1150" dirty="0">
                <a:solidFill>
                  <a:srgbClr val="4A5568"/>
                </a:solidFill>
                <a:latin typeface="Arial"/>
                <a:ea typeface="Microsoft YaHei"/>
              </a:rPr>
              <a:t>框架A：风格指数回测</a:t>
            </a:r>
          </a:p>
          <a:p>
            <a:endParaRPr lang="zh-CN" sz="11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50" dirty="0">
                <a:solidFill>
                  <a:srgbClr val="4A5568"/>
                </a:solidFill>
                <a:latin typeface="Arial"/>
                <a:ea typeface="Microsoft YaHei"/>
              </a:rPr>
              <a:t>• 成长指数 vs 价值指数</a:t>
            </a:r>
          </a:p>
          <a:p>
            <a:r>
              <a:rPr lang="zh-CN" sz="1150" dirty="0">
                <a:solidFill>
                  <a:srgbClr val="4A5568"/>
                </a:solidFill>
                <a:latin typeface="Arial"/>
                <a:ea typeface="Microsoft YaHei"/>
              </a:rPr>
              <a:t>• 验证：方向胜率 &gt; 50%?</a:t>
            </a:r>
          </a:p>
          <a:p>
            <a:r>
              <a:rPr lang="zh-CN" sz="1150" dirty="0">
                <a:solidFill>
                  <a:srgbClr val="4A5568"/>
                </a:solidFill>
                <a:latin typeface="Arial"/>
                <a:ea typeface="Microsoft YaHei"/>
              </a:rPr>
              <a:t>• 视角：相对表现</a:t>
            </a:r>
          </a:p>
          <a:p>
            <a:r>
              <a:rPr lang="zh-CN" sz="1150" dirty="0">
                <a:solidFill>
                  <a:srgbClr val="4A5568"/>
                </a:solidFill>
                <a:latin typeface="Arial"/>
                <a:ea typeface="Microsoft YaHei"/>
              </a:rPr>
              <a:t>• 已验证：月度胜率55.42%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6200000" y="1350000"/>
            <a:ext cx="55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E8380D"/>
                </a:solidFill>
                <a:latin typeface="Arial"/>
                <a:ea typeface="Microsoft YaHei"/>
              </a:rPr>
              <a:t>路径2（延伸验证）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框架B：风险预算多资产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W008 or HS300 + CBA00201（中债）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月末调仓，6种风险预算比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(1:1, 1:5, 10:1, 20:1, 50:1, 100:1)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验证：权益资产能否让净值单调增长?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视角：绝对收益路径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组合：权益波动率~21%，债券~3%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100:1时权益仓位仅约27%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6 延伸验证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27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相同框架下，W008随权益占比提高净值单调增长，HS300则没有——差别来自权益资产回报路径</a:t>
            </a:r>
          </a:p>
        </p:txBody>
      </p:sp>
      <p:pic>
        <p:nvPicPr>
          <p:cNvPr id="200" name="IMG2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50000"/>
            <a:ext cx="7800000" cy="4900000"/>
          </a:xfrm>
          <a:prstGeom prst="rect">
            <a:avLst/>
          </a:prstGeom>
        </p:spPr>
      </p:pic>
      <p:sp>
        <p:nvSpPr>
          <p:cNvPr id="201" name="MLT201"/>
          <p:cNvSpPr txBox="1"/>
          <p:nvPr/>
        </p:nvSpPr>
        <p:spPr>
          <a:xfrm>
            <a:off x="8400000" y="1350000"/>
            <a:ext cx="34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2C3E50"/>
                </a:solidFill>
                <a:latin typeface="Arial"/>
                <a:ea typeface="Microsoft YaHei"/>
              </a:rPr>
              <a:t>解读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W008高预算 &gt; 低预算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（分层清晰）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HS300高预算 ≈ 低预算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（无分化）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两组波动率相似（~21%）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差别来自回报路径本身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W008的alpha在多资产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框架下仍然有效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6 延伸验证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28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W008在100:1极端预算下夏普仍为1.05，HS300在50:1时夏普已跌至0.66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381000" y="1350000"/>
            <a:ext cx="2000000" cy="45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组合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2500000" y="1350000"/>
            <a:ext cx="2400000" cy="45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风险预算比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5000000" y="1350000"/>
            <a:ext cx="2500000" cy="45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年化收益</a:t>
            </a:r>
          </a:p>
        </p:txBody>
      </p:sp>
      <p:sp>
        <p:nvSpPr>
          <p:cNvPr id="213" name="TB213"/>
          <p:cNvSpPr txBox="1"/>
          <p:nvPr/>
        </p:nvSpPr>
        <p:spPr>
          <a:xfrm>
            <a:off x="7600000" y="1350000"/>
            <a:ext cx="2300000" cy="45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最大回撤</a:t>
            </a:r>
          </a:p>
        </p:txBody>
      </p:sp>
      <p:sp>
        <p:nvSpPr>
          <p:cNvPr id="214" name="TB214"/>
          <p:cNvSpPr txBox="1"/>
          <p:nvPr/>
        </p:nvSpPr>
        <p:spPr>
          <a:xfrm>
            <a:off x="10000000" y="1350000"/>
            <a:ext cx="2000000" cy="45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夏普</a:t>
            </a:r>
          </a:p>
        </p:txBody>
      </p:sp>
      <p:sp>
        <p:nvSpPr>
          <p:cNvPr id="220" name="TB220"/>
          <p:cNvSpPr txBox="1"/>
          <p:nvPr/>
        </p:nvSpPr>
        <p:spPr>
          <a:xfrm>
            <a:off x="381000" y="180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21" name="TB221"/>
          <p:cNvSpPr txBox="1"/>
          <p:nvPr/>
        </p:nvSpPr>
        <p:spPr>
          <a:xfrm>
            <a:off x="2500000" y="1800000"/>
            <a:ext cx="24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1:1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5000000" y="1800000"/>
            <a:ext cx="25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23" name="TB223"/>
          <p:cNvSpPr txBox="1"/>
          <p:nvPr/>
        </p:nvSpPr>
        <p:spPr>
          <a:xfrm>
            <a:off x="7600000" y="1800000"/>
            <a:ext cx="23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24" name="TB224"/>
          <p:cNvSpPr txBox="1"/>
          <p:nvPr/>
        </p:nvSpPr>
        <p:spPr>
          <a:xfrm>
            <a:off x="10000000" y="180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25" name="TB225"/>
          <p:cNvSpPr txBox="1"/>
          <p:nvPr/>
        </p:nvSpPr>
        <p:spPr>
          <a:xfrm>
            <a:off x="381000" y="219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26" name="TB226"/>
          <p:cNvSpPr txBox="1"/>
          <p:nvPr/>
        </p:nvSpPr>
        <p:spPr>
          <a:xfrm>
            <a:off x="2500000" y="2190000"/>
            <a:ext cx="24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1:5</a:t>
            </a:r>
          </a:p>
        </p:txBody>
      </p:sp>
      <p:sp>
        <p:nvSpPr>
          <p:cNvPr id="227" name="TB227"/>
          <p:cNvSpPr txBox="1"/>
          <p:nvPr/>
        </p:nvSpPr>
        <p:spPr>
          <a:xfrm>
            <a:off x="5000000" y="2190000"/>
            <a:ext cx="25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28" name="TB228"/>
          <p:cNvSpPr txBox="1"/>
          <p:nvPr/>
        </p:nvSpPr>
        <p:spPr>
          <a:xfrm>
            <a:off x="7600000" y="2190000"/>
            <a:ext cx="23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29" name="TB229"/>
          <p:cNvSpPr txBox="1"/>
          <p:nvPr/>
        </p:nvSpPr>
        <p:spPr>
          <a:xfrm>
            <a:off x="10000000" y="219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30" name="TB230"/>
          <p:cNvSpPr txBox="1"/>
          <p:nvPr/>
        </p:nvSpPr>
        <p:spPr>
          <a:xfrm>
            <a:off x="381000" y="258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31" name="TB231"/>
          <p:cNvSpPr txBox="1"/>
          <p:nvPr/>
        </p:nvSpPr>
        <p:spPr>
          <a:xfrm>
            <a:off x="2500000" y="2580000"/>
            <a:ext cx="24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10:1</a:t>
            </a:r>
          </a:p>
        </p:txBody>
      </p:sp>
      <p:sp>
        <p:nvSpPr>
          <p:cNvPr id="232" name="TB232"/>
          <p:cNvSpPr txBox="1"/>
          <p:nvPr/>
        </p:nvSpPr>
        <p:spPr>
          <a:xfrm>
            <a:off x="5000000" y="2580000"/>
            <a:ext cx="25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~6%</a:t>
            </a:r>
          </a:p>
        </p:txBody>
      </p:sp>
      <p:sp>
        <p:nvSpPr>
          <p:cNvPr id="233" name="TB233"/>
          <p:cNvSpPr txBox="1"/>
          <p:nvPr/>
        </p:nvSpPr>
        <p:spPr>
          <a:xfrm>
            <a:off x="7600000" y="2580000"/>
            <a:ext cx="23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~-5%</a:t>
            </a:r>
          </a:p>
        </p:txBody>
      </p:sp>
      <p:sp>
        <p:nvSpPr>
          <p:cNvPr id="234" name="TB234"/>
          <p:cNvSpPr txBox="1"/>
          <p:nvPr/>
        </p:nvSpPr>
        <p:spPr>
          <a:xfrm>
            <a:off x="10000000" y="258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~0.9</a:t>
            </a:r>
          </a:p>
        </p:txBody>
      </p:sp>
      <p:sp>
        <p:nvSpPr>
          <p:cNvPr id="235" name="TB235"/>
          <p:cNvSpPr txBox="1"/>
          <p:nvPr/>
        </p:nvSpPr>
        <p:spPr>
          <a:xfrm>
            <a:off x="381000" y="297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36" name="TB236"/>
          <p:cNvSpPr txBox="1"/>
          <p:nvPr/>
        </p:nvSpPr>
        <p:spPr>
          <a:xfrm>
            <a:off x="2500000" y="2970000"/>
            <a:ext cx="24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20:1</a:t>
            </a:r>
          </a:p>
        </p:txBody>
      </p:sp>
      <p:sp>
        <p:nvSpPr>
          <p:cNvPr id="237" name="TB237"/>
          <p:cNvSpPr txBox="1"/>
          <p:nvPr/>
        </p:nvSpPr>
        <p:spPr>
          <a:xfrm>
            <a:off x="5000000" y="2970000"/>
            <a:ext cx="25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~6%</a:t>
            </a:r>
          </a:p>
        </p:txBody>
      </p:sp>
      <p:sp>
        <p:nvSpPr>
          <p:cNvPr id="238" name="TB238"/>
          <p:cNvSpPr txBox="1"/>
          <p:nvPr/>
        </p:nvSpPr>
        <p:spPr>
          <a:xfrm>
            <a:off x="7600000" y="2970000"/>
            <a:ext cx="23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~-8%</a:t>
            </a:r>
          </a:p>
        </p:txBody>
      </p:sp>
      <p:sp>
        <p:nvSpPr>
          <p:cNvPr id="239" name="TB239"/>
          <p:cNvSpPr txBox="1"/>
          <p:nvPr/>
        </p:nvSpPr>
        <p:spPr>
          <a:xfrm>
            <a:off x="10000000" y="297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~0.8</a:t>
            </a:r>
          </a:p>
        </p:txBody>
      </p:sp>
      <p:sp>
        <p:nvSpPr>
          <p:cNvPr id="240" name="TB240"/>
          <p:cNvSpPr txBox="1"/>
          <p:nvPr/>
        </p:nvSpPr>
        <p:spPr>
          <a:xfrm>
            <a:off x="381000" y="3360000"/>
            <a:ext cx="2000000" cy="37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41" name="TB241"/>
          <p:cNvSpPr txBox="1"/>
          <p:nvPr/>
        </p:nvSpPr>
        <p:spPr>
          <a:xfrm>
            <a:off x="2500000" y="3360000"/>
            <a:ext cx="2400000" cy="37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50:1</a:t>
            </a:r>
          </a:p>
        </p:txBody>
      </p:sp>
      <p:sp>
        <p:nvSpPr>
          <p:cNvPr id="242" name="TB242"/>
          <p:cNvSpPr txBox="1"/>
          <p:nvPr/>
        </p:nvSpPr>
        <p:spPr>
          <a:xfrm>
            <a:off x="5000000" y="3360000"/>
            <a:ext cx="2500000" cy="37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~7%</a:t>
            </a:r>
          </a:p>
        </p:txBody>
      </p:sp>
      <p:sp>
        <p:nvSpPr>
          <p:cNvPr id="243" name="TB243"/>
          <p:cNvSpPr txBox="1"/>
          <p:nvPr/>
        </p:nvSpPr>
        <p:spPr>
          <a:xfrm>
            <a:off x="7600000" y="3360000"/>
            <a:ext cx="2300000" cy="37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-13.23%</a:t>
            </a:r>
          </a:p>
        </p:txBody>
      </p:sp>
      <p:sp>
        <p:nvSpPr>
          <p:cNvPr id="244" name="TB244"/>
          <p:cNvSpPr txBox="1"/>
          <p:nvPr/>
        </p:nvSpPr>
        <p:spPr>
          <a:xfrm>
            <a:off x="10000000" y="3360000"/>
            <a:ext cx="2000000" cy="37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0.66</a:t>
            </a:r>
          </a:p>
        </p:txBody>
      </p:sp>
      <p:sp>
        <p:nvSpPr>
          <p:cNvPr id="245" name="TB245"/>
          <p:cNvSpPr txBox="1"/>
          <p:nvPr/>
        </p:nvSpPr>
        <p:spPr>
          <a:xfrm>
            <a:off x="381000" y="375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46" name="TB246"/>
          <p:cNvSpPr txBox="1"/>
          <p:nvPr/>
        </p:nvSpPr>
        <p:spPr>
          <a:xfrm>
            <a:off x="2500000" y="3750000"/>
            <a:ext cx="24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100:1</a:t>
            </a:r>
          </a:p>
        </p:txBody>
      </p:sp>
      <p:sp>
        <p:nvSpPr>
          <p:cNvPr id="247" name="TB247"/>
          <p:cNvSpPr txBox="1"/>
          <p:nvPr/>
        </p:nvSpPr>
        <p:spPr>
          <a:xfrm>
            <a:off x="5000000" y="3750000"/>
            <a:ext cx="25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~8%</a:t>
            </a:r>
          </a:p>
        </p:txBody>
      </p:sp>
      <p:sp>
        <p:nvSpPr>
          <p:cNvPr id="248" name="TB248"/>
          <p:cNvSpPr txBox="1"/>
          <p:nvPr/>
        </p:nvSpPr>
        <p:spPr>
          <a:xfrm>
            <a:off x="7600000" y="3750000"/>
            <a:ext cx="23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~-25%</a:t>
            </a:r>
          </a:p>
        </p:txBody>
      </p:sp>
      <p:sp>
        <p:nvSpPr>
          <p:cNvPr id="249" name="TB249"/>
          <p:cNvSpPr txBox="1"/>
          <p:nvPr/>
        </p:nvSpPr>
        <p:spPr>
          <a:xfrm>
            <a:off x="10000000" y="375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~0.5</a:t>
            </a:r>
          </a:p>
        </p:txBody>
      </p:sp>
      <p:sp>
        <p:nvSpPr>
          <p:cNvPr id="250" name="TB250"/>
          <p:cNvSpPr txBox="1"/>
          <p:nvPr/>
        </p:nvSpPr>
        <p:spPr>
          <a:xfrm>
            <a:off x="381000" y="414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51" name="TB251"/>
          <p:cNvSpPr txBox="1"/>
          <p:nvPr/>
        </p:nvSpPr>
        <p:spPr>
          <a:xfrm>
            <a:off x="2500000" y="4140000"/>
            <a:ext cx="2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1:1</a:t>
            </a:r>
          </a:p>
        </p:txBody>
      </p:sp>
      <p:sp>
        <p:nvSpPr>
          <p:cNvPr id="252" name="TB252"/>
          <p:cNvSpPr txBox="1"/>
          <p:nvPr/>
        </p:nvSpPr>
        <p:spPr>
          <a:xfrm>
            <a:off x="5000000" y="414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53" name="TB253"/>
          <p:cNvSpPr txBox="1"/>
          <p:nvPr/>
        </p:nvSpPr>
        <p:spPr>
          <a:xfrm>
            <a:off x="7600000" y="4140000"/>
            <a:ext cx="23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54" name="TB254"/>
          <p:cNvSpPr txBox="1"/>
          <p:nvPr/>
        </p:nvSpPr>
        <p:spPr>
          <a:xfrm>
            <a:off x="10000000" y="414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55" name="TB255"/>
          <p:cNvSpPr txBox="1"/>
          <p:nvPr/>
        </p:nvSpPr>
        <p:spPr>
          <a:xfrm>
            <a:off x="381000" y="453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56" name="TB256"/>
          <p:cNvSpPr txBox="1"/>
          <p:nvPr/>
        </p:nvSpPr>
        <p:spPr>
          <a:xfrm>
            <a:off x="2500000" y="4530000"/>
            <a:ext cx="2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1:5</a:t>
            </a:r>
          </a:p>
        </p:txBody>
      </p:sp>
      <p:sp>
        <p:nvSpPr>
          <p:cNvPr id="257" name="TB257"/>
          <p:cNvSpPr txBox="1"/>
          <p:nvPr/>
        </p:nvSpPr>
        <p:spPr>
          <a:xfrm>
            <a:off x="5000000" y="453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58" name="TB258"/>
          <p:cNvSpPr txBox="1"/>
          <p:nvPr/>
        </p:nvSpPr>
        <p:spPr>
          <a:xfrm>
            <a:off x="7600000" y="4530000"/>
            <a:ext cx="23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59" name="TB259"/>
          <p:cNvSpPr txBox="1"/>
          <p:nvPr/>
        </p:nvSpPr>
        <p:spPr>
          <a:xfrm>
            <a:off x="10000000" y="453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0" name="TB260"/>
          <p:cNvSpPr txBox="1"/>
          <p:nvPr/>
        </p:nvSpPr>
        <p:spPr>
          <a:xfrm>
            <a:off x="381000" y="492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61" name="TB261"/>
          <p:cNvSpPr txBox="1"/>
          <p:nvPr/>
        </p:nvSpPr>
        <p:spPr>
          <a:xfrm>
            <a:off x="2500000" y="4920000"/>
            <a:ext cx="2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10:1</a:t>
            </a:r>
          </a:p>
        </p:txBody>
      </p:sp>
      <p:sp>
        <p:nvSpPr>
          <p:cNvPr id="262" name="TB262"/>
          <p:cNvSpPr txBox="1"/>
          <p:nvPr/>
        </p:nvSpPr>
        <p:spPr>
          <a:xfrm>
            <a:off x="5000000" y="492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3" name="TB263"/>
          <p:cNvSpPr txBox="1"/>
          <p:nvPr/>
        </p:nvSpPr>
        <p:spPr>
          <a:xfrm>
            <a:off x="7600000" y="4920000"/>
            <a:ext cx="23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4" name="TB264"/>
          <p:cNvSpPr txBox="1"/>
          <p:nvPr/>
        </p:nvSpPr>
        <p:spPr>
          <a:xfrm>
            <a:off x="10000000" y="492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5" name="TB265"/>
          <p:cNvSpPr txBox="1"/>
          <p:nvPr/>
        </p:nvSpPr>
        <p:spPr>
          <a:xfrm>
            <a:off x="381000" y="531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66" name="TB266"/>
          <p:cNvSpPr txBox="1"/>
          <p:nvPr/>
        </p:nvSpPr>
        <p:spPr>
          <a:xfrm>
            <a:off x="2500000" y="5310000"/>
            <a:ext cx="2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20:1</a:t>
            </a:r>
          </a:p>
        </p:txBody>
      </p:sp>
      <p:sp>
        <p:nvSpPr>
          <p:cNvPr id="267" name="TB267"/>
          <p:cNvSpPr txBox="1"/>
          <p:nvPr/>
        </p:nvSpPr>
        <p:spPr>
          <a:xfrm>
            <a:off x="5000000" y="531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8" name="TB268"/>
          <p:cNvSpPr txBox="1"/>
          <p:nvPr/>
        </p:nvSpPr>
        <p:spPr>
          <a:xfrm>
            <a:off x="7600000" y="5310000"/>
            <a:ext cx="23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9" name="TB269"/>
          <p:cNvSpPr txBox="1"/>
          <p:nvPr/>
        </p:nvSpPr>
        <p:spPr>
          <a:xfrm>
            <a:off x="10000000" y="531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70" name="TB270"/>
          <p:cNvSpPr txBox="1"/>
          <p:nvPr/>
        </p:nvSpPr>
        <p:spPr>
          <a:xfrm>
            <a:off x="381000" y="570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71" name="TB271"/>
          <p:cNvSpPr txBox="1"/>
          <p:nvPr/>
        </p:nvSpPr>
        <p:spPr>
          <a:xfrm>
            <a:off x="2500000" y="5700000"/>
            <a:ext cx="2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50:1</a:t>
            </a:r>
          </a:p>
        </p:txBody>
      </p:sp>
      <p:sp>
        <p:nvSpPr>
          <p:cNvPr id="272" name="TB272"/>
          <p:cNvSpPr txBox="1"/>
          <p:nvPr/>
        </p:nvSpPr>
        <p:spPr>
          <a:xfrm>
            <a:off x="5000000" y="570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73" name="TB273"/>
          <p:cNvSpPr txBox="1"/>
          <p:nvPr/>
        </p:nvSpPr>
        <p:spPr>
          <a:xfrm>
            <a:off x="7600000" y="5700000"/>
            <a:ext cx="23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74" name="TB274"/>
          <p:cNvSpPr txBox="1"/>
          <p:nvPr/>
        </p:nvSpPr>
        <p:spPr>
          <a:xfrm>
            <a:off x="10000000" y="570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75" name="TB275"/>
          <p:cNvSpPr txBox="1"/>
          <p:nvPr/>
        </p:nvSpPr>
        <p:spPr>
          <a:xfrm>
            <a:off x="381000" y="6090000"/>
            <a:ext cx="2000000" cy="37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76" name="TB276"/>
          <p:cNvSpPr txBox="1"/>
          <p:nvPr/>
        </p:nvSpPr>
        <p:spPr>
          <a:xfrm>
            <a:off x="2500000" y="6090000"/>
            <a:ext cx="2400000" cy="37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100:1</a:t>
            </a:r>
          </a:p>
        </p:txBody>
      </p:sp>
      <p:sp>
        <p:nvSpPr>
          <p:cNvPr id="277" name="TB277"/>
          <p:cNvSpPr txBox="1"/>
          <p:nvPr/>
        </p:nvSpPr>
        <p:spPr>
          <a:xfrm>
            <a:off x="5000000" y="6090000"/>
            <a:ext cx="2500000" cy="37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~14%</a:t>
            </a:r>
          </a:p>
        </p:txBody>
      </p:sp>
      <p:sp>
        <p:nvSpPr>
          <p:cNvPr id="278" name="TB278"/>
          <p:cNvSpPr txBox="1"/>
          <p:nvPr/>
        </p:nvSpPr>
        <p:spPr>
          <a:xfrm>
            <a:off x="7600000" y="6090000"/>
            <a:ext cx="2300000" cy="37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-5.94%</a:t>
            </a:r>
          </a:p>
        </p:txBody>
      </p:sp>
      <p:sp>
        <p:nvSpPr>
          <p:cNvPr id="279" name="TB279"/>
          <p:cNvSpPr txBox="1"/>
          <p:nvPr/>
        </p:nvSpPr>
        <p:spPr>
          <a:xfrm>
            <a:off x="10000000" y="6090000"/>
            <a:ext cx="2000000" cy="37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1.05</a:t>
            </a:r>
          </a:p>
        </p:txBody>
      </p:sp>
      <p:sp>
        <p:nvSpPr>
          <p:cNvPr id="290" name="MLT290"/>
          <p:cNvSpPr txBox="1"/>
          <p:nvPr/>
        </p:nvSpPr>
        <p:spPr>
          <a:xfrm>
            <a:off x="381000" y="6500000"/>
            <a:ext cx="1143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00" b="1" dirty="0">
                <a:solidFill>
                  <a:srgbClr val="2C3E50"/>
                </a:solidFill>
                <a:latin typeface="Arial"/>
                <a:ea typeface="Microsoft YaHei"/>
              </a:rPr>
              <a:t>三条结论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① W008收益随权益预算单调递增，HS300基本持平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② W008回撤平稳（100:1仅-5.94%），HS300在极端预算骤升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③ W008夏普在高预算仍&gt;1，HS300在50:1已跌至0.66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7 总结与展望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29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研究成果总览 + 局限性 + 后续方向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38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00" b="1" dirty="0">
                <a:solidFill>
                  <a:srgbClr val="4472A9"/>
                </a:solidFill>
                <a:latin typeface="Arial"/>
                <a:ea typeface="Microsoft YaHei"/>
              </a:rPr>
              <a:t>五项核心成果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① 现实验证：RBSA确认风格暴露影响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基金表现，差值2.60%/期，15年13年跑赢</a:t>
            </a:r>
          </a:p>
          <a:p>
            <a:endParaRPr lang="zh-CN" sz="10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② 因子体系：470+候选→9类工程→23个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入选，IC全量覆盖474个</a:t>
            </a:r>
          </a:p>
          <a:p>
            <a:endParaRPr lang="zh-CN" sz="10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③ 筛选框架：四层漏斗，IC打分+经济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意义+边际贡献三道关口</a:t>
            </a:r>
          </a:p>
          <a:p>
            <a:endParaRPr lang="zh-CN" sz="10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④ W008信号：月胜率55.42%、超额年化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5.20%、信息比率1.71</a:t>
            </a:r>
          </a:p>
          <a:p>
            <a:endParaRPr lang="zh-CN" sz="10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⑤ 配置验证：风险预算框架中W008收益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单调增、回撤可控、夏普始终&gt;1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4400000" y="1350000"/>
            <a:ext cx="3600000" cy="490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E8380D"/>
                </a:solidFill>
                <a:latin typeface="Arial"/>
                <a:ea typeface="Microsoft YaHei"/>
              </a:rPr>
              <a:t>三个已知局限</a:t>
            </a:r>
          </a:p>
          <a:p>
            <a:r>
              <a:rPr lang="zh-CN" sz="1050" dirty="0">
                <a:solidFill>
                  <a:srgbClr val="E8380D"/>
                </a:solidFill>
                <a:latin typeface="Arial"/>
                <a:ea typeface="Microsoft YaHei"/>
              </a:rPr>
              <a:t>✗ 参数系统扰动检验不完整</a:t>
            </a:r>
          </a:p>
          <a:p>
            <a:endParaRPr lang="zh-CN" sz="1050" dirty="0">
              <a:solidFill>
                <a:srgbClr val="E8380D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E8380D"/>
                </a:solidFill>
                <a:latin typeface="Arial"/>
                <a:ea typeface="Microsoft YaHei"/>
              </a:rPr>
              <a:t>✗ 价值波段胜率约42%（&lt;50%）</a:t>
            </a:r>
          </a:p>
          <a:p>
            <a:endParaRPr lang="zh-CN" sz="1050" dirty="0">
              <a:solidFill>
                <a:srgbClr val="E8380D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E8380D"/>
                </a:solidFill>
                <a:latin typeface="Arial"/>
                <a:ea typeface="Microsoft YaHei"/>
              </a:rPr>
              <a:t>✗ 样本外独立验证期间有限</a:t>
            </a:r>
          </a:p>
        </p:txBody>
      </p:sp>
      <p:sp>
        <p:nvSpPr>
          <p:cNvPr id="202" name="MLT202"/>
          <p:cNvSpPr txBox="1"/>
          <p:nvPr/>
        </p:nvSpPr>
        <p:spPr>
          <a:xfrm>
            <a:off x="8200000" y="1350000"/>
            <a:ext cx="3600000" cy="490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00" b="1" dirty="0">
                <a:solidFill>
                  <a:srgbClr val="28B463"/>
                </a:solidFill>
                <a:latin typeface="Arial"/>
                <a:ea typeface="Microsoft YaHei"/>
              </a:rPr>
              <a:t>五个后续方向</a:t>
            </a: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→ 系统参数敏感性分析</a:t>
            </a: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  （窗口、阈值、频率）</a:t>
            </a:r>
          </a:p>
          <a:p>
            <a:endParaRPr lang="zh-CN" sz="1000" dirty="0">
              <a:solidFill>
                <a:srgbClr val="28B463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→ 样本内外滚动验证</a:t>
            </a:r>
          </a:p>
          <a:p>
            <a:endParaRPr lang="zh-CN" sz="1000" dirty="0">
              <a:solidFill>
                <a:srgbClr val="28B463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→ 价值波段因子优化</a:t>
            </a:r>
          </a:p>
          <a:p>
            <a:endParaRPr lang="zh-CN" sz="1000" dirty="0">
              <a:solidFill>
                <a:srgbClr val="28B463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→ 多风格标的泛化</a:t>
            </a:r>
          </a:p>
          <a:p>
            <a:endParaRPr lang="zh-CN" sz="1000" dirty="0">
              <a:solidFill>
                <a:srgbClr val="28B463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→ 因子贡献分解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模板内页范式-文字">
  <a:themeElements>
    <a:clrScheme name="养老金">
      <a:dk1>
        <a:sysClr val="windowText" lastClr="000000"/>
      </a:dk1>
      <a:lt1>
        <a:sysClr val="window" lastClr="FFFFFF"/>
      </a:lt1>
      <a:dk2>
        <a:srgbClr val="E96004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</TotalTime>
  <Words>3220</Words>
  <Application>Microsoft Macintosh PowerPoint</Application>
  <PresentationFormat>寬螢幕</PresentationFormat>
  <Paragraphs>497</Paragraphs>
  <Slides>29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29</vt:i4>
      </vt:variant>
    </vt:vector>
  </HeadingPairs>
  <TitlesOfParts>
    <vt:vector size="36" baseType="lpstr">
      <vt:lpstr>等线</vt:lpstr>
      <vt:lpstr>楷体</vt:lpstr>
      <vt:lpstr>微软雅黑</vt:lpstr>
      <vt:lpstr>Arial</vt:lpstr>
      <vt:lpstr>Calibri</vt:lpstr>
      <vt:lpstr>Office Theme</vt:lpstr>
      <vt:lpstr>模板内页范式-文字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Chloe Zhang</cp:lastModifiedBy>
  <cp:revision>13</cp:revision>
  <dcterms:created xsi:type="dcterms:W3CDTF">2013-01-27T09:14:16Z</dcterms:created>
  <dcterms:modified xsi:type="dcterms:W3CDTF">2026-05-29T08:59:30Z</dcterms:modified>
  <cp:category/>
</cp:coreProperties>
</file>